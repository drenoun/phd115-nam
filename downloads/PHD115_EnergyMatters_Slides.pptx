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Roast beef: share of mass vs energy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water</c:v>
                </c:pt>
              </c:strCache>
            </c:strRef>
          </c:tx>
          <c:spPr>
            <a:solidFill>
              <a:srgbClr val="A3B1C2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protein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25.9</c:v>
                </c:pt>
                <c:pt idx="1">
                  <c:v>27.4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fat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30.5</c:v>
                </c:pt>
                <c:pt idx="1">
                  <c:v>72.6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minerals</c:v>
                </c:pt>
              </c:strCache>
            </c:strRef>
          </c:tx>
          <c:spPr>
            <a:solidFill>
              <a:srgbClr val="5E6B5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0.7</c:v>
                </c:pt>
                <c:pt idx="1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Energy used, kcal per hour (82 kg person)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used, kcal per hour (82 kg person)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golfing, with cart</c:v>
                  </c:pt>
                  <c:pt idx="1">
                    <c:v>yoga</c:v>
                  </c:pt>
                  <c:pt idx="2">
                    <c:v>aerobics, low-level</c:v>
                  </c:pt>
                  <c:pt idx="3">
                    <c:v>golfing, carrying clubs</c:v>
                  </c:pt>
                  <c:pt idx="4">
                    <c:v>skiing, downhill</c:v>
                  </c:pt>
                  <c:pt idx="5">
                    <c:v>soccer</c:v>
                  </c:pt>
                  <c:pt idx="6">
                    <c:v>racquetball</c:v>
                  </c:pt>
                  <c:pt idx="7">
                    <c:v>bike riding, 20 mph</c:v>
                  </c:pt>
                  <c:pt idx="8">
                    <c:v>basketball</c:v>
                  </c:pt>
                  <c:pt idx="9">
                    <c:v>jogging, 7.5 mph</c:v>
                  </c:pt>
                  <c:pt idx="10">
                    <c:v>walking upstairs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220</c:v>
                </c:pt>
                <c:pt idx="1">
                  <c:v>280</c:v>
                </c:pt>
                <c:pt idx="2">
                  <c:v>325</c:v>
                </c:pt>
                <c:pt idx="3">
                  <c:v>425</c:v>
                </c:pt>
                <c:pt idx="4">
                  <c:v>520</c:v>
                </c:pt>
                <c:pt idx="5">
                  <c:v>680</c:v>
                </c:pt>
                <c:pt idx="6">
                  <c:v>740</c:v>
                </c:pt>
                <c:pt idx="7">
                  <c:v>830</c:v>
                </c:pt>
                <c:pt idx="8">
                  <c:v>940</c:v>
                </c:pt>
                <c:pt idx="9">
                  <c:v>950</c:v>
                </c:pt>
                <c:pt idx="10">
                  <c:v>1200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Specific heat, J/g·°C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Specific heat, J/g·°C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hydrogen gas</c:v>
                  </c:pt>
                  <c:pt idx="1">
                    <c:v>liquid water</c:v>
                  </c:pt>
                  <c:pt idx="2">
                    <c:v>ethanol</c:v>
                  </c:pt>
                  <c:pt idx="3">
                    <c:v>ice</c:v>
                  </c:pt>
                  <c:pt idx="4">
                    <c:v>steam</c:v>
                  </c:pt>
                  <c:pt idx="5">
                    <c:v>hexane</c:v>
                  </c:pt>
                  <c:pt idx="6">
                    <c:v>benzene</c:v>
                  </c:pt>
                  <c:pt idx="7">
                    <c:v>aluminium</c:v>
                  </c:pt>
                  <c:pt idx="8">
                    <c:v>sodium chloride</c:v>
                  </c:pt>
                  <c:pt idx="9">
                    <c:v>iron</c:v>
                  </c:pt>
                  <c:pt idx="10">
                    <c:v>copper</c:v>
                  </c:pt>
                  <c:pt idx="11">
                    <c:v>mercury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14.31</c:v>
                </c:pt>
                <c:pt idx="1">
                  <c:v>4.184</c:v>
                </c:pt>
                <c:pt idx="2">
                  <c:v>2.418</c:v>
                </c:pt>
                <c:pt idx="3">
                  <c:v>2.059</c:v>
                </c:pt>
                <c:pt idx="4">
                  <c:v>2.042</c:v>
                </c:pt>
                <c:pt idx="5">
                  <c:v>1.648</c:v>
                </c:pt>
                <c:pt idx="6">
                  <c:v>1.05</c:v>
                </c:pt>
                <c:pt idx="7">
                  <c:v>0.9</c:v>
                </c:pt>
                <c:pt idx="8">
                  <c:v>0.866</c:v>
                </c:pt>
                <c:pt idx="9">
                  <c:v>0.452</c:v>
                </c:pt>
                <c:pt idx="10">
                  <c:v>0.385</c:v>
                </c:pt>
                <c:pt idx="11">
                  <c:v>0.138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Heat per gram, J/g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ΔHfus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334</c:v>
                </c:pt>
                <c:pt idx="1">
                  <c:v>189</c:v>
                </c:pt>
                <c:pt idx="2">
                  <c:v>127</c:v>
                </c:pt>
                <c:pt idx="3">
                  <c:v>517</c:v>
                </c:pt>
                <c:pt idx="4">
                  <c:v>264</c:v>
                </c:pt>
                <c:pt idx="5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ΔHvap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2260</c:v>
                </c:pt>
                <c:pt idx="1">
                  <c:v>838</c:v>
                </c:pt>
                <c:pt idx="2">
                  <c:v>394</c:v>
                </c:pt>
                <c:pt idx="3">
                  <c:v>2891</c:v>
                </c:pt>
                <c:pt idx="4">
                  <c:v>6293</c:v>
                </c:pt>
                <c:pt idx="5">
                  <c:v>1711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sections 7.0 to 7.5 of the core reference in the book's own order: energy and its units, heat and temperature, phase changes, bond energies and chemical reactions, and the energy of biochemical reactions.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outcomes are shared by the notes, pre- and post-lecture activities, tutorial, game and exam questions. Each question students meet carries one of these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parts follow the chapter exactly. Intermolecular forces are taught later, in Chemical Bonding.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corresponds to sections 7.0 and 7.1.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7.0 uses metabolism to show that energy and chemical reactions are closely linked, especially inside the body. Link to pharmacy: many drugs and diseases alter metabolism and therefore body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which animal has the highest body temperature and why that might matter for dosing or storage of veterinary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definition of heat as a transfer. Students often say an object 'has a lot of heat'. The kinetic and potential energy terms link forward to temperature (Part 2) and bond energy (Chemical Reactions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capital-C Calorie trap on food labels. Malaysian labels show both kcal and kJ per serving, so students can check the conversion factor on any snack packet.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Figure 1. Ask students to bring a snack wrapper and check its kcal-to-kJ ratio against 4.184.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Example 1. Emphasise setting up conversion factors so units cancel.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row: 58.7 g protein × 4 Cal/g = 235 Cal. Ask students why fat dominates the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does butter have the highest Cal/g? It is 79% fat and only 16%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'To Your Health'. Link to pharmacy practice: weight-management counselling and oral nutritional supplements are prescribed by energy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mental maths: how long would you need to jog to burn the energy in a 190 Cal brownie? About 12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corresponds to section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misconception check: a large bath of warm water and a small cup of hot water. Which has the higher temperature? Which can transfer more heat?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Kelvin degrees are the same size as Celsius degrees; the scale is only shifted by 273.15. 0 K is absolute zero, the lowest possible temperature. For most work, 273 is acceptable in place of 273.15.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derive 5/9 from the ratio of 100 Celsius divisions to 180 Fahrenheit divisions.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scale before the detailed health slide. Ask students to place 38.5 °C and 34.2 °C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Health Application, with brand names replaced by generic drug names. Children's fever thresholds are lower. Ask: which antipyretic would you avoid in a child with a viral fever? (Aspirin, because of Reye's syndrome.)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equation step by step on the board: q ∝ ΔT, then q ∝ mΔT, then q = mcΔT. 'Specific heat capacity' is the same thing; 'heat capacity' on its own is a different quantity.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g and °C cancel to leave only the energy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Liquid water has one of the highest specific heats. Note that ice and steam are about half of liquid water, so the phase matters when choosing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7.2.1 converted to joules.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4. Specific heat acts like a fingerprint for identifying a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Part 2. The pharmacy example previews the post-lecture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corresponds to section 7.3.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Figure: three containers holding the same mass in different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Adding heat makes particles move faster (endothermic); removing heat slows them (exothermic).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heating curve (Part 5) has flat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7.3.2. Ask students to point to where ice and water coexist.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matching units: cal/g needs grams; kJ/mol needs moles.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Water's ΔHvap is almost 7 times its ΔHfus. This explains the long boiling plateau on the heating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pharmacy example links to the post-lecture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corresponds to section 7.4.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opening analogy. Ask the question on the side card before revealing the general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'Bond Energy'. Stress that breaking bonds always costs energy and forming bonds always releases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use this table for every ΔH calculation. It is given in exams.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changes in chemical reactions are usually measured as changes in enthalpy, ΔH.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worked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7.4, continuation of the H2 + O2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7.4.1, steps 1 to 5 combined.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H2 + Cl2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H2 + Cl2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back to the instant cold pack from the pre-lecture activity: endothermic, so the pack feels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7.4. Ask which reaction would warm the room: the methane combustion.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both diagrams on the board and label reactants, products and the energy arrow.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one-page comparison students should be able to reproduce.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Key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corresponds to section 7.5.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Equation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book invites students to verify this; it links Part 5 back to food energy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fuel values as the food-label calculations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Figure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 Career Focus, with a pharmacy link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student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60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Matters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2 Nov 2026 · Dr. Nur 'Ainun Mokhtar (NAM)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sections 7.0–7.5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840480" y="2651760"/>
            <a:ext cx="0" cy="173736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4389120"/>
            <a:ext cx="4754880" cy="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3874443" y="3931920"/>
            <a:ext cx="390579" cy="329184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65023" y="3931920"/>
            <a:ext cx="679269" cy="0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944291" y="3108960"/>
            <a:ext cx="679269" cy="822960"/>
          </a:xfrm>
          <a:prstGeom prst="line">
            <a:avLst/>
          </a:prstGeom>
          <a:noFill/>
          <a:ln w="50800">
            <a:solidFill>
              <a:srgbClr val="6A6E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23560" y="3108960"/>
            <a:ext cx="2292531" cy="0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916091" y="2761488"/>
            <a:ext cx="594360" cy="347472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pic>
        <p:nvPicPr>
          <p:cNvPr id="15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9677" y="365760"/>
            <a:ext cx="1445367" cy="1005840"/>
          </a:xfrm>
          <a:prstGeom prst="rect">
            <a:avLst/>
          </a:prstGeom>
        </p:spPr>
      </p:pic>
      <p:pic>
        <p:nvPicPr>
          <p:cNvPr id="16" name="Image 1" descr="/home/claude/em/mol/trim/ethan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569" y="982980"/>
            <a:ext cx="989262" cy="868680"/>
          </a:xfrm>
          <a:prstGeom prst="rect">
            <a:avLst/>
          </a:prstGeom>
        </p:spPr>
      </p:pic>
      <p:pic>
        <p:nvPicPr>
          <p:cNvPr id="17" name="Image 2" descr="/home/claude/em/mol/trim/co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113" y="1805940"/>
            <a:ext cx="7312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energy and heat, and convert between joules, calories and nutritional Calories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80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2803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between temperature scales and calculate heat gained or lost using q = mcΔT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phase changes and calculate the energy involved using heats of fusion and vaporisation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2803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2803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heating curve of water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bond energy, estimate ΔH from bond energies, and classify reactions as endothermic or exothermic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2803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82803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energy changes to biochemical reactions such as glucose oxidation and ATP hydrolysis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Energy and its units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7.0–7.1): energy, heat, joules and calories, food energy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Heat and temperature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7.2): temperature scales, body temperature, q = mcΔT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Phase changes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7.3): states of matter, heats of fusion and vaporisation, the heating curve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Bond energies and 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7.4): bond energy, ΔH, endothermic and exothermic reactions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energy of biochemical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7.5): glucose, fats and proteins, ATP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3258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Condensing steam releases its heat of vaporisation (540 cal/g, 2260 J/g) onto the skin, on top of the heat the hot water itself gives. You will calculate this in Part 3.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and its units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energy is, how heat is defined, and the units used in science, nutrition and pharmacy.</a:t>
            </a:r>
            <a:endParaRPr lang="en-US" sz="1600" dirty="0"/>
          </a:p>
        </p:txBody>
      </p:sp>
      <p:pic>
        <p:nvPicPr>
          <p:cNvPr id="8" name="Image 0" descr="/home/claude/em/mol/trim/ethan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8966" y="411480"/>
            <a:ext cx="2186789" cy="1920240"/>
          </a:xfrm>
          <a:prstGeom prst="rect">
            <a:avLst/>
          </a:prstGeom>
        </p:spPr>
      </p:pic>
      <p:pic>
        <p:nvPicPr>
          <p:cNvPr id="9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   ·   Ball 7.0–7.1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 living things: metabolism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set of chemical reactions in cells that provides energy to keep cells alive. Some of that energy is released as heat.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'Warm-blooded': use heat from metabolism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humans, birds, cats, dogs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 body temperature rises when we are ill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 or sweat to lose excess heat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hibernate: controlled drop in metabolism and body temperature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Ectotherms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'Cold-blooded': do not use metabolic heat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external energy such as sunlight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fish move to water of a different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available depends on metabolic rate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also hibernate when energy is scarce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body temperatures of selected endotherms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BEFD9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40080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00800" y="1783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sit at the low end. A dog's normal temperature would be a fever in a human, which matters when veterinary and human medicines are compared.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7.0.1.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ability to do work. The more energy available, the more work can be done.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transfer of energy between objects because they have different temperatures.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 ice cube held in the hand melts because heat flows from the hand to the ice. The hand loses energy, so it feels cold.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 are closely related, so they share the same units.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motion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stored energy, such as energy held in chemical bonds,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energy </a:t>
            </a:r>
            <a:r>
              <a:rPr lang="en-US" sz="13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 object contains energy; heat is what flows.</a:t>
            </a:r>
            <a:endParaRPr lang="en-US" sz="1300" dirty="0"/>
          </a:p>
        </p:txBody>
      </p:sp>
      <p:pic>
        <p:nvPicPr>
          <p:cNvPr id="11" name="Image 1" descr="/home/claude/em/fig/svg/heat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of energy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   ·     1 Cal = 1 kcal = 1000 cal = 4.184 kJ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joule (J)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unit of energy, work and heat. Tiny: about 4 J warms 1 mL of water by 1 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kilojoule (kJ)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J; common because most processes involve thousands of joules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originally the energy to warm 1 g of water by 1 °C; now defined as exactly 4.184 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C: the nutritional calorie, equal to 1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works mostly in calories because health professionals use them. We show joules alongside.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food label</a:t>
            </a:r>
            <a:endParaRPr lang="en-US" sz="2700" dirty="0"/>
          </a:p>
        </p:txBody>
      </p:sp>
      <p:pic>
        <p:nvPicPr>
          <p:cNvPr id="10" name="Image 1" descr="/home/claude/em/fig/nutrition_lab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22" y="1371600"/>
            <a:ext cx="3280755" cy="29077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nutrition facts label (US FDA, via Wikipedia), as in Ball, The Basics of GOB Chemistry Figure 7.1.1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labels give energy in nutritional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(Cal)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kilocalories (kcal)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candy bar with 120 Cal provides 120 000 cal of energy.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label: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1-cup serving = 250 kcal =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labels usually show energy in both kcal and kJ.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energy is calculated from fat, carbohydrate and protein content (next slide).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Energy in bread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serving of bread provides 70.0 Cal. What is its energy content in calories and in joules?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 Cal × 1000 cal/Cal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(7.00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cal)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 × 4.184 J/cal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292 880 J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2.93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kJ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Most of this energy comes from carbohydrates.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1030 Cal × 1000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 × 4.184 J/cal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4.31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(4310 kJ)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food energy comes from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energy is calculated from composition using average fuel values: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9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and protein 4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minerals 0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4572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</a:tblGrid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oz (227 g) roast beef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 value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Chart 0" descr=""/>
          <p:cNvGraphicFramePr/>
          <p:nvPr/>
        </p:nvGraphicFramePr>
        <p:xfrm>
          <a:off x="5166360" y="1854708"/>
          <a:ext cx="3566160" cy="27630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457200" y="4251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7.1.1. Fat is 31% of the mass but supplies about 73% of the energy.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and fuel value of common foods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(quantity)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milk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egg (1 large)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butter (1 tbsp)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(8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bread (2 slices)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brownie (40 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hamburger (4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fried chicken (1 drumstick)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carrots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(6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water content means low energy per gram. Compare butter (7.1 Cal/g) with milk (0.6 Cal/g).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7.1.2 (selected rows).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energy does the body need?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5836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processes need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Cal/h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Cal/day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 an average 73 kg adult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body temperature, heartbeat, breathing muscles, cell reactions and nerve impulses going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Moderately active adult: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2500–3000 Cal/day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Athletes: up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Cal/day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66344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86460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and used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86460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intake is stored, mostly 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most compact energy store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diet falls short, stored fuels are mobilised and oxidised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carbohydrate is used up before fat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raises energy use, but less than many people hope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used during exercise</a:t>
            </a:r>
            <a:endParaRPr lang="en-US" sz="27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range from about 220 kcal/h (golf with a cart) to 1200 kcal/h (walking upstairs).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kJ, multiply by 4.184: jogging uses about 3970 kJ/h.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Burning off a 190 Cal brownie takes about 12 minutes of jogging.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starting a new exercise regimen should consult a doctor first.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250 kcal × 4.184 kJ/kcal = 1046 kJ.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and temperature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temperature is measured, what it means for the body, and how much heat changes a temperature.</a:t>
            </a:r>
            <a:endParaRPr lang="en-US" sz="1600" dirty="0"/>
          </a:p>
        </p:txBody>
      </p:sp>
      <p:pic>
        <p:nvPicPr>
          <p:cNvPr id="8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9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   ·   Ball 7.2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not the same as temperature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in temperature is what causes heat to flow.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or cold an object is compared with another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kinetic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particles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a thermometer, in °C, °F or K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(q)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thermal energy between objects at different temperatures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flows from hotter to colder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 hot object: energy flows into your fingers, so it feels hot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ice: energy flows out of your hand, so it feels cold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temperature scales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Thermometers use liquids such as alcohol or mercury (a neurotoxin) that expand when heated and contract when cooled.</a:t>
            </a:r>
            <a:endParaRPr lang="en-US" sz="1500" dirty="0"/>
          </a:p>
        </p:txBody>
      </p:sp>
      <p:pic>
        <p:nvPicPr>
          <p:cNvPr id="11" name="Image 1" descr="/home/claude/em/fig/thermome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1946148"/>
            <a:ext cx="2618398" cy="22875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Fahrenheit, Celsius and Kelvin compared (Ball, The Basics of GOB Chemistry Figure 7.2.1)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20440" y="1946148"/>
          <a:ext cx="5166360" cy="914400"/>
        </p:xfrm>
        <a:graphic>
          <a:graphicData uri="http://schemas.openxmlformats.org/drawingml/2006/table">
            <a:tbl>
              <a:tblPr/>
              <a:tblGrid>
                <a:gridCol w="2066544"/>
                <a:gridCol w="1033272"/>
                <a:gridCol w="1033272"/>
                <a:gridCol w="10332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−459.67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body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boils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3520440" y="41224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uses Celsius and kelvin almost exclusively. Kelvin has no 'degrees': 295 K is 'two hundred ninety-five kelvin'.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between temperature scales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   ·     °F = (9/5 × °C) + 32     ·     K = °C + 273.15</a:t>
            </a:r>
            <a:endParaRPr lang="en-US" sz="1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32 °F and boils at 212 °F (180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0 °C and boils at 100 °C (100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size degree as Celsius, starting at 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scales were introduced in Matters and Measurement. This is a short recap because the book uses them throughout this chapter.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Converting temperatures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What is 98.6 °F in °C?   (b) What is 25.0 °C in °F?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°C = (98.6 − 32) × 5/9 = 66.6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°F = (9/5 × 25.0) + 32 = 45.0 + 32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 °F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Room temperature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room temperature is 72.0 °F. What is it in °C and in kelvin?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(72.0 − 32)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°C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22.2 + 273.15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295.4 K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room temperature is about 295 K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(0 − 32) × 5/9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−17.8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(9/5 × 212) + 32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°F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Note: 212 °C, not 212 °F.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 zones</a:t>
            </a:r>
            <a:endParaRPr lang="en-US" sz="2700" dirty="0"/>
          </a:p>
        </p:txBody>
      </p:sp>
      <p:pic>
        <p:nvPicPr>
          <p:cNvPr id="10" name="Image 1" descr="/home/claude/em/fig/svg/body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701" y="1371600"/>
            <a:ext cx="3580598" cy="8503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from Ball 7.2, converted to °C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37.0 °C (98.6 °F), give or take about 0.5 °C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adults;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40 °C (104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Children's fever thresholds are lower than adults'.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application: body temperature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body temperature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 (98.6 °F), ± about 0.5 °C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most reliable readings are under the tongue or rectal.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hot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 °C (104 °F) or more: seek medical attention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body cannot regulate heat. Causes: infection, heat stroke, thyroid disorders, heart attack, injury, some cancer, arthritis and thyroid medicines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sweating, confusion, nausea, dizziness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fluids, antipyretics such as paracetamol, ibuprofen, aspirin or naproxen, a cool bath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cold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struggles to produce heat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cold exposure, diabetes, infection, thyroid dysfunction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shivering, confusion, sluggishness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remove wet clothing, re-dress warmly, move about; seek medical attention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transfer and temperature change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system gains or loses heat, its temperature usually changes (phase changes are the exception, Part 3).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heat → bigger temperature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ΔT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ΔT =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mass → more heat needed for the same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m × ΔT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proportionality constant is the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heat, c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to change the temperature of 1 g of a substance by 1 °C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substance has its own c, in cal/g·°C or J/g·°C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convention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in: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out: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equation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transferred (cal or 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of the sample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heat (cal/g·°C or 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(°C; a change of 1 °C equals a change of 1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units consistent: if c is in cal/g·°C, q comes out in cal.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heats of selected substances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914400"/>
                <a:gridCol w="914400"/>
                <a:gridCol w="233172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0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hydrogen,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oxygen, 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oxide, Al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iron(III) oxide, Fe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copper, Cu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mercury, Hg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7.2.1;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specific heats</a:t>
            </a:r>
            <a:endParaRPr lang="en-US" sz="27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water (4.184 J/g·°C) is among the highest: it warms and cools slowly.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are low: copper warms about 10 times more than water for the same heat.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and steam are about half of liquid water, so use the c for the right phase.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 can identify a substance (Example 2.4).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Heating an iron block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150.0 g block of iron is heated from 25.0 °C to 73.3 °C? Which way does the heat flow?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73.3 − 25.0 = 48.3 °C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 = 150.0 g × 0.108 cal/g·°C × 48.3 °C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782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 3.27 kJ). The temperature rose, so heat flowed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iron.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22.5 − 128.0 = −105.5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295.5 × 0.215 × (−105.5)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(−28.0 kJ). Negative: heat flows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aluminium.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2.4 · Identifying a metal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10.3 g reddish-brown metal gives off 71.7 cal as it cools from 97.5 °C to 22.0 °C. Find its specific heat and identify it.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22.0 − 97.5 = −75.5 °C; heat is given off, so q = −71.7 cal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q ÷ (m × ΔT) = −71.7 ÷ (10.3 × −75.5)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0.0922 cal/g·°C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(0.386 J/g·°C). Closest match: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(0.092).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q ÷ (m × c) = 147 ÷ (10.7 × 0.207) = 66.4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37.0 + 66.4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103.4 °C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water's high specific heat matters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absorbs a lot of heat for a small temperature rise, so it is used as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coolant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Power plants are often built beside lakes for this reason.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climates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milder than inland ones: the sea absorbs heat on hot days and releases it on cool days.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is mostly water, which helps keep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steady.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fluids are mostly water, so warming a litre for infusion takes a lot of energy (about 50 kJ from 25 °C to 37 °C).</a:t>
            </a:r>
            <a:endParaRPr lang="en-US" sz="1500" dirty="0"/>
          </a:p>
        </p:txBody>
      </p:sp>
      <p:pic>
        <p:nvPicPr>
          <p:cNvPr id="11" name="Image 1" descr="/home/claude/em/fig/power_pl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22053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683571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plant beside a lake uses the water as a coolant (Ball, The Basics of GOB Chemistry Figure 7.2.2)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Copper's specific heat (0.092 cal/g·°C) is about one tenth of water's, so the same heat gives about ten times the temperature rise.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matter, the energy needed to change state, and why temperature stays constant while it happens.</a:t>
            </a:r>
            <a:endParaRPr lang="en-US" sz="1600" dirty="0"/>
          </a:p>
        </p:txBody>
      </p:sp>
      <p:pic>
        <p:nvPicPr>
          <p:cNvPr id="8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9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 · EM-LO4   ·   Ball 7.3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energy in the particles decides the state of matter.</a:t>
            </a:r>
            <a:endParaRPr lang="en-US" sz="1500" dirty="0"/>
          </a:p>
        </p:txBody>
      </p:sp>
      <p:pic>
        <p:nvPicPr>
          <p:cNvPr id="11" name="Image 1" descr="/home/claude/em/fig/sta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43" y="1668018"/>
            <a:ext cx="2080913" cy="10789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79273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mass of a substance as a gas, liquid and solid (Ball, The Basics of GOB Chemistry Figure 7.3.1)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45720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1EEF7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008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lack the energy to move. Always in contact, in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its own shape and volume.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24612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CEFE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42900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342900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always in contact but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shape of its container, keeps its volume.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03504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FBEFD9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21792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they meet only when they collide.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both the shape and volume of its container.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20624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261872"/>
                <a:gridCol w="12618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(fusion)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vaporisation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Image 1" descr="/home/claude/em/fig/svg/phas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80160"/>
            <a:ext cx="3794760" cy="31623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" y="389534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to melt a sample = heat released when it freezes; only the direction changes. Deposition added for completeness.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Endothermic or exothermic?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boiling   (b) ice forming on a pond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pan of water must be heated on the stove to boil: heat is added.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removed from the water as it freezes, like water in a freezer: heat leaves.</a:t>
            </a:r>
            <a:endParaRPr lang="en-US" sz="17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released)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absorbed)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 points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solid becomes a liquid (or a liquid becomes a solid)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liquid becomes a gas (or a gas becomes a liquid)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melting or boiling point,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phases can coexist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 0 °C, ice and water are both present; adding heat melts some ice, removing heat freezes some water.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temperature does not change until the change of state is complete.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heat added goes into changing the state, not into raising the temperature.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= same, thermal = temperature. Ice at 0 °C melts into water at 0 °C.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heating curve of water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phase warming up. Use q = mcΔT with the c for that phase (ice, water or steam).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phase change at constant temperature. Use q = mΔH.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plateau at 0 °C is melting; at 100 °C, boiling.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boiling plateau is about 7 times longer because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(540 cal/g) ≫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(79.9 cal/g).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still being added on a plateau; it goes into changing the state, not raising the temperature.</a:t>
            </a:r>
            <a:endParaRPr lang="en-US" sz="1500" dirty="0"/>
          </a:p>
        </p:txBody>
      </p:sp>
      <p:pic>
        <p:nvPicPr>
          <p:cNvPr id="11" name="Image 1" descr="/home/claude/em/fig/heating_curve_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1945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 for water (Ball Figure 7.3.2; CC BY 3.0, Community College Consortium for Bioscience Credentials)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still being added, but it goes into changing the state, not raising the temperature.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2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fusion: heat per gram (or per mole) to melt a solid at its melting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vaporisation: heat per gram (or per mole) to vaporise a liquid at its boiling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or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mass (g) with values per gram, or moles (n) with values per mole: q = n ×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does not change during the phase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values give the heat released on freezing or condensing; only the sign changes.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gold, 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5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much larger than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Separating particles completely takes far more energy than loosening them.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7.3.1;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Vaporising takes far more energy than melting</a:t>
            </a:r>
            <a:endParaRPr lang="en-US" sz="27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several times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only loosens particles; vaporising separates them completely.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2260 J/g vs 334 J/g, almost 7 times more.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 (not shown) is extreme: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10 890 J/g.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Melting ice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melt 55.8 g of ice at 0 °C? (ΔH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79.9 cal/g)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55.8 g × 79.9 cal/g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 × 10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(4.46 kcal)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55.8 g × 334 J/g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 kJ</a:t>
            </a:r>
            <a:endParaRPr lang="en-US" sz="1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685 × 540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(370 kcal)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685 × 2260 J/g = 1.55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1550 kJ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 straight to gas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substance has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sublimation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ΔH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 water it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620 cal/g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(2590 J/g).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ice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(solid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sublimes at −78.5 °C.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liquid only under high pressure. Dry ice is used for long-term preservation and shipping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samples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sublimes slowly even below 0 °C: frost disappears, and ice cubes in a freezer shrink.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 burn: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sublimes from frozen food, leaving a dry, mottled surface. Reduce it by lower temperatures and tight wrapping.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freeze-drying (lyophilisation) removes water from frozen injections and vaccines by sublimation under low pressure.</a:t>
            </a:r>
            <a:endParaRPr lang="en-US" sz="1300" dirty="0"/>
          </a:p>
        </p:txBody>
      </p:sp>
      <p:pic>
        <p:nvPicPr>
          <p:cNvPr id="11" name="Image 1" descr="/home/claude/em/mol/trim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85223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315273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dioxide, CO₂. Solid CO₂ is dry ice.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Freezing and condensation remove heat from the substance, so they are exothermic.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energies and chemical reactions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reactions release or absorb energy, and how to estimate the energy change from the bonds that break and form.</a:t>
            </a:r>
            <a:endParaRPr lang="en-US" sz="1600" dirty="0"/>
          </a:p>
        </p:txBody>
      </p:sp>
      <p:pic>
        <p:nvPicPr>
          <p:cNvPr id="8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9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   ·   Ball 7.4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moves towards lower energy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basketball halfway up a playground slide and let go: it rolls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every time.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to a lower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gravitational potential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move up the slide only if someone does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it.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rule from centuries of observation: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objects tend to move spontaneously to a position of minimum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unless acted on by some other force or object.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in compounds behave the same way.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basketball ever roll </a:t>
            </a:r>
            <a:r>
              <a:rPr lang="en-US" sz="15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slide on its own? Why not?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bond together because the bonded atoms have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separate atoms.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atoms combine to make a compound, energy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given off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usually as heat.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energy into a molecule can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bonds. The energy needed to break a bond is its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same amount is released when the bond forms.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 describes covalent bonds. For ions held by opposite charges, the term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lattice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 are stronger: C–C about 80 kcal/mol, C=C about 145 kcal/mol (see bond length in Chemical Bonding).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bond type has a roughly constant value: all C–H bonds are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kcal/mol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bond energies</a:t>
            </a:r>
            <a:endParaRPr lang="en-US" sz="27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280160"/>
                <a:gridCol w="1371600"/>
                <a:gridCol w="1280160"/>
                <a:gridCol w="1280160"/>
              </a:tblGrid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C≡C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7.4.1; kJ values × 4.184, rounded. These are averages over many molecules.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Enthalpy change from bond energies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2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to break them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 they 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approximate, because the table gives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bond 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of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exothermic (heat released) ·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endothermic (heat absorbed)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reactions occur, atoms rearrange their bonds. The new bonds never have exactly the same total energy, so every reaction has an energy change.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Hydrogen burning to make water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ΔH for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O(g). (H–H 105, O=O 119, O–H 110 kcal/mol)</a:t>
            </a:r>
            <a:endParaRPr lang="en-US" sz="1600" dirty="0"/>
          </a:p>
        </p:txBody>
      </p:sp>
      <p:pic>
        <p:nvPicPr>
          <p:cNvPr id="12" name="Image 1" descr="/home/claude/em/fig/h2o_bo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77440"/>
            <a:ext cx="3429000" cy="109691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3520071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 and formed (Ball, The Basics of GOB Chemistry 7.4)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242316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broken: 2 H–H = 2 × 105 = 210 kcal; 1 O=O = 119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 kcal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60120" y="316992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formed: 4 O–H (two in each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= 4 × 110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kcal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391668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329 − 440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−111 kcal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Negative: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as a product</a:t>
            </a:r>
            <a:endParaRPr lang="en-US" sz="2700" dirty="0"/>
          </a:p>
        </p:txBody>
      </p:sp>
      <p:pic>
        <p:nvPicPr>
          <p:cNvPr id="10" name="Image 1" descr="/home/claude/em/fig/heat_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453" y="1371600"/>
            <a:ext cx="4181094" cy="8503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written on the product side (Ball, The Basics of GOB Chemistry 7.4)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bonds in the products (440 kcal)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those in the reactants (329 kcal) by about 111 kcal.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releases more energy than it consumes; the excess is released 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is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write it: put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+ 111 kcal on the product side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write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with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= −111 kcal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exothermic reaction always has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ΔH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4.2 · Hydrogen bromide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ΔH for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Br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HBr(g)? Is it exothermic or endothermic?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 bonds (broken): 1 H–H = 105 kcal; 1 Br–Br = 46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 kcal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01980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0198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8323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bonds (formed): 2 H–Br = 2 × 87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kcal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54330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151 − 174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−23 kcal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02920" y="413994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02920" y="4139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10337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Broken: 1 H–H + 1 Cl–Cl = 105 + 58 = 163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Formed: 2 H–Cl = 2 × 103 = 206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163 − 206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−43 kcal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Negative, so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and exothermic reactions</a:t>
            </a:r>
            <a:endParaRPr lang="en-US" sz="2700" dirty="0"/>
          </a:p>
        </p:txBody>
      </p:sp>
      <p:pic>
        <p:nvPicPr>
          <p:cNvPr id="10" name="Image 1" descr="/home/claude/em/fig/endo_exo_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7034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4079101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Endothermic reaction. (B) Exothermic reaction (Ball, The Basics of GOB Chemistry Figure 7.4.1)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surroundings into the system (the reaction mixture), the enthalpy of the system increases,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positive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system into the surroundings, the enthalpy of the system decreases,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heat into an equation</a:t>
            </a:r>
            <a:endParaRPr lang="en-US" sz="2700" dirty="0"/>
          </a:p>
        </p:txBody>
      </p:sp>
      <p:pic>
        <p:nvPicPr>
          <p:cNvPr id="10" name="Image 1" descr="/home/claude/em/fig/heat_eq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159927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301659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7.4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1 mol of CaCO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decomposes into 1 mol CaO and 1 mol 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177.8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absorbed.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ΔH = +177.8 kJ.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burning 1 mol of methane releases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890.4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ΔH = −890.4 kJ.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 · Exothermic or endothermic?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CO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+ 213 kcal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+ 45 kcal → 2 NO(g)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Energy (213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given off,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Energy (45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absorbed,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(130 kcal) is produced.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(5.3 kcal) is absorbed to react.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diagrams: uphill and downhill</a:t>
            </a:r>
            <a:endParaRPr lang="en-US" sz="2700" dirty="0"/>
          </a:p>
        </p:txBody>
      </p:sp>
      <p:pic>
        <p:nvPicPr>
          <p:cNvPr id="10" name="Image 1" descr="/home/claude/em/fig/energy_diagr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3685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4045613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endothermic. Right: exothermic (Ball, The Basics of GOB Chemistry Figures 7.4.2 and 7.4.3)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Endothermic, 'uphill':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reactants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products; the reactants have stronger bonds. They must absorb energy from the environment to become products.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Exothermic, 'downhill':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reactants; the products have stronger bonds. Energy is given off, usually as heat (a few reactions give off light).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bonds have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potential energy than weak bonds.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vs exothermic reactions</a:t>
            </a:r>
            <a:endParaRPr lang="en-US" sz="27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by reactants to form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from the surroundings, which get cold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 to the surroundings, which feel 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 in the reactants are stronger than bonds formed in the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 in the products are stronger than bonds broken in the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 are lower in energy than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are lower in energy than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'Uphill'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'Downhill'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7.4.2.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bond energies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held together by a certain amount of energy called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to break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bonds. 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when bonds form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because the atoms become more stable.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depending on whether they give off or absorb energy.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formed): negative is exothermic, positive is endothermic.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positive ΔH means an endothermic reaction: heat flows in from the surroundings.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biochemical reactions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reactions in the body follow the same energy rules as any other chemical reaction.</a:t>
            </a:r>
            <a:endParaRPr lang="en-US" sz="1600" dirty="0"/>
          </a:p>
        </p:txBody>
      </p:sp>
      <p:pic>
        <p:nvPicPr>
          <p:cNvPr id="8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9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   ·   Ball 7.5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Oxidising glucose: the body's energy source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(s) + 6 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6 CO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+ 6 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+ 670 kcal</a:t>
            </a:r>
            <a:endParaRPr lang="en-US" sz="19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a carbohydrate (sugar)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670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per mole of glucose (about 2800 kJ): heat is a product, so it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mol of glucose has a volume of only about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 mL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so it is a compact source of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chemistry of the body is complex, but it follows the same energy principles as other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Checking the 4 kcal/g fuel value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releases 670 kcal per mole. Show that this is about 4 kcal per gram. (C = 12.01, H = 1.008, O = 16.00)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Molar mass of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6(12.01) + 12(1.008) + 6(16.00)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180.2 g/mol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670 kcal/mol ÷ 180.2 g/mol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kcal/g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kcal/g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fuel value used for all carbohydrates in Part 1.</a:t>
            </a:r>
            <a:endParaRPr lang="en-US" sz="17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main dietary energy sources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Carbohydrates, proteins and fats are the three main components of the human diet.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and other sugars.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24612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CEFE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42900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342900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of structural tissues such as muscle and skin.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03504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FBEFD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21792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hydrocarbon chains.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 kcal/g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even more energy per gram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ATP: the cell's energy currency</a:t>
            </a:r>
            <a:endParaRPr lang="en-US" sz="2700" dirty="0"/>
          </a:p>
        </p:txBody>
      </p:sp>
      <p:pic>
        <p:nvPicPr>
          <p:cNvPr id="10" name="Image 1" descr="/home/claude/em/fig/atp_ad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952" y="1371600"/>
            <a:ext cx="2772095" cy="29077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 (top) converts to ADP (bottom) (Ball, The Basics of GOB Chemistry Figure 7.5.1)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triphosphate (ATP)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converted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diphosphate (ADP)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O–P bond breaks, and an O–P bond and two O–H bonds form.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physiological conditions this gives off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kcal per mole of ATP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(about 31 kJ/mol).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compared with glucose, but enough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other important reactions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cells.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complex biological reactions obey the basic rules of chemistry.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focus: dietitian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nutrition expert who communicates food-related information to the public.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diet supplies energy, vitamins, minerals and even water. Too much, too little, or the wrong foods can cause problems.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Dietitians make specific recommendations, e.g. diets for weight loss or for controlling diabetes.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employ dietitians to plan patient menus; many also work with community organisations.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pharmacists work alongside dietitians, for example on parenteral nutrition and on drug–food interactions.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Fats are largely hydrocarbon chains and supply about 9 kcal/g, more than twice carbohydrate's 4 kcal/g.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equations and ideas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38988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8988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units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138988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·  1 Cal = 1 kcal = 4.184 kJ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179565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179565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179565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·  K = °C + 273.15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220141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20141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temperature change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20141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57200" y="260718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" y="260718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change of state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291840" y="260718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57200" y="301294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301294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291840" y="301294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 q = mcΔT  ·  plateaus: q = mΔH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57200" y="341871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" y="341871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reaction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41871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382447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0080" y="382447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 ΔH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291840" y="382447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 exothermic (heat out)  ·  positive: endothermic (heat in)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457200" y="423024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423024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energy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291840" y="423024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carbohydrate, protein ≈ 4 kcal/g  ·  fat ≈ 9 kcal/g  ·  ATP → ADP ≈ 7.5 kcal/mol</a:t>
            </a:r>
            <a:endParaRPr lang="en-US" sz="13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pic>
        <p:nvPicPr>
          <p:cNvPr id="4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8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week</a:t>
            </a:r>
            <a:endParaRPr lang="en-US" sz="3600" dirty="0"/>
          </a:p>
        </p:txBody>
      </p:sp>
      <p:sp>
        <p:nvSpPr>
          <p:cNvPr id="6" name="Shape 2"/>
          <p:cNvSpPr/>
          <p:nvPr/>
        </p:nvSpPr>
        <p:spPr>
          <a:xfrm>
            <a:off x="548640" y="1517904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486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097280" y="14630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 (25 min)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20665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tutorial: 8 exam-style questions, 34 marks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2724912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48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97280" y="267004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Phase Quest to find your weak outcomes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3328416"/>
            <a:ext cx="365760" cy="365760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4864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97280" y="327355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Chemical Reactions I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7.0–7.5. Shared under the same licence for non-commercial teaching.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Energy &amp; Matters: Lecture</dc:title>
  <dc:subject>PptxGenJS Presentation</dc:subject>
  <dc:creator>PptxGenJS</dc:creator>
  <cp:lastModifiedBy>PptxGenJS</cp:lastModifiedBy>
  <cp:revision>1</cp:revision>
  <dcterms:created xsi:type="dcterms:W3CDTF">2026-09-29T00:39:19Z</dcterms:created>
  <dcterms:modified xsi:type="dcterms:W3CDTF">2026-09-29T00:39:19Z</dcterms:modified>
</cp:coreProperties>
</file>