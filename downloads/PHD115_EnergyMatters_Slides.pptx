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4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</p:sldIdLst>
  <p:notesMasterIdLst>
    <p:notesMasterId r:id="rId9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notesMaster" Target="notesMasters/notesMaster1.xml"/><Relationship Id="rId95" Type="http://schemas.openxmlformats.org/officeDocument/2006/relationships/presProps" Target="presProps.xml"/><Relationship Id="rId96" Type="http://schemas.openxmlformats.org/officeDocument/2006/relationships/viewProps" Target="viewProps.xml"/><Relationship Id="rId97" Type="http://schemas.openxmlformats.org/officeDocument/2006/relationships/theme" Target="theme/theme1.xml"/><Relationship Id="rId9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6657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6657A"/>
                </a:solidFill>
                <a:latin typeface="Calibri"/>
              </a:rPr>
              <a:t>Roast beef: share of mass vs energy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water</c:v>
                </c:pt>
              </c:strCache>
            </c:strRef>
          </c:tx>
          <c:spPr>
            <a:solidFill>
              <a:srgbClr val="A3B1C2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Mass</c:v>
                  </c:pt>
                  <c:pt idx="1">
                    <c:v>Energy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protein</c:v>
                </c:pt>
              </c:strCache>
            </c:strRef>
          </c:tx>
          <c:spPr>
            <a:solidFill>
              <a:srgbClr val="2F6F9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Mass</c:v>
                  </c:pt>
                  <c:pt idx="1">
                    <c:v>Energy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25.9</c:v>
                </c:pt>
                <c:pt idx="1">
                  <c:v>27.4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fat</c:v>
                </c:pt>
              </c:strCache>
            </c:strRef>
          </c:tx>
          <c:spPr>
            <a:solidFill>
              <a:srgbClr val="B86E00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Mass</c:v>
                  </c:pt>
                  <c:pt idx="1">
                    <c:v>Energy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30.5</c:v>
                </c:pt>
                <c:pt idx="1">
                  <c:v>72.6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minerals</c:v>
                </c:pt>
              </c:strCache>
            </c:strRef>
          </c:tx>
          <c:spPr>
            <a:solidFill>
              <a:srgbClr val="5E6B5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Mass</c:v>
                  </c:pt>
                  <c:pt idx="1">
                    <c:v>Energy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0.7</c:v>
                </c:pt>
                <c:pt idx="1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9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3E9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6657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6657A"/>
                </a:solidFill>
                <a:latin typeface="Calibri"/>
              </a:rPr>
              <a:t>Energy used, kcal per hour (82 kg person)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Energy used, kcal per hour (82 kg person)</c:v>
                </c:pt>
              </c:strCache>
            </c:strRef>
          </c:tx>
          <c:spPr>
            <a:solidFill>
              <a:srgbClr val="2F6F9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golfing, with cart</c:v>
                  </c:pt>
                  <c:pt idx="1">
                    <c:v>yoga</c:v>
                  </c:pt>
                  <c:pt idx="2">
                    <c:v>aerobics, low-level</c:v>
                  </c:pt>
                  <c:pt idx="3">
                    <c:v>golfing, carrying clubs</c:v>
                  </c:pt>
                  <c:pt idx="4">
                    <c:v>skiing, downhill</c:v>
                  </c:pt>
                  <c:pt idx="5">
                    <c:v>soccer</c:v>
                  </c:pt>
                  <c:pt idx="6">
                    <c:v>racquetball</c:v>
                  </c:pt>
                  <c:pt idx="7">
                    <c:v>bike riding, 20 mph</c:v>
                  </c:pt>
                  <c:pt idx="8">
                    <c:v>basketball</c:v>
                  </c:pt>
                  <c:pt idx="9">
                    <c:v>jogging, 7.5 mph</c:v>
                  </c:pt>
                  <c:pt idx="10">
                    <c:v>walking upstairs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220</c:v>
                </c:pt>
                <c:pt idx="1">
                  <c:v>280</c:v>
                </c:pt>
                <c:pt idx="2">
                  <c:v>325</c:v>
                </c:pt>
                <c:pt idx="3">
                  <c:v>425</c:v>
                </c:pt>
                <c:pt idx="4">
                  <c:v>520</c:v>
                </c:pt>
                <c:pt idx="5">
                  <c:v>680</c:v>
                </c:pt>
                <c:pt idx="6">
                  <c:v>740</c:v>
                </c:pt>
                <c:pt idx="7">
                  <c:v>830</c:v>
                </c:pt>
                <c:pt idx="8">
                  <c:v>940</c:v>
                </c:pt>
                <c:pt idx="9">
                  <c:v>950</c:v>
                </c:pt>
                <c:pt idx="10">
                  <c:v>1200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50" u="none">
                  <a:solidFill>
                    <a:srgbClr val="1B2A4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3E9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6657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6657A"/>
                </a:solidFill>
                <a:latin typeface="Calibri"/>
              </a:rPr>
              <a:t>Specific heat, J/g·°C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Specific heat, J/g·°C</c:v>
                </c:pt>
              </c:strCache>
            </c:strRef>
          </c:tx>
          <c:spPr>
            <a:solidFill>
              <a:srgbClr val="2F6F9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hydrogen gas</c:v>
                  </c:pt>
                  <c:pt idx="1">
                    <c:v>liquid water</c:v>
                  </c:pt>
                  <c:pt idx="2">
                    <c:v>ethanol</c:v>
                  </c:pt>
                  <c:pt idx="3">
                    <c:v>ice</c:v>
                  </c:pt>
                  <c:pt idx="4">
                    <c:v>steam</c:v>
                  </c:pt>
                  <c:pt idx="5">
                    <c:v>hexane</c:v>
                  </c:pt>
                  <c:pt idx="6">
                    <c:v>benzene</c:v>
                  </c:pt>
                  <c:pt idx="7">
                    <c:v>aluminium</c:v>
                  </c:pt>
                  <c:pt idx="8">
                    <c:v>sodium chloride</c:v>
                  </c:pt>
                  <c:pt idx="9">
                    <c:v>iron</c:v>
                  </c:pt>
                  <c:pt idx="10">
                    <c:v>copper</c:v>
                  </c:pt>
                  <c:pt idx="11">
                    <c:v>mercury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14.31</c:v>
                </c:pt>
                <c:pt idx="1">
                  <c:v>4.184</c:v>
                </c:pt>
                <c:pt idx="2">
                  <c:v>2.418</c:v>
                </c:pt>
                <c:pt idx="3">
                  <c:v>2.059</c:v>
                </c:pt>
                <c:pt idx="4">
                  <c:v>2.042</c:v>
                </c:pt>
                <c:pt idx="5">
                  <c:v>1.648</c:v>
                </c:pt>
                <c:pt idx="6">
                  <c:v>1.05</c:v>
                </c:pt>
                <c:pt idx="7">
                  <c:v>0.9</c:v>
                </c:pt>
                <c:pt idx="8">
                  <c:v>0.866</c:v>
                </c:pt>
                <c:pt idx="9">
                  <c:v>0.452</c:v>
                </c:pt>
                <c:pt idx="10">
                  <c:v>0.385</c:v>
                </c:pt>
                <c:pt idx="11">
                  <c:v>0.138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50" u="none">
                  <a:solidFill>
                    <a:srgbClr val="1B2A4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3E9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6657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6657A"/>
                </a:solidFill>
                <a:latin typeface="Calibri"/>
              </a:rPr>
              <a:t>Heat per gram, J/g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ΔHfus</c:v>
                </c:pt>
              </c:strCache>
            </c:strRef>
          </c:tx>
          <c:spPr>
            <a:solidFill>
              <a:srgbClr val="2F6F9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water</c:v>
                  </c:pt>
                  <c:pt idx="1">
                    <c:v>ethanol</c:v>
                  </c:pt>
                  <c:pt idx="2">
                    <c:v>benzene</c:v>
                  </c:pt>
                  <c:pt idx="3">
                    <c:v>NaCl</c:v>
                  </c:pt>
                  <c:pt idx="4">
                    <c:v>iron</c:v>
                  </c:pt>
                  <c:pt idx="5">
                    <c:v>gold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334</c:v>
                </c:pt>
                <c:pt idx="1">
                  <c:v>189</c:v>
                </c:pt>
                <c:pt idx="2">
                  <c:v>127</c:v>
                </c:pt>
                <c:pt idx="3">
                  <c:v>517</c:v>
                </c:pt>
                <c:pt idx="4">
                  <c:v>264</c:v>
                </c:pt>
                <c:pt idx="5">
                  <c:v>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ΔHvap</c:v>
                </c:pt>
              </c:strCache>
            </c:strRef>
          </c:tx>
          <c:spPr>
            <a:solidFill>
              <a:srgbClr val="B86E0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water</c:v>
                  </c:pt>
                  <c:pt idx="1">
                    <c:v>ethanol</c:v>
                  </c:pt>
                  <c:pt idx="2">
                    <c:v>benzene</c:v>
                  </c:pt>
                  <c:pt idx="3">
                    <c:v>NaCl</c:v>
                  </c:pt>
                  <c:pt idx="4">
                    <c:v>iron</c:v>
                  </c:pt>
                  <c:pt idx="5">
                    <c:v>gold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2260</c:v>
                </c:pt>
                <c:pt idx="1">
                  <c:v>838</c:v>
                </c:pt>
                <c:pt idx="2">
                  <c:v>394</c:v>
                </c:pt>
                <c:pt idx="3">
                  <c:v>2891</c:v>
                </c:pt>
                <c:pt idx="4">
                  <c:v>6293</c:v>
                </c:pt>
                <c:pt idx="5">
                  <c:v>1711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B2A4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3E9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lecture follows sections 7.0 to 7.5 of the core reference in the book's own order: energy and its units, heat and temperature, phase changes, bond energies and chemical reactions, and the energy of biochemical reactions.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six outcomes are shared by the notes, pre- and post-lecture activities, tutorial, game and exam questions. Each question students meet carries one of these codes.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parts follow the chapter exactly. Intermolecular forces are taught later, in Chemical Bonding.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discuss for one minute before the reveal. This is also a pre-class reflection question, so some students will have an answer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discuss for one minute before the reveal. This is also a pre-class reflection question, so some students will have an answer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corresponds to sections 7.0 and 7.1.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7.0 uses metabolism to show that energy and chemical reactions are closely linked, especially inside the body. Link to pharmacy: many drugs and diseases alter metabolism and therefore body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which animal has the highest body temperature and why that might matter for dosing or storage of veterinary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definition of heat as a transfer. Students often say an object 'has a lot of heat'. The kinetic and potential energy terms link forward to temperature (Part 2) and bond energy (Chemical Reactions II).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capital-C Calorie trap on food labels. Malaysian labels show both kcal and kJ per serving, so students can check the conversion factor on any snack packet.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Figure 1. Ask students to bring a snack wrapper and check its kcal-to-kJ ratio against 4.184.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Example 1. Emphasise setting up conversion factors so units cancel.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Exercise 1. Give students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Exercise 1. Give students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row: 58.7 g protein × 4 Cal/g = 235 Cal. Ask students why fat dominates the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why does butter have the highest Cal/g? It is 79% fat and only 16%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'To Your Health'. Link to pharmacy practice: weight-management counselling and oral nutritional supplements are prescribed by energy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mental maths: how long would you need to jog to burn the energy in a 190 Cal brownie? About 12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 corresponds to section 7.2.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misconception check: a large bath of warm water and a small cup of hot water. Which has the higher temperature? Which can transfer more heat?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Kelvin degrees are the same size as Celsius degrees; the scale is only shifted by 273.15. 0 K is absolute zero, the lowest possible temperature. For most work, 273 is acceptable in place of 273.15.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derive 5/9 from the ratio of 100 Celsius divisions to 180 Fahrenheit divisions.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Example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Example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scale before the detailed health slide. Ask students to place 38.5 °C and 34.2 °C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Health Application, with brand names replaced by generic drug names. Children's fever thresholds are lower. Ask: which antipyretic would you avoid in a child with a viral fever? (Aspirin, because of Reye's syndrome.)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equation step by step on the board: q ∝ ΔT, then q ∝ mΔT, then q = mcΔT. 'Specific heat capacity' is the same thing; 'heat capacity' on its own is a different quantity.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g and °C cancel to leave only the energy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Liquid water has one of the highest specific heats. Note that ice and steam are about half of liquid water, so the phase matters when choosing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from Ball Table 7.2.1 converted to joules.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Example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Example 4. Specific heat acts like a fingerprint for identifying a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Part 2. The pharmacy example previews the post-lecture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 corresponds to section 7.3.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Figure: three containers holding the same mass in different 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Adding heat makes particles move faster (endothermic); removing heat slows them (exothermic).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Example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Exercise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Exercise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the heating curve (Part 5) has flat sections.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7.3.2. Ask students to point to where ice and water coexist.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matching units: cal/g needs grams; kJ/mol needs moles.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Water's ΔHvap is almost 7 times its ΔHfus. This explains the long boiling plateau on the heating curve.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from Ball Table 7.3.1.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Example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Exercise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Exercise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pharmacy example links to the post-lecture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 corresponds to section 7.4.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 opening analogy. Ask the question on the side card before revealing the general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 'Bond Energy'. Stress that breaking bonds always costs energy and forming bonds always releases energy.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use this table for every ΔH calculation. It is given in exams.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changes in chemical reactions are usually measured as changes in enthalpy, ΔH.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 worked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7.4, continuation of the H₂ + O₂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7.4.1, steps 1 to 5 combined.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7.4.1. The book's question text says 'thermal decomposition of water', but the equation and answer are for H₂ + Cl₂ → 2HCl; the question has been reworded to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7.4.1. The book's question text says 'thermal decomposition of water', but the equation and answer are for H₂ + Cl₂ → 2HCl; the question has been reworded to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 back to the instant cold pack from the pre-lecture activity: endothermic, so the pack feels cold.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7.4. Ask which reaction would warm the room: the methane combustion.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7.4.2.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7.4.2.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7.4.2.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both diagrams on the board and label reactants, products and the energy arrow.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one-page comparison students should be able to reproduce.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 Key Takeaways.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corresponds to section 7.5.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7.5, Equation 7.5.1.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book invites students to verify this; it links Part 5 back to food energy in Part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fuel values as the food-label calculations in Part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7.5, Figure 7.5.1.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7.5 Career Focus, with a pharmacy link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here appears in the summary page of the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students to the student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3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Fundamentals of Chemistry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9601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Matters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20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Nur 'Ainun Mokhtar (Dr. NAM) · Faculty of Pharmacy, UiTM Bertam, Penang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286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reference: Ball, Hill &amp; Scott, The Basics of GOB Chemistry, chapter 7 (7.0–7.5)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840480" y="2651760"/>
            <a:ext cx="0" cy="1737360"/>
          </a:xfrm>
          <a:prstGeom prst="line">
            <a:avLst/>
          </a:prstGeom>
          <a:noFill/>
          <a:ln w="12700">
            <a:solidFill>
              <a:srgbClr val="3A4B6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840480" y="4389120"/>
            <a:ext cx="4754880" cy="0"/>
          </a:xfrm>
          <a:prstGeom prst="line">
            <a:avLst/>
          </a:prstGeom>
          <a:noFill/>
          <a:ln w="12700">
            <a:solidFill>
              <a:srgbClr val="3A4B6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3874443" y="3931920"/>
            <a:ext cx="390579" cy="329184"/>
          </a:xfrm>
          <a:prstGeom prst="line">
            <a:avLst/>
          </a:prstGeom>
          <a:noFill/>
          <a:ln w="50800">
            <a:solidFill>
              <a:srgbClr val="2F6F9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65023" y="3931920"/>
            <a:ext cx="679269" cy="0"/>
          </a:xfrm>
          <a:prstGeom prst="line">
            <a:avLst/>
          </a:prstGeom>
          <a:noFill/>
          <a:ln w="50800">
            <a:solidFill>
              <a:srgbClr val="2F6F9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4944291" y="3108960"/>
            <a:ext cx="679269" cy="822960"/>
          </a:xfrm>
          <a:prstGeom prst="line">
            <a:avLst/>
          </a:prstGeom>
          <a:noFill/>
          <a:ln w="50800">
            <a:solidFill>
              <a:srgbClr val="6A6E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623560" y="3108960"/>
            <a:ext cx="2292531" cy="0"/>
          </a:xfrm>
          <a:prstGeom prst="line">
            <a:avLst/>
          </a:prstGeom>
          <a:noFill/>
          <a:ln w="50800">
            <a:solidFill>
              <a:srgbClr val="B86E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7916091" y="2761488"/>
            <a:ext cx="594360" cy="347472"/>
          </a:xfrm>
          <a:prstGeom prst="line">
            <a:avLst/>
          </a:prstGeom>
          <a:noFill/>
          <a:ln w="50800">
            <a:solidFill>
              <a:srgbClr val="B86E00"/>
            </a:solidFill>
            <a:prstDash val="solid"/>
          </a:ln>
        </p:spPr>
      </p:sp>
      <p:pic>
        <p:nvPicPr>
          <p:cNvPr id="16" name="Image 0" descr="/home/claude/em/mol/trim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9677" y="365760"/>
            <a:ext cx="1445367" cy="1005840"/>
          </a:xfrm>
          <a:prstGeom prst="rect">
            <a:avLst/>
          </a:prstGeom>
        </p:spPr>
      </p:pic>
      <p:pic>
        <p:nvPicPr>
          <p:cNvPr id="17" name="Image 1" descr="/home/claude/em/mol/trim/ethan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7569" y="982980"/>
            <a:ext cx="989262" cy="868680"/>
          </a:xfrm>
          <a:prstGeom prst="rect">
            <a:avLst/>
          </a:prstGeom>
        </p:spPr>
      </p:pic>
      <p:pic>
        <p:nvPicPr>
          <p:cNvPr id="18" name="Image 2" descr="/home/claude/em/mol/trim/co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113" y="1805940"/>
            <a:ext cx="731294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176479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energy and heat, and convert between joules, calories and nutritional Calories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41732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28032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176479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between temperature scales and calculate heat gained or lost using q = mcΔT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57200" y="24688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1792" y="2560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28163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phase changes and calculate the energy involved using heats of fusion and vaporisation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663440" y="24688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28032" y="2560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28163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heating curve of water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57200" y="35204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" y="3611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21792" y="386791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bond energy, estimate ΔH from bond energies, and classify reactions as endothermic or exothermic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4663440" y="35204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28032" y="3611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386791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energy changes to biochemical reactions such as glucose oxidation and ATP hydrolysis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map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Energy and its units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7.0–7.1): energy, heat, joules and calories, food energy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Heat and temperature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7.2): temperature scales, body temperature, q = mcΔT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Phase changes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7.3): states of matter, heats of fusion and vaporisation, the heating curve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Bond energies and chemical reactions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7.4): bond energy, ΔH, endothermic and exothermic reactions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energy of biochemical reactions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7.5): glucose, fats and proteins, ATP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24193"/>
            <a:ext cx="1371600" cy="74033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132588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at 100 °C burns worse than boiling water at 100 °C. Why?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3474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with a partner for one minute.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24193"/>
            <a:ext cx="1371600" cy="74033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 · ANSWER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12801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at 100 °C burns worse than boiling water at 100 °C. Why?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237744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Condensing steam releases its heat of vaporisation (540 cal/g, 2260 J/g) onto the skin, on top of the heat the hot water itself gives. You will calculate this in Part 3.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and its units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energy is, how heat is defined, and the units used in science, nutrition and pharmacy.</a:t>
            </a:r>
            <a:endParaRPr lang="en-US" sz="1600" dirty="0"/>
          </a:p>
        </p:txBody>
      </p:sp>
      <p:pic>
        <p:nvPicPr>
          <p:cNvPr id="9" name="Image 0" descr="/home/claude/em/mol/trim/ethan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8966" y="411480"/>
            <a:ext cx="2186789" cy="1920240"/>
          </a:xfrm>
          <a:prstGeom prst="rect">
            <a:avLst/>
          </a:prstGeom>
        </p:spPr>
      </p:pic>
      <p:pic>
        <p:nvPicPr>
          <p:cNvPr id="10" name="Image 1" descr="/home/claude/em/mol/trim/w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611746"/>
            <a:ext cx="1051560" cy="7317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   ·   Ball 7.0–7.1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in living things: metabolism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Metabolism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set of chemical reactions in cells that provides energy to keep cells alive. Some of that energy is released as heat.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57200" y="1946148"/>
            <a:ext cx="4023360" cy="2735580"/>
          </a:xfrm>
          <a:prstGeom prst="roundRect">
            <a:avLst>
              <a:gd name="adj" fmla="val 3343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0558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Endotherms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449068"/>
            <a:ext cx="3611880" cy="216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'Warm-blooded': use heat from metabolism to control body temperature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humans, birds, cats, dogs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Fever: body temperature rises when we are ill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 or sweat to lose excess heat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hibernate: controlled drop in metabolism and body temperature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663440" y="1946148"/>
            <a:ext cx="4023360" cy="2735580"/>
          </a:xfrm>
          <a:prstGeom prst="roundRect">
            <a:avLst>
              <a:gd name="adj" fmla="val 3343"/>
            </a:avLst>
          </a:prstGeom>
          <a:solidFill>
            <a:srgbClr val="E1EEF7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64608" y="20558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Ectotherms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4864608" y="2449068"/>
            <a:ext cx="3611880" cy="216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'Cold-blooded': do not use metabolic heat to control body temperature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 on external energy such as sunlight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fish move to water of a different temperature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available depends on metabolic rate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also hibernate when energy is scarce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body temperatures of selected endotherms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 temperature (°C)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 temperature (°F)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BEFD9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400800" y="1481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1783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sit at the low end. A dog's normal temperature would be a fever in a human, which matters when veterinary and human medicines are compared.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387705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7.0.1.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Energy, work and heat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ability to do work. The more energy available, the more work can be done.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transfer of energy between objects because they have different temperatures.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an ice cube held in the hand melts because heat flows from the hand to the ice. The hand loses energy, so it feels cold.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Energy, work and heat are closely related, so they share the same units.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of motion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kinetic energy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stored energy, such as energy held in chemical bonds,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energy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heat is energy </a:t>
            </a:r>
            <a:r>
              <a:rPr lang="en-US" sz="13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transit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An object contains energy; heat is what flows.</a:t>
            </a:r>
            <a:endParaRPr lang="en-US" sz="1300" dirty="0"/>
          </a:p>
        </p:txBody>
      </p:sp>
      <p:pic>
        <p:nvPicPr>
          <p:cNvPr id="12" name="Image 1" descr="/home/claude/em/fig/svg/heat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of energy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cal = 4.184 J     ·     1 Cal = 1 kcal = 1000 cal = 4.184 kJ</a:t>
            </a:r>
            <a:endParaRPr lang="en-US" sz="1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joule (J)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unit of energy, work and heat. Tiny: about 4 J warms 1 mL of water by 1 °C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kilojoule (kJ)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J; common because most processes involve thousands of joules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calorie (cal)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originally the energy to warm 1 g of water by 1 °C; now defined as exactly 4.184 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Calorie (Cal)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C: the nutritional calorie, equal to 1 kcal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works mostly in calories because health professionals use them. We show joules alongside.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food label</a:t>
            </a:r>
            <a:endParaRPr lang="en-US" sz="2700" dirty="0"/>
          </a:p>
        </p:txBody>
      </p:sp>
      <p:pic>
        <p:nvPicPr>
          <p:cNvPr id="11" name="Image 1" descr="/home/claude/em/fig/nutrition_lab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622" y="1371600"/>
            <a:ext cx="3280755" cy="29077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4325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nutrition facts label (US FDA, via Wikipedia), as in Ball, The Basics of GOB Chemistry Figure 7.1.1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434840" y="1463040"/>
            <a:ext cx="4251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labels give energy in nutritional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Calories (Cal)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are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kilocalories (kcal)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candy bar with 120 Cal provides 120 000 cal of energy.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label: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Cal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1-cup serving = 250 kcal =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kJ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Malaysian labels usually show energy in both kcal and kJ.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energy is calculated from fat, carbohydrate and protein content (next slide).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1.1 · Energy in bread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serving of bread provides 70.0 Cal. What is its energy content in calories and in joules?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70.0 Cal × 1000 cal/Cal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70 000 cal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(7.00 × 10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cal)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70 000 cal × 4.184 J/cal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292 880 J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2.93 × 10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293 kJ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Most of this energy comes from carbohydrates.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Energy in honey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cup of honey contains 1030 Cal. What is its energy content in calories and in joules?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Energy in honey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cup of honey contains 1030 Cal. What is its energy content in calories and in joules?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1030 Cal × 1000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 × 10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 × 10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 × 4.184 J/cal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4.31 × 10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(4310 kJ)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food energy comes from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energy is calculated from composition using average fuel values: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9 Cal/g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 and protein 4 Cal/g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and minerals 0 Cal/g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46148"/>
          <a:ext cx="4572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914400"/>
              </a:tblGrid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oz (227 g) roast beef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 value (Cal/g)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(Cal)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carbohydrate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minerals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0" descr=""/>
          <p:cNvGraphicFramePr/>
          <p:nvPr/>
        </p:nvGraphicFramePr>
        <p:xfrm>
          <a:off x="5166360" y="1854708"/>
          <a:ext cx="3566160" cy="27630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42519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7.1.1. Fat is 31% of the mass but supplies about 73% of the energy.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and fuel value of common foods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960120"/>
                <a:gridCol w="960120"/>
                <a:gridCol w="960120"/>
                <a:gridCol w="960120"/>
                <a:gridCol w="960120"/>
                <a:gridCol w="96012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(quantity)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Cal/g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Calories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milk (1 cup)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egg (1 large)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butter (1 tbsp)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 (8 oz)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bread (2 slices)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brownie (40 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hamburger (4 oz)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fried chicken (1 drumstick)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carrots (1 cup)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coffee (6 oz)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water content means low energy per gram. Compare butter (7.1 Cal/g) with milk (0.6 Cal/g).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44165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7.1.2 (selected rows).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energy does the body need?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4023360" cy="3310128"/>
          </a:xfrm>
          <a:prstGeom prst="roundRect">
            <a:avLst>
              <a:gd name="adj" fmla="val 2762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58368" y="14813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58368" y="187452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processes need about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Cal/h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1600 Cal/day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for an average 73 kg adult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keeps body temperature, heartbeat, breathing muscles, cell reactions and nerve impulses going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Moderately active adult: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2500–3000 Cal/day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Athletes: up to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Cal/day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4663440" y="1371600"/>
            <a:ext cx="4023360" cy="3310128"/>
          </a:xfrm>
          <a:prstGeom prst="roundRect">
            <a:avLst>
              <a:gd name="adj" fmla="val 2762"/>
            </a:avLst>
          </a:prstGeom>
          <a:solidFill>
            <a:srgbClr val="FBEFD9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64608" y="14813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and used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64608" y="187452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 intake is stored, mostly as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most compact energy store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diet falls short, stored fuels are mobilised and oxidised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carbohydrate is used up before fat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raises energy use, but less than many people hope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used during exercise</a:t>
            </a:r>
            <a:endParaRPr lang="en-US" sz="27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1371600"/>
          <a:ext cx="5212080" cy="3310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806440" y="150876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range from about 220 kcal/h (golf with a cart) to 1200 kcal/h (walking upstairs).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kJ, multiply by 4.184: jogging uses about 3970 kJ/h.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Burning off a 190 Cal brownie takes about 12 minutes of jogging.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starting a new exercise regimen should consult a doctor first.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snack label states 250 kcal. What is this in kJ?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kJ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kJ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kJ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1 046 000 kJ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snack label states 250 kcal. What is this in kJ?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kJ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kJ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kJ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1 046 000 kJ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250 kcal × 4.184 kJ/kcal = 1046 kJ.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and temperature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temperature is measured, what it means for the body, and how much heat changes a temperature.</a:t>
            </a:r>
            <a:endParaRPr lang="en-US" sz="1600" dirty="0"/>
          </a:p>
        </p:txBody>
      </p:sp>
      <p:pic>
        <p:nvPicPr>
          <p:cNvPr id="9" name="Image 0" descr="/home/claude/em/mol/trim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576179"/>
            <a:ext cx="2286000" cy="1590842"/>
          </a:xfrm>
          <a:prstGeom prst="rect">
            <a:avLst/>
          </a:prstGeom>
        </p:spPr>
      </p:pic>
      <p:pic>
        <p:nvPicPr>
          <p:cNvPr id="10" name="Image 1" descr="/home/claude/em/mol/trim/meth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0003" y="3520440"/>
            <a:ext cx="982033" cy="9144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   ·   Ball 7.2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is not the same as temperature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in temperature is what causes heat to flow.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5720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E1EEF7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hot or cold an object is compared with another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kinetic energy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particles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a thermometer, in °C, °F or K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66344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FBEFD9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6460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(q)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486460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thermal energy between objects at different temperatures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flows from hotter to colder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a hot object: energy flows into your fingers, so it feels hot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ice: energy flows out of your hand, so it feels cold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temperature scales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Thermometers use liquids such as alcohol or mercury (a neurotoxin) that expand when heated and contract when cooled.</a:t>
            </a:r>
            <a:endParaRPr lang="en-US" sz="1500" dirty="0"/>
          </a:p>
        </p:txBody>
      </p:sp>
      <p:pic>
        <p:nvPicPr>
          <p:cNvPr id="12" name="Image 1" descr="/home/claude/em/fig/thermomet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321" y="1946148"/>
            <a:ext cx="2618398" cy="22875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7200" y="4279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Fahrenheit, Celsius and Kelvin compared (Ball, The Basics of GOB Chemistry Figure 7.2.1)</a:t>
            </a:r>
            <a:endParaRPr lang="en-US" sz="9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20440" y="1946148"/>
          <a:ext cx="5166360" cy="914400"/>
        </p:xfrm>
        <a:graphic>
          <a:graphicData uri="http://schemas.openxmlformats.org/drawingml/2006/table">
            <a:tbl>
              <a:tblPr/>
              <a:tblGrid>
                <a:gridCol w="2066544"/>
                <a:gridCol w="1033272"/>
                <a:gridCol w="1033272"/>
                <a:gridCol w="103327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Fahrenheit (°F)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Celsius (°C)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Kelvin (K)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 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−459.67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−273.15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freezes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273.15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body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boils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373.15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9"/>
          <p:cNvSpPr txBox="1"/>
          <p:nvPr/>
        </p:nvSpPr>
        <p:spPr>
          <a:xfrm>
            <a:off x="3520440" y="412242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uses Celsius and kelvin almost exclusively. Kelvin has no 'degrees': 295 K is 'two hundred ninety-five kelvin'.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between temperature scales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 = (°F − 32) × 5/9     ·     °F = (9/5 × °C) + 32     ·     K = °C + 273.15</a:t>
            </a:r>
            <a:endParaRPr lang="en-US" sz="1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Fahrenheit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freezes at 32 °F and boils at 212 °F (180 divisions)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Celsius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freezes at 0 °C and boils at 100 °C (100 divisions)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Kelvin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size degree as Celsius, starting at absolute 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scales were introduced in Matters and Measurement. This is a short recap because the book uses them throughout this chapter.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2.1 · Converting temperatures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What is 98.6 °F in °C?   (b) What is 25.0 °C in °F?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°C = (98.6 − 32) × 5/9 = 66.6 × 5/9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37.0 °C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°F = (9/5 × 25.0) + 32 = 45.0 + 32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77.0 °F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2.2 · Room temperature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room temperature is 72.0 °F. What is it in °C and in kelvin?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 = (72.0 − 32) × 5/9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°C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22.2 + 273.15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295.4 K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room temperature is about 295 K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Conversions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Convert 0 °F to °C.   (b) Convert 212 °C to °F.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Conversions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Convert 0 °F to °C.   (b) Convert 212 °C to °F.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(0 − 32) × 5/9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−17.8 °C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(9/5 × 212) + 32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414 °F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Note: 212 °C, not 212 °F.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temperature zones</a:t>
            </a:r>
            <a:endParaRPr lang="en-US" sz="2700" dirty="0"/>
          </a:p>
        </p:txBody>
      </p:sp>
      <p:pic>
        <p:nvPicPr>
          <p:cNvPr id="11" name="Image 1" descr="/home/claude/em/fig/svg/bodyte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1701" y="1371600"/>
            <a:ext cx="3580598" cy="8503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267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from Ball 7.2, converted to °C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2715768"/>
            <a:ext cx="8229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37.0 °C (98.6 °F), give or take about 0.5 °C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above 37.8 °C (100 °F) in adults;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fever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40 °C (104 °F)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Hypothermia: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 35.0 °C (95.0 °F)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Children's fever thresholds are lower than adults'.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application: body temperature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body temperature is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37.0 °C (98.6 °F), ± about 0.5 °C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most reliable readings are under the tongue or rectal.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57200" y="1946148"/>
            <a:ext cx="4023360" cy="2735580"/>
          </a:xfrm>
          <a:prstGeom prst="roundRect">
            <a:avLst>
              <a:gd name="adj" fmla="val 3343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0558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hot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449068"/>
            <a:ext cx="3611880" cy="216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Fever: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above 37.8 °C (100 °F) in adults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fever: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40 °C (104 °F) or more: seek medical attention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Hyperthermia: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body cannot regulate heat. Causes: infection, heat stroke, thyroid disorders, heart attack, injury, some cancer, arthritis and thyroid medicines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Symptoms: sweating, confusion, nausea, dizziness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fluids, antipyretics such as paracetamol, ibuprofen, aspirin or naproxen, a cool bath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663440" y="1946148"/>
            <a:ext cx="4023360" cy="2735580"/>
          </a:xfrm>
          <a:prstGeom prst="roundRect">
            <a:avLst>
              <a:gd name="adj" fmla="val 3343"/>
            </a:avLst>
          </a:prstGeom>
          <a:solidFill>
            <a:srgbClr val="E1EEF7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64608" y="20558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cold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4864608" y="2449068"/>
            <a:ext cx="3611880" cy="216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Hypothermia: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 35.0 °C (95.0 °F)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body struggles to produce heat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Causes: cold exposure, diabetes, infection, thyroid dysfunction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Symptoms: shivering, confusion, sluggishness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remove wet clothing, re-dress warmly, move about; seek medical attention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transfer and temperature change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system gains or loses heat, its temperature usually changes (phase changes are the exception, Part 3).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heat → bigger temperature change: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∝ ΔT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where ΔT = T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T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mass → more heat needed for the same change: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∝ m × ΔT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proportionality constant is the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heat, c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energy to change the temperature of 1 g of a substance by 1 °C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substance has its own c, in cal/g·°C or J/g·°C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72200" y="146304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3550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convention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193852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in: q and ΔT are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out: q and ΔT are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heat equation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c × ΔT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transferred (cal or J)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of the sample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 heat (cal/g·°C or J/g·°C)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T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(°C; a change of 1 °C equals a change of 1 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units consistent: if c is in cal/g·°C, q comes out in cal.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heats of selected substances</a:t>
            </a:r>
            <a:endParaRPr lang="en-US" sz="27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914400"/>
                <a:gridCol w="914400"/>
                <a:gridCol w="233172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(cal/g·°C)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(J/g·°C)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(cal/g·°C)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(J/g·°C)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water, H</a:t>
                      </a:r>
                      <a:r>
                        <a:rPr lang="en-US" sz="1100" b="1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hexane, C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hydrogen, 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benzene, C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ethanol, C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oxygen, O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ice, 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aluminium, 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steam, 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sodium chloride, NaCl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aluminium oxide, Al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iron(III) oxide, Fe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iron, Fe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copper, Cu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mercury, Hg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7.2.1; J values × 4.184.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specific heats</a:t>
            </a:r>
            <a:endParaRPr lang="en-US" sz="27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1371600"/>
          <a:ext cx="5212080" cy="3310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806440" y="150876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water (4.184 J/g·°C) is among the highest: it warms and cools slowly.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Metals are low: copper warms about 10 times more than water for the same heat.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and steam are about half of liquid water, so use the c for the right phase.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heat can identify a substance (Example 2.4).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2.3 · Heating an iron block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transferred when a 150.0 g block of iron is heated from 25.0 °C to 73.3 °C? Which way does the heat flow?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 = 73.3 − 25.0 = 48.3 °C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c × ΔT = 150.0 g × 0.108 cal/g·°C × 48.3 °C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782 cal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 3.27 kJ). The temperature rose, so heat flowed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iron.</a:t>
            </a:r>
            <a:endParaRPr lang="en-US" sz="1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Cooling aluminium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transferred when a 295.5 g block of aluminium is cooled from 128.0 °C to 22.5 °C? Which way does the heat flow?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Cooling aluminium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transferred when a 295.5 g block of aluminium is cooled from 128.0 °C to 22.5 °C? Which way does the heat flow?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 = 22.5 − 128.0 = −105.5 °C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295.5 × 0.215 × (−105.5)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−6.70 × 10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(−28.0 kJ). Negative: heat flows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aluminium.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2.4 · Identifying a metal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10.3 g reddish-brown metal gives off 71.7 cal as it cools from 97.5 °C to 22.0 °C. Find its specific heat and identify it.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 = 22.0 − 97.5 = −75.5 °C; heat is given off, so q = −71.7 cal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q ÷ (m × ΔT) = −71.7 ÷ (10.3 × −75.5)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0.0922 cal/g·°C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(0.386 J/g·°C). Closest match: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(0.092).</a:t>
            </a:r>
            <a:endParaRPr lang="en-US" sz="17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A crystal of salt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10.7 g crystal of NaCl starts at 37.0 °C and absorbs 147 cal. What is its final temperature? (c = 0.207 cal/g·°C)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A crystal of salt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10.7 g crystal of NaCl starts at 37.0 °C and absorbs 147 cal. What is its final temperature? (c = 0.207 cal/g·°C)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 = q ÷ (m × c) = 147 ÷ (10.7 × 0.207) = 66.4 °C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37.0 + 66.4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103.4 °C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water's high specific heat matters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absorbs a lot of heat for a small temperature rise, so it is used as a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coolant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Power plants are often built beside lakes for this reason.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Coastal climates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milder than inland ones: the sea absorbs heat on hot days and releases it on cool days.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body is mostly water, which helps keep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temperature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steady.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IV fluids are mostly water, so warming a litre for infusion takes a lot of energy (about 50 kJ from 25 °C to 37 °C).</a:t>
            </a:r>
            <a:endParaRPr lang="en-US" sz="1500" dirty="0"/>
          </a:p>
        </p:txBody>
      </p:sp>
      <p:pic>
        <p:nvPicPr>
          <p:cNvPr id="12" name="Image 1" descr="/home/claude/em/fig/power_pl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22053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3683571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 plant beside a lake uses the water as a coolant (Ball, The Basics of GOB Chemistry Figure 7.2.2)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masses of water and copper absorb the same amount of heat. Which gets hotter?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the same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tell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masses of water and copper absorb the same amount of heat. Which gets hotter?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the same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tell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Copper's specific heat (0.092 cal/g·°C) is about one tenth of water's, so the same heat gives about ten times the temperature rise.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changes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of matter, the energy needed to change state, and why temperature stays constant while it happens.</a:t>
            </a:r>
            <a:endParaRPr lang="en-US" sz="1600" dirty="0"/>
          </a:p>
        </p:txBody>
      </p:sp>
      <p:pic>
        <p:nvPicPr>
          <p:cNvPr id="9" name="Image 0" descr="/home/claude/em/mol/trim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728464"/>
            <a:ext cx="2286000" cy="1286273"/>
          </a:xfrm>
          <a:prstGeom prst="rect">
            <a:avLst/>
          </a:prstGeom>
        </p:spPr>
      </p:pic>
      <p:pic>
        <p:nvPicPr>
          <p:cNvPr id="10" name="Image 1" descr="/home/claude/em/mol/trim/w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611746"/>
            <a:ext cx="1051560" cy="7317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 · EM-LO4   ·   Ball 7.3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of matter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energy in the particles decides the state of matter.</a:t>
            </a:r>
            <a:endParaRPr lang="en-US" sz="1500" dirty="0"/>
          </a:p>
        </p:txBody>
      </p:sp>
      <p:pic>
        <p:nvPicPr>
          <p:cNvPr id="12" name="Image 1" descr="/home/claude/em/fig/stat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543" y="1668018"/>
            <a:ext cx="2080913" cy="10789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7200" y="279273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mass of a substance as a gas, liquid and solid (Ball, The Basics of GOB Chemistry Figure 7.3.1)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457200" y="3195066"/>
            <a:ext cx="2606040" cy="1468374"/>
          </a:xfrm>
          <a:prstGeom prst="roundRect">
            <a:avLst>
              <a:gd name="adj" fmla="val 6227"/>
            </a:avLst>
          </a:prstGeom>
          <a:solidFill>
            <a:srgbClr val="E1EEF7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40080" y="328650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40080" y="3697986"/>
            <a:ext cx="2240280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lack the energy to move. Always in contact, in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positions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its own shape and volume.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246120" y="3195066"/>
            <a:ext cx="2606040" cy="1468374"/>
          </a:xfrm>
          <a:prstGeom prst="roundRect">
            <a:avLst>
              <a:gd name="adj" fmla="val 6227"/>
            </a:avLst>
          </a:prstGeom>
          <a:solidFill>
            <a:srgbClr val="ECEFE6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3429000" y="328650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3429000" y="3697986"/>
            <a:ext cx="2240280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are always in contact but have enough energy to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positions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shape of its container, keeps its volume.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035040" y="3195066"/>
            <a:ext cx="2606040" cy="1468374"/>
          </a:xfrm>
          <a:prstGeom prst="roundRect">
            <a:avLst>
              <a:gd name="adj" fmla="val 6227"/>
            </a:avLst>
          </a:prstGeom>
          <a:solidFill>
            <a:srgbClr val="FBEFD9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217920" y="328650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0" y="3697986"/>
            <a:ext cx="2240280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have enough energy to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freely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they meet only when they collide.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both the shape and volume of its container.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of state</a:t>
            </a:r>
            <a:endParaRPr lang="en-US" sz="27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206240" cy="914400"/>
        </p:xfrm>
        <a:graphic>
          <a:graphicData uri="http://schemas.openxmlformats.org/drawingml/2006/table">
            <a:tbl>
              <a:tblPr/>
              <a:tblGrid>
                <a:gridCol w="1682496"/>
                <a:gridCol w="1261872"/>
                <a:gridCol w="126187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melting (fusion)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 → liquid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vaporisation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→ gas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 → gas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freezing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→ solid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condensation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→ liquid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→ solid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2" name="Image 1" descr="/home/claude/em/fig/svg/phase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280160"/>
            <a:ext cx="3794760" cy="31623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57200" y="389534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to melt a sample = heat released when it freezes; only the direction changes. Deposition added for completeness.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3.1 · Endothermic or exothermic?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each process: (a) water boiling   (b) ice forming on a pond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Endothermic.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pan of water must be heated on the stove to boil: heat is added.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Exothermic.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Heat is removed from the water as it freezes, like water in a freezer: heat leaves.</a:t>
            </a:r>
            <a:endParaRPr lang="en-US" sz="17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Endothermic or exothermic?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each process: (a) water vapour condensing   (b) gold melting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Endothermic or exothermic?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each process: (a) water vapour condensing   (b) gold melting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(heat released)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(heat absorbed)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and boiling points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point: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temperature at which a solid becomes a liquid (or a liquid becomes a solid)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 point: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temperature at which a liquid becomes a gas (or a gas becomes a liquid)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melting or boiling point,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phases can coexist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At 0 °C, ice and water are both present; adding heat melts some ice, removing heat freezes some water.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changes are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temperature does not change until the change of state is complete.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heat added goes into changing the state, not into raising the temperature.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172200" y="146304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3550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193852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= same, thermal = temperature. Ice at 0 °C melts into water at 0 °C.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heating curve of water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Slopes: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phase warming up. Use q = mcΔT with the c for that phase (ice, water or steam).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Plateaus: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phase change at constant temperature. Use q = mΔH.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plateau at 0 °C is melting; at 100 °C, boiling.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boiling plateau is about 7 times longer because ΔH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(540 cal/g) ≫ ΔH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(79.9 cal/g).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is still being added on a plateau; it goes into changing the state, not raising the temperature.</a:t>
            </a:r>
            <a:endParaRPr lang="en-US" sz="1500" dirty="0"/>
          </a:p>
        </p:txBody>
      </p:sp>
      <p:pic>
        <p:nvPicPr>
          <p:cNvPr id="12" name="Image 1" descr="/home/claude/em/fig/heating_curve_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1945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 curve for water (Ball Figure 7.3.2; CC BY 3.0, Community College Consortium for Bioscience Credentials)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heating curve, a flat segment means…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substance is cooling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change is happening at constant temperature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heat is being added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heat is zero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heating curve, a flat segment means…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substance is cooling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change is happening at constant temperature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heat is being added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heat is zero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Heat is still being added, but it goes into changing the state, not raising the temperature.</a:t>
            </a:r>
            <a:endParaRPr lang="en-US" sz="1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Heats of fusion and vaporisation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ΔH</a:t>
            </a:r>
            <a:r>
              <a:rPr lang="en-US" sz="26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q = m × ΔH</a:t>
            </a:r>
            <a:r>
              <a:rPr lang="en-US" sz="26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endParaRPr lang="en-US" sz="26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300" b="1" baseline="-40000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of fusion: heat per gram (or per mole) to melt a solid at its melting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300" b="1" baseline="-40000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of vaporisation: heat per gram (or per mole) to vaporise a liquid at its boiling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 or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mass (g) with values per gram, or moles (n) with values per mole: q = n × ΔH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ΔT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does not change during the phase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values give the heat released on freezing or condensing; only the sign changes.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Heats of fusion and vaporisation</a:t>
            </a:r>
            <a:endParaRPr lang="en-US" sz="27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463040"/>
                <a:gridCol w="1463040"/>
                <a:gridCol w="1463040"/>
              </a:tblGrid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100" b="1" baseline="-400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</a:t>
                      </a: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(cal/g)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100" b="1" baseline="-400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</a:t>
                      </a: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(J/g)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100" b="1" baseline="-400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vap</a:t>
                      </a: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(cal/g)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100" b="1" baseline="-400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vap</a:t>
                      </a: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(J/g)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aluminium, 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10 890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gold, Au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iron, Fe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water, H</a:t>
                      </a:r>
                      <a:r>
                        <a:rPr lang="en-US" sz="1150" b="1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sodium chloride, NaCl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ethanol, C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benzene, C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substance, ΔH</a:t>
            </a:r>
            <a:r>
              <a:rPr lang="en-US" sz="125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much larger than ΔH</a:t>
            </a:r>
            <a:r>
              <a:rPr lang="en-US" sz="125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Separating particles completely takes far more energy than loosening them.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44165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7.3.1; J values × 4.184.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Vaporising takes far more energy than melting</a:t>
            </a:r>
            <a:endParaRPr lang="en-US" sz="27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1371600"/>
          <a:ext cx="5212080" cy="3310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806440" y="150876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substance, 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several times 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only loosens particles; vaporising separates them completely.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Water: 2260 J/g vs 334 J/g, almost 7 times more.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Aluminium (not shown) is extreme: 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10 890 J/g.</a:t>
            </a:r>
            <a:endParaRPr lang="en-US" sz="17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3.2 · Melting ice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needed to melt 55.8 g of ice at 0 °C? (ΔH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79.9 cal/g)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55.8 g × 79.9 cal/g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4.46 × 10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(4.46 kcal)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SI: 55.8 g × 334 J/g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18.6 kJ</a:t>
            </a:r>
            <a:endParaRPr lang="en-US" sz="17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Boiling water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needed to vaporise 685 g of water at 100 °C? (ΔH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540 cal/g)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Boiling water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needed to vaporise 685 g of water at 100 °C? (ΔH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540 cal/g)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685 × 540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3.70 × 10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(370 kcal)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SI: 685 × 2260 J/g = 1.55 × 10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1550 kJ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Sublimation: solid straight to gas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substance has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of sublimation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ΔH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For water it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620 cal/g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(2590 J/g).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ice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(solid 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sublimes at −78.5 °C. 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liquid only under high pressure. Dry ice is used for long-term preservation and shipping of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samples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sublimes slowly even below 0 °C: frost disappears, and ice cubes in a freezer shrink.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Freezer burn: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water sublimes from frozen food, leaving a dry, mottled surface. Reduce it by lower temperatures and tight wrapping.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freeze-drying (lyophilisation) removes water from frozen injections and vaccines by sublimation under low pressure.</a:t>
            </a:r>
            <a:endParaRPr lang="en-US" sz="1300" dirty="0"/>
          </a:p>
        </p:txBody>
      </p:sp>
      <p:pic>
        <p:nvPicPr>
          <p:cNvPr id="12" name="Image 1" descr="/home/claude/em/mol/trim/co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185223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3315273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dioxide, CO₂. Solid CO₂ is dry ice.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phase changes both release heat?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and boiling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and condensation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 and melting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 and sublimation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phase changes both release heat?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and boiling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and condensation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 and melting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 and sublimation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Freezing and condensation remove heat from the substance, so they are exothermic.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energies and chemical reactions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reactions release or absorb energy, and how to estimate the energy change from the bonds that break and form.</a:t>
            </a:r>
            <a:endParaRPr lang="en-US" sz="1600" dirty="0"/>
          </a:p>
        </p:txBody>
      </p:sp>
      <p:pic>
        <p:nvPicPr>
          <p:cNvPr id="9" name="Image 0" descr="/home/claude/em/mol/trim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576179"/>
            <a:ext cx="2286000" cy="1590842"/>
          </a:xfrm>
          <a:prstGeom prst="rect">
            <a:avLst/>
          </a:prstGeom>
        </p:spPr>
      </p:pic>
      <p:pic>
        <p:nvPicPr>
          <p:cNvPr id="10" name="Image 1" descr="/home/claude/em/mol/trim/meth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0003" y="3520440"/>
            <a:ext cx="982033" cy="9144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   ·   Ball 7.4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moves towards lower energy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 basketball halfway up a playground slide and let go: it rolls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every time.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moves to a lower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gravitational potential energy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move up the slide only if someone does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it.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rule from centuries of observation: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objects tend to move spontaneously to a position of minimum energy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unless acted on by some other force or object.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in compounds behave the same way.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72200" y="146304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3550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193852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the basketball ever roll </a:t>
            </a:r>
            <a:r>
              <a:rPr lang="en-US" sz="15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slide on its own? Why not?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energy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bond together because the bonded atoms have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energy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the separate atoms.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atoms combine to make a compound, energy is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given off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usually as heat.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energy into a molecule can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 bonds. The energy needed to break a bond is its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same amount is released when the bond forms.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energy describes covalent bonds. For ions held by opposite charges, the term is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lattice energy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bonds are stronger: C–C about 80 kcal/mol, C=C about 145 kcal/mol (see bond length in Chemical Bonding).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bond type has a roughly constant value: all C–H bonds are about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kcal/mol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bond energies</a:t>
            </a:r>
            <a:endParaRPr lang="en-US" sz="27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280160"/>
                <a:gridCol w="1371600"/>
                <a:gridCol w="1280160"/>
                <a:gridCol w="1280160"/>
              </a:tblGrid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kcal/mol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kJ/mol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kcal/mol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kJ/mol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Br–Br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Cl–Cl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O=O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C≡C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H–Br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7.4.1; kJ values × 4.184, rounded. These are averages over many molecules.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Enthalpy change from bond energies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Σ(bonds broken) − Σ(bonds formed)</a:t>
            </a:r>
            <a:endParaRPr lang="en-US" sz="26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broken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in the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reactants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energy is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to break them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formed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in the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energy is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released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 they 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approximate, because the table gives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bond energies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of ΔH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exothermic (heat released) ·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endothermic (heat absorbed)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reactions occur, atoms rearrange their bonds. The new bonds never have exactly the same total energy, so every reaction has an energy change.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4.1 · Hydrogen burning to make water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ΔH for 2 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O(g). (H–H 105, O=O 119, O–H 110 kcal/mol)</a:t>
            </a:r>
            <a:endParaRPr lang="en-US" sz="1600" dirty="0"/>
          </a:p>
        </p:txBody>
      </p:sp>
      <p:pic>
        <p:nvPicPr>
          <p:cNvPr id="13" name="Image 1" descr="/home/claude/em/fig/h2o_bo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77440"/>
            <a:ext cx="3429000" cy="109691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3520071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broken and formed (Ball, The Basics of GOB Chemistry 7.4)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242316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broken: 2 H–H = 2 × 105 = 210 kcal; 1 O=O = 119 kcal; total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329 kcal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316992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formed: 4 O–H (two in each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O) = 4 × 110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kcal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960120" y="391668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329 − 440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−111 kcal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Negative: the reaction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as a product</a:t>
            </a:r>
            <a:endParaRPr lang="en-US" sz="2700" dirty="0"/>
          </a:p>
        </p:txBody>
      </p:sp>
      <p:pic>
        <p:nvPicPr>
          <p:cNvPr id="11" name="Image 1" descr="/home/claude/em/fig/heat_produ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453" y="1371600"/>
            <a:ext cx="4181094" cy="8503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267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written on the product side (Ball, The Basics of GOB Chemistry 7.4)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2715768"/>
            <a:ext cx="8229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bonds in the products (440 kcal) are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those in the reactants (329 kcal) by about 111 kcal.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reaction releases more energy than it consumes; the excess is released as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it is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write it: put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+ 111 kcal on the product side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write 2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2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with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= −111 kcal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exothermic reaction always has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ΔH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4.2 · Hydrogen bromide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ΔH for 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Br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HBr(g)? Is it exothermic or endothermic?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 bonds (broken): 1 H–H = 105 kcal; 1 Br–Br = 46 kcal; total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 kcal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01980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01980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298323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bonds (formed): 2 H–Br = 2 × 87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 kcal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54330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151 − 174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−23 kcal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2920" y="413994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02920" y="4139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10337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is negative, so the reaction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Hydrogen chloride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bond energy table, find ΔH for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HCl(g). Is it exothermic or endothermic? Explain.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Hydrogen chloride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bond energy table, find ΔH for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HCl(g). Is it exothermic or endothermic? Explain.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Broken: 1 H–H + 1 Cl–Cl = 105 + 58 = 163 kcal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Formed: 2 H–Cl = 2 × 103 = 206 kcal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163 − 206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−43 kcal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Negative, so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 and exothermic reactions</a:t>
            </a:r>
            <a:endParaRPr lang="en-US" sz="2700" dirty="0"/>
          </a:p>
        </p:txBody>
      </p:sp>
      <p:pic>
        <p:nvPicPr>
          <p:cNvPr id="11" name="Image 1" descr="/home/claude/em/fig/endo_exo_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212080" cy="257034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5760" y="4079101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Endothermic reaction. (B) Exothermic reaction (Ball, The Basics of GOB Chemistry Figure 7.4.1)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energy is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Heat flows from the surroundings into the system (the reaction mixture), the enthalpy of the system increases, and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is positive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surroundings get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heat is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Heat flows from the system into the surroundings, the enthalpy of the system decreases, and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is negative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surroundings get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heat into an equation</a:t>
            </a:r>
            <a:endParaRPr lang="en-US" sz="2700" dirty="0"/>
          </a:p>
        </p:txBody>
      </p:sp>
      <p:pic>
        <p:nvPicPr>
          <p:cNvPr id="11" name="Image 1" descr="/home/claude/em/fig/heat_eq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657600" cy="159927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301659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7.4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434840" y="1463040"/>
            <a:ext cx="4251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1 mol of CaCO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decomposes into 1 mol CaO and 1 mol CO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177.8 kJ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absorbed. Heat is written as a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ΔH = +177.8 kJ.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burning 1 mol of methane releases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890.4 kJ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Heat is written as a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ΔH = −890.4 kJ.</a:t>
            </a:r>
            <a:endParaRPr lang="en-US" sz="1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4.3 · Exothermic or endothermic?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+ 2 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CO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+ 2 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O(ℓ) + 213 kcal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N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+ 45 kcal → 2 NO(g)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Energy (213 kcal) is 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energy is given off, so the reaction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Energy (45 kcal) is 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energy is absorbed, so the reaction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Exothermic or endothermic?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F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HF(g) + 130 kcal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2 C(s) +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+ 5.3 kcal → C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Exothermic or endothermic?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F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HF(g) + 130 kcal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2 C(s) +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+ 5.3 kcal → C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energy (130 kcal) is produced.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energy (5.3 kcal) is absorbed to react.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diagrams: uphill and downhill</a:t>
            </a:r>
            <a:endParaRPr lang="en-US" sz="2700" dirty="0"/>
          </a:p>
        </p:txBody>
      </p:sp>
      <p:pic>
        <p:nvPicPr>
          <p:cNvPr id="11" name="Image 1" descr="/home/claude/em/fig/energy_diagr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212080" cy="253685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5760" y="4045613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endothermic. Right: exothermic (Ball, The Basics of GOB Chemistry Figures 7.4.2 and 7.4.3)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Endothermic, 'uphill':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reactants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energy than products; the reactants have stronger bonds. They must absorb energy from the environment to become products.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Exothermic, 'downhill':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products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energy than reactants; the products have stronger bonds. Energy is given off, usually as heat (a few reactions give off light).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bonds have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potential energy than weak bonds.</a:t>
            </a:r>
            <a:endParaRPr lang="en-US" sz="13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 vs exothermic reactions</a:t>
            </a:r>
            <a:endParaRPr lang="en-US" sz="27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Endothermic reactions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 reactions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is absorbed by reactants to form products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is released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is absorbed from the surroundings, which get cold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is released to the surroundings, which feel hot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rxn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is </a:t>
                      </a: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rxn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is </a:t>
                      </a: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broken in the reactants are stronger than bonds formed in the products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formed in the products are stronger than bonds broken in the reactants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Reactants are lower in energy than products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 are lower in energy than reactants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'Uphill' energy diagram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'Downhill' energy diagram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387705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7.4.2.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bond energies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are held together by a certain amount of energy called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to break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bonds. Energy is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when bonds form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because the atoms become more stable.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 are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depending on whether they give off or absorb energy.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Σ(bonds broken) − Σ(bonds formed): negative is exothermic, positive is endothermic.</a:t>
            </a:r>
            <a:endParaRPr lang="en-US" sz="1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reaction has ΔH = +45 kcal. Which statement is correct?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releases heat and the surroundings warm up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absorbs heat and the surroundings get colder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products are lower in energy than its reactants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a 'downhill' energy diagram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reaction has ΔH = +45 kcal. Which statement is correct?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releases heat and the surroundings warm up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absorbs heat and the surroundings get colder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products are lower in energy than its reactants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a 'downhill' energy diagram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positive ΔH means an endothermic reaction: heat flows in from the surroundings.</a:t>
            </a:r>
            <a:endParaRPr lang="en-US" sz="14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of biochemical reactions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reactions in the body follow the same energy rules as any other chemical reaction.</a:t>
            </a:r>
            <a:endParaRPr lang="en-US" sz="1600" dirty="0"/>
          </a:p>
        </p:txBody>
      </p:sp>
      <p:pic>
        <p:nvPicPr>
          <p:cNvPr id="9" name="Image 0" descr="/home/claude/em/mol/trim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728464"/>
            <a:ext cx="2286000" cy="1286273"/>
          </a:xfrm>
          <a:prstGeom prst="rect">
            <a:avLst/>
          </a:prstGeom>
        </p:spPr>
      </p:pic>
      <p:pic>
        <p:nvPicPr>
          <p:cNvPr id="10" name="Image 1" descr="/home/claude/em/mol/trim/w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611746"/>
            <a:ext cx="1051560" cy="7317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   ·   Ball 7.5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Oxidising glucose: the body's energy source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(s) + 6 O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6 CO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+ 6 H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O(ℓ) + 670 kcal</a:t>
            </a:r>
            <a:endParaRPr lang="en-US" sz="19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glucose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a carbohydrate (sugar)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670 kcal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released per mole of glucose (about 2800 kJ): heat is a product, so it is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mol of glucose has a volume of only about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 mL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so it is a compact source of energy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rules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chemistry of the body is complex, but it follows the same energy principles as other reactions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5.1 · Checking the 4 kcal/g fuel value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releases 670 kcal per mole. Show that this is about 4 kcal per gram. (C = 12.01, H = 1.008, O = 16.00)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Molar mass of C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6(12.01) + 12(1.008) + 6(16.00)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180.2 g/mol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670 kcal/mol ÷ 180.2 g/mol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 kcal/g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kcal/g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fuel value used for all carbohydrates in Part 1.</a:t>
            </a:r>
            <a:endParaRPr lang="en-US" sz="17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main dietary energy sources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Carbohydrates, proteins and fats are the three main components of the human diet.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57200" y="1713738"/>
            <a:ext cx="2606040" cy="2949702"/>
          </a:xfrm>
          <a:prstGeom prst="roundRect">
            <a:avLst>
              <a:gd name="adj" fmla="val 3509"/>
            </a:avLst>
          </a:prstGeom>
          <a:solidFill>
            <a:srgbClr val="E1EEF7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0080" y="180517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2216658"/>
            <a:ext cx="22402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and other sugars.</a:t>
            </a:r>
            <a:endParaRPr lang="en-US" sz="14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kcal/g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246120" y="1713738"/>
            <a:ext cx="2606040" cy="2949702"/>
          </a:xfrm>
          <a:prstGeom prst="roundRect">
            <a:avLst>
              <a:gd name="adj" fmla="val 3509"/>
            </a:avLst>
          </a:prstGeom>
          <a:solidFill>
            <a:srgbClr val="ECEFE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429000" y="180517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Proteins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3429000" y="2216658"/>
            <a:ext cx="22402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 of structural tissues such as muscle and skin.</a:t>
            </a:r>
            <a:endParaRPr lang="en-US" sz="14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kcal/g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035040" y="1713738"/>
            <a:ext cx="2606040" cy="2949702"/>
          </a:xfrm>
          <a:prstGeom prst="roundRect">
            <a:avLst>
              <a:gd name="adj" fmla="val 3509"/>
            </a:avLst>
          </a:prstGeom>
          <a:solidFill>
            <a:srgbClr val="FBEFD9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217920" y="180517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Fats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17920" y="2216658"/>
            <a:ext cx="22402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Largely hydrocarbon chains.</a:t>
            </a:r>
            <a:endParaRPr lang="en-US" sz="14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9 kcal/g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even more energy per gram</a:t>
            </a:r>
            <a:endParaRPr lang="en-US" sz="14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ATP: the cell's energy currency</a:t>
            </a:r>
            <a:endParaRPr lang="en-US" sz="2700" dirty="0"/>
          </a:p>
        </p:txBody>
      </p:sp>
      <p:pic>
        <p:nvPicPr>
          <p:cNvPr id="11" name="Image 1" descr="/home/claude/em/fig/atp_ad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952" y="1371600"/>
            <a:ext cx="2772095" cy="29077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4325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ATP (top) converts to ADP (bottom) (Ball, The Basics of GOB Chemistry Figure 7.5.1)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434840" y="1463040"/>
            <a:ext cx="4251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Adenosine triphosphate (ATP)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converted to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adenosine diphosphate (ADP)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O–P bond breaks, and an O–P bond and two O–H bonds form.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physiological conditions this gives off about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 kcal per mole of ATP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(about 31 kJ/mol).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compared with glucose, but enough to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other important reactions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our cells.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complex biological reactions obey the basic rules of chemistry.</a:t>
            </a:r>
            <a:endParaRPr lang="en-US" sz="15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focus: dietitian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dietitian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nutrition expert who communicates food-related information to the public.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diet supplies energy, vitamins, minerals and even water. Too much, too little, or the wrong foods can cause problems.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Dietitians make specific recommendations, e.g. diets for weight loss or for controlling diabetes.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Hospitals employ dietitians to plan patient menus; many also work with community organisations.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link: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pharmacists work alongside dietitians, for example on parenteral nutrition and on drug–food interactions.</a:t>
            </a:r>
            <a:endParaRPr lang="en-US" sz="17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fat a more concentrated energy store than carbohydrate?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supplies about 9 kcal/g; carbohydrate about 4 kcal/g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contains more water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 supplies no energy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is converted to ATP only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fat a more concentrated energy store than carbohydrate?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supplies about 9 kcal/g; carbohydrate about 4 kcal/g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contains more water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 supplies no energy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is converted to ATP only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Fats are largely hydrocarbon chains and supply about 9 kcal/g, more than twice carbohydrate's 4 kcal/g.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key equations and ideas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38988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138988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units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138988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cal = 4.184 J  ·  1 Cal = 1 kcal = 4.184 kJ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57200" y="179565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179565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179565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 = (°F − 32) × 5/9  ·  K = °C + 273.15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57200" y="220141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" y="220141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Heat, temperature change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291840" y="220141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c × ΔT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57200" y="260718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260718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Heat, change of state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291840" y="260718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ΔH</a:t>
            </a:r>
            <a:r>
              <a:rPr lang="en-US" sz="135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q = m × ΔH</a:t>
            </a:r>
            <a:r>
              <a:rPr lang="en-US" sz="135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57200" y="301294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0080" y="301294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 curve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291840" y="301294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slopes: q = mcΔT  ·  plateaus: q = mΔH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457200" y="341871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0080" y="341871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of reaction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3291840" y="341871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Σ(bonds broken) − Σ(bonds formed)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57200" y="382447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0080" y="382447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 ΔH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3291840" y="382447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negative: exothermic (heat out)  ·  positive: endothermic (heat in)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457200" y="423024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40080" y="423024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energy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291840" y="423024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carbohydrate, protein ≈ 4 kcal/g  ·  fat ≈ 9 kcal/g  ·  ATP → ADP ≈ 7.5 kcal/mol</a:t>
            </a:r>
            <a:endParaRPr lang="en-US" sz="13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24193"/>
            <a:ext cx="1371600" cy="74033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48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topic</a:t>
            </a:r>
            <a:endParaRPr lang="en-US" sz="3600" dirty="0"/>
          </a:p>
        </p:txBody>
      </p:sp>
      <p:sp>
        <p:nvSpPr>
          <p:cNvPr id="7" name="Shape 3"/>
          <p:cNvSpPr/>
          <p:nvPr/>
        </p:nvSpPr>
        <p:spPr>
          <a:xfrm>
            <a:off x="548640" y="1517904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48640" y="1517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097280" y="146304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post-lecture activity (25 min)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4864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097280" y="2066544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the tutorial questions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2724912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4864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097280" y="267004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Phase Quest to find your weak outcomes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3328416"/>
            <a:ext cx="365760" cy="365760"/>
          </a:xfrm>
          <a:prstGeom prst="ellipse">
            <a:avLst/>
          </a:prstGeom>
          <a:solidFill>
            <a:srgbClr val="F0B24A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4864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1097280" y="327355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topic: Chemical Reactions I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 from </a:t>
            </a:r>
            <a:r>
              <a:rPr lang="en-US" sz="900" i="1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 of GOB Chemistry</a:t>
            </a: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(Ball, Hill &amp; Scott), LibreTexts, CC BY-NC-SA 3.0, sections 7.0–7.5. Shared under the same licence for non-commercial teaching.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92</Slides>
  <Notes>92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PHD115 Energy &amp; Matters: Lecture</dc:title>
  <dc:subject>PptxGenJS Presentation</dc:subject>
  <dc:creator>PptxGenJS</dc:creator>
  <cp:lastModifiedBy>PptxGenJS</cp:lastModifiedBy>
  <cp:revision>1</cp:revision>
  <dcterms:created xsi:type="dcterms:W3CDTF">2026-09-29T09:49:39Z</dcterms:created>
  <dcterms:modified xsi:type="dcterms:W3CDTF">2026-09-29T09:49:39Z</dcterms:modified>
</cp:coreProperties>
</file>