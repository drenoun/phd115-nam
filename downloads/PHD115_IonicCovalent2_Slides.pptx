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73" r:id="rId124"/>
    <p:sldId id="374" r:id="rId125"/>
    <p:sldId id="375" r:id="rId126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76" r:id="rId127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notesMasterIdLst>
    <p:notesMasterId r:id="rId1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slide" Target="slides/slide41.xml"/><Relationship Id="rId40" Type="http://schemas.openxmlformats.org/officeDocument/2006/relationships/slide" Target="slides/slide42.xml"/><Relationship Id="rId41" Type="http://schemas.openxmlformats.org/officeDocument/2006/relationships/slide" Target="slides/slide43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6.xml"/><Relationship Id="rId45" Type="http://schemas.openxmlformats.org/officeDocument/2006/relationships/slide" Target="slides/slide47.xml"/><Relationship Id="rId46" Type="http://schemas.openxmlformats.org/officeDocument/2006/relationships/slide" Target="slides/slide48.xml"/><Relationship Id="rId47" Type="http://schemas.openxmlformats.org/officeDocument/2006/relationships/slide" Target="slides/slide49.xml"/><Relationship Id="rId48" Type="http://schemas.openxmlformats.org/officeDocument/2006/relationships/slide" Target="slides/slide50.xml"/><Relationship Id="rId49" Type="http://schemas.openxmlformats.org/officeDocument/2006/relationships/slide" Target="slides/slide51.xml"/><Relationship Id="rId50" Type="http://schemas.openxmlformats.org/officeDocument/2006/relationships/slide" Target="slides/slide52.xml"/><Relationship Id="rId51" Type="http://schemas.openxmlformats.org/officeDocument/2006/relationships/slide" Target="slides/slide53.xml"/><Relationship Id="rId52" Type="http://schemas.openxmlformats.org/officeDocument/2006/relationships/slide" Target="slides/slide54.xml"/><Relationship Id="rId53" Type="http://schemas.openxmlformats.org/officeDocument/2006/relationships/slide" Target="slides/slide55.xml"/><Relationship Id="rId54" Type="http://schemas.openxmlformats.org/officeDocument/2006/relationships/slide" Target="slides/slide56.xml"/><Relationship Id="rId55" Type="http://schemas.openxmlformats.org/officeDocument/2006/relationships/slide" Target="slides/slide57.xml"/><Relationship Id="rId56" Type="http://schemas.openxmlformats.org/officeDocument/2006/relationships/slide" Target="slides/slide58.xml"/><Relationship Id="rId57" Type="http://schemas.openxmlformats.org/officeDocument/2006/relationships/slide" Target="slides/slide59.xml"/><Relationship Id="rId58" Type="http://schemas.openxmlformats.org/officeDocument/2006/relationships/slide" Target="slides/slide60.xml"/><Relationship Id="rId59" Type="http://schemas.openxmlformats.org/officeDocument/2006/relationships/slide" Target="slides/slide61.xml"/><Relationship Id="rId60" Type="http://schemas.openxmlformats.org/officeDocument/2006/relationships/slide" Target="slides/slide62.xml"/><Relationship Id="rId61" Type="http://schemas.openxmlformats.org/officeDocument/2006/relationships/slide" Target="slides/slide63.xml"/><Relationship Id="rId62" Type="http://schemas.openxmlformats.org/officeDocument/2006/relationships/slide" Target="slides/slide65.xml"/><Relationship Id="rId63" Type="http://schemas.openxmlformats.org/officeDocument/2006/relationships/slide" Target="slides/slide66.xml"/><Relationship Id="rId64" Type="http://schemas.openxmlformats.org/officeDocument/2006/relationships/slide" Target="slides/slide67.xml"/><Relationship Id="rId65" Type="http://schemas.openxmlformats.org/officeDocument/2006/relationships/slide" Target="slides/slide68.xml"/><Relationship Id="rId66" Type="http://schemas.openxmlformats.org/officeDocument/2006/relationships/slide" Target="slides/slide69.xml"/><Relationship Id="rId67" Type="http://schemas.openxmlformats.org/officeDocument/2006/relationships/slide" Target="slides/slide70.xml"/><Relationship Id="rId68" Type="http://schemas.openxmlformats.org/officeDocument/2006/relationships/slide" Target="slides/slide71.xml"/><Relationship Id="rId69" Type="http://schemas.openxmlformats.org/officeDocument/2006/relationships/slide" Target="slides/slide72.xml"/><Relationship Id="rId70" Type="http://schemas.openxmlformats.org/officeDocument/2006/relationships/slide" Target="slides/slide73.xml"/><Relationship Id="rId71" Type="http://schemas.openxmlformats.org/officeDocument/2006/relationships/slide" Target="slides/slide74.xml"/><Relationship Id="rId72" Type="http://schemas.openxmlformats.org/officeDocument/2006/relationships/slide" Target="slides/slide75.xml"/><Relationship Id="rId73" Type="http://schemas.openxmlformats.org/officeDocument/2006/relationships/slide" Target="slides/slide76.xml"/><Relationship Id="rId74" Type="http://schemas.openxmlformats.org/officeDocument/2006/relationships/slide" Target="slides/slide77.xml"/><Relationship Id="rId75" Type="http://schemas.openxmlformats.org/officeDocument/2006/relationships/slide" Target="slides/slide78.xml"/><Relationship Id="rId76" Type="http://schemas.openxmlformats.org/officeDocument/2006/relationships/slide" Target="slides/slide79.xml"/><Relationship Id="rId77" Type="http://schemas.openxmlformats.org/officeDocument/2006/relationships/slide" Target="slides/slide80.xml"/><Relationship Id="rId78" Type="http://schemas.openxmlformats.org/officeDocument/2006/relationships/slide" Target="slides/slide81.xml"/><Relationship Id="rId79" Type="http://schemas.openxmlformats.org/officeDocument/2006/relationships/slide" Target="slides/slide82.xml"/><Relationship Id="rId80" Type="http://schemas.openxmlformats.org/officeDocument/2006/relationships/slide" Target="slides/slide83.xml"/><Relationship Id="rId81" Type="http://schemas.openxmlformats.org/officeDocument/2006/relationships/slide" Target="slides/slide84.xml"/><Relationship Id="rId82" Type="http://schemas.openxmlformats.org/officeDocument/2006/relationships/slide" Target="slides/slide85.xml"/><Relationship Id="rId83" Type="http://schemas.openxmlformats.org/officeDocument/2006/relationships/slide" Target="slides/slide86.xml"/><Relationship Id="rId84" Type="http://schemas.openxmlformats.org/officeDocument/2006/relationships/slide" Target="slides/slide87.xml"/><Relationship Id="rId85" Type="http://schemas.openxmlformats.org/officeDocument/2006/relationships/slide" Target="slides/slide88.xml"/><Relationship Id="rId86" Type="http://schemas.openxmlformats.org/officeDocument/2006/relationships/slide" Target="slides/slide89.xml"/><Relationship Id="rId87" Type="http://schemas.openxmlformats.org/officeDocument/2006/relationships/slide" Target="slides/slide90.xml"/><Relationship Id="rId88" Type="http://schemas.openxmlformats.org/officeDocument/2006/relationships/slide" Target="slides/slide91.xml"/><Relationship Id="rId89" Type="http://schemas.openxmlformats.org/officeDocument/2006/relationships/slide" Target="slides/slide92.xml"/><Relationship Id="rId90" Type="http://schemas.openxmlformats.org/officeDocument/2006/relationships/slide" Target="slides/slide93.xml"/><Relationship Id="rId91" Type="http://schemas.openxmlformats.org/officeDocument/2006/relationships/slide" Target="slides/slide94.xml"/><Relationship Id="rId92" Type="http://schemas.openxmlformats.org/officeDocument/2006/relationships/slide" Target="slides/slide95.xml"/><Relationship Id="rId93" Type="http://schemas.openxmlformats.org/officeDocument/2006/relationships/slide" Target="slides/slide96.xml"/><Relationship Id="rId94" Type="http://schemas.openxmlformats.org/officeDocument/2006/relationships/slide" Target="slides/slide97.xml"/><Relationship Id="rId95" Type="http://schemas.openxmlformats.org/officeDocument/2006/relationships/slide" Target="slides/slide98.xml"/><Relationship Id="rId96" Type="http://schemas.openxmlformats.org/officeDocument/2006/relationships/slide" Target="slides/slide99.xml"/><Relationship Id="rId97" Type="http://schemas.openxmlformats.org/officeDocument/2006/relationships/slide" Target="slides/slide100.xml"/><Relationship Id="rId98" Type="http://schemas.openxmlformats.org/officeDocument/2006/relationships/slide" Target="slides/slide101.xml"/><Relationship Id="rId99" Type="http://schemas.openxmlformats.org/officeDocument/2006/relationships/slide" Target="slides/slide102.xml"/><Relationship Id="rId100" Type="http://schemas.openxmlformats.org/officeDocument/2006/relationships/slide" Target="slides/slide103.xml"/><Relationship Id="rId101" Type="http://schemas.openxmlformats.org/officeDocument/2006/relationships/slide" Target="slides/slide104.xml"/><Relationship Id="rId102" Type="http://schemas.openxmlformats.org/officeDocument/2006/relationships/slide" Target="slides/slide105.xml"/><Relationship Id="rId103" Type="http://schemas.openxmlformats.org/officeDocument/2006/relationships/slide" Target="slides/slide106.xml"/><Relationship Id="rId104" Type="http://schemas.openxmlformats.org/officeDocument/2006/relationships/slide" Target="slides/slide107.xml"/><Relationship Id="rId105" Type="http://schemas.openxmlformats.org/officeDocument/2006/relationships/slide" Target="slides/slide108.xml"/><Relationship Id="rId106" Type="http://schemas.openxmlformats.org/officeDocument/2006/relationships/slide" Target="slides/slide109.xml"/><Relationship Id="rId107" Type="http://schemas.openxmlformats.org/officeDocument/2006/relationships/slide" Target="slides/slide110.xml"/><Relationship Id="rId108" Type="http://schemas.openxmlformats.org/officeDocument/2006/relationships/slide" Target="slides/slide111.xml"/><Relationship Id="rId109" Type="http://schemas.openxmlformats.org/officeDocument/2006/relationships/slide" Target="slides/slide112.xml"/><Relationship Id="rId110" Type="http://schemas.openxmlformats.org/officeDocument/2006/relationships/slide" Target="slides/slide113.xml"/><Relationship Id="rId111" Type="http://schemas.openxmlformats.org/officeDocument/2006/relationships/slide" Target="slides/slide114.xml"/><Relationship Id="rId112" Type="http://schemas.openxmlformats.org/officeDocument/2006/relationships/slide" Target="slides/slide115.xml"/><Relationship Id="rId113" Type="http://schemas.openxmlformats.org/officeDocument/2006/relationships/slide" Target="slides/slide116.xml"/><Relationship Id="rId114" Type="http://schemas.openxmlformats.org/officeDocument/2006/relationships/slide" Target="slides/slide117.xml"/><Relationship Id="rId115" Type="http://schemas.openxmlformats.org/officeDocument/2006/relationships/slide" Target="slides/slide118.xml"/><Relationship Id="rId116" Type="http://schemas.openxmlformats.org/officeDocument/2006/relationships/slide" Target="slides/slide119.xml"/><Relationship Id="rId117" Type="http://schemas.openxmlformats.org/officeDocument/2006/relationships/slide" Target="slides/slide120.xml"/><Relationship Id="rId118" Type="http://schemas.openxmlformats.org/officeDocument/2006/relationships/slide" Target="slides/slide121.xml"/><Relationship Id="rId119" Type="http://schemas.openxmlformats.org/officeDocument/2006/relationships/notesMaster" Target="notesMasters/notesMaster1.xml"/><Relationship Id="rId120" Type="http://schemas.openxmlformats.org/officeDocument/2006/relationships/presProps" Target="presProps.xml"/><Relationship Id="rId121" Type="http://schemas.openxmlformats.org/officeDocument/2006/relationships/viewProps" Target="viewProps.xml"/><Relationship Id="rId122" Type="http://schemas.openxmlformats.org/officeDocument/2006/relationships/theme" Target="theme/theme1.xml"/><Relationship Id="rId123" Type="http://schemas.openxmlformats.org/officeDocument/2006/relationships/tableStyles" Target="tableStyles.xml"/><Relationship Id="rId124" Type="http://schemas.openxmlformats.org/officeDocument/2006/relationships/slide" Target="slides/slide19.xml"/><Relationship Id="rId125" Type="http://schemas.openxmlformats.org/officeDocument/2006/relationships/slide" Target="slides/slide20.xml"/><Relationship Id="rId126" Type="http://schemas.openxmlformats.org/officeDocument/2006/relationships/slide" Target="slides/slide21.xml"/><Relationship Id="rId127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lecture follows chapter 4 of the core reference (4.0 to 4.5): covalent bonds, naming, Lewis structures, bond polarity, molecular shape and polarity. Part 6 adds intermolecular forces from section 8.1 of the same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six outcomes appear in the notes, activities, tutorial, game and exam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Parts 1 to 5 follow the book's order. Part 6 is the bridge to Energy &amp; Matters (phase changes).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chapter 4 prelude (cholesterol). Pairs discuss for one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chapter 4 prelude (cholesterol). Pairs discuss for one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4.0 Prelude. Point out that every line in the model is a covalent bond.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= section 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4.1 introduction.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4.1 'Electron Sharing'.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4.1. 1 pm = 1 × 10⁻¹²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4.1 'Covalent Bonds between Different Atoms'.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4.1 'Covalent Bonds in Larger Molecules'.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4.1 'How Many Covalent Bonds Are Formed?'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4.1.1. Some elements (e.g. P and S) show more than one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4.1 Key Takeaways and end-of-chapter exercises 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= section 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4.2 'Covalent and Ionic Compounds'.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4.2. Links back to the polyatomic ion list in IC1.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4.2 'Characteristics of Covalent (Molecular) Compounds'.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4.2 'Molecular Formulas'.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Table 4.2.1.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4.2 'Naming Covalent Compounds'.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4.2 plus end-of-chapter exercise 6. Pharmacy link added by Dr. 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= section 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4.3 'Drawing Lewis Structures'.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4.3 worked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4.3 'Multiple Bonds'.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4.3.1. Formalin (aqueous CH₂O) preserves biological specimens.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Applies step 1 of Ball 4.3 to an anion. Ammonium's bracketed structure appears in Ball 4.5 (Example 4.5.2).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4.3 Key Takeaways plus exercises 4.3 (5,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 = section 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Table 4.4.1.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Table 4.4.2.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4.4 'Electronegativity and Bond Polarity'.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4.4.2.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4.4.3.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4.4 Looking Closer.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4.4. These cut-offs are guidelines, not hard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4.4 'Bond Polarity and Molecular Polarity'.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4.4.6.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4.4. More on shape in Part 5, more on attractions in Part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5 = section 4.5.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4.5 'Molecular Mass'.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4.5 'Molecular Shape: VSEPR Theory'.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4.5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4.5 'Molecules With Lone Pairs Around Central Atom'.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Table 4.5.1.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models rotate so students can see the 3D arrangement. On small phones the models are hidden; the labels still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4.5.1 (shape).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4.5.1 (shape).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4.5 'Molecular Polarity'.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4.5.1.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4.5.2.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4.5.3.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4.5.4.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4.5 'Physical Properties of Molecular Compounds'.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4.5.3.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4.5.2.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4.5 Key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6 is from section 8.1 of the same book. It leads into Energy &amp; Matters (phase changes).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8.1 introduction. When water boils, H₂O molecules separate; the O–H bonds do not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8.1 'London dispersion forces'. Boiling points: F₂ −188 °C, Cl₂ −34 °C, Br₂ 59 °C, I₂ 184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8.1 'Dipole–dipole interactions'.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8.1 'Hydrogen bonding'.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Values: CH₄ −161.5, SiH₄ −112, GeH₄ −88.5, SnH₄ −52; NH₃ −33, PH₃ −88, AsH₃ −62.5, SbH₃ −17; H₂O 100, H₂S −60, H₂Se −41, H₂Te −2; HF 19.5, HCl −85, HBr −67, HI −35.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Ball 8.1.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style of Ball 8.1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the data on the hydride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the data on the hydride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4.5 notes that H-bonding and dipole–dipole substances are generally water soluble, dispersion-only ones generally insoluble.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appears in the summary page of the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study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periodic table: atomic masses to 2 d.p.; electronegativity values as in Ball Figure 4.4.3. In the interactive slides, press P or tap Periodic table to show it on any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Roy et al. 9.1: phosphorus and aluminium tend to form three bonds, silicon four. Extends Ball Figure 4.1.1 to period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in the style of Roy et al. 9.1.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in the style of Roy et al. 9.1.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Roy et al. 9.3 Figure 9.3.1 (Morse curve). Note: the figure's axis shows 0.74 with the unit pm; the H–H bond length is 74 pm (= 0.74 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12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image" Target="../media/image-86-3.png"/><Relationship Id="rId4" Type="http://schemas.openxmlformats.org/officeDocument/2006/relationships/image" Target="../media/image-86-4.png"/><Relationship Id="rId5" Type="http://schemas.openxmlformats.org/officeDocument/2006/relationships/image" Target="../media/image-86-5.png"/><Relationship Id="rId6" Type="http://schemas.openxmlformats.org/officeDocument/2006/relationships/image" Target="../media/image-8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Fundamentals of Chemistry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&amp; Covalent Compounds II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Nur 'Ainun Mokhtar (Dr. NAM) · Faculty of Pharmacy, UiTM Bertam, Penang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reference: Ball, Hill &amp; Scott, The Basics of GOB Chemistry, chapter 4 (4.0–4.5) and section 8.1</a:t>
            </a:r>
            <a:endParaRPr lang="en-US" sz="1100" dirty="0"/>
          </a:p>
        </p:txBody>
      </p:sp>
      <p:pic>
        <p:nvPicPr>
          <p:cNvPr id="6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468880"/>
            <a:ext cx="1737360" cy="1178650"/>
          </a:xfrm>
          <a:prstGeom prst="rect">
            <a:avLst/>
          </a:prstGeom>
        </p:spPr>
      </p:pic>
      <p:pic>
        <p:nvPicPr>
          <p:cNvPr id="7" name="Image 1" descr="/home/claude/molpng/c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097280"/>
            <a:ext cx="1280160" cy="396240"/>
          </a:xfrm>
          <a:prstGeom prst="rect">
            <a:avLst/>
          </a:prstGeom>
        </p:spPr>
      </p:pic>
      <p:pic>
        <p:nvPicPr>
          <p:cNvPr id="8" name="Image 2" descr="/home/claude/molpng/ammon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474720"/>
            <a:ext cx="822960" cy="509016"/>
          </a:xfrm>
          <a:prstGeom prst="rect">
            <a:avLst/>
          </a:prstGeom>
        </p:spPr>
      </p:pic>
      <p:pic>
        <p:nvPicPr>
          <p:cNvPr id="9" name="Image 3" descr="/home/claude/molpng/metha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743200"/>
            <a:ext cx="731520" cy="7055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1" name="Text 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400" dirty="0"/>
          </a:p>
        </p:txBody>
      </p:sp>
      <p:pic>
        <p:nvPicPr>
          <p:cNvPr id="3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8016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2763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covalent bonds form, apply the octet and duet rules, and predict how many bonds an atom forms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17720" y="128016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5488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62763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ionic, covalent and mixed bonding apart (including polyatomic ions), and write formulas and names of binary covalent compounds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7249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Lewis structures of molecules and polyatomic ions, including double and triple bonds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17720" y="237744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7249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bond length to bond type, and use electronegativity to classify bonds as nonpolar, polar or ionic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82219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molecular mass, predict molecular shape with VSEPR, and decide whether a molecule is polar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17720" y="347472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5488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382219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dispersion forces, dipole–dipole forces and hydrogen bonds, and use them to explain boiling points and solubility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map</a:t>
            </a:r>
            <a:endParaRPr lang="en-US" sz="2400" dirty="0"/>
          </a:p>
        </p:txBody>
      </p:sp>
      <p:pic>
        <p:nvPicPr>
          <p:cNvPr id="3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Covalent bonds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4.1): electron sharing, Lewis diagrams, how many bonds an atom forms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Covalent compounds: formulas and names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4.2): covalent vs ionic, polyatomic ions, prefixes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Drawing Lewis structures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4.3): the five-step method, double and triple bonds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Characteristics of covalent bonds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4.4): bond length, electronegativity, bond polarity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Characteristics of molecules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4.5): molecular mass, VSEPR shapes, molecular polarity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Intermolecular forces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8.1): dispersion, dipole–dipole, hydrogen bonding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salt dissolves easily in water. Cholesterol, a waxy solid, does not dissolve in blood. Why do these two compounds behave so differently?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partner for one minute.</a:t>
            </a:r>
            <a:endParaRPr lang="en-US" sz="1300" dirty="0"/>
          </a:p>
        </p:txBody>
      </p:sp>
      <p:pic>
        <p:nvPicPr>
          <p:cNvPr id="5" name="Image 0" descr="/home/claude/molpng/water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65889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 · ANSWER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salt dissolves easily in water. Cholesterol, a waxy solid, does not dissolve in blood. Why do these two compounds behave so differently?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7863840" cy="1691640"/>
          </a:xfrm>
          <a:prstGeom prst="roundRect">
            <a:avLst>
              <a:gd name="adj" fmla="val 6486"/>
            </a:avLst>
          </a:prstGeom>
          <a:solidFill>
            <a:srgbClr val="2A3A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852928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is ionic, and water pulls its ions apart. Cholesterol is a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 made mostly of nonpolar C–C and C–H bonds, so water does not attract it; blood carries it inside lipoprotein particles. This lecture explains why.</a:t>
            </a:r>
            <a:endParaRPr lang="en-US" sz="1500" dirty="0"/>
          </a:p>
        </p:txBody>
      </p:sp>
      <p:pic>
        <p:nvPicPr>
          <p:cNvPr id="6" name="Image 0" descr="/home/claude/molpng/water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6588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Cholesterol: a covalent molecule</a:t>
            </a:r>
            <a:endParaRPr lang="en-US" sz="2400" dirty="0"/>
          </a:p>
        </p:txBody>
      </p:sp>
      <p:pic>
        <p:nvPicPr>
          <p:cNvPr id="3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pic>
        <p:nvPicPr>
          <p:cNvPr id="4" name="Image 1" descr="/home/claude/src2/crops/choleste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69571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01245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molecular model of cholesterol, Figure 4.0.1 (Ball, The Basics of GOB Chemistry 4.0)</a:t>
            </a:r>
            <a:endParaRPr lang="en-US" sz="8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(C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O) is a white, waxy solid made in the liver of every animal, including humans.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needed to build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membranes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to make certain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take it in from meat and other animal foods. Excess can build up as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blood vessel walls, blocking arteries: heart attacks and strokes can follow.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link: blood tests measure cholesterol, and several drugs lower it.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bonds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way to reach an octet: sharing electrons.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  ·  Ball 4.1</a:t>
            </a:r>
            <a:endParaRPr lang="en-US" sz="12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1116615"/>
          </a:xfrm>
          <a:prstGeom prst="rect">
            <a:avLst/>
          </a:prstGeom>
        </p:spPr>
      </p:pic>
      <p:pic>
        <p:nvPicPr>
          <p:cNvPr id="8" name="Image 1" descr="/home/claude/molpng/h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5617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reach an octet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IC1 atoms reached an octet by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electrons. There is a second way: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4023360" cy="2880360"/>
          </a:xfrm>
          <a:prstGeom prst="roundRect">
            <a:avLst>
              <a:gd name="adj" fmla="val 3175"/>
            </a:avLst>
          </a:prstGeom>
          <a:solidFill>
            <a:srgbClr val="FBEF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892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→ ionic bond (IC1)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860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loses electrons, nonmetal gains them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Oppositely charged ions attract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ionic compounds such as NaCl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O) is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like this: it is not a metal plus a nonmetal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023360" cy="2880360"/>
          </a:xfrm>
          <a:prstGeom prst="roundRect">
            <a:avLst>
              <a:gd name="adj" fmla="val 3175"/>
            </a:avLst>
          </a:prstGeom>
          <a:solidFill>
            <a:srgbClr val="E1EEF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0600" y="1892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→ covalent bond (IC2)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2860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atoms share a pair of electrons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pair counts toward the valence shell of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atoms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between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nonmetals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molecules such as 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CH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sharing: the hydrogen molecule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pic>
        <p:nvPicPr>
          <p:cNvPr id="8" name="Image 1" descr="/home/claude/src2/crops/h2_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625" y="1280160"/>
            <a:ext cx="4088749" cy="99087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307613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hydrogen atoms, then the shared pair in H₂ (Ball, The Basics of GOB Chemistry 4.1)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618509"/>
            <a:ext cx="8229600" cy="2044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 atom has one electron. Its valence shell is the first shell, which holds only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 (the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H atoms come close enough, they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their electrons: each now has two in its valence shell, which is more stable.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pair is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bond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two electrons are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bonding pair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group of atoms joined by covalent bonds is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diagrams for H₂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pic>
        <p:nvPicPr>
          <p:cNvPr id="8" name="Image 1" descr="/home/claude/src2/crops/h2_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5833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9001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 atoms, the shared pair, and the dash (Ball, The Basics of GOB Chemistry 4.1)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2860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Chemists use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diagrams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covalent bonding. The shared pair sits between the two symbols: H:H.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(H–H) is simpler. A dash is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bond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always means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electrons.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H–H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length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about 74 pm (7.4 × 10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m). It balances attraction (electrons to nuclei) against repulsion (electron–electron and nucleus–nucleus).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Fluorine: bonding pairs and lone pairs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pic>
        <p:nvPicPr>
          <p:cNvPr id="8" name="Image 1" descr="/home/claude/src2/crops/f2_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08" y="1280160"/>
            <a:ext cx="6501384" cy="6583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9751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 atoms form F₂; circles show each atom's octet (Ball, The Basics of GOB Chemistry 4.1)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2860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Fluorine atoms bond in pairs to form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diatomic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(two-atom) molecules, F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 contributes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 to a single bond, and each now has eight electrons around it: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rule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met.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 also keeps six electrons (three pairs) that are not shared: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nonbonding pairs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also called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 pairs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bonds between different atoms: HF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pic>
        <p:nvPicPr>
          <p:cNvPr id="8" name="Image 1" descr="/home/claude/src2/crops/hf_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41" y="1280160"/>
            <a:ext cx="7086119" cy="6583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9751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and F each give one electron to make HF (Ball, The Basics of GOB Chemistry 4.1)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2860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and F each need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electron, so each contributes one to a shared pair.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now has a duet and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nonbonding electrons. F has an octet with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lone pairs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(six nonbonding electrons).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1.1 · Cl₂ and HBr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Lewis diagrams to show the formation of (a) 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HBr.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Each Cl has 7 valence electrons. The two atoms share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each is surrounded by an octet (like F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H (1 electron) and Br (7 electrons) share one pair. H reaches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Br reaches an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three lone pairs (like HF).</a:t>
            </a:r>
            <a:endParaRPr lang="en-US" sz="1300" dirty="0"/>
          </a:p>
        </p:txBody>
      </p:sp>
      <p:pic>
        <p:nvPicPr>
          <p:cNvPr id="16" name="Image 1" descr="/home/claude/src2/crops/cl2_h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48840"/>
            <a:ext cx="3108960" cy="140233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577840" y="3587755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4.1.1 (Ball, The Basics of GOB Chemistry 4.1)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ClF and HI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Lewis diagram for (a) a molecule of one chlorine atom and one fluorine atom (b) a molecule of one hydrogen atom and one iodine atom.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ClF and HI · answer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Lewis diagram for (a) a molecule of one chlorine atom and one fluorine atom (b) a molecule of one hydrogen atom and one iodine atom.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Cl and F share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pair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each keeps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lone pairs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has an octet. Cl–F.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H and I share one pair: H has a duet, I has an octet with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lone pairs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H–I.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bonds in larger molecules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pic>
        <p:nvPicPr>
          <p:cNvPr id="8" name="Image 1" descr="/home/claude/src2/crops/water_meth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476" y="1280160"/>
            <a:ext cx="2825048" cy="140651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23249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methane (Ball, The Basics of GOB Chemistry 4.1)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034145"/>
            <a:ext cx="8229600" cy="1629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Water: two H atoms each share a pair with O. O has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bonding pairs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lone pairs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 octet); each H has a duet. This is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structure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(CH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the central C shares a pair with each of four H atoms. C reaches an octet, each H a duet.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atoms take part in more than one covalent bond.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covalent bonds are formed?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atom forms as many bonds as the electrons it needs to reach an octet.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 (group)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Lone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(14 or 4A)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Nitrogen (15 or 5A)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 (16 or 6A)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Fluorine (17 or 7A)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5204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case bonds + lone pairs = 4 pairs = an octet (Ball Table 4.1).</a:t>
            </a:r>
            <a:endParaRPr lang="en-US" sz="900" dirty="0"/>
          </a:p>
        </p:txBody>
      </p:sp>
      <p:pic>
        <p:nvPicPr>
          <p:cNvPr id="11" name="Image 1" descr="/home/claude/src2/crops/grou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3080"/>
            <a:ext cx="2423160" cy="195523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63640" y="3774895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CH₄, NH₃, H₂O and HF (Ball, The Basics of GOB Chemistry 4.1)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across the periodic table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pic>
        <p:nvPicPr>
          <p:cNvPr id="8" name="Image 1" descr="/home/claude/src2/crops/fig4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09" y="1280160"/>
            <a:ext cx="3822782" cy="1481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98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covalent bonds are formed? Figure 4.1.1 (Ball, The Basics of GOB Chemistry 4.1)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number is the usual number of covalent bonds that atom forms in neutral compounds.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follows the duet rule, so it forms only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bond. It is always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atom, never a central one.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and inner transition elements do not follow the octet rule: their d and f electrons are involved.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 dots predict the number of bonds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pic>
        <p:nvPicPr>
          <p:cNvPr id="13" name="Image 1" descr="ic2_unpaired_bo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500" y="1280160"/>
            <a:ext cx="6375000" cy="1700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025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Third-period atoms: unpaired dots and usual number of bonds (Dr. NAM, after Roy et al., General Chemistry for Gee-Gees 9.1)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336776"/>
            <a:ext cx="8229600" cy="1363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Each </a:t>
            </a:r>
            <a:r>
              <a:rPr lang="en-US" sz="13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 dot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pairs with one electron from another atom → </a:t>
            </a:r>
            <a:r>
              <a:rPr lang="en-US" sz="13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period 2: C forms 4 bonds, N 3, O 2, F 1.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Predict the bonds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Lewis symbols to predict how many bonds selenium (group 16) and bromine (group 17) usually form. Then write the simplest compound each forms with hydrogen.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Predict the bonds · answer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Lewis symbols to predict how many bonds selenium (group 16) and bromine (group 17) usually form. Then write the simplest compound each forms with hydrogen.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Se: 6 dots, 2 unpaired → </a:t>
            </a:r>
            <a:r>
              <a:rPr lang="en-US" sz="14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bonds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→ H</a:t>
            </a:r>
            <a:r>
              <a:rPr lang="en-US" sz="1400" dirty="0" baseline="-25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Br: 7 dots, 1 unpaired → </a:t>
            </a:r>
            <a:r>
              <a:rPr lang="en-US" sz="14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bond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→ HBr.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1.2 · Does OF₂ follow the octet rule?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bonds on each atom in OF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Does this match the expected number for each group? Is the octet rule obeyed?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(group 7A) forms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bond; O (group 6A) forms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bonds, as expected.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atom is surrounded by 8 electrons, so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structure obeys the octet rule.</a:t>
            </a:r>
            <a:endParaRPr lang="en-US" sz="1300" dirty="0"/>
          </a:p>
        </p:txBody>
      </p:sp>
      <p:pic>
        <p:nvPicPr>
          <p:cNvPr id="16" name="Image 1" descr="/home/claude/src2/crops/of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48840"/>
            <a:ext cx="3108960" cy="121655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577840" y="340196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4.1.2 (Ball, The Basics of GOB Chemistry 4.1)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NCl₃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Lewis structure of NCl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Count the bonds on each atom. Do they match the expected numbers? Is the octet rule obeyed?</a:t>
            </a:r>
            <a:endParaRPr lang="en-US" sz="1400" dirty="0"/>
          </a:p>
        </p:txBody>
      </p:sp>
      <p:pic>
        <p:nvPicPr>
          <p:cNvPr id="10" name="Image 1" descr="/home/claude/src2/crops/ncl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777" y="1280160"/>
            <a:ext cx="2159726" cy="1463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NCl₃ · answer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Lewis structure of NCl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Count the bonds on each atom. Do they match the expected numbers? Is the octet rule obeyed?</a:t>
            </a:r>
            <a:endParaRPr lang="en-US" sz="1400" dirty="0"/>
          </a:p>
        </p:txBody>
      </p:sp>
      <p:pic>
        <p:nvPicPr>
          <p:cNvPr id="10" name="Image 1" descr="/home/claude/src2/crops/ncl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777" y="1280160"/>
            <a:ext cx="2159726" cy="1463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2880360"/>
            <a:ext cx="8229600" cy="1783080"/>
          </a:xfrm>
          <a:prstGeom prst="roundRect">
            <a:avLst>
              <a:gd name="adj" fmla="val 5128"/>
            </a:avLst>
          </a:prstGeom>
          <a:solidFill>
            <a:srgbClr val="FBEF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Each Cl (group 7A) has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bond and three lone pairs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central N (group 5A) has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bonds and one lone pair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atom has an octet.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covalent bonds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bond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forms when two atoms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pair of electrons.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bonds an element forms equals the number of electrons it needs to reach an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is the exception: it needs only two electrons, so it forms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bond.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yourself: tellurium (group 6A, like O) forms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bonds, so its hydride is 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Te. Astatine (a halogen) forms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bond.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discrete group of covalently bonded atoms; a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unit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lowest ratio of ions in an ionic crystal.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neutral molecule, nitrogen (group 5A) usually has: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bonds and 0 lone pairs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bonds and 1 lone pair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bonds and 2 lone pairs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bond and 3 lone pairs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neutral molecule, nitrogen (group 5A) usually has: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bonds and 0 lone pairs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bonds and 1 lone pair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bonds and 2 lone pairs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bond and 3 lone pairs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has five valence electrons: three unpaired (three bonds) and one lone pair. Example: NH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compounds: formulas and names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covalent compounds, then write and name them.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  ·  Ball 4.2</a:t>
            </a:r>
            <a:endParaRPr lang="en-US" sz="1200" dirty="0"/>
          </a:p>
        </p:txBody>
      </p:sp>
      <p:pic>
        <p:nvPicPr>
          <p:cNvPr id="7" name="Image 0" descr="/home/claude/molpng/ammon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1573306"/>
          </a:xfrm>
          <a:prstGeom prst="rect">
            <a:avLst/>
          </a:prstGeom>
        </p:spPr>
      </p:pic>
      <p:pic>
        <p:nvPicPr>
          <p:cNvPr id="8" name="Image 1" descr="/home/claude/molpng/carbon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9996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or ionic?</a:t>
            </a:r>
            <a:endParaRPr lang="en-US" sz="2400" dirty="0"/>
          </a:p>
        </p:txBody>
      </p:sp>
      <p:pic>
        <p:nvPicPr>
          <p:cNvPr id="7" name="Image 0" descr="/home/claude/molpng/ammon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19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rule of thumb based on the types of elements.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4023360" cy="2880360"/>
          </a:xfrm>
          <a:prstGeom prst="roundRect">
            <a:avLst>
              <a:gd name="adj" fmla="val 3175"/>
            </a:avLst>
          </a:prstGeom>
          <a:solidFill>
            <a:srgbClr val="E1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892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(molecular) compounds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860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nonmetals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a semimetal with a nonmetal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(H and O are nonmetals)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monoxide NO (two nonmetals)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dioxide SiO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(semimetal + nonmetal)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023360" cy="2880360"/>
          </a:xfrm>
          <a:prstGeom prst="roundRect">
            <a:avLst>
              <a:gd name="adj" fmla="val 3175"/>
            </a:avLst>
          </a:prstGeom>
          <a:solidFill>
            <a:srgbClr val="FBEFD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0600" y="1892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compounds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2860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nonmetal (or semimetal)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chloride NaCl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chloride MgCl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IC1 for formulas and naming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Polyatomic ions: covalent inside, ionic outside</a:t>
            </a:r>
            <a:endParaRPr lang="en-US" sz="2400" dirty="0"/>
          </a:p>
        </p:txBody>
      </p:sp>
      <p:pic>
        <p:nvPicPr>
          <p:cNvPr id="7" name="Image 0" descr="/home/claude/molpng/carbon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63450"/>
          </a:xfrm>
          <a:prstGeom prst="rect">
            <a:avLst/>
          </a:prstGeom>
        </p:spPr>
      </p:pic>
      <p:pic>
        <p:nvPicPr>
          <p:cNvPr id="8" name="Image 1" descr="/home/claude/src2/crops/nh4_co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17388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055581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structures of the ammonium and carbonate ions (Ball, The Basics of GOB Chemistry 4.2)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polyatomic 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group of atoms with an overall charge (poly = many). It behaves as a single unit.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Ammonium, NH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one N and four H, joined by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bonds, 1+ overall. Carbonate,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one C and three O, 2− overall.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there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bonding between the ions, but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bonding within the polyatomic ion. These compounds contain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compounds behave differently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Attractions between neutral molecules are weaker than those between ions.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Covalent (molecular)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Melting and boiling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 </a:t>
                      </a: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(water boils at 100 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(NaCl boils at 1413 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at room 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</a:t>
                      </a: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liquids or gases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Hardness of solids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typically </a:t>
                      </a: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hard, brittle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conductivity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 any state (neutral molecules)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when dissolved or molten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4.2. Forces between molecules are covered in Part 6.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2.1 · Ionic, covalent or both?</a:t>
            </a:r>
            <a:endParaRPr lang="en-US" sz="2400" dirty="0"/>
          </a:p>
        </p:txBody>
      </p:sp>
      <p:pic>
        <p:nvPicPr>
          <p:cNvPr id="7" name="Image 0" descr="/home/claude/molpng/ammon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19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Na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 (b) Na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Na is a metal and O a nonmetal: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Na is a metal and PO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phosphate ion: ionic between the ions, covalent inside phosphate: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N and O are both nonmetals: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Ionic, covalent or both?</a:t>
            </a:r>
            <a:endParaRPr lang="en-US" sz="2400" dirty="0"/>
          </a:p>
        </p:txBody>
      </p:sp>
      <p:pic>
        <p:nvPicPr>
          <p:cNvPr id="7" name="Image 0" descr="/home/claude/molpng/carbon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634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Ba(OH)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PCl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Ionic, covalent or both? · answer</a:t>
            </a:r>
            <a:endParaRPr lang="en-US" sz="2400" dirty="0"/>
          </a:p>
        </p:txBody>
      </p:sp>
      <p:pic>
        <p:nvPicPr>
          <p:cNvPr id="7" name="Image 0" descr="/home/claude/molpng/carbon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634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Ba(OH)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PCl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OH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ions, with a covalent O–H bond inside hydroxide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formulas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compounds exist as separate molecules, so their formulas are called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formulas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start with the nonmetal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the lower left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periodic table, then list the others.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is almost never written first (H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is the well-known exception): SiH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Subscripts give the number of each atom. In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subscript on N means one N atom; the 3 means three H atoms.</a:t>
            </a:r>
            <a:endParaRPr lang="en-US" sz="1400" dirty="0"/>
          </a:p>
        </p:txBody>
      </p:sp>
      <p:pic>
        <p:nvPicPr>
          <p:cNvPr id="9" name="Image 1" descr="/home/claude/molpng/ammo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19795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3296243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Ammonia, NH₃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prefixes</a:t>
            </a:r>
            <a:endParaRPr lang="en-US" sz="2400" dirty="0"/>
          </a:p>
        </p:txBody>
      </p:sp>
      <p:pic>
        <p:nvPicPr>
          <p:cNvPr id="7" name="Image 0" descr="/home/claude/molpng/ammon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1916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577840" cy="914400"/>
        </p:xfrm>
        <a:graphic>
          <a:graphicData uri="http://schemas.openxmlformats.org/drawingml/2006/table">
            <a:tbl>
              <a:tblPr/>
              <a:tblGrid>
                <a:gridCol w="1394460"/>
                <a:gridCol w="1394460"/>
                <a:gridCol w="1394460"/>
                <a:gridCol w="13944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mono-*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hexa-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hepta-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octa-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tetra-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nona-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3467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4.2.1.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263640" y="1280160"/>
            <a:ext cx="2423160" cy="2194560"/>
          </a:xfrm>
          <a:prstGeom prst="roundRect">
            <a:avLst>
              <a:gd name="adj" fmla="val 4167"/>
            </a:avLst>
          </a:prstGeom>
          <a:solidFill>
            <a:srgbClr val="FBEFD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1664208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mono-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used for the first element.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oxide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final vowel of a longer prefix is dropped: mon</a:t>
            </a: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oxide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pent</a:t>
            </a: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oxide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Short ones keep it: </a:t>
            </a: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dioxide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trioxide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binary covalent compounds</a:t>
            </a:r>
            <a:endParaRPr lang="en-US" sz="2400" dirty="0"/>
          </a:p>
        </p:txBody>
      </p:sp>
      <p:pic>
        <p:nvPicPr>
          <p:cNvPr id="7" name="Image 0" descr="/home/claude/molpng/carbon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634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element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element.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element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its stem +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-ide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(chlorine → chloride, oxygen → oxide).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prefixes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number of atoms (no mono- on the first element).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Worked: CCl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carbon + chloride + tetra- →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tetrachloride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ionic names, these names must show the numbers, because two nonmetals can combine in many ratios (NO, 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…).</a:t>
            </a:r>
            <a:endParaRPr lang="en-US" sz="1400" dirty="0"/>
          </a:p>
        </p:txBody>
      </p:sp>
      <p:pic>
        <p:nvPicPr>
          <p:cNvPr id="9" name="Image 1" descr="/home/claude/molpng/ccl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733" y="1280160"/>
            <a:ext cx="3063734" cy="29443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42611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tetrachloride, CCl₄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2.2 · Name → formula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molecular formula: (a) chlorine trifluoride (b) phosphorus pentachloride (c) sulfur dioxide (d) dinitrogen pentoxide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prefix on the first element means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atom of it.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di- on nitrogen means two N atoms.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Name → formula</a:t>
            </a:r>
            <a:endParaRPr lang="en-US" sz="2400" dirty="0"/>
          </a:p>
        </p:txBody>
      </p:sp>
      <p:pic>
        <p:nvPicPr>
          <p:cNvPr id="7" name="Image 0" descr="/home/claude/molpng/ammon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19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nitrogen dioxide (b) dioxygen difluoride (c) sulfur hexafluoride (d) selenium monoxide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Name → formula · answer</a:t>
            </a:r>
            <a:endParaRPr lang="en-US" sz="2400" dirty="0"/>
          </a:p>
        </p:txBody>
      </p:sp>
      <p:pic>
        <p:nvPicPr>
          <p:cNvPr id="7" name="Image 0" descr="/home/claude/molpng/ammon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19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nitrogen dioxide (b) dioxygen difluoride (c) sulfur hexafluoride (d) selenium monoxide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 hexafluoride is so unreactive that it is used to suppress sparks in electrical transformers.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2.3 · Formula → name</a:t>
            </a:r>
            <a:endParaRPr lang="en-US" sz="2400" dirty="0"/>
          </a:p>
        </p:txBody>
      </p:sp>
      <p:pic>
        <p:nvPicPr>
          <p:cNvPr id="7" name="Image 0" descr="/home/claude/molpng/carbon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634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(a) BrF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S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CO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bromine pentafluoride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disulfur difluoride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monoxide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Formula → name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(a) CF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SeCl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SO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Formula → name · answer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(a) CF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SeCl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SO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tetrafluoride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dichloride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 trioxide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names you must know</a:t>
            </a:r>
            <a:endParaRPr lang="en-US" sz="2400" dirty="0"/>
          </a:p>
        </p:txBody>
      </p:sp>
      <p:pic>
        <p:nvPicPr>
          <p:cNvPr id="7" name="Image 0" descr="/home/claude/molpng/ammon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19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5577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simple covalent compounds keep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names: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water,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ammonia,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methane.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is the simplest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compound. Organic compounds have their own naming system.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link: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(dinitrogen monoxide) is nitrous oxide, used with oxygen for pain relief.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(nitrogen monoxide) is nitric oxide, a signalling molecule that relaxes blood vessels; glyceryl trinitrate works by releasing it.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FBEF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6916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SF</a:t>
            </a:r>
            <a:r>
              <a:rPr lang="en-US" sz="11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written with S first and not as F</a:t>
            </a:r>
            <a:r>
              <a:rPr lang="en-US" sz="11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S? S is further to the lower left (less electronegative), so it comes first.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carbon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634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name of SCl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sulfur(II) chloride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monosulfur dichloride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 dichloride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 chloride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carbon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634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name of SCl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sulfur(II) chloride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monosulfur dichloride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 dichloride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 chloride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nonmetals: prefixes, no mono- on the first element, second element ends in -ide. Roman numerals are only for ionic compounds.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Lewis structures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method that works for molecules and polyatomic ions.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  ·  Ball 4.3</a:t>
            </a:r>
            <a:endParaRPr lang="en-US" sz="1200" dirty="0"/>
          </a:p>
        </p:txBody>
      </p:sp>
      <p:pic>
        <p:nvPicPr>
          <p:cNvPr id="7" name="Image 0" descr="/home/claude/molpng/h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546887"/>
          </a:xfrm>
          <a:prstGeom prst="rect">
            <a:avLst/>
          </a:prstGeom>
        </p:spPr>
      </p:pic>
      <p:pic>
        <p:nvPicPr>
          <p:cNvPr id="8" name="Image 1" descr="/home/claude/molpng/c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31133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molecules: pair up the electrons</a:t>
            </a:r>
            <a:endParaRPr lang="en-US" sz="2400" dirty="0"/>
          </a:p>
        </p:txBody>
      </p:sp>
      <p:pic>
        <p:nvPicPr>
          <p:cNvPr id="7" name="Image 0" descr="/home/claude/molpng/h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88372"/>
          </a:xfrm>
          <a:prstGeom prst="rect">
            <a:avLst/>
          </a:prstGeom>
        </p:spPr>
      </p:pic>
      <p:pic>
        <p:nvPicPr>
          <p:cNvPr id="8" name="Image 1" descr="/home/claude/src2/crops/pai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238" y="1280160"/>
            <a:ext cx="2727525" cy="1481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98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HBr, H₂S and N₂ from their atoms (Ball, The Basics of GOB Chemistry 4.3)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simple molecules, just pair up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 on each atom.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has three unpaired electrons, so two N atoms share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pairs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triple bond in N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method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5577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Count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valence electrons (group number for each atom). For a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subtract one per + charge; for an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anion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one per − charge.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Skeleton: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 the least electronegative atom in the centre and join each outer atom with a single bond. H and F are always outer atoms.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Outer atoms: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 the remaining electrons as lone pairs on the outer atoms (except H) to complete their octets.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Central atom: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 any electrons left over on the central atom.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Multiple bonds: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 central atom still lacks an octet, turn outer lone pairs into shared pairs (double or triple bonds).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FBEF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6916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electrons used = step 1 count. Every H has 2; every other main-group atom has 8.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3.1 · OF₂ and HCN, step by step</a:t>
            </a:r>
            <a:endParaRPr lang="en-US" sz="2400" dirty="0"/>
          </a:p>
        </p:txBody>
      </p:sp>
      <p:pic>
        <p:nvPicPr>
          <p:cNvPr id="7" name="Image 0" descr="/home/claude/molpng/formaldehy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631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Lewis structures of OF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HCN.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4480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OF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 + (2 × 7)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HCN = 1 + 4 + 5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9577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795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777490"/>
            <a:ext cx="4480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Skeleton: F–O–F and H–C–N (4 electrons used in each).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244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4244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406140"/>
            <a:ext cx="4480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atoms: 6 on each F; 6 on N. Central atom: the last 4 go on O. HCN has none left.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5307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40530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034790"/>
            <a:ext cx="4480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complete. In HCN, C has only 4 electrons, so two N lone pairs become shared: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H–C≡N:</a:t>
            </a:r>
            <a:endParaRPr lang="en-US" sz="1300" dirty="0"/>
          </a:p>
        </p:txBody>
      </p:sp>
      <p:pic>
        <p:nvPicPr>
          <p:cNvPr id="22" name="Image 1" descr="/home/claude/src2/crops/hcn_step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626" y="2148840"/>
            <a:ext cx="2773389" cy="225856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577840" y="44439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for HCN (Ball, The Basics of GOB Chemistry 4.3)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bonds: carbon dioxide</a:t>
            </a:r>
            <a:endParaRPr lang="en-US" sz="2400" dirty="0"/>
          </a:p>
        </p:txBody>
      </p:sp>
      <p:pic>
        <p:nvPicPr>
          <p:cNvPr id="7" name="Image 0" descr="/home/claude/molpng/h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88372"/>
          </a:xfrm>
          <a:prstGeom prst="rect">
            <a:avLst/>
          </a:prstGeom>
        </p:spPr>
      </p:pic>
      <p:pic>
        <p:nvPicPr>
          <p:cNvPr id="8" name="Image 1" descr="/home/claude/src2/crops/co2_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276" y="1280160"/>
            <a:ext cx="6189449" cy="11571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4738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double bonds in CO₂ (Ball, The Basics of GOB Chemistry 4.3)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784764"/>
            <a:ext cx="8229600" cy="1878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4 + (2 × 6) = 16 electrons. With single bonds only, C has just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 shares a second pair with C. Now every atom has 8 electrons.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shared pairs =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 electrons), drawn as a double dash: O=C=O.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bonds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pic>
        <p:nvPicPr>
          <p:cNvPr id="8" name="Image 1" descr="/home/claude/src2/crops/tri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268" y="1280160"/>
            <a:ext cx="3807465" cy="99087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307613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Acetylene (C₂H₂) and nitrogen (N₂) (Ball, The Basics of GOB Chemistry 4.3)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618509"/>
            <a:ext cx="8229600" cy="2044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bond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two atoms share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pairs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 electrons), drawn as three dashes.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HCN, acetylene H–C≡C–H, and N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(:N≡N:).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Clue: when there are too few electrons to give every atom an octet with single bonds, expect multiple bonds.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3.2 · N₂ and formaldehyde</a:t>
            </a:r>
            <a:endParaRPr lang="en-US" sz="2400" dirty="0"/>
          </a:p>
        </p:txBody>
      </p:sp>
      <p:pic>
        <p:nvPicPr>
          <p:cNvPr id="7" name="Image 0" descr="/home/claude/molpng/formaldehy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631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Lewis diagrams of (a)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(C is central).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2 × 5 = 10 electrons. Only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bond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both N atoms an octet: :N≡N: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4 + 2(1) + 6 = 12 electrons. C bonds to two H and to O;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C=O double bond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completes the octets.</a:t>
            </a:r>
            <a:endParaRPr lang="en-US" sz="1300" dirty="0"/>
          </a:p>
        </p:txBody>
      </p:sp>
      <p:pic>
        <p:nvPicPr>
          <p:cNvPr id="16" name="Image 1" descr="/home/claude/src2/crops/n2_ch2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48840"/>
            <a:ext cx="3108960" cy="109062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577840" y="3276041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4.3.1 (Ball, The Basics of GOB Chemistry 4.3)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O₂ and C₂H₄</a:t>
            </a:r>
            <a:endParaRPr lang="en-US" sz="2400" dirty="0"/>
          </a:p>
        </p:txBody>
      </p:sp>
      <p:pic>
        <p:nvPicPr>
          <p:cNvPr id="7" name="Image 0" descr="/home/claude/molpng/h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883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Lewis diagrams of (a)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O₂ and C₂H₄ · answer</a:t>
            </a:r>
            <a:endParaRPr lang="en-US" sz="2400" dirty="0"/>
          </a:p>
        </p:txBody>
      </p:sp>
      <p:pic>
        <p:nvPicPr>
          <p:cNvPr id="7" name="Image 0" descr="/home/claude/molpng/h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883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Lewis diagrams of (a)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12 electrons: an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O=O double bond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two lone pairs on each 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12 electrons: a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C=C double bond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each C also bonded to two H.</a:t>
            </a:r>
            <a:endParaRPr lang="en-US" sz="1400" dirty="0"/>
          </a:p>
        </p:txBody>
      </p:sp>
      <p:pic>
        <p:nvPicPr>
          <p:cNvPr id="13" name="Image 1" descr="/home/claude/src2/crops/o2_c2h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560320"/>
            <a:ext cx="3108960" cy="1068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3.3 · Which structure is right for N₂H₂?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structures are proposed for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Which is correct?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(2 × 5) + (2 × 1)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correct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12 electrons, both N have octets, both H have duets.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has only 10 electrons (electron deficient). C has 14 (two extra); the N atoms do not have octets.</a:t>
            </a:r>
            <a:endParaRPr lang="en-US" sz="1300" dirty="0"/>
          </a:p>
        </p:txBody>
      </p:sp>
      <p:pic>
        <p:nvPicPr>
          <p:cNvPr id="19" name="Image 1" descr="/home/claude/src2/crops/n2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963" y="2148840"/>
            <a:ext cx="2582714" cy="22585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577840" y="44439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A, B and C, Example 4.3.2 (Ball, The Basics of GOB Chemistry 4.3)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Which is right for NOCl?</a:t>
            </a:r>
            <a:endParaRPr lang="en-US" sz="2400" dirty="0"/>
          </a:p>
        </p:txBody>
      </p:sp>
      <p:pic>
        <p:nvPicPr>
          <p:cNvPr id="7" name="Image 0" descr="/home/claude/molpng/formaldehy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631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correct Lewis structure for NOCl?</a:t>
            </a:r>
            <a:endParaRPr lang="en-US" sz="1400" dirty="0"/>
          </a:p>
        </p:txBody>
      </p:sp>
      <p:pic>
        <p:nvPicPr>
          <p:cNvPr id="10" name="Image 1" descr="/home/claude/src2/crops/nocl_op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773" y="1280160"/>
            <a:ext cx="1517733" cy="1463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Which is right for NOCl? · answer</a:t>
            </a:r>
            <a:endParaRPr lang="en-US" sz="2400" dirty="0"/>
          </a:p>
        </p:txBody>
      </p:sp>
      <p:pic>
        <p:nvPicPr>
          <p:cNvPr id="7" name="Image 0" descr="/home/claude/molpng/formaldehy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631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correct Lewis structure for NOCl?</a:t>
            </a:r>
            <a:endParaRPr lang="en-US" sz="1400" dirty="0"/>
          </a:p>
        </p:txBody>
      </p:sp>
      <p:pic>
        <p:nvPicPr>
          <p:cNvPr id="10" name="Image 1" descr="/home/claude/src2/crops/nocl_op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773" y="1280160"/>
            <a:ext cx="1517733" cy="1463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2880360"/>
            <a:ext cx="8229600" cy="1783080"/>
          </a:xfrm>
          <a:prstGeom prst="roundRect">
            <a:avLst>
              <a:gd name="adj" fmla="val 5128"/>
            </a:avLst>
          </a:prstGeom>
          <a:solidFill>
            <a:srgbClr val="FBEF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 + 5 + 7 = 18 electrons and every atom has an octet (O=N–Cl).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 has only 6 electrons. B: Cl has 10 electrons and the total is 20.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3.4 · A polyatomic ion: hydroxide, OH⁻</a:t>
            </a:r>
            <a:endParaRPr lang="en-US" sz="2400" dirty="0"/>
          </a:p>
        </p:txBody>
      </p:sp>
      <p:pic>
        <p:nvPicPr>
          <p:cNvPr id="7" name="Image 0" descr="/home/claude/molpng/h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883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Lewis structure of the hydroxide ion, OH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O (6) + H (1) +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negative charge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O–H uses 2. The remaining 6 go on O as three lone pairs: O has an octet, H a duet.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ion in square brackets with the charge outside: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[:Ö–H]</a:t>
            </a:r>
            <a:r>
              <a:rPr lang="en-US" sz="13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Ammonium works the same way: 5 + 4 − 1 = 8 electrons, four N–H bonds, [NH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Lewis structures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Lewis structure shows the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bonding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nonbonding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 around each atom in a molecule.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molecules need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bonds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satisfy the octet rule.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 bond contains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electrons; a triple bond contains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never forms double bonds: it can share only one pair.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draw a double bond for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 is ionic. Mg transfers two electrons to O; nothing is shared.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formaldehy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6313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valence electrons must the Lewis structure of CO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formaldehy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6313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valence electrons must the Lewis structure of CO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has 4 and each O has 6: 4 + 2(6) = 16.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covalent bonds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 bond is, and how equally its electrons are shared.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  ·  Ball 4.4</a:t>
            </a:r>
            <a:endParaRPr lang="en-US" sz="12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919150"/>
          </a:xfrm>
          <a:prstGeom prst="rect">
            <a:avLst/>
          </a:prstGeom>
        </p:spPr>
      </p:pic>
      <p:pic>
        <p:nvPicPr>
          <p:cNvPr id="8" name="Image 1" descr="/home/claude/molpng/h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5341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bond has a fixed length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pic>
        <p:nvPicPr>
          <p:cNvPr id="13" name="Image 1" descr="mor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11" y="1280160"/>
            <a:ext cx="3362857" cy="3300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6258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H–H energy curve (Roy et al., General Chemistry for Gee-Gees Figure 9.3.1)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137160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shared electrons are pulled by </a:t>
            </a:r>
            <a:r>
              <a:rPr lang="en-US" sz="13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nuclei, so energy drops.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close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the two + nuclei </a:t>
            </a:r>
            <a:r>
              <a:rPr lang="en-US" sz="13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energy shoots up.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length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= distance at the lowest energy (H–H: 74 pm).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holding hands: too far, no grip; too close, you bump heads.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length</a:t>
            </a:r>
            <a:endParaRPr lang="en-US" sz="2400" dirty="0"/>
          </a:p>
        </p:txBody>
      </p:sp>
      <p:pic>
        <p:nvPicPr>
          <p:cNvPr id="7" name="Image 0" descr="/home/claude/molpng/h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01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covalent bond has a typical length, which depends on the two atoms.</a:t>
            </a:r>
            <a:endParaRPr lang="en-US" sz="13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1394460"/>
                <a:gridCol w="1394460"/>
                <a:gridCol w="1394460"/>
                <a:gridCol w="13944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(pm)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(pm)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H–H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H–C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H–N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H–O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N–N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H–I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O–O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84962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4.4.1 (× 10⁻¹² m).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263640" y="1783080"/>
            <a:ext cx="2423160" cy="2194560"/>
          </a:xfrm>
          <a:prstGeom prst="roundRect">
            <a:avLst>
              <a:gd name="adj" fmla="val 4167"/>
            </a:avLst>
          </a:prstGeom>
          <a:solidFill>
            <a:srgbClr val="FBEF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167128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length varies a little from molecule to molecule, but stays close to these values.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to H are short because H is small.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bonds, shorter bond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exception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 the number of bonds between two atoms increases, the bond gets shorter.</a:t>
            </a:r>
            <a:endParaRPr lang="en-US" sz="13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1394460"/>
                <a:gridCol w="1394460"/>
                <a:gridCol w="1394460"/>
                <a:gridCol w="13944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and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and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and 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and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and 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84962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4.4.2 (pm).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263640" y="1783080"/>
            <a:ext cx="2423160" cy="2194560"/>
          </a:xfrm>
          <a:prstGeom prst="roundRect">
            <a:avLst>
              <a:gd name="adj" fmla="val 4167"/>
            </a:avLst>
          </a:prstGeom>
          <a:solidFill>
            <a:srgbClr val="FBEF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167128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electrons between the two nuclei pull them closer before the nuclei repel each other strongly enough to balance the attraction.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 and polar covalent bonds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pic>
        <p:nvPicPr>
          <p:cNvPr id="8" name="Image 1" descr="/home/claude/src2/crops/fig4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238" y="1280160"/>
            <a:ext cx="3513525" cy="1481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98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versus nonpolar covalent bonds, Figure 4.4.1 (Ball, The Basics of GOB Chemistry 4.4)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two atoms are identical, so the pair is shared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 covalent bond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HCl, Cl attracts the pair more strongly, so electron density is greater around Cl: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covalent bond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(unequal sharing).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polarity: δ+, δ− and the dipole arrow</a:t>
            </a:r>
            <a:endParaRPr lang="en-US" sz="2400" dirty="0"/>
          </a:p>
        </p:txBody>
      </p:sp>
      <p:pic>
        <p:nvPicPr>
          <p:cNvPr id="7" name="Image 0" descr="/home/claude/molpng/h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01080"/>
          </a:xfrm>
          <a:prstGeom prst="rect">
            <a:avLst/>
          </a:prstGeom>
        </p:spPr>
      </p:pic>
      <p:pic>
        <p:nvPicPr>
          <p:cNvPr id="8" name="Image 1" descr="/home/claude/src2/crops/fig4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142978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46525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4.4.2 (Ball, The Basics of GOB Chemistry 4.4)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sharing gives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negative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 (δ−) on one atom and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positive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 (δ+) on the other.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separation of charge is an electric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dipole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(two poles).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dipole arrow points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the δ− end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crossed tail marks the δ+ end.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Electronegativity: the Pauling scale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pic>
        <p:nvPicPr>
          <p:cNvPr id="8" name="Image 1" descr="/home/claude/src2/crops/fig4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572000" cy="20701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3868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Pauling electronegativity values, Figure 4.4.3 (Ball, The Basics of GOB Chemistry 4.4)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5303520" y="128016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Electronegativity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how strongly an atom attracts electrons in a covalent bond.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towards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right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periodic table (noble gases excluded).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Fluorine is highest (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Learn: F 4.0, O 3.5, N 3.0, Cl 3.0, C 2.5, H 2.1, Na 0.9.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closer: Linus Pauling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Pauling (1901–94) is the only person to have won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unshared Nobel Prizes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1930s he set out key principles of the chemical bond; his 1939 book </a:t>
            </a:r>
            <a:r>
              <a:rPr lang="en-US" sz="14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Nature of the Chemical Bond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one of the most important in chemistry.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won the 1954 Chemistry Prize for work on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structure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1962 Peace Prize for opposing nuclear weapons testing.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he claimed large doses of vitamin C prevent disease. Most clinical research failed to show this: a reminder that even great scientists need evidence.</a:t>
            </a:r>
            <a:endParaRPr lang="en-US" sz="1400" dirty="0"/>
          </a:p>
        </p:txBody>
      </p:sp>
      <p:pic>
        <p:nvPicPr>
          <p:cNvPr id="9" name="Image 1" descr="/home/claude/src2/crops/pau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363" y="1280160"/>
            <a:ext cx="1928475" cy="29443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42611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Pauling (Ball, The Basics of GOB Chemistry 4.4)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Electronegativity difference → bond type</a:t>
            </a:r>
            <a:endParaRPr lang="en-US" sz="2400" dirty="0"/>
          </a:p>
        </p:txBody>
      </p:sp>
      <p:pic>
        <p:nvPicPr>
          <p:cNvPr id="7" name="Image 0" descr="/home/claude/molpng/h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01080"/>
          </a:xfrm>
          <a:prstGeom prst="rect">
            <a:avLst/>
          </a:prstGeom>
        </p:spPr>
      </p:pic>
      <p:pic>
        <p:nvPicPr>
          <p:cNvPr id="8" name="Image 1" descr="/home/claude/src2/crops/fig4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143862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5536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4.4.4 (Ball, The Basics of GOB Chemistry 4.4)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two electronegativities (larger minus smaller).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0.4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nonpolar covalent.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to 1.8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polar covalent.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1.8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ionic.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difference of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(identical atoms) is always nonpolar. Ionic bonds are the extreme of polarity: electrons are transferred, not shared.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4.1 · Classify the bond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electronegativity difference and bond type: (a) C and H (b) H and H (c) Na and Cl (d) O and 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2.5 − 2.1 = 0.4, rather small: C–H is treated as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9577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795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7774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2.1 − 2.1 = 0: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244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4244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4061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3.0 − 0.9 = 2.1: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5307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40530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0347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3.5 − 2.1 = 1.4: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covalent bond, electrons drawn towards O.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Classify the bond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 and O (b) K and Br (c) N and N (d) Cs and 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0.8 · Br 2.8 · Cs 0.7 · C 2.5 · O 3.5 · F 4.0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Classify the bond · answer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 and O (b) K and Br (c) N and N (d) Cs and 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0.8 · Br 2.8 · Cs 0.7 · C 2.5 · O 3.5 · F 4.0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1.0: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electrons drawn to O   (b) 2.0: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0: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3.3: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bond polarity to molecular polarity</a:t>
            </a:r>
            <a:endParaRPr lang="en-US" sz="2400" dirty="0"/>
          </a:p>
        </p:txBody>
      </p:sp>
      <p:pic>
        <p:nvPicPr>
          <p:cNvPr id="7" name="Image 0" descr="/home/claude/molpng/h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01080"/>
          </a:xfrm>
          <a:prstGeom prst="rect">
            <a:avLst/>
          </a:prstGeom>
        </p:spPr>
      </p:pic>
      <p:pic>
        <p:nvPicPr>
          <p:cNvPr id="8" name="Image 1" descr="/home/claude/src2/crops/fig4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875" y="1280160"/>
            <a:ext cx="3664250" cy="11571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4738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molecular dipole, Figure 4.4.5 (Ball, The Basics of GOB Chemistry 4.4)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784764"/>
            <a:ext cx="8229600" cy="1878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one bond,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polarity decides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molecule's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polarity.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Diatomic molecules of one element (H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HF has a polar bond, so it is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molecule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one end δ+, the other δ−, like the two poles of a magnet.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molecules line up in an electric field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pic>
        <p:nvPicPr>
          <p:cNvPr id="8" name="Image 1" descr="/home/claude/src2/crops/fig4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5337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8504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4.4.6 (Ball, The Basics of GOB Chemistry 4.4)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field, polar molecules point in random directions.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charged plates, their δ+ ends turn towards the negative plate and their δ− ends towards the positive plate.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like this show whether a substance is polar, and how polar.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matters: CO₂ and H₂O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pic>
        <p:nvPicPr>
          <p:cNvPr id="8" name="Image 1" descr="/home/claude/src2/crops/fig4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1204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5213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4.4.7 (Ball, The Basics of GOB Chemistry 4.4)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molecules have polar bonds.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its two equal dipoles point in opposite directions and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nonpolar.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dipoles do not cancel, so water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changes properties: water boils at 100 °C, high for such a small molecule;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becomes a gas at about −78 °C.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h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01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bond is the most polar? (C 2.5, H 2.1, N 3.0, O 3.5, Cl 3.0)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C–H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N–H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O–H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C–Cl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h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01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bond is the most polar? (C 2.5, H 2.1, N 3.0, O 3.5, Cl 3.0)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C–H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N–H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O–H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C–Cl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Differences: C–H 0.4, N–H 0.9, O–H 1.4, C–Cl 0.5. The largest difference is the most polar.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molecules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molecule has its own mass, three-dimensional shape and polarity.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  ·  Ball 4.5</a:t>
            </a:r>
            <a:endParaRPr lang="en-US" sz="1200" dirty="0"/>
          </a:p>
        </p:txBody>
      </p:sp>
      <p:pic>
        <p:nvPicPr>
          <p:cNvPr id="7" name="Image 0" descr="/home/claude/molpng/b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1625725"/>
          </a:xfrm>
          <a:prstGeom prst="rect">
            <a:avLst/>
          </a:prstGeom>
        </p:spPr>
      </p:pic>
      <p:pic>
        <p:nvPicPr>
          <p:cNvPr id="8" name="Image 1" descr="/home/claude/molpng/ammo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62213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mass</a:t>
            </a:r>
            <a:endParaRPr lang="en-US" sz="2400" dirty="0"/>
          </a:p>
        </p:txBody>
      </p:sp>
      <p:pic>
        <p:nvPicPr>
          <p:cNvPr id="7" name="Image 0" descr="/home/claude/molpng/b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599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 in ionic compounds form crystal lattices. Covalent molecules are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units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characteristic mass and shape.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mass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(molecular weight) = the sum of the masses of all atoms in the molecule, in amu.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atomic mass by its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add. It works like formula mass in IC1.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Masses used: H 1.01, C 12.01, N 14.01, O 16.00, B 10.81, F 19.00.</a:t>
            </a:r>
            <a:endParaRPr lang="en-US" sz="1400" dirty="0"/>
          </a:p>
        </p:txBody>
      </p:sp>
      <p:pic>
        <p:nvPicPr>
          <p:cNvPr id="9" name="Image 1" descr="/home/claude/molpng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21711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34879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H₂O: 2(1.01) + 16.00 = 18.02 amu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5.1 · Molecular mass</a:t>
            </a:r>
            <a:endParaRPr lang="en-US" sz="2400" dirty="0"/>
          </a:p>
        </p:txBody>
      </p:sp>
      <p:pic>
        <p:nvPicPr>
          <p:cNvPr id="7" name="Image 0" descr="/home/claude/molpng/ammo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506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molecular mass of (a)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(b)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(d)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2 × 1.01 + 16.00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18.02 amu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9577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795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7774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6 × 12.01 + 6 × 1.01 = 72.06 + 6.06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78.12 amu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244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4244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4061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14.01 + 2 × 16.00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46.01 amu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5307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40530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0347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2 × 14.01 + 5 × 16.00 = 28.02 + 80.00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108.02 amu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Same two elements as (c), different mass.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Molecular mass</a:t>
            </a:r>
            <a:endParaRPr lang="en-US" sz="2400" dirty="0"/>
          </a:p>
        </p:txBody>
      </p:sp>
      <p:pic>
        <p:nvPicPr>
          <p:cNvPr id="7" name="Image 0" descr="/home/claude/molpng/ccl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CO   (c)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BF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Molecular mass · answer</a:t>
            </a:r>
            <a:endParaRPr lang="en-US" sz="2400" dirty="0"/>
          </a:p>
        </p:txBody>
      </p:sp>
      <p:pic>
        <p:nvPicPr>
          <p:cNvPr id="7" name="Image 0" descr="/home/claude/molpng/ccl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CO   (c)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BF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26.04 amu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28.01 amu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44.01 amu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10.81 + 3(19.00) =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67.81 amu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VSEPR theory: bonds push each other apart</a:t>
            </a:r>
            <a:endParaRPr lang="en-US" sz="2400" dirty="0"/>
          </a:p>
        </p:txBody>
      </p:sp>
      <p:pic>
        <p:nvPicPr>
          <p:cNvPr id="7" name="Image 0" descr="/home/claude/molpng/b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59972"/>
          </a:xfrm>
          <a:prstGeom prst="rect">
            <a:avLst/>
          </a:prstGeom>
        </p:spPr>
      </p:pic>
      <p:pic>
        <p:nvPicPr>
          <p:cNvPr id="8" name="Image 1" descr="/home/claude/src2/crops/becl2_bf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72" y="1280160"/>
            <a:ext cx="6343057" cy="11571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4738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BeCl₂ is linear; BF₃ is trigonal planar (Ball, The Basics of GOB Chemistry 4.5)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784764"/>
            <a:ext cx="8229600" cy="1878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 shell electron pair repulsion (VSEPR)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electron pairs around the central atom repel and stay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far apart as possible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bonds (BeCl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180° apart: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Three bonds (BF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120° apart in a plane: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trigonal planar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BF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rare exceptions to the octet rule.)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with no lone pairs on the central atom</a:t>
            </a:r>
            <a:endParaRPr lang="en-US" sz="2400" dirty="0"/>
          </a:p>
        </p:txBody>
      </p:sp>
      <p:pic>
        <p:nvPicPr>
          <p:cNvPr id="7" name="Image 0" descr="/home/claude/molpng/ammo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50655"/>
          </a:xfrm>
          <a:prstGeom prst="rect">
            <a:avLst/>
          </a:prstGeom>
        </p:spPr>
      </p:pic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577840" cy="914400"/>
        </p:xfrm>
        <a:graphic>
          <a:graphicData uri="http://schemas.openxmlformats.org/drawingml/2006/table">
            <a:tbl>
              <a:tblPr/>
              <a:tblGrid>
                <a:gridCol w="1115568"/>
                <a:gridCol w="1115568"/>
                <a:gridCol w="1115568"/>
                <a:gridCol w="1115568"/>
                <a:gridCol w="11155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Atoms around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BeCl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trigonal planar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tetrahedral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109.5°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CCl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268833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4.5. Four bonds point to the corners of a tetrahedron.</a:t>
            </a:r>
            <a:endParaRPr lang="en-US" sz="900" dirty="0"/>
          </a:p>
        </p:txBody>
      </p:sp>
      <p:pic>
        <p:nvPicPr>
          <p:cNvPr id="10" name="Image 1" descr="/home/claude/molpng/ccl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80160"/>
            <a:ext cx="2423160" cy="232875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263640" y="3645487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CCl₄: tetrahedral, 109.5°</a:t>
            </a:r>
            <a:endParaRPr lang="en-US" sz="8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bonds count as one</a:t>
            </a:r>
            <a:endParaRPr lang="en-US" sz="2400" dirty="0"/>
          </a:p>
        </p:txBody>
      </p:sp>
      <p:pic>
        <p:nvPicPr>
          <p:cNvPr id="7" name="Image 0" descr="/home/claude/molpng/ccl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4840"/>
          </a:xfrm>
          <a:prstGeom prst="rect">
            <a:avLst/>
          </a:prstGeom>
        </p:spPr>
      </p:pic>
      <p:pic>
        <p:nvPicPr>
          <p:cNvPr id="8" name="Image 1" descr="/home/claude/src2/crops/ch2o_sha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187064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187377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Formaldehyde, CH₂O (Ball, The Basics of GOB Chemistry 4.5)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Lewis structure first.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shape,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or triple bond counts as one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Formaldehyde (CH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O) has three groups around C (two C–H and one C=O), so like BF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trigonal planar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 pairs on the central atom</a:t>
            </a:r>
            <a:endParaRPr lang="en-US" sz="2400" dirty="0"/>
          </a:p>
        </p:txBody>
      </p:sp>
      <p:pic>
        <p:nvPicPr>
          <p:cNvPr id="7" name="Image 0" descr="/home/claude/molpng/b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59972"/>
          </a:xfrm>
          <a:prstGeom prst="rect">
            <a:avLst/>
          </a:prstGeom>
        </p:spPr>
      </p:pic>
      <p:pic>
        <p:nvPicPr>
          <p:cNvPr id="8" name="Image 1" descr="/home/claude/src2/crops/nh3_h2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67" y="1280160"/>
            <a:ext cx="4585065" cy="13233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64012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 and water (Ball, The Basics of GOB Chemistry 4.5)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951018"/>
            <a:ext cx="8229600" cy="1712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 pairs also repel, but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is named from the atoms only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 bonds + 1 lone pair. The four pairs are tetrahedral, but the shape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trigonal pyramidal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2 bonds + 2 lone pairs →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an angle of about 109.5° (in fact slightly less).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shape in three steps</a:t>
            </a:r>
            <a:endParaRPr lang="en-US" sz="2400" dirty="0"/>
          </a:p>
        </p:txBody>
      </p:sp>
      <p:pic>
        <p:nvPicPr>
          <p:cNvPr id="7" name="Image 0" descr="/home/claude/molpng/ammo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50655"/>
          </a:xfrm>
          <a:prstGeom prst="rect">
            <a:avLst/>
          </a:prstGeom>
        </p:spPr>
      </p:pic>
      <p:pic>
        <p:nvPicPr>
          <p:cNvPr id="8" name="Image 1" descr="/home/claude/src2/crops/tab45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21" y="1280160"/>
            <a:ext cx="3846558" cy="30358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3525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4.5.1 (Ball, The Basics of GOB Chemistry 4.5)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5303520" y="128016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draw the Lewis structure.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 bonds (a double or triple bond counts as one) and lone pairs on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atom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the shape from the table.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+ 0 linear · 3 + 0 trigonal planar · 3 + 1 bent (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120°) · 4 + 0 tetrahedral · 4 + 1 trigonal pyramidal · 4 + 2 bent (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109.5°)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VSEPR shapes in 3D</a:t>
            </a:r>
            <a:endParaRPr lang="en-US" sz="2400" dirty="0"/>
          </a:p>
        </p:txBody>
      </p:sp>
      <p:pic>
        <p:nvPicPr>
          <p:cNvPr id="7" name="Image 0" descr="/home/claude/molpng/ccl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1536192" cy="33832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38988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400" dirty="0"/>
          </a:p>
        </p:txBody>
      </p:sp>
      <p:pic>
        <p:nvPicPr>
          <p:cNvPr id="10" name="Image 1" descr="/home/claude/molpng/c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1261872" cy="39057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920" y="39776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· 2 groups · 180°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30552" y="1280160"/>
            <a:ext cx="1536192" cy="33832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176272" y="138988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Trigonal planar</a:t>
            </a:r>
            <a:endParaRPr lang="en-US" sz="1400" dirty="0"/>
          </a:p>
        </p:txBody>
      </p:sp>
      <p:pic>
        <p:nvPicPr>
          <p:cNvPr id="14" name="Image 2" descr="/home/claude/molpng/bf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2011680"/>
            <a:ext cx="1261872" cy="124638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76272" y="39776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BF₃ · 3 groups · 120°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803904" y="1280160"/>
            <a:ext cx="1536192" cy="33832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849624" y="138988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Tetrahedral</a:t>
            </a:r>
            <a:endParaRPr lang="en-US" sz="1400" dirty="0"/>
          </a:p>
        </p:txBody>
      </p:sp>
      <p:pic>
        <p:nvPicPr>
          <p:cNvPr id="18" name="Image 3" descr="/home/claude/molpng/metha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4" y="2011680"/>
            <a:ext cx="1261872" cy="12171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849624" y="39776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 · 4 bonds · 109.5°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77256" y="1280160"/>
            <a:ext cx="1536192" cy="33832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522976" y="138988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Trigonal pyramidal</a:t>
            </a:r>
            <a:endParaRPr lang="en-US" sz="1400" dirty="0"/>
          </a:p>
        </p:txBody>
      </p:sp>
      <p:pic>
        <p:nvPicPr>
          <p:cNvPr id="22" name="Image 4" descr="/home/claude/molpng/ammoni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416" y="2011680"/>
            <a:ext cx="1261872" cy="78049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22976" y="39776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NH₃ · 3 bonds + 1 lone pair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7150608" y="1280160"/>
            <a:ext cx="1536192" cy="33832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196328" y="138988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</a:t>
            </a:r>
            <a:endParaRPr lang="en-US" sz="1400" dirty="0"/>
          </a:p>
        </p:txBody>
      </p:sp>
      <p:pic>
        <p:nvPicPr>
          <p:cNvPr id="26" name="Image 5" descr="/home/claude/molpng/wa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2011680"/>
            <a:ext cx="1261872" cy="85607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96328" y="39776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 · 2 bonds + 2 lone pairs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5.2 · NH₄⁺ versus NH₃</a:t>
            </a:r>
            <a:endParaRPr lang="en-US" sz="2400" dirty="0"/>
          </a:p>
        </p:txBody>
      </p:sp>
      <p:pic>
        <p:nvPicPr>
          <p:cNvPr id="7" name="Image 0" descr="/home/claude/molpng/b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599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shape of the ammonium ion, NH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How is it different from ammonia, NH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 has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bonds and no lone pair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tetrahedral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(109.5°).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 has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bonds and 1 lone pair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trigonal pyramidal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(angle a little under 109.5°).</a:t>
            </a:r>
            <a:endParaRPr lang="en-US" sz="1300" dirty="0"/>
          </a:p>
        </p:txBody>
      </p:sp>
      <p:pic>
        <p:nvPicPr>
          <p:cNvPr id="16" name="Image 1" descr="/home/claude/src2/crops/nh4_nh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48840"/>
            <a:ext cx="3108960" cy="84477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577840" y="3030195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4.5.2 (Ball, The Basics of GOB Chemistry 4.5)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Nitrosyl chloride</a:t>
            </a:r>
            <a:endParaRPr lang="en-US" sz="2400" dirty="0"/>
          </a:p>
        </p:txBody>
      </p:sp>
      <p:pic>
        <p:nvPicPr>
          <p:cNvPr id="7" name="Image 0" descr="/home/claude/molpng/ammo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506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shape of nitrosyl chloride (NOCl), a corrosive reddish-orange gas?</a:t>
            </a:r>
            <a:endParaRPr lang="en-US" sz="1400" dirty="0"/>
          </a:p>
        </p:txBody>
      </p:sp>
      <p:pic>
        <p:nvPicPr>
          <p:cNvPr id="10" name="Image 1" descr="/home/claude/src2/crops/no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2560320" cy="9664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Nitrosyl chloride · answer</a:t>
            </a:r>
            <a:endParaRPr lang="en-US" sz="2400" dirty="0"/>
          </a:p>
        </p:txBody>
      </p:sp>
      <p:pic>
        <p:nvPicPr>
          <p:cNvPr id="7" name="Image 0" descr="/home/claude/molpng/ammo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506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shape of nitrosyl chloride (NOCl), a corrosive reddish-orange gas?</a:t>
            </a:r>
            <a:endParaRPr lang="en-US" sz="1400" dirty="0"/>
          </a:p>
        </p:txBody>
      </p:sp>
      <p:pic>
        <p:nvPicPr>
          <p:cNvPr id="10" name="Image 1" descr="/home/claude/src2/crops/no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2560320" cy="96647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2880360"/>
            <a:ext cx="8229600" cy="1783080"/>
          </a:xfrm>
          <a:prstGeom prst="roundRect">
            <a:avLst>
              <a:gd name="adj" fmla="val 5128"/>
            </a:avLst>
          </a:prstGeom>
          <a:solidFill>
            <a:srgbClr val="FBEF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N has a double bond to O (count as one) and a single bond to Cl: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bonds + 1 lone pair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three groups spread about 120° apart, but the shape counts atoms only: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 (angular)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less than 120°.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polarity: the rules</a:t>
            </a:r>
            <a:endParaRPr lang="en-US" sz="2400" dirty="0"/>
          </a:p>
        </p:txBody>
      </p:sp>
      <p:pic>
        <p:nvPicPr>
          <p:cNvPr id="7" name="Image 0" descr="/home/claude/molpng/ccl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4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bonds are nonpolar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molecule is nonpolar: I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has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bonds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 is polar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bond dipoles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of a symmetrical shape.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 shapes with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outer atoms and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lone pairs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centre (linear AB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trigonal planar AB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tetrahedral AB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nonpolar.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 pairs on the centre (bent, pyramidal), or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outer atoms, usually make the molecule polar.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 bent: CO₂ and H₂O</a:t>
            </a:r>
            <a:endParaRPr lang="en-US" sz="2400" dirty="0"/>
          </a:p>
        </p:txBody>
      </p:sp>
      <p:pic>
        <p:nvPicPr>
          <p:cNvPr id="7" name="Image 0" descr="/home/claude/molpng/b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59972"/>
          </a:xfrm>
          <a:prstGeom prst="rect">
            <a:avLst/>
          </a:prstGeom>
        </p:spPr>
      </p:pic>
      <p:pic>
        <p:nvPicPr>
          <p:cNvPr id="8" name="Image 1" descr="/home/claude/src2/crops/fig45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839" y="1280160"/>
            <a:ext cx="4820321" cy="1481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98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4.5.1 (Ball, The Basics of GOB Chemistry 4.5)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two C=O dipoles are directly opposite: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overall dipole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nonpolar.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the two O–H dipoles (red) are not opposite. The net dipole (blue) points towards O: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δ− on O and δ+ between the H atoms.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Trigonal planar vs trigonal pyramidal</a:t>
            </a:r>
            <a:endParaRPr lang="en-US" sz="2400" dirty="0"/>
          </a:p>
        </p:txBody>
      </p:sp>
      <p:pic>
        <p:nvPicPr>
          <p:cNvPr id="7" name="Image 0" descr="/home/claude/molpng/ammo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50655"/>
          </a:xfrm>
          <a:prstGeom prst="rect">
            <a:avLst/>
          </a:prstGeom>
        </p:spPr>
      </p:pic>
      <p:pic>
        <p:nvPicPr>
          <p:cNvPr id="8" name="Image 1" descr="/home/claude/src2/crops/fig45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16364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953185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BF₃ and NH₃, Figure 4.5.2 (Ball, The Basics of GOB Chemistry 4.5)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(trigonal planar): each B–F dipole is cancelled by the sum of the other two: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(trigonal pyramidal): the lone pair pushes the N–H bonds to one side. The dipoles add up: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outer atoms</a:t>
            </a:r>
            <a:endParaRPr lang="en-US" sz="2400" dirty="0"/>
          </a:p>
        </p:txBody>
      </p:sp>
      <p:pic>
        <p:nvPicPr>
          <p:cNvPr id="7" name="Image 0" descr="/home/claude/molpng/ccl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4840"/>
          </a:xfrm>
          <a:prstGeom prst="rect">
            <a:avLst/>
          </a:prstGeom>
        </p:spPr>
      </p:pic>
      <p:pic>
        <p:nvPicPr>
          <p:cNvPr id="8" name="Image 1" descr="/home/claude/src2/crops/fig4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17953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11206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CCl₄ and CH₃Cl, Figure 4.5.3 (Ball, The Basics of GOB Chemistry 4.5)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tetrahedral.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four identical C–Cl dipoles cancel: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Cl: one C–Cl bond and three C–H bonds of different polarity do not cancel: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 with polar bonds: a gallery</a:t>
            </a:r>
            <a:endParaRPr lang="en-US" sz="2400" dirty="0"/>
          </a:p>
        </p:txBody>
      </p:sp>
      <p:pic>
        <p:nvPicPr>
          <p:cNvPr id="7" name="Image 0" descr="/home/claude/molpng/b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59972"/>
          </a:xfrm>
          <a:prstGeom prst="rect">
            <a:avLst/>
          </a:prstGeom>
        </p:spPr>
      </p:pic>
      <p:pic>
        <p:nvPicPr>
          <p:cNvPr id="8" name="Image 1" descr="/home/claude/src2/crops/fig45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402" y="1280160"/>
            <a:ext cx="6415195" cy="13233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64012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4.5.4 (Ball, The Basics of GOB Chemistry 4.5)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951018"/>
            <a:ext cx="8229600" cy="1712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arrows are bond dipoles; blue arrows are the net molecular dipole.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HCl, 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NH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(dipoles cancel by symmetry): BCl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vs molecular compounds</a:t>
            </a:r>
            <a:endParaRPr lang="en-US" sz="2400" dirty="0"/>
          </a:p>
        </p:txBody>
      </p:sp>
      <p:pic>
        <p:nvPicPr>
          <p:cNvPr id="7" name="Image 0" descr="/home/claude/molpng/ammo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50655"/>
          </a:xfrm>
          <a:prstGeom prst="rect">
            <a:avLst/>
          </a:prstGeom>
        </p:spPr>
      </p:pic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80360"/>
                <a:gridCol w="2880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Ionic compounds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Molecular compounds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 and nonmetal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nonmetals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ionic: electrons transferred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covalent: electron pairs shared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Representative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at room 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gas, liquid or solid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solubility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Melting and boiling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generally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generally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conductivity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when molten or in 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005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4.5.2. Covalent compounds are also softer and often more flammable.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5.3 · Shape and polarity</a:t>
            </a:r>
            <a:endParaRPr lang="en-US" sz="2400" dirty="0"/>
          </a:p>
        </p:txBody>
      </p:sp>
      <p:pic>
        <p:nvPicPr>
          <p:cNvPr id="7" name="Image 0" descr="/home/claude/molpng/ccl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shape of each molecule and say whether it is polar: (a) PCl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P has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bonds + 1 lone pair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like NH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trigonal pyramidal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P–Cl dipoles do not cancel: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 has two double bonds, counted as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no lone pairs: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opposite dipoles cancel: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Shape and polarity</a:t>
            </a:r>
            <a:endParaRPr lang="en-US" sz="2400" dirty="0"/>
          </a:p>
        </p:txBody>
      </p:sp>
      <p:pic>
        <p:nvPicPr>
          <p:cNvPr id="7" name="Image 0" descr="/home/claude/molpng/b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599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CBr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BCl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Shape and polarity · answer</a:t>
            </a:r>
            <a:endParaRPr lang="en-US" sz="2400" dirty="0"/>
          </a:p>
        </p:txBody>
      </p:sp>
      <p:pic>
        <p:nvPicPr>
          <p:cNvPr id="7" name="Image 0" descr="/home/claude/molpng/b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599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CBr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BCl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4 identical groups, no lone pair: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tetrahedral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symmetrical,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3 identical groups, no lone pair: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trigonal planar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symmetrical,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nonpolar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molecules</a:t>
            </a:r>
            <a:endParaRPr lang="en-US" sz="2400" dirty="0"/>
          </a:p>
        </p:txBody>
      </p:sp>
      <p:pic>
        <p:nvPicPr>
          <p:cNvPr id="7" name="Image 0" descr="/home/claude/molpng/ammo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5065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molecule has a definite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mass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add up all its atomic masses.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molecular shapes can be predicted with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VSEPR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theory: count bonding groups and lone pairs on the central atom.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molecules result from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electronegativity differences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an unsymmetrical shape.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Dipoles that point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opposite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other cancel.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ccl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4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molecule is polar?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ccl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4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molecule is polar?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trigonal pyramidal (a lone pair on N), so its bond dipoles do not cancel. The other three are symmetrical and nonpolar.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Intermolecular forces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attractions between molecules that decide boiling points and solubility.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  ·  Ball 8.1</a:t>
            </a:r>
            <a:endParaRPr lang="en-US" sz="1200" dirty="0"/>
          </a:p>
        </p:txBody>
      </p:sp>
      <p:pic>
        <p:nvPicPr>
          <p:cNvPr id="7" name="Image 0" descr="/home/claude/molpng/water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912310"/>
          </a:xfrm>
          <a:prstGeom prst="rect">
            <a:avLst/>
          </a:prstGeom>
        </p:spPr>
      </p:pic>
      <p:pic>
        <p:nvPicPr>
          <p:cNvPr id="8" name="Image 1" descr="/home/claude/molpng/hclp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inside, forces between</a:t>
            </a:r>
            <a:endParaRPr lang="en-US" sz="2400" dirty="0"/>
          </a:p>
        </p:txBody>
      </p:sp>
      <p:pic>
        <p:nvPicPr>
          <p:cNvPr id="7" name="Image 0" descr="/home/claude/molpng/hcl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288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covalent bond holds atoms together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molecule.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Intermolecular forces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weaker attractions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4023360" cy="2880360"/>
          </a:xfrm>
          <a:prstGeom prst="roundRect">
            <a:avLst>
              <a:gd name="adj" fmla="val 3175"/>
            </a:avLst>
          </a:prstGeom>
          <a:solidFill>
            <a:srgbClr val="E1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892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bonds (intramolecular)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860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atoms of one molecule together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broken only in chemical reactions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O–H bonds inside 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023360" cy="2880360"/>
          </a:xfrm>
          <a:prstGeom prst="roundRect">
            <a:avLst>
              <a:gd name="adj" fmla="val 3175"/>
            </a:avLst>
          </a:prstGeom>
          <a:solidFill>
            <a:srgbClr val="FBEFD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0600" y="1892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Intermolecular forces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2860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separate molecules close to each other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weaker: overcome when a substance melts or boils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forces → higher melting and boiling points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types: dispersion, dipole–dipole, hydrogen bonding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dispersion forces</a:t>
            </a:r>
            <a:endParaRPr lang="en-US" sz="2400" dirty="0"/>
          </a:p>
        </p:txBody>
      </p:sp>
      <p:pic>
        <p:nvPicPr>
          <p:cNvPr id="7" name="Image 0" descr="/home/claude/molpng/nh3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91294"/>
          </a:xfrm>
          <a:prstGeom prst="rect">
            <a:avLst/>
          </a:prstGeom>
        </p:spPr>
      </p:pic>
      <p:pic>
        <p:nvPicPr>
          <p:cNvPr id="8" name="Image 1" descr="/home/claude/figs/imf_disper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406" y="1280160"/>
            <a:ext cx="3555187" cy="1481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98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momentary uneven electron cloud induces a dipole in a neighbour (Dr. NAM, after Ball 8.1)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move constantly, so for an instant a molecule's electron cloud can be uneven: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(instantaneous) dipole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induces a dipole in a neighbour, and the two attract.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molecules, polar or nonpolar.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 between nonpolar molecules (H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in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 with more electrons: at room temperature F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gases, Br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liquid and I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solid.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Dipole–dipole forces</a:t>
            </a:r>
            <a:endParaRPr lang="en-US" sz="2400" dirty="0"/>
          </a:p>
        </p:txBody>
      </p:sp>
      <p:pic>
        <p:nvPicPr>
          <p:cNvPr id="7" name="Image 0" descr="/home/claude/molpng/water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4240"/>
          </a:xfrm>
          <a:prstGeom prst="rect">
            <a:avLst/>
          </a:prstGeom>
        </p:spPr>
      </p:pic>
      <p:pic>
        <p:nvPicPr>
          <p:cNvPr id="8" name="Image 1" descr="/home/claude/figs/imf_dip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711" y="1280160"/>
            <a:ext cx="3352578" cy="13233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64012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HCl molecules attract head to tail (Dr. NAM, after Ball 8.1)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951018"/>
            <a:ext cx="8229600" cy="1712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molecules have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dipoles (Part 4).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δ− end of one molecule attracts the δ+ end of the next: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dipole–dipole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force, in addition to dispersion.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polar molecule usually boils higher than a nonpolar one of similar size.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bonding</a:t>
            </a:r>
            <a:endParaRPr lang="en-US" sz="2400" dirty="0"/>
          </a:p>
        </p:txBody>
      </p:sp>
      <p:pic>
        <p:nvPicPr>
          <p:cNvPr id="7" name="Image 0" descr="/home/claude/molpng/hcl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28847"/>
          </a:xfrm>
          <a:prstGeom prst="rect">
            <a:avLst/>
          </a:prstGeom>
        </p:spPr>
      </p:pic>
      <p:pic>
        <p:nvPicPr>
          <p:cNvPr id="8" name="Image 1" descr="/home/claude/figs/imf_hbo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711" y="1280160"/>
            <a:ext cx="2464579" cy="1481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98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bonds between water molecules (Dr. NAM, after Ball 8.1)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especially strong dipole–dipole attraction. It needs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bonded directly to N, O or F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attracted to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 pair on N, O or F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another molecule.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O and F are small and very electronegative, so the H is strongly δ+.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intermolecular force. It is not a covalent bond: it is an attraction between molecules.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boiling points of the hydrides</a:t>
            </a:r>
            <a:endParaRPr lang="en-US" sz="2400" dirty="0"/>
          </a:p>
        </p:txBody>
      </p:sp>
      <p:pic>
        <p:nvPicPr>
          <p:cNvPr id="7" name="Image 0" descr="/home/claude/molpng/nh3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91294"/>
          </a:xfrm>
          <a:prstGeom prst="rect">
            <a:avLst/>
          </a:prstGeom>
        </p:spPr>
      </p:pic>
      <p:pic>
        <p:nvPicPr>
          <p:cNvPr id="8" name="Image 1" descr="/home/claude/figs/bp_hydri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572000" cy="2921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2377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boiling points (°C) of hydrides of groups 14 to 17 (Dr. NAM; standard data)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5303520" y="128016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each group, boiling points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bigger molecules, stronger dispersion forces.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 (CH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 is nonpolar and follows the trend all the way.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HF and NH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break the trend: far higher than expected because of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bonding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Without it, water would boil below −80 °C.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forces compared</a:t>
            </a:r>
            <a:endParaRPr lang="en-US" sz="2400" dirty="0"/>
          </a:p>
        </p:txBody>
      </p:sp>
      <p:pic>
        <p:nvPicPr>
          <p:cNvPr id="7" name="Image 0" descr="/home/claude/molpng/water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4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→ strongest (for molecules of similar size).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2621280" cy="2880360"/>
          </a:xfrm>
          <a:prstGeom prst="roundRect">
            <a:avLst>
              <a:gd name="adj" fmla="val 3488"/>
            </a:avLst>
          </a:prstGeom>
          <a:solidFill>
            <a:srgbClr val="E1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892808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86000"/>
            <a:ext cx="234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in: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molecules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temporary dipoles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force in: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CCl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1783080"/>
            <a:ext cx="2621280" cy="2880360"/>
          </a:xfrm>
          <a:prstGeom prst="roundRect">
            <a:avLst>
              <a:gd name="adj" fmla="val 3488"/>
            </a:avLst>
          </a:prstGeom>
          <a:solidFill>
            <a:srgbClr val="ECEFE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98520" y="1892808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Dipole–dipole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398520" y="2286000"/>
            <a:ext cx="234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in: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polar molecules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permanent dipoles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HCl, CH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CH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1783080"/>
            <a:ext cx="2621280" cy="2880360"/>
          </a:xfrm>
          <a:prstGeom prst="roundRect">
            <a:avLst>
              <a:gd name="adj" fmla="val 3488"/>
            </a:avLst>
          </a:prstGeom>
          <a:solidFill>
            <a:srgbClr val="FBEFD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02680" y="1892808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bonding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02680" y="2286000"/>
            <a:ext cx="234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in: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H–N, H–O, H–F molecules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strongly δ+ H meets a lone pair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NH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HF, ethanol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6.1 · Strongest intermolecular force</a:t>
            </a:r>
            <a:endParaRPr lang="en-US" sz="2400" dirty="0"/>
          </a:p>
        </p:txBody>
      </p:sp>
      <p:pic>
        <p:nvPicPr>
          <p:cNvPr id="7" name="Image 0" descr="/home/claude/molpng/hcl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288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strongest intermolecular force in (a)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HCl (c)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(d) NH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nonpolar: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9577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795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7774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HCl is polar, but H is bonded to Cl, not N, O or F: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dipole–dipole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244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4244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4061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H is bonded to O: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bonding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5307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40530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0347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H is bonded to N: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bonding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Rank by boiling point</a:t>
            </a:r>
            <a:endParaRPr lang="en-US" sz="2400" dirty="0"/>
          </a:p>
        </p:txBody>
      </p:sp>
      <p:pic>
        <p:nvPicPr>
          <p:cNvPr id="7" name="Image 0" descr="/home/claude/molpng/nh3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9129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and HCl from lowest to highest boiling point. Explain your order.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Rank by boiling point · answer</a:t>
            </a:r>
            <a:endParaRPr lang="en-US" sz="2400" dirty="0"/>
          </a:p>
        </p:txBody>
      </p:sp>
      <p:pic>
        <p:nvPicPr>
          <p:cNvPr id="7" name="Image 0" descr="/home/claude/molpng/nh3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9129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and HCl from lowest to highest boiling point. Explain your order.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HCl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(−162 °C, −85 °C, 100 °C).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dispersion only; HCl adds dipole–dipole forces;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has hydrogen bonds, the strongest.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in pharmacy</a:t>
            </a:r>
            <a:endParaRPr lang="en-US" sz="2400" dirty="0"/>
          </a:p>
        </p:txBody>
      </p:sp>
      <p:pic>
        <p:nvPicPr>
          <p:cNvPr id="7" name="Image 0" descr="/home/claude/molpng/water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4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dissolves like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polar and hydrogen-bonding substances dissolve in water; nonpolar substances (fats, cholesterol) do not. Drugs that must dissolve in body fluids usually need polar groups.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Water's hydrogen bonds give it a high boiling point and make it an excellent solvent for many drugs and ions.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bonds hold the two strands of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together and help fold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shape.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bind to their target proteins mainly through intermolecular forces, especially hydrogen bonds.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hcl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288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substance forms hydrogen bonds between its own molecules?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hcl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288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substance forms hydrogen bonds between its own molecules?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has H bonded directly to F, and F has lone pairs. In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the H is bonded to S, which is not N, O or F.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key rules</a:t>
            </a:r>
            <a:endParaRPr lang="en-US" sz="2400" dirty="0"/>
          </a:p>
        </p:txBody>
      </p:sp>
      <p:pic>
        <p:nvPicPr>
          <p:cNvPr id="3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80160"/>
            <a:ext cx="8229600" cy="377190"/>
          </a:xfrm>
          <a:prstGeom prst="rect">
            <a:avLst/>
          </a:prstGeom>
          <a:solidFill>
            <a:srgbClr val="E1EEF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280160"/>
            <a:ext cx="2103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bond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1280160"/>
            <a:ext cx="5852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pair · C 4 bonds, N 3, O 2, halogen 1, H 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03070"/>
            <a:ext cx="8229600" cy="377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703070"/>
            <a:ext cx="2103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or ionic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703070"/>
            <a:ext cx="5852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nonmetals → covalent · metal + nonmetal → ionic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125980"/>
            <a:ext cx="8229600" cy="377190"/>
          </a:xfrm>
          <a:prstGeom prst="rect">
            <a:avLst/>
          </a:prstGeom>
          <a:solidFill>
            <a:srgbClr val="E1EE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2125980"/>
            <a:ext cx="2103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125980"/>
            <a:ext cx="5852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prefixes + -ide · N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dinitrogen pentoxide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548890"/>
            <a:ext cx="8229600" cy="377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2548890"/>
            <a:ext cx="2103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structure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548890"/>
            <a:ext cx="5852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e⁻ → skeleton → octets → multiple bonds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2971800"/>
            <a:ext cx="8229600" cy="377190"/>
          </a:xfrm>
          <a:prstGeom prst="rect">
            <a:avLst/>
          </a:prstGeom>
          <a:solidFill>
            <a:srgbClr val="E1EE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2971800"/>
            <a:ext cx="2103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type (ΔEN)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2971800"/>
            <a:ext cx="5852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0.4 nonpolar · 0.4–1.8 polar · &gt; 1.8 ionic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394710"/>
            <a:ext cx="8229600" cy="377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4360" y="3394710"/>
            <a:ext cx="2103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VSEPR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743200" y="3394710"/>
            <a:ext cx="5852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linear · 3 planar · 4 tetrahedral · 3+1 pyramidal · 2+2 bent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817620"/>
            <a:ext cx="8229600" cy="377190"/>
          </a:xfrm>
          <a:prstGeom prst="rect">
            <a:avLst/>
          </a:prstGeom>
          <a:solidFill>
            <a:srgbClr val="E1EEF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4360" y="3817620"/>
            <a:ext cx="2103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polarity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743200" y="3817620"/>
            <a:ext cx="5852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bonds + unsymmetrical shape → polar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240530"/>
            <a:ext cx="8229600" cy="377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4360" y="4240530"/>
            <a:ext cx="2103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Intermolecular forces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2743200" y="4240530"/>
            <a:ext cx="5852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dipole–dipole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H-bond (H on N, O, F)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topic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7DB6E3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post-lecture activity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7DB6E3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013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the tutorial questions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368296"/>
            <a:ext cx="384048" cy="384048"/>
          </a:xfrm>
          <a:prstGeom prst="ellipse">
            <a:avLst/>
          </a:prstGeom>
          <a:solidFill>
            <a:srgbClr val="7DB6E3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6829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 to find your weak outcomes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2935224"/>
            <a:ext cx="384048" cy="384048"/>
          </a:xfrm>
          <a:prstGeom prst="ellipse">
            <a:avLst/>
          </a:prstGeom>
          <a:solidFill>
            <a:srgbClr val="F0B24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93522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topic: Energy &amp; Matters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</a:t>
            </a:r>
            <a:r>
              <a:rPr lang="en-US" sz="900" i="1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 of GOB Chemistry</a:t>
            </a: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(Ball, Hill &amp; Scott), LibreTexts, CC BY-NC-SA 3.0, sections 4.0–4.5 and 8.1. Linus Pauling photograph as reproduced in Ball 4.4. Part 6 diagrams and chart drawn by Dr. NAM. Shared under the same licence for non-commercial teaching. Extra figures from Roy et al., General Chemistry for Gee-Gees 9.1 and 9.3 (CC BY-NC-SA 4.0), some redrawn by Dr. NAM.</a:t>
            </a:r>
            <a:endParaRPr lang="en-US" sz="900" dirty="0"/>
          </a:p>
        </p:txBody>
      </p:sp>
      <p:pic>
        <p:nvPicPr>
          <p:cNvPr id="16" name="Image 0" descr="/home/claude/molpng/water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65760"/>
            <a:ext cx="1463040" cy="81094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Periodic table</a:t>
            </a:r>
            <a:endParaRPr lang="en-US" sz="2200" dirty="0"/>
          </a:p>
        </p:txBody>
      </p:sp>
      <p:pic>
        <p:nvPicPr>
          <p:cNvPr id="3" name="Image 0" descr="/home/claude/pt/p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731520"/>
            <a:ext cx="7209130" cy="4069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II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117</Slides>
  <Notes>117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PHD115 · Ionic &amp; Covalent Compounds II</dc:title>
  <dc:subject>PptxGenJS Presentation</dc:subject>
  <dc:creator>Dr. NAM</dc:creator>
  <cp:lastModifiedBy>Dr. NAM</cp:lastModifiedBy>
  <cp:revision>1</cp:revision>
  <dcterms:created xsi:type="dcterms:W3CDTF">2026-09-30T22:08:38Z</dcterms:created>
  <dcterms:modified xsi:type="dcterms:W3CDTF">2026-09-30T22:08:38Z</dcterms:modified>
</cp:coreProperties>
</file>