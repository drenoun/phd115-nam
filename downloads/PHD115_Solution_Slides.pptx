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Lst>
  <p:notesMasterIdLst>
    <p:notesMasterId r:id="rId9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notesMaster" Target="notesMasters/notesMaster1.xml"/><Relationship Id="rId94" Type="http://schemas.openxmlformats.org/officeDocument/2006/relationships/presProps" Target="presProps.xml"/><Relationship Id="rId95" Type="http://schemas.openxmlformats.org/officeDocument/2006/relationships/viewProps" Target="viewProps.xml"/><Relationship Id="rId96" Type="http://schemas.openxmlformats.org/officeDocument/2006/relationships/theme" Target="theme/theme1.xml"/><Relationship Id="rId9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lecture follows Ball chapter 9: 9.0–9.4 and 9.7. Equilibrium (9.5–9.6) was taught in Chemical Reactions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five outcomes appear in the before-class activity, the after-class activity, the tutorial and the exam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calculation in this lecture is a conversion factor, just like stoichiometry.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discuss for a minute. Return to this question in Part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discuss for a minute. Return to this question in Part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covers 9.1 and the solubility section at the start of 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9.0 opening essay. These three fluids return throughout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9.1 and 9.2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Solute and solvent need not be in the same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polarity and hydrogen bonding from IC2.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9.2, Solubility.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if 50.0 g of NaCl is stirred into 100 mL of water at 25 °C, how much dissolves? (36.0 g; 14.0 g stays solid: saturated.)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Concentration = amount of solute per amount of solution (not solvent).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9.2, Percent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9.2, Using Percent Composition in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9.2, Looking Closer: The Dose Makes the Poison.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Molarity links concentration to the mole (CR1).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9.2, Molarity.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9.2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Equivalent shortcut: mol = M × L, and L = mol ÷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9.2.6 (b). Part (a): 0.450 mol ÷ 0.0753 M = 5.98 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road map as CR1 stoichiometry, with molarity as the last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9.2, Equivalents.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work in hospital pharmacy.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9.2, Dilutions.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9.2, Preparing IV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Sets up osmolarity in Part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9.3, Electrolytes in Body Fluids.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9.4. i is the number of particles per formula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9.4. Salt in pasta water makes almost no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opening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9.4, Osmotic Pressure, and 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Example 9.4.3.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9.4 and 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Applies 9.4 osmolarity to real fluids. D5W becomes effectively hypotonic once the glucose is used by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Parts 2, 3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9.4, To Your Health: Dialysis.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Ball 9.7. Passive transport needs no energy from the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are the basis of the tutorial and exam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Study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1.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slideLayout" Target="../slideLayouts/slideLayout1.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1.xm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548640"/>
            <a:ext cx="6400800" cy="320040"/>
          </a:xfrm>
          <a:prstGeom prst="rect">
            <a:avLst/>
          </a:prstGeom>
          <a:noFill/>
          <a:ln/>
        </p:spPr>
        <p:txBody>
          <a:bodyPr wrap="square" lIns="0" tIns="0" rIns="0" bIns="0" rtlCol="0" anchor="ctr"/>
          <a:lstStyle/>
          <a:p>
            <a:pPr indent="0" marL="0">
              <a:buNone/>
            </a:pPr>
            <a:r>
              <a:rPr lang="en-US" sz="1200" dirty="0">
                <a:solidFill>
                  <a:srgbClr val="A3B1C2"/>
                </a:solidFill>
                <a:latin typeface="Calibri" pitchFamily="34" charset="0"/>
                <a:ea typeface="Calibri" pitchFamily="34" charset="-122"/>
                <a:cs typeface="Calibri" pitchFamily="34" charset="-120"/>
              </a:rPr>
              <a:t>PHD115 Fundamentals of Chemistry</a:t>
            </a:r>
            <a:endParaRPr lang="en-US" sz="1200" dirty="0"/>
          </a:p>
        </p:txBody>
      </p:sp>
      <p:sp>
        <p:nvSpPr>
          <p:cNvPr id="3" name="Text 1"/>
          <p:cNvSpPr txBox="1"/>
          <p:nvPr/>
        </p:nvSpPr>
        <p:spPr>
          <a:xfrm>
            <a:off x="548640" y="914400"/>
            <a:ext cx="77724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Solution</a:t>
            </a:r>
            <a:endParaRPr lang="en-US" sz="3600" dirty="0"/>
          </a:p>
        </p:txBody>
      </p:sp>
      <p:sp>
        <p:nvSpPr>
          <p:cNvPr id="4" name="Text 2"/>
          <p:cNvSpPr txBox="1"/>
          <p:nvPr/>
        </p:nvSpPr>
        <p:spPr>
          <a:xfrm>
            <a:off x="548640" y="1874520"/>
            <a:ext cx="7315200" cy="32004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Dr. Nur 'Ainun Mokhtar (Dr. NAM) · Faculty of Pharmacy, UiTM Bertam, Penang</a:t>
            </a:r>
            <a:endParaRPr lang="en-US" sz="1100" dirty="0"/>
          </a:p>
        </p:txBody>
      </p:sp>
      <p:sp>
        <p:nvSpPr>
          <p:cNvPr id="5" name="Text 3"/>
          <p:cNvSpPr txBox="1"/>
          <p:nvPr/>
        </p:nvSpPr>
        <p:spPr>
          <a:xfrm>
            <a:off x="548640" y="2240280"/>
            <a:ext cx="4754880" cy="548640"/>
          </a:xfrm>
          <a:prstGeom prst="rect">
            <a:avLst/>
          </a:prstGeom>
          <a:noFill/>
          <a:ln/>
        </p:spPr>
        <p:txBody>
          <a:bodyPr wrap="square" lIns="0" tIns="0" rIns="0" bIns="0" rtlCol="0" anchor="t"/>
          <a:lstStyle/>
          <a:p>
            <a:pPr indent="0" marL="0">
              <a:buNone/>
            </a:pPr>
            <a:r>
              <a:rPr lang="en-US" sz="900" dirty="0">
                <a:solidFill>
                  <a:srgbClr val="A3B1C2"/>
                </a:solidFill>
                <a:latin typeface="Calibri" pitchFamily="34" charset="0"/>
                <a:ea typeface="Calibri" pitchFamily="34" charset="-122"/>
                <a:cs typeface="Calibri" pitchFamily="34" charset="-120"/>
              </a:rPr>
              <a:t>Core reference: Ball, Hill &amp; Scott, The Basics of GOB Chemistry, chapter 9 (9.0–9.4, 9.7)</a:t>
            </a:r>
            <a:endParaRPr lang="en-US" sz="900" dirty="0"/>
          </a:p>
        </p:txBody>
      </p:sp>
      <p:pic>
        <p:nvPicPr>
          <p:cNvPr id="6" name="Image 0" descr="/home/claude/build/mol/water.png">    </p:cNvPr>
          <p:cNvPicPr>
            <a:picLocks noChangeAspect="1"/>
          </p:cNvPicPr>
          <p:nvPr/>
        </p:nvPicPr>
        <p:blipFill>
          <a:blip r:embed="rId1"/>
          <a:stretch>
            <a:fillRect/>
          </a:stretch>
        </p:blipFill>
        <p:spPr>
          <a:xfrm>
            <a:off x="5897880" y="2423160"/>
            <a:ext cx="1371600" cy="1371600"/>
          </a:xfrm>
          <a:prstGeom prst="rect">
            <a:avLst/>
          </a:prstGeom>
        </p:spPr>
      </p:pic>
      <p:pic>
        <p:nvPicPr>
          <p:cNvPr id="7" name="Image 1" descr="/home/claude/build/mol/ethanol.png">    </p:cNvPr>
          <p:cNvPicPr>
            <a:picLocks noChangeAspect="1"/>
          </p:cNvPicPr>
          <p:nvPr/>
        </p:nvPicPr>
        <p:blipFill>
          <a:blip r:embed="rId2"/>
          <a:stretch>
            <a:fillRect/>
          </a:stretch>
        </p:blipFill>
        <p:spPr>
          <a:xfrm>
            <a:off x="7564047" y="1120140"/>
            <a:ext cx="599585" cy="411480"/>
          </a:xfrm>
          <a:prstGeom prst="rect">
            <a:avLst/>
          </a:prstGeom>
        </p:spPr>
      </p:pic>
      <p:pic>
        <p:nvPicPr>
          <p:cNvPr id="8" name="Image 2" descr="/home/claude/build/mol/nitrate.png">    </p:cNvPr>
          <p:cNvPicPr>
            <a:picLocks noChangeAspect="1"/>
          </p:cNvPicPr>
          <p:nvPr/>
        </p:nvPicPr>
        <p:blipFill>
          <a:blip r:embed="rId3"/>
          <a:stretch>
            <a:fillRect/>
          </a:stretch>
        </p:blipFill>
        <p:spPr>
          <a:xfrm>
            <a:off x="4750883" y="3474720"/>
            <a:ext cx="739515" cy="731520"/>
          </a:xfrm>
          <a:prstGeom prst="rect">
            <a:avLst/>
          </a:prstGeom>
        </p:spPr>
      </p:pic>
      <p:pic>
        <p:nvPicPr>
          <p:cNvPr id="9" name="Image 3" descr="/home/claude/build/mol/co2.png">    </p:cNvPr>
          <p:cNvPicPr>
            <a:picLocks noChangeAspect="1"/>
          </p:cNvPicPr>
          <p:nvPr/>
        </p:nvPicPr>
        <p:blipFill>
          <a:blip r:embed="rId4"/>
          <a:stretch>
            <a:fillRect/>
          </a:stretch>
        </p:blipFill>
        <p:spPr>
          <a:xfrm>
            <a:off x="4114800" y="2743200"/>
            <a:ext cx="548640" cy="548640"/>
          </a:xfrm>
          <a:prstGeom prst="rect">
            <a:avLst/>
          </a:prstGeom>
        </p:spPr>
      </p:pic>
      <p:sp>
        <p:nvSpPr>
          <p:cNvPr id="10" name="Text 4"/>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Solution</a:t>
            </a:r>
            <a:endParaRPr lang="en-US" sz="800" dirty="0"/>
          </a:p>
        </p:txBody>
      </p:sp>
      <p:sp>
        <p:nvSpPr>
          <p:cNvPr id="11" name="Text 5"/>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9"/>
        </a:solidFill>
      </p:bgPr>
    </p:bg>
    <p:spTree>
      <p:nvGrpSpPr>
        <p:cNvPr id="1" name=""/>
        <p:cNvGrpSpPr/>
        <p:nvPr/>
      </p:nvGrpSpPr>
      <p:grpSpPr>
        <a:xfrm>
          <a:off x="0" y="0"/>
          <a:ext cx="0" cy="0"/>
          <a:chOff x="0" y="0"/>
          <a:chExt cx="0" cy="0"/>
        </a:xfrm>
      </p:grpSpPr>
      <p:sp>
        <p:nvSpPr>
          <p:cNvPr id="2" name="Text 0"/>
          <p:cNvSpPr txBox="1"/>
          <p:nvPr/>
        </p:nvSpPr>
        <p:spPr>
          <a:xfrm>
            <a:off x="457200" y="41148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Learning outcomes</a:t>
            </a:r>
            <a:endParaRPr lang="en-US" sz="2000" dirty="0"/>
          </a:p>
        </p:txBody>
      </p:sp>
      <p:pic>
        <p:nvPicPr>
          <p:cNvPr id="3"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4" name="Text 1"/>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5" name="Text 2"/>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6" name="Shape 3"/>
          <p:cNvSpPr/>
          <p:nvPr/>
        </p:nvSpPr>
        <p:spPr>
          <a:xfrm>
            <a:off x="457200" y="1280160"/>
            <a:ext cx="4023360" cy="960120"/>
          </a:xfrm>
          <a:prstGeom prst="roundRect">
            <a:avLst>
              <a:gd name="adj" fmla="val 7619"/>
            </a:avLst>
          </a:prstGeom>
          <a:solidFill>
            <a:srgbClr val="FFFFFF"/>
          </a:solidFill>
          <a:ln w="9525">
            <a:solidFill>
              <a:srgbClr val="D7E0E8"/>
            </a:solidFill>
            <a:prstDash val="solid"/>
          </a:ln>
        </p:spPr>
      </p:sp>
      <p:sp>
        <p:nvSpPr>
          <p:cNvPr id="7" name="Text 4"/>
          <p:cNvSpPr txBox="1"/>
          <p:nvPr/>
        </p:nvSpPr>
        <p:spPr>
          <a:xfrm>
            <a:off x="566928" y="1335024"/>
            <a:ext cx="3803904" cy="850392"/>
          </a:xfrm>
          <a:prstGeom prst="rect">
            <a:avLst/>
          </a:prstGeom>
          <a:noFill/>
          <a:ln/>
        </p:spPr>
        <p:txBody>
          <a:bodyPr wrap="square" lIns="0" tIns="0" rIns="0" bIns="0" rtlCol="0" anchor="t"/>
          <a:lstStyle/>
          <a:p>
            <a:pPr indent="0" marL="0">
              <a:buNone/>
            </a:pPr>
            <a:r>
              <a:rPr lang="en-US" sz="900" b="1" dirty="0">
                <a:solidFill>
                  <a:srgbClr val="2F6F9F"/>
                </a:solidFill>
                <a:latin typeface="Calibri" pitchFamily="34" charset="0"/>
                <a:ea typeface="Calibri" pitchFamily="34" charset="-122"/>
                <a:cs typeface="Calibri" pitchFamily="34" charset="-120"/>
              </a:rPr>
              <a:t>SOL-LO1</a:t>
            </a:r>
            <a:endParaRPr lang="en-US" sz="900" dirty="0"/>
          </a:p>
          <a:p>
            <a:pPr indent="0" marL="0">
              <a:buNone/>
            </a:pPr>
            <a:r>
              <a:rPr lang="en-US" sz="1050" dirty="0">
                <a:solidFill>
                  <a:srgbClr val="1B2A41"/>
                </a:solidFill>
                <a:latin typeface="Calibri" pitchFamily="34" charset="0"/>
                <a:ea typeface="Calibri" pitchFamily="34" charset="-122"/>
                <a:cs typeface="Calibri" pitchFamily="34" charset="-120"/>
              </a:rPr>
              <a:t>Define solution terms and predict solubility using “like dissolves like”</a:t>
            </a:r>
            <a:endParaRPr lang="en-US" sz="900" dirty="0"/>
          </a:p>
        </p:txBody>
      </p:sp>
      <p:sp>
        <p:nvSpPr>
          <p:cNvPr id="8" name="Shape 5"/>
          <p:cNvSpPr/>
          <p:nvPr/>
        </p:nvSpPr>
        <p:spPr>
          <a:xfrm>
            <a:off x="4617720" y="1280160"/>
            <a:ext cx="4023360" cy="960120"/>
          </a:xfrm>
          <a:prstGeom prst="roundRect">
            <a:avLst>
              <a:gd name="adj" fmla="val 7619"/>
            </a:avLst>
          </a:prstGeom>
          <a:solidFill>
            <a:srgbClr val="FFFFFF"/>
          </a:solidFill>
          <a:ln w="9525">
            <a:solidFill>
              <a:srgbClr val="D7E0E8"/>
            </a:solidFill>
            <a:prstDash val="solid"/>
          </a:ln>
        </p:spPr>
      </p:sp>
      <p:sp>
        <p:nvSpPr>
          <p:cNvPr id="9" name="Text 6"/>
          <p:cNvSpPr txBox="1"/>
          <p:nvPr/>
        </p:nvSpPr>
        <p:spPr>
          <a:xfrm>
            <a:off x="4727448" y="1335024"/>
            <a:ext cx="3803904" cy="850392"/>
          </a:xfrm>
          <a:prstGeom prst="rect">
            <a:avLst/>
          </a:prstGeom>
          <a:noFill/>
          <a:ln/>
        </p:spPr>
        <p:txBody>
          <a:bodyPr wrap="square" lIns="0" tIns="0" rIns="0" bIns="0" rtlCol="0" anchor="t"/>
          <a:lstStyle/>
          <a:p>
            <a:pPr indent="0" marL="0">
              <a:buNone/>
            </a:pPr>
            <a:r>
              <a:rPr lang="en-US" sz="900" b="1" dirty="0">
                <a:solidFill>
                  <a:srgbClr val="2F6F9F"/>
                </a:solidFill>
                <a:latin typeface="Calibri" pitchFamily="34" charset="0"/>
                <a:ea typeface="Calibri" pitchFamily="34" charset="-122"/>
                <a:cs typeface="Calibri" pitchFamily="34" charset="-120"/>
              </a:rPr>
              <a:t>SOL-LO2</a:t>
            </a:r>
            <a:endParaRPr lang="en-US" sz="900" dirty="0"/>
          </a:p>
          <a:p>
            <a:pPr indent="0" marL="0">
              <a:buNone/>
            </a:pPr>
            <a:r>
              <a:rPr lang="en-US" sz="1050" dirty="0">
                <a:solidFill>
                  <a:srgbClr val="1B2A41"/>
                </a:solidFill>
                <a:latin typeface="Calibri" pitchFamily="34" charset="0"/>
                <a:ea typeface="Calibri" pitchFamily="34" charset="-122"/>
                <a:cs typeface="Calibri" pitchFamily="34" charset="-120"/>
              </a:rPr>
              <a:t>Calculate concentration as %, ppm/ppb and molarity</a:t>
            </a:r>
            <a:endParaRPr lang="en-US" sz="900" dirty="0"/>
          </a:p>
        </p:txBody>
      </p:sp>
      <p:sp>
        <p:nvSpPr>
          <p:cNvPr id="10" name="Shape 7"/>
          <p:cNvSpPr/>
          <p:nvPr/>
        </p:nvSpPr>
        <p:spPr>
          <a:xfrm>
            <a:off x="457200" y="2359152"/>
            <a:ext cx="4023360" cy="960120"/>
          </a:xfrm>
          <a:prstGeom prst="roundRect">
            <a:avLst>
              <a:gd name="adj" fmla="val 7619"/>
            </a:avLst>
          </a:prstGeom>
          <a:solidFill>
            <a:srgbClr val="FFFFFF"/>
          </a:solidFill>
          <a:ln w="9525">
            <a:solidFill>
              <a:srgbClr val="D7E0E8"/>
            </a:solidFill>
            <a:prstDash val="solid"/>
          </a:ln>
        </p:spPr>
      </p:sp>
      <p:sp>
        <p:nvSpPr>
          <p:cNvPr id="11" name="Text 8"/>
          <p:cNvSpPr txBox="1"/>
          <p:nvPr/>
        </p:nvSpPr>
        <p:spPr>
          <a:xfrm>
            <a:off x="566928" y="2414016"/>
            <a:ext cx="3803904" cy="850392"/>
          </a:xfrm>
          <a:prstGeom prst="rect">
            <a:avLst/>
          </a:prstGeom>
          <a:noFill/>
          <a:ln/>
        </p:spPr>
        <p:txBody>
          <a:bodyPr wrap="square" lIns="0" tIns="0" rIns="0" bIns="0" rtlCol="0" anchor="t"/>
          <a:lstStyle/>
          <a:p>
            <a:pPr indent="0" marL="0">
              <a:buNone/>
            </a:pPr>
            <a:r>
              <a:rPr lang="en-US" sz="900" b="1" dirty="0">
                <a:solidFill>
                  <a:srgbClr val="2F6F9F"/>
                </a:solidFill>
                <a:latin typeface="Calibri" pitchFamily="34" charset="0"/>
                <a:ea typeface="Calibri" pitchFamily="34" charset="-122"/>
                <a:cs typeface="Calibri" pitchFamily="34" charset="-120"/>
              </a:rPr>
              <a:t>SOL-LO3</a:t>
            </a:r>
            <a:endParaRPr lang="en-US" sz="900" dirty="0"/>
          </a:p>
          <a:p>
            <a:pPr indent="0" marL="0">
              <a:buNone/>
            </a:pPr>
            <a:r>
              <a:rPr lang="en-US" sz="1050" dirty="0">
                <a:solidFill>
                  <a:srgbClr val="1B2A41"/>
                </a:solidFill>
                <a:latin typeface="Calibri" pitchFamily="34" charset="0"/>
                <a:ea typeface="Calibri" pitchFamily="34" charset="-122"/>
                <a:cs typeface="Calibri" pitchFamily="34" charset="-120"/>
              </a:rPr>
              <a:t>Perform dilution calculations</a:t>
            </a:r>
            <a:endParaRPr lang="en-US" sz="900" dirty="0"/>
          </a:p>
        </p:txBody>
      </p:sp>
      <p:sp>
        <p:nvSpPr>
          <p:cNvPr id="12" name="Shape 9"/>
          <p:cNvSpPr/>
          <p:nvPr/>
        </p:nvSpPr>
        <p:spPr>
          <a:xfrm>
            <a:off x="4617720" y="2359152"/>
            <a:ext cx="4023360" cy="960120"/>
          </a:xfrm>
          <a:prstGeom prst="roundRect">
            <a:avLst>
              <a:gd name="adj" fmla="val 7619"/>
            </a:avLst>
          </a:prstGeom>
          <a:solidFill>
            <a:srgbClr val="FFFFFF"/>
          </a:solidFill>
          <a:ln w="9525">
            <a:solidFill>
              <a:srgbClr val="D7E0E8"/>
            </a:solidFill>
            <a:prstDash val="solid"/>
          </a:ln>
        </p:spPr>
      </p:sp>
      <p:sp>
        <p:nvSpPr>
          <p:cNvPr id="13" name="Text 10"/>
          <p:cNvSpPr txBox="1"/>
          <p:nvPr/>
        </p:nvSpPr>
        <p:spPr>
          <a:xfrm>
            <a:off x="4727448" y="2414016"/>
            <a:ext cx="3803904" cy="850392"/>
          </a:xfrm>
          <a:prstGeom prst="rect">
            <a:avLst/>
          </a:prstGeom>
          <a:noFill/>
          <a:ln/>
        </p:spPr>
        <p:txBody>
          <a:bodyPr wrap="square" lIns="0" tIns="0" rIns="0" bIns="0" rtlCol="0" anchor="t"/>
          <a:lstStyle/>
          <a:p>
            <a:pPr indent="0" marL="0">
              <a:buNone/>
            </a:pPr>
            <a:r>
              <a:rPr lang="en-US" sz="900" b="1" dirty="0">
                <a:solidFill>
                  <a:srgbClr val="2F6F9F"/>
                </a:solidFill>
                <a:latin typeface="Calibri" pitchFamily="34" charset="0"/>
                <a:ea typeface="Calibri" pitchFamily="34" charset="-122"/>
                <a:cs typeface="Calibri" pitchFamily="34" charset="-120"/>
              </a:rPr>
              <a:t>SOL-LO4</a:t>
            </a:r>
            <a:endParaRPr lang="en-US" sz="900" dirty="0"/>
          </a:p>
          <a:p>
            <a:pPr indent="0" marL="0">
              <a:buNone/>
            </a:pPr>
            <a:r>
              <a:rPr lang="en-US" sz="1050" dirty="0">
                <a:solidFill>
                  <a:srgbClr val="1B2A41"/>
                </a:solidFill>
                <a:latin typeface="Calibri" pitchFamily="34" charset="0"/>
                <a:ea typeface="Calibri" pitchFamily="34" charset="-122"/>
                <a:cs typeface="Calibri" pitchFamily="34" charset="-120"/>
              </a:rPr>
              <a:t>Describe the dissolution process and electrolytes, and explain colligative properties</a:t>
            </a:r>
            <a:endParaRPr lang="en-US" sz="900" dirty="0"/>
          </a:p>
        </p:txBody>
      </p:sp>
      <p:sp>
        <p:nvSpPr>
          <p:cNvPr id="14" name="Shape 11"/>
          <p:cNvSpPr/>
          <p:nvPr/>
        </p:nvSpPr>
        <p:spPr>
          <a:xfrm>
            <a:off x="457200" y="3438144"/>
            <a:ext cx="4023360" cy="960120"/>
          </a:xfrm>
          <a:prstGeom prst="roundRect">
            <a:avLst>
              <a:gd name="adj" fmla="val 7619"/>
            </a:avLst>
          </a:prstGeom>
          <a:solidFill>
            <a:srgbClr val="FFFFFF"/>
          </a:solidFill>
          <a:ln w="9525">
            <a:solidFill>
              <a:srgbClr val="D7E0E8"/>
            </a:solidFill>
            <a:prstDash val="solid"/>
          </a:ln>
        </p:spPr>
      </p:sp>
      <p:sp>
        <p:nvSpPr>
          <p:cNvPr id="15" name="Text 12"/>
          <p:cNvSpPr txBox="1"/>
          <p:nvPr/>
        </p:nvSpPr>
        <p:spPr>
          <a:xfrm>
            <a:off x="566928" y="3493008"/>
            <a:ext cx="3803904" cy="850392"/>
          </a:xfrm>
          <a:prstGeom prst="rect">
            <a:avLst/>
          </a:prstGeom>
          <a:noFill/>
          <a:ln/>
        </p:spPr>
        <p:txBody>
          <a:bodyPr wrap="square" lIns="0" tIns="0" rIns="0" bIns="0" rtlCol="0" anchor="t"/>
          <a:lstStyle/>
          <a:p>
            <a:pPr indent="0" marL="0">
              <a:buNone/>
            </a:pPr>
            <a:r>
              <a:rPr lang="en-US" sz="900" b="1" dirty="0">
                <a:solidFill>
                  <a:srgbClr val="2F6F9F"/>
                </a:solidFill>
                <a:latin typeface="Calibri" pitchFamily="34" charset="0"/>
                <a:ea typeface="Calibri" pitchFamily="34" charset="-122"/>
                <a:cs typeface="Calibri" pitchFamily="34" charset="-120"/>
              </a:rPr>
              <a:t>SOL-LO5</a:t>
            </a:r>
            <a:endParaRPr lang="en-US" sz="900" dirty="0"/>
          </a:p>
          <a:p>
            <a:pPr indent="0" marL="0">
              <a:buNone/>
            </a:pPr>
            <a:r>
              <a:rPr lang="en-US" sz="1050" dirty="0">
                <a:solidFill>
                  <a:srgbClr val="1B2A41"/>
                </a:solidFill>
                <a:latin typeface="Calibri" pitchFamily="34" charset="0"/>
                <a:ea typeface="Calibri" pitchFamily="34" charset="-122"/>
                <a:cs typeface="Calibri" pitchFamily="34" charset="-120"/>
              </a:rPr>
              <a:t>Explain osmosis, osmolarity and tonicity using IV fluids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9"/>
        </a:solidFill>
      </p:bgPr>
    </p:bg>
    <p:spTree>
      <p:nvGrpSpPr>
        <p:cNvPr id="1" name=""/>
        <p:cNvGrpSpPr/>
        <p:nvPr/>
      </p:nvGrpSpPr>
      <p:grpSpPr>
        <a:xfrm>
          <a:off x="0" y="0"/>
          <a:ext cx="0" cy="0"/>
          <a:chOff x="0" y="0"/>
          <a:chExt cx="0" cy="0"/>
        </a:xfrm>
      </p:grpSpPr>
      <p:sp>
        <p:nvSpPr>
          <p:cNvPr id="2" name="Text 0"/>
          <p:cNvSpPr txBox="1"/>
          <p:nvPr/>
        </p:nvSpPr>
        <p:spPr>
          <a:xfrm>
            <a:off x="457200" y="41148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Lecture map</a:t>
            </a:r>
            <a:endParaRPr lang="en-US" sz="2000" dirty="0"/>
          </a:p>
        </p:txBody>
      </p:sp>
      <p:pic>
        <p:nvPicPr>
          <p:cNvPr id="3"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4" name="Text 1"/>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5" name="Text 2"/>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6" name="Text 3"/>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1 · Solutions and solubility</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(Ball 9.0–9.1, 9.2): solute, solvent, like dissolves like, saturated solutions</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2 · Percent concentration, ppm and ppb</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(Ball 9.2): % m/m, % v/v, % m/v and trace amounts</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3 · Molarity</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(Ball 9.2): moles per litre, and molarity in calculations</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4 · Dilution</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(Ball 9.2): M</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V</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 M</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V</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and preparing IV solutions</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5 · Dissolving, electrolytes and colligative properties</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(Ball 9.3–9.4)</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Part 6 · Osmosis, osmolarity and tonicity</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(Ball 9.4, 9.7): why IV fluids must be isotonic</a:t>
            </a:r>
            <a:endParaRPr lang="en-US" sz="1300" dirty="0"/>
          </a:p>
        </p:txBody>
      </p:sp>
      <p:sp>
        <p:nvSpPr>
          <p:cNvPr id="7" name="Shape 4"/>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8" name="Text 5"/>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Links</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Like dissolves like uses polarity and intermolecular forces (Ionic &amp; Covalent II). Molarity reuses moles and molar mass (Chemical Reactions I).</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548640"/>
            <a:ext cx="5486400" cy="274320"/>
          </a:xfrm>
          <a:prstGeom prst="rect">
            <a:avLst/>
          </a:prstGeom>
          <a:noFill/>
          <a:ln/>
        </p:spPr>
        <p:txBody>
          <a:bodyPr wrap="square" lIns="0" tIns="0" rIns="0" bIns="0" rtlCol="0" anchor="ctr"/>
          <a:lstStyle/>
          <a:p>
            <a:pPr indent="0" marL="0">
              <a:buNone/>
            </a:pPr>
            <a:r>
              <a:rPr lang="en-US" sz="1000" b="1" spc="200" kern="0" dirty="0">
                <a:solidFill>
                  <a:srgbClr val="F0B24A"/>
                </a:solidFill>
                <a:latin typeface="Calibri" pitchFamily="34" charset="0"/>
                <a:ea typeface="Calibri" pitchFamily="34" charset="-122"/>
                <a:cs typeface="Calibri" pitchFamily="34" charset="-120"/>
              </a:rPr>
              <a:t>THINK FIRST</a:t>
            </a:r>
            <a:endParaRPr lang="en-US" sz="1000" dirty="0"/>
          </a:p>
        </p:txBody>
      </p:sp>
      <p:sp>
        <p:nvSpPr>
          <p:cNvPr id="3" name="Text 1"/>
          <p:cNvSpPr txBox="1"/>
          <p:nvPr/>
        </p:nvSpPr>
        <p:spPr>
          <a:xfrm>
            <a:off x="548640" y="914400"/>
            <a:ext cx="6949440" cy="13716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Every day, nurses infuse litres of normal saline into patients' veins. Why would they never infuse pure, sterile water instead?</a:t>
            </a:r>
            <a:endParaRPr lang="en-US" sz="2000" dirty="0"/>
          </a:p>
        </p:txBody>
      </p:sp>
      <p:pic>
        <p:nvPicPr>
          <p:cNvPr id="4" name="Image 0" descr="/home/claude/build/mol/water.png">    </p:cNvPr>
          <p:cNvPicPr>
            <a:picLocks noChangeAspect="1"/>
          </p:cNvPicPr>
          <p:nvPr/>
        </p:nvPicPr>
        <p:blipFill>
          <a:blip r:embed="rId1"/>
          <a:stretch>
            <a:fillRect/>
          </a:stretch>
        </p:blipFill>
        <p:spPr>
          <a:xfrm>
            <a:off x="7772400" y="365760"/>
            <a:ext cx="731520" cy="731520"/>
          </a:xfrm>
          <a:prstGeom prst="rect">
            <a:avLst/>
          </a:prstGeom>
        </p:spPr>
      </p:pic>
      <p:sp>
        <p:nvSpPr>
          <p:cNvPr id="5" name="Text 2"/>
          <p:cNvSpPr txBox="1"/>
          <p:nvPr/>
        </p:nvSpPr>
        <p:spPr>
          <a:xfrm>
            <a:off x="548640" y="3291840"/>
            <a:ext cx="5486400" cy="274320"/>
          </a:xfrm>
          <a:prstGeom prst="rect">
            <a:avLst/>
          </a:prstGeom>
          <a:noFill/>
          <a:ln/>
        </p:spPr>
        <p:txBody>
          <a:bodyPr wrap="square" lIns="0" tIns="0" rIns="0" bIns="0" rtlCol="0" anchor="ctr"/>
          <a:lstStyle/>
          <a:p>
            <a:pPr indent="0" marL="0">
              <a:buNone/>
            </a:pPr>
            <a:r>
              <a:rPr lang="en-US" sz="1100" dirty="0">
                <a:solidFill>
                  <a:srgbClr val="A3B1C2"/>
                </a:solidFill>
                <a:latin typeface="Calibri" pitchFamily="34" charset="0"/>
                <a:ea typeface="Calibri" pitchFamily="34" charset="-122"/>
                <a:cs typeface="Calibri" pitchFamily="34" charset="-120"/>
              </a:rPr>
              <a:t>Discuss with a partner for one minute.</a:t>
            </a:r>
            <a:endParaRPr lang="en-US" sz="1100" dirty="0"/>
          </a:p>
        </p:txBody>
      </p:sp>
      <p:sp>
        <p:nvSpPr>
          <p:cNvPr id="6" name="Text 3"/>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Solution</a:t>
            </a:r>
            <a:endParaRPr lang="en-US" sz="800" dirty="0"/>
          </a:p>
        </p:txBody>
      </p:sp>
      <p:sp>
        <p:nvSpPr>
          <p:cNvPr id="7" name="Text 4"/>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548640"/>
            <a:ext cx="5486400" cy="274320"/>
          </a:xfrm>
          <a:prstGeom prst="rect">
            <a:avLst/>
          </a:prstGeom>
          <a:noFill/>
          <a:ln/>
        </p:spPr>
        <p:txBody>
          <a:bodyPr wrap="square" lIns="0" tIns="0" rIns="0" bIns="0" rtlCol="0" anchor="ctr"/>
          <a:lstStyle/>
          <a:p>
            <a:pPr indent="0" marL="0">
              <a:buNone/>
            </a:pPr>
            <a:r>
              <a:rPr lang="en-US" sz="1000" b="1" spc="200" kern="0" dirty="0">
                <a:solidFill>
                  <a:srgbClr val="F0B24A"/>
                </a:solidFill>
                <a:latin typeface="Calibri" pitchFamily="34" charset="0"/>
                <a:ea typeface="Calibri" pitchFamily="34" charset="-122"/>
                <a:cs typeface="Calibri" pitchFamily="34" charset="-120"/>
              </a:rPr>
              <a:t>THINK FIRST · ANSWER</a:t>
            </a:r>
            <a:endParaRPr lang="en-US" sz="1000" dirty="0"/>
          </a:p>
        </p:txBody>
      </p:sp>
      <p:sp>
        <p:nvSpPr>
          <p:cNvPr id="3" name="Text 1"/>
          <p:cNvSpPr txBox="1"/>
          <p:nvPr/>
        </p:nvSpPr>
        <p:spPr>
          <a:xfrm>
            <a:off x="548640" y="914400"/>
            <a:ext cx="6949440" cy="13716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Every day, nurses infuse litres of normal saline into patients' veins. Why would they never infuse pure, sterile water instead?</a:t>
            </a:r>
            <a:endParaRPr lang="en-US" sz="2000" dirty="0"/>
          </a:p>
        </p:txBody>
      </p:sp>
      <p:pic>
        <p:nvPicPr>
          <p:cNvPr id="4" name="Image 0" descr="/home/claude/build/mol/water.png">    </p:cNvPr>
          <p:cNvPicPr>
            <a:picLocks noChangeAspect="1"/>
          </p:cNvPicPr>
          <p:nvPr/>
        </p:nvPicPr>
        <p:blipFill>
          <a:blip r:embed="rId1"/>
          <a:stretch>
            <a:fillRect/>
          </a:stretch>
        </p:blipFill>
        <p:spPr>
          <a:xfrm>
            <a:off x="7772400" y="365760"/>
            <a:ext cx="731520" cy="731520"/>
          </a:xfrm>
          <a:prstGeom prst="rect">
            <a:avLst/>
          </a:prstGeom>
        </p:spPr>
      </p:pic>
      <p:sp>
        <p:nvSpPr>
          <p:cNvPr id="5" name="Shape 2"/>
          <p:cNvSpPr/>
          <p:nvPr/>
        </p:nvSpPr>
        <p:spPr>
          <a:xfrm>
            <a:off x="548640" y="2514600"/>
            <a:ext cx="7680960" cy="1463040"/>
          </a:xfrm>
          <a:prstGeom prst="roundRect">
            <a:avLst>
              <a:gd name="adj" fmla="val 5000"/>
            </a:avLst>
          </a:prstGeom>
          <a:solidFill>
            <a:srgbClr val="2B3A52"/>
          </a:solidFill>
          <a:ln w="9525">
            <a:solidFill>
              <a:srgbClr val="2B3A52"/>
            </a:solidFill>
            <a:prstDash val="solid"/>
          </a:ln>
        </p:spPr>
      </p:sp>
      <p:sp>
        <p:nvSpPr>
          <p:cNvPr id="6" name="Text 3"/>
          <p:cNvSpPr txBox="1"/>
          <p:nvPr/>
        </p:nvSpPr>
        <p:spPr>
          <a:xfrm>
            <a:off x="731520" y="2606040"/>
            <a:ext cx="7315200" cy="12801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Water would rush </a:t>
            </a:r>
            <a:pPr indent="0" marL="0">
              <a:buNone/>
            </a:pPr>
            <a:r>
              <a:rPr lang="en-US" sz="1300" b="1" dirty="0">
                <a:solidFill>
                  <a:srgbClr val="FFFFFF"/>
                </a:solidFill>
                <a:latin typeface="Calibri" pitchFamily="34" charset="0"/>
                <a:ea typeface="Calibri" pitchFamily="34" charset="-122"/>
                <a:cs typeface="Calibri" pitchFamily="34" charset="-120"/>
              </a:rPr>
              <a:t>into</a:t>
            </a:r>
            <a:pPr indent="0" marL="0">
              <a:buNone/>
            </a:pPr>
            <a:r>
              <a:rPr lang="en-US" sz="1300" dirty="0">
                <a:solidFill>
                  <a:srgbClr val="FFFFFF"/>
                </a:solidFill>
                <a:latin typeface="Calibri" pitchFamily="34" charset="0"/>
                <a:ea typeface="Calibri" pitchFamily="34" charset="-122"/>
                <a:cs typeface="Calibri" pitchFamily="34" charset="-120"/>
              </a:rPr>
              <a:t> the red blood cells by </a:t>
            </a:r>
            <a:pPr indent="0" marL="0">
              <a:buNone/>
            </a:pPr>
            <a:r>
              <a:rPr lang="en-US" sz="1300" b="1" dirty="0">
                <a:solidFill>
                  <a:srgbClr val="FFFFFF"/>
                </a:solidFill>
                <a:latin typeface="Calibri" pitchFamily="34" charset="0"/>
                <a:ea typeface="Calibri" pitchFamily="34" charset="-122"/>
                <a:cs typeface="Calibri" pitchFamily="34" charset="-120"/>
              </a:rPr>
              <a:t>osmosis</a:t>
            </a:r>
            <a:pPr indent="0" marL="0">
              <a:buNone/>
            </a:pPr>
            <a:r>
              <a:rPr lang="en-US" sz="1300" dirty="0">
                <a:solidFill>
                  <a:srgbClr val="FFFFFF"/>
                </a:solidFill>
                <a:latin typeface="Calibri" pitchFamily="34" charset="0"/>
                <a:ea typeface="Calibri" pitchFamily="34" charset="-122"/>
                <a:cs typeface="Calibri" pitchFamily="34" charset="-120"/>
              </a:rPr>
              <a:t> and burst them. Normal saline (0.9% NaCl) has the same particle concentration as blood, so cells stay intact. To understand this we need solutions, concentration and osmosis: this lecture.</a:t>
            </a:r>
            <a:endParaRPr lang="en-US" sz="1300" dirty="0"/>
          </a:p>
        </p:txBody>
      </p:sp>
      <p:sp>
        <p:nvSpPr>
          <p:cNvPr id="7" name="Text 4"/>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Solution</a:t>
            </a:r>
            <a:endParaRPr lang="en-US" sz="800" dirty="0"/>
          </a:p>
        </p:txBody>
      </p:sp>
      <p:sp>
        <p:nvSpPr>
          <p:cNvPr id="8" name="Text 5"/>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1</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1</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Solutions and solubility</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What a solution is, and why some things dissolve and others do not.</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SOL-LO1 · Ball 9.0–9.1 · 9.2</a:t>
            </a:r>
            <a:endParaRPr lang="en-US" sz="900" dirty="0"/>
          </a:p>
        </p:txBody>
      </p:sp>
      <p:pic>
        <p:nvPicPr>
          <p:cNvPr id="7" name="Image 0" descr="/home/claude/build/mol/water.png">    </p:cNvPr>
          <p:cNvPicPr>
            <a:picLocks noChangeAspect="1"/>
          </p:cNvPicPr>
          <p:nvPr/>
        </p:nvPicPr>
        <p:blipFill>
          <a:blip r:embed="rId1"/>
          <a:stretch>
            <a:fillRect/>
          </a:stretch>
        </p:blipFill>
        <p:spPr>
          <a:xfrm>
            <a:off x="6766560" y="640080"/>
            <a:ext cx="914400" cy="914400"/>
          </a:xfrm>
          <a:prstGeom prst="rect">
            <a:avLst/>
          </a:prstGeom>
        </p:spPr>
      </p:pic>
      <p:pic>
        <p:nvPicPr>
          <p:cNvPr id="8" name="Image 1" descr="/home/claude/build/mol/ethanol.png">    </p:cNvPr>
          <p:cNvPicPr>
            <a:picLocks noChangeAspect="1"/>
          </p:cNvPicPr>
          <p:nvPr/>
        </p:nvPicPr>
        <p:blipFill>
          <a:blip r:embed="rId2"/>
          <a:stretch>
            <a:fillRect/>
          </a:stretch>
        </p:blipFill>
        <p:spPr>
          <a:xfrm>
            <a:off x="7464117" y="2834640"/>
            <a:ext cx="799447" cy="548640"/>
          </a:xfrm>
          <a:prstGeom prst="rect">
            <a:avLst/>
          </a:prstGeom>
        </p:spPr>
      </p:pic>
      <p:pic>
        <p:nvPicPr>
          <p:cNvPr id="9" name="Image 2" descr="/home/claude/build/mol/ccl4.png">    </p:cNvPr>
          <p:cNvPicPr>
            <a:picLocks noChangeAspect="1"/>
          </p:cNvPicPr>
          <p:nvPr/>
        </p:nvPicPr>
        <p:blipFill>
          <a:blip r:embed="rId3"/>
          <a:stretch>
            <a:fillRect/>
          </a:stretch>
        </p:blipFill>
        <p:spPr>
          <a:xfrm>
            <a:off x="5794016" y="3794760"/>
            <a:ext cx="482048"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Solution</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Solutions in the hospital: IV fluids</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ivbag.png">    </p:cNvPr>
          <p:cNvPicPr>
            <a:picLocks noChangeAspect="1"/>
          </p:cNvPicPr>
          <p:nvPr/>
        </p:nvPicPr>
        <p:blipFill>
          <a:blip r:embed="rId2"/>
          <a:stretch>
            <a:fillRect/>
          </a:stretch>
        </p:blipFill>
        <p:spPr>
          <a:xfrm>
            <a:off x="1574241" y="1280160"/>
            <a:ext cx="1697837" cy="3017520"/>
          </a:xfrm>
          <a:prstGeom prst="rect">
            <a:avLst/>
          </a:prstGeom>
        </p:spPr>
      </p:pic>
      <p:sp>
        <p:nvSpPr>
          <p:cNvPr id="11" name="Text 7"/>
          <p:cNvSpPr txBox="1"/>
          <p:nvPr/>
        </p:nvSpPr>
        <p:spPr>
          <a:xfrm>
            <a:off x="457200" y="4334256"/>
            <a:ext cx="39319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The 0.9% NaCl concentration on this IV bag is mass/volume percent, Figure 9.2.1 (Ball, The Basics of GOB Chemistry 9.2)</a:t>
            </a:r>
            <a:endParaRPr lang="en-US" sz="750" dirty="0"/>
          </a:p>
        </p:txBody>
      </p:sp>
      <p:sp>
        <p:nvSpPr>
          <p:cNvPr id="12" name="Text 8"/>
          <p:cNvSpPr txBox="1"/>
          <p:nvPr/>
        </p:nvSpPr>
        <p:spPr>
          <a:xfrm>
            <a:off x="4663440" y="1280160"/>
            <a:ext cx="40233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Intravenous (IV) solutions put ions, sugar or drugs into the bloodstream, or increase blood volume.</a:t>
            </a:r>
            <a:endParaRPr lang="en-US" sz="1250" dirty="0"/>
          </a:p>
          <a:p>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Normal saline</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9.0 g of NaCl in every litre of solution (0.9%).</a:t>
            </a:r>
            <a:endParaRPr lang="en-US" sz="1250" dirty="0"/>
          </a:p>
          <a:p>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Ringer's lactate</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normal saline plus small amounts of K</a:t>
            </a:r>
            <a:pPr marL="177800" indent="-177800">
              <a:spcAft>
                <a:spcPts val="600"/>
              </a:spcAft>
              <a:buSzPct val="100000"/>
              <a:buChar char="•"/>
            </a:pPr>
            <a:r>
              <a:rPr lang="en-US" sz="1250" baseline="30000" dirty="0">
                <a:solidFill>
                  <a:srgbClr val="1B2A41"/>
                </a:solidFill>
                <a:latin typeface="Calibri" pitchFamily="34" charset="0"/>
                <a:ea typeface="Calibri" pitchFamily="34" charset="-122"/>
                <a:cs typeface="Calibri" pitchFamily="34" charset="-120"/>
              </a:rPr>
              <a:t>+</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Ca</a:t>
            </a:r>
            <a:pPr marL="177800" indent="-177800">
              <a:spcAft>
                <a:spcPts val="600"/>
              </a:spcAft>
              <a:buSzPct val="100000"/>
              <a:buChar char="•"/>
            </a:pPr>
            <a:r>
              <a:rPr lang="en-US" sz="1250" baseline="3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and about 2.5 g/L of lactate ions; the liver turns lactate into HCO</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3</a:t>
            </a:r>
            <a:pPr marL="177800" indent="-177800">
              <a:spcAft>
                <a:spcPts val="600"/>
              </a:spcAft>
              <a:buSzPct val="100000"/>
              <a:buChar char="•"/>
            </a:pPr>
            <a:r>
              <a:rPr lang="en-US" sz="1250" baseline="30000" dirty="0">
                <a:solidFill>
                  <a:srgbClr val="1B2A41"/>
                </a:solidFill>
                <a:latin typeface="Calibri" pitchFamily="34" charset="0"/>
                <a:ea typeface="Calibri" pitchFamily="34" charset="-122"/>
                <a:cs typeface="Calibri" pitchFamily="34" charset="-120"/>
              </a:rPr>
              <a:t>−</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t>
            </a:r>
            <a:endParaRPr lang="en-US" sz="1250" dirty="0"/>
          </a:p>
          <a:p>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D5W</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5% dextrose (glucose) in water.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What is a solution?</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A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solution</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is a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homogeneous mixture</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the parts cannot be told apart, even with a microscope.</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Salt and pepper is a mixture but not a solution; salt dissolved in water is a solution.</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The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solvent</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is the major component, usually in the same phase as the solution.</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Each minor component is a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solute</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In saline, NaCl is the solute and water is the solvent.</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A solution in water is called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aqueous</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written (aq).</a:t>
            </a:r>
            <a:endParaRPr lang="en-US" sz="1300" dirty="0"/>
          </a:p>
        </p:txBody>
      </p:sp>
      <p:sp>
        <p:nvSpPr>
          <p:cNvPr id="11" name="Shape 8"/>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12" name="Text 9"/>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Words that sound alike</a:t>
            </a:r>
            <a:endParaRPr lang="en-US" sz="1100" dirty="0"/>
          </a:p>
          <a:p>
            <a:pPr indent="0" marL="0">
              <a:buNone/>
            </a:pPr>
            <a:r>
              <a:rPr lang="en-US" sz="1050" b="1" dirty="0">
                <a:solidFill>
                  <a:srgbClr val="1B2A41"/>
                </a:solidFill>
                <a:latin typeface="Calibri" pitchFamily="34" charset="0"/>
                <a:ea typeface="Calibri" pitchFamily="34" charset="-122"/>
                <a:cs typeface="Calibri" pitchFamily="34" charset="-120"/>
              </a:rPr>
              <a:t>Dilute</a:t>
            </a:r>
            <a:pPr indent="0" marL="0">
              <a:buNone/>
            </a:pPr>
            <a:r>
              <a:rPr lang="en-US" sz="1050" dirty="0">
                <a:solidFill>
                  <a:srgbClr val="1B2A41"/>
                </a:solidFill>
                <a:latin typeface="Calibri" pitchFamily="34" charset="0"/>
                <a:ea typeface="Calibri" pitchFamily="34" charset="-122"/>
                <a:cs typeface="Calibri" pitchFamily="34" charset="-120"/>
              </a:rPr>
              <a:t>: little solute. </a:t>
            </a:r>
            <a:pPr indent="0" marL="0">
              <a:buNone/>
            </a:pPr>
            <a:r>
              <a:rPr lang="en-US" sz="1050" b="1" dirty="0">
                <a:solidFill>
                  <a:srgbClr val="1B2A41"/>
                </a:solidFill>
                <a:latin typeface="Calibri" pitchFamily="34" charset="0"/>
                <a:ea typeface="Calibri" pitchFamily="34" charset="-122"/>
                <a:cs typeface="Calibri" pitchFamily="34" charset="-120"/>
              </a:rPr>
              <a:t>Concentrated</a:t>
            </a:r>
            <a:pPr indent="0" marL="0">
              <a:buNone/>
            </a:pPr>
            <a:r>
              <a:rPr lang="en-US" sz="1050" dirty="0">
                <a:solidFill>
                  <a:srgbClr val="1B2A41"/>
                </a:solidFill>
                <a:latin typeface="Calibri" pitchFamily="34" charset="0"/>
                <a:ea typeface="Calibri" pitchFamily="34" charset="-122"/>
                <a:cs typeface="Calibri" pitchFamily="34" charset="-120"/>
              </a:rPr>
              <a:t>: a lot of solute. Both are relative words; Parts 2–3 make them exact.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Solutions come in all phases</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645920"/>
                <a:gridCol w="1645920"/>
                <a:gridCol w="4937760"/>
              </a:tblGrid>
              <a:tr h="0">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Solvent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Solute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Example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gas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gas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air (about 80% N</a:t>
                      </a:r>
                      <a:pPr indent="0" marL="0">
                        <a:buNone/>
                      </a:pPr>
                      <a:r>
                        <a:rPr lang="en-US" sz="1050" baseline="-40000" dirty="0">
                          <a:solidFill>
                            <a:srgbClr val="1B2A41"/>
                          </a:solidFill>
                          <a:latin typeface="Calibri" pitchFamily="34" charset="0"/>
                          <a:ea typeface="Calibri" pitchFamily="34" charset="-122"/>
                          <a:cs typeface="Calibri" pitchFamily="34" charset="-120"/>
                        </a:rPr>
                        <a:t>2</a:t>
                      </a:r>
                      <a:pPr indent="0" marL="0">
                        <a:buNone/>
                      </a:pPr>
                      <a:r>
                        <a:rPr lang="en-US" sz="1050" dirty="0">
                          <a:solidFill>
                            <a:srgbClr val="1B2A41"/>
                          </a:solidFill>
                          <a:latin typeface="Calibri" pitchFamily="34" charset="0"/>
                          <a:ea typeface="Calibri" pitchFamily="34" charset="-122"/>
                          <a:cs typeface="Calibri" pitchFamily="34" charset="-120"/>
                        </a:rPr>
                        <a:t>, 20% O</a:t>
                      </a:r>
                      <a:pPr indent="0" marL="0">
                        <a:buNone/>
                      </a:pPr>
                      <a:r>
                        <a:rPr lang="en-US" sz="1050" baseline="-40000" dirty="0">
                          <a:solidFill>
                            <a:srgbClr val="1B2A41"/>
                          </a:solidFill>
                          <a:latin typeface="Calibri" pitchFamily="34" charset="0"/>
                          <a:ea typeface="Calibri" pitchFamily="34" charset="-122"/>
                          <a:cs typeface="Calibri" pitchFamily="34" charset="-120"/>
                        </a:rPr>
                        <a:t>2</a:t>
                      </a:r>
                      <a:pPr indent="0" marL="0">
                        <a:buNone/>
                      </a:pPr>
                      <a:r>
                        <a:rPr lang="en-US" sz="1050" dirty="0">
                          <a:solidFill>
                            <a:srgbClr val="1B2A4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liquid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gas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carbonated drinks (CO</a:t>
                      </a:r>
                      <a:pPr indent="0" marL="0">
                        <a:buNone/>
                      </a:pPr>
                      <a:r>
                        <a:rPr lang="en-US" sz="1050" baseline="-40000" dirty="0">
                          <a:solidFill>
                            <a:srgbClr val="1B2A41"/>
                          </a:solidFill>
                          <a:latin typeface="Calibri" pitchFamily="34" charset="0"/>
                          <a:ea typeface="Calibri" pitchFamily="34" charset="-122"/>
                          <a:cs typeface="Calibri" pitchFamily="34" charset="-120"/>
                        </a:rPr>
                        <a:t>2</a:t>
                      </a:r>
                      <a:pPr indent="0" marL="0">
                        <a:buNone/>
                      </a:pPr>
                      <a:r>
                        <a:rPr lang="en-US" sz="1050" dirty="0">
                          <a:solidFill>
                            <a:srgbClr val="1B2A41"/>
                          </a:solidFill>
                          <a:latin typeface="Calibri" pitchFamily="34" charset="0"/>
                          <a:ea typeface="Calibri" pitchFamily="34" charset="-122"/>
                          <a:cs typeface="Calibri" pitchFamily="34" charset="-120"/>
                        </a:rPr>
                        <a:t> in water)</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liquid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liquid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ethanol in water; 70% alcohol swabs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liquid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solid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saltwater; normal saline; syrups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solid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gas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H</a:t>
                      </a:r>
                      <a:pPr indent="0" marL="0">
                        <a:buNone/>
                      </a:pPr>
                      <a:r>
                        <a:rPr lang="en-US" sz="1050" baseline="-40000" dirty="0">
                          <a:solidFill>
                            <a:srgbClr val="1B2A41"/>
                          </a:solidFill>
                          <a:latin typeface="Calibri" pitchFamily="34" charset="0"/>
                          <a:ea typeface="Calibri" pitchFamily="34" charset="-122"/>
                          <a:cs typeface="Calibri" pitchFamily="34" charset="-120"/>
                        </a:rPr>
                        <a:t>2</a:t>
                      </a:r>
                      <a:pPr indent="0" marL="0">
                        <a:buNone/>
                      </a:pPr>
                      <a:r>
                        <a:rPr lang="en-US" sz="1050" dirty="0">
                          <a:solidFill>
                            <a:srgbClr val="1B2A41"/>
                          </a:solidFill>
                          <a:latin typeface="Calibri" pitchFamily="34" charset="0"/>
                          <a:ea typeface="Calibri" pitchFamily="34" charset="-122"/>
                          <a:cs typeface="Calibri" pitchFamily="34" charset="-120"/>
                        </a:rPr>
                        <a:t> gas absorbed by palladium metal</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solid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liquid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mercury in dental fillings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solid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solid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steel and other alloys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457200" y="4297680"/>
            <a:ext cx="8229600" cy="457200"/>
          </a:xfrm>
          <a:prstGeom prst="rect">
            <a:avLst/>
          </a:prstGeom>
          <a:noFill/>
          <a:ln/>
        </p:spPr>
        <p:txBody>
          <a:bodyPr wrap="square" lIns="0" tIns="0" rIns="0" bIns="0" rtlCol="0" anchor="t"/>
          <a:lstStyle/>
          <a:p>
            <a:pPr indent="0" marL="0">
              <a:buNone/>
            </a:pPr>
            <a:r>
              <a:rPr lang="en-US" sz="900" i="1" dirty="0">
                <a:solidFill>
                  <a:srgbClr val="56657A"/>
                </a:solidFill>
                <a:latin typeface="Calibri" pitchFamily="34" charset="0"/>
                <a:ea typeface="Calibri" pitchFamily="34" charset="-122"/>
                <a:cs typeface="Calibri" pitchFamily="34" charset="-120"/>
              </a:rPr>
              <a:t>Table 9.1.1, Types of Solutions (Ball 9.1), with pharmacy examples added.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Like dissolves like</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fluoro.png">    </p:cNvPr>
          <p:cNvPicPr>
            <a:picLocks noChangeAspect="1"/>
          </p:cNvPicPr>
          <p:nvPr/>
        </p:nvPicPr>
        <p:blipFill>
          <a:blip r:embed="rId2"/>
          <a:stretch>
            <a:fillRect/>
          </a:stretch>
        </p:blipFill>
        <p:spPr>
          <a:xfrm>
            <a:off x="457200" y="1280160"/>
            <a:ext cx="3931920" cy="2886029"/>
          </a:xfrm>
          <a:prstGeom prst="rect">
            <a:avLst/>
          </a:prstGeom>
        </p:spPr>
      </p:pic>
      <p:sp>
        <p:nvSpPr>
          <p:cNvPr id="11" name="Text 7"/>
          <p:cNvSpPr txBox="1"/>
          <p:nvPr/>
        </p:nvSpPr>
        <p:spPr>
          <a:xfrm>
            <a:off x="457200" y="4202765"/>
            <a:ext cx="39319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Water with blue dye floats on a dense fluorocarbon; the two liquids do not mix, Figure 9.1.1 (Ball, The Basics of GOB Chemistry 9.1)</a:t>
            </a:r>
            <a:endParaRPr lang="en-US" sz="750" dirty="0"/>
          </a:p>
        </p:txBody>
      </p:sp>
      <p:sp>
        <p:nvSpPr>
          <p:cNvPr id="12" name="Text 8"/>
          <p:cNvSpPr txBox="1"/>
          <p:nvPr/>
        </p:nvSpPr>
        <p:spPr>
          <a:xfrm>
            <a:off x="4663440" y="1280160"/>
            <a:ext cx="40233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 solution forms when solvent and solute have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similar intermolecular forces</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t>
            </a:r>
            <a:endParaRPr lang="en-US" sz="1250" dirty="0"/>
          </a:p>
          <a:p>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Polar</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solvents (water) dissolve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polar</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and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ionic</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solutes: NaCl, glucose, ethanol.</a:t>
            </a:r>
            <a:endParaRPr lang="en-US" sz="1250" dirty="0"/>
          </a:p>
          <a:p>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Nonpolar</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solvents (hexane, oils) dissolve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nonpolar</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solutes: fats, waxes, iodine.</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Methanol mixes with water in any amount: both are polar and both form hydrogen bonds. Oil does not.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Soluble, insoluble, miscible</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Soluble</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the solute dissolves in that solvent.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Insoluble</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it does not.</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NaCl is soluble in water but insoluble in hexane (C</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6</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H</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14</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a:t>
            </a:r>
            <a:endParaRPr lang="en-US" sz="1300" dirty="0"/>
          </a:p>
          <a:p>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Miscible</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two liquids mix in any proportion (ethanol and water).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Immiscible</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they form layers (oil and water).</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Big molecules with one small polar group behave mostly as nonpolar: hexanol is far less soluble in water than ethanol.</a:t>
            </a:r>
            <a:endParaRPr lang="en-US" sz="1300" dirty="0"/>
          </a:p>
        </p:txBody>
      </p:sp>
      <p:sp>
        <p:nvSpPr>
          <p:cNvPr id="11" name="Shape 8"/>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12" name="Text 9"/>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Pharmacy</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Many drugs are made as </a:t>
            </a:r>
            <a:pPr indent="0" marL="0">
              <a:buNone/>
            </a:pPr>
            <a:r>
              <a:rPr lang="en-US" sz="1050" b="1" dirty="0">
                <a:solidFill>
                  <a:srgbClr val="1B2A41"/>
                </a:solidFill>
                <a:latin typeface="Calibri" pitchFamily="34" charset="0"/>
                <a:ea typeface="Calibri" pitchFamily="34" charset="-122"/>
                <a:cs typeface="Calibri" pitchFamily="34" charset="-120"/>
              </a:rPr>
              <a:t>salts</a:t>
            </a:r>
            <a:pPr indent="0" marL="0">
              <a:buNone/>
            </a:pPr>
            <a:r>
              <a:rPr lang="en-US" sz="1050" dirty="0">
                <a:solidFill>
                  <a:srgbClr val="1B2A41"/>
                </a:solidFill>
                <a:latin typeface="Calibri" pitchFamily="34" charset="0"/>
                <a:ea typeface="Calibri" pitchFamily="34" charset="-122"/>
                <a:cs typeface="Calibri" pitchFamily="34" charset="-120"/>
              </a:rPr>
              <a:t> (e.g. sodium or hydrochloride salts) because the ionic form dissolves better in water than the neutral molecule.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1.1 · Will it dissolve in water?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Water is a polar solvent. Which should dissolve in water: (a) methanol, CH</a:t>
            </a:r>
            <a:pPr indent="0" marL="0">
              <a:buNone/>
            </a:pPr>
            <a:r>
              <a:rPr lang="en-US" sz="1200" baseline="-4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OH; (b) sodium sulfate, Na</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SO</a:t>
            </a:r>
            <a:pPr indent="0" marL="0">
              <a:buNone/>
            </a:pPr>
            <a:r>
              <a:rPr lang="en-US" sz="1200" baseline="-40000" dirty="0">
                <a:solidFill>
                  <a:srgbClr val="1B2A41"/>
                </a:solidFill>
                <a:latin typeface="Calibri" pitchFamily="34" charset="0"/>
                <a:ea typeface="Calibri" pitchFamily="34" charset="-122"/>
                <a:cs typeface="Calibri" pitchFamily="34" charset="-120"/>
              </a:rPr>
              <a:t>4</a:t>
            </a:r>
            <a:pPr indent="0" marL="0">
              <a:buNone/>
            </a:pPr>
            <a:r>
              <a:rPr lang="en-US" sz="1200" dirty="0">
                <a:solidFill>
                  <a:srgbClr val="1B2A41"/>
                </a:solidFill>
                <a:latin typeface="Calibri" pitchFamily="34" charset="0"/>
                <a:ea typeface="Calibri" pitchFamily="34" charset="-122"/>
                <a:cs typeface="Calibri" pitchFamily="34" charset="-120"/>
              </a:rPr>
              <a:t>; (c) octane, C</a:t>
            </a:r>
            <a:pPr indent="0" marL="0">
              <a:buNone/>
            </a:pPr>
            <a:r>
              <a:rPr lang="en-US" sz="1200" baseline="-40000" dirty="0">
                <a:solidFill>
                  <a:srgbClr val="1B2A41"/>
                </a:solidFill>
                <a:latin typeface="Calibri" pitchFamily="34" charset="0"/>
                <a:ea typeface="Calibri" pitchFamily="34" charset="-122"/>
                <a:cs typeface="Calibri" pitchFamily="34" charset="-120"/>
              </a:rPr>
              <a:t>8</a:t>
            </a:r>
            <a:pPr indent="0" marL="0">
              <a:buNone/>
            </a:pPr>
            <a:r>
              <a:rPr lang="en-US" sz="1200" dirty="0">
                <a:solidFill>
                  <a:srgbClr val="1B2A41"/>
                </a:solidFill>
                <a:latin typeface="Calibri" pitchFamily="34" charset="0"/>
                <a:ea typeface="Calibri" pitchFamily="34" charset="-122"/>
                <a:cs typeface="Calibri" pitchFamily="34" charset="-120"/>
              </a:rPr>
              <a:t>H</a:t>
            </a:r>
            <a:pPr indent="0" marL="0">
              <a:buNone/>
            </a:pPr>
            <a:r>
              <a:rPr lang="en-US" sz="1200" baseline="-40000" dirty="0">
                <a:solidFill>
                  <a:srgbClr val="1B2A41"/>
                </a:solidFill>
                <a:latin typeface="Calibri" pitchFamily="34" charset="0"/>
                <a:ea typeface="Calibri" pitchFamily="34" charset="-122"/>
                <a:cs typeface="Calibri" pitchFamily="34" charset="-120"/>
              </a:rPr>
              <a:t>18</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(a) The OH group makes methanol polar and able to hydrogen bond: </a:t>
            </a:r>
            <a:pPr indent="0" marL="0">
              <a:buNone/>
            </a:pPr>
            <a:r>
              <a:rPr lang="en-US" sz="1200" b="1" dirty="0">
                <a:solidFill>
                  <a:srgbClr val="1B2A41"/>
                </a:solidFill>
                <a:latin typeface="Calibri" pitchFamily="34" charset="0"/>
                <a:ea typeface="Calibri" pitchFamily="34" charset="-122"/>
                <a:cs typeface="Calibri" pitchFamily="34" charset="-120"/>
              </a:rPr>
              <a:t>soluble</a:t>
            </a:r>
            <a:pPr indent="0" marL="0">
              <a:buNone/>
            </a:pPr>
            <a:r>
              <a:rPr lang="en-US" sz="1200" dirty="0">
                <a:solidFill>
                  <a:srgbClr val="1B2A41"/>
                </a:solidFill>
                <a:latin typeface="Calibri" pitchFamily="34" charset="0"/>
                <a:ea typeface="Calibri" pitchFamily="34" charset="-122"/>
                <a:cs typeface="Calibri" pitchFamily="34" charset="-120"/>
              </a:rPr>
              <a:t> (both are liquids, so </a:t>
            </a:r>
            <a:pPr indent="0" marL="0">
              <a:buNone/>
            </a:pPr>
            <a:r>
              <a:rPr lang="en-US" sz="1200" b="1" dirty="0">
                <a:solidFill>
                  <a:srgbClr val="1B2A41"/>
                </a:solidFill>
                <a:latin typeface="Calibri" pitchFamily="34" charset="0"/>
                <a:ea typeface="Calibri" pitchFamily="34" charset="-122"/>
                <a:cs typeface="Calibri" pitchFamily="34" charset="-120"/>
              </a:rPr>
              <a:t>miscible</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(b) Sodium sulfate is ionic: </a:t>
            </a:r>
            <a:pPr indent="0" marL="0">
              <a:buNone/>
            </a:pPr>
            <a:r>
              <a:rPr lang="en-US" sz="1200" b="1" dirty="0">
                <a:solidFill>
                  <a:srgbClr val="1B2A41"/>
                </a:solidFill>
                <a:latin typeface="Calibri" pitchFamily="34" charset="0"/>
                <a:ea typeface="Calibri" pitchFamily="34" charset="-122"/>
                <a:cs typeface="Calibri" pitchFamily="34" charset="-120"/>
              </a:rPr>
              <a:t>soluble</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(c) Octane is a hydrocarbon, so it is nonpolar: </a:t>
            </a:r>
            <a:pPr indent="0" marL="0">
              <a:buNone/>
            </a:pPr>
            <a:r>
              <a:rPr lang="en-US" sz="1200" b="1" dirty="0">
                <a:solidFill>
                  <a:srgbClr val="1B2A41"/>
                </a:solidFill>
                <a:latin typeface="Calibri" pitchFamily="34" charset="0"/>
                <a:ea typeface="Calibri" pitchFamily="34" charset="-122"/>
                <a:cs typeface="Calibri" pitchFamily="34" charset="-120"/>
              </a:rPr>
              <a:t>insoluble</a:t>
            </a:r>
            <a:pPr indent="0" marL="0">
              <a:buNone/>
            </a:pPr>
            <a:r>
              <a:rPr lang="en-US" sz="1200" b="1" dirty="0">
                <a:solidFill>
                  <a:srgbClr val="1B2A41"/>
                </a:solidFill>
                <a:latin typeface="Calibri" pitchFamily="34" charset="0"/>
                <a:ea typeface="Calibri" pitchFamily="34" charset="-122"/>
                <a:cs typeface="Calibri" pitchFamily="34" charset="-120"/>
              </a:rPr>
              <a:t> in water.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A nonpolar solvent</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Toluene (C</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H</a:t>
            </a:r>
            <a:pPr indent="0" marL="0">
              <a:buNone/>
            </a:pPr>
            <a:r>
              <a:rPr lang="en-US" sz="1250" baseline="-40000" dirty="0">
                <a:solidFill>
                  <a:srgbClr val="1B2A41"/>
                </a:solidFill>
                <a:latin typeface="Calibri" pitchFamily="34" charset="0"/>
                <a:ea typeface="Calibri" pitchFamily="34" charset="-122"/>
                <a:cs typeface="Calibri" pitchFamily="34" charset="-120"/>
              </a:rPr>
              <a:t>5</a:t>
            </a:r>
            <a:pPr indent="0" marL="0">
              <a:buNone/>
            </a:pPr>
            <a:r>
              <a:rPr lang="en-US" sz="1250" dirty="0">
                <a:solidFill>
                  <a:srgbClr val="1B2A41"/>
                </a:solidFill>
                <a:latin typeface="Calibri" pitchFamily="34" charset="0"/>
                <a:ea typeface="Calibri" pitchFamily="34" charset="-122"/>
                <a:cs typeface="Calibri" pitchFamily="34" charset="-120"/>
              </a:rPr>
              <a:t>CH</a:t>
            </a:r>
            <a:pPr indent="0" marL="0">
              <a:buNone/>
            </a:pPr>
            <a:r>
              <a:rPr lang="en-US" sz="1250" baseline="-40000" dirty="0">
                <a:solidFill>
                  <a:srgbClr val="1B2A41"/>
                </a:solidFill>
                <a:latin typeface="Calibri" pitchFamily="34" charset="0"/>
                <a:ea typeface="Calibri" pitchFamily="34" charset="-122"/>
                <a:cs typeface="Calibri" pitchFamily="34" charset="-120"/>
              </a:rPr>
              <a:t>3</a:t>
            </a:r>
            <a:pPr indent="0" marL="0">
              <a:buNone/>
            </a:pPr>
            <a:r>
              <a:rPr lang="en-US" sz="1250" dirty="0">
                <a:solidFill>
                  <a:srgbClr val="1B2A41"/>
                </a:solidFill>
                <a:latin typeface="Calibri" pitchFamily="34" charset="0"/>
                <a:ea typeface="Calibri" pitchFamily="34" charset="-122"/>
                <a:cs typeface="Calibri" pitchFamily="34" charset="-120"/>
              </a:rPr>
              <a:t>) is a nonpolar industrial solvent. Which dissolves in toluene: (a) water; (b) sodium sulfate; (c) octane? And would iodine (I</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dissolve better in CCl</a:t>
            </a:r>
            <a:pPr indent="0" marL="0">
              <a:buNone/>
            </a:pPr>
            <a:r>
              <a:rPr lang="en-US" sz="1250" baseline="-40000" dirty="0">
                <a:solidFill>
                  <a:srgbClr val="1B2A41"/>
                </a:solidFill>
                <a:latin typeface="Calibri" pitchFamily="34" charset="0"/>
                <a:ea typeface="Calibri" pitchFamily="34" charset="-122"/>
                <a:cs typeface="Calibri" pitchFamily="34" charset="-120"/>
              </a:rPr>
              <a:t>4</a:t>
            </a:r>
            <a:pPr indent="0" marL="0">
              <a:buNone/>
            </a:pPr>
            <a:r>
              <a:rPr lang="en-US" sz="1250" dirty="0">
                <a:solidFill>
                  <a:srgbClr val="1B2A41"/>
                </a:solidFill>
                <a:latin typeface="Calibri" pitchFamily="34" charset="0"/>
                <a:ea typeface="Calibri" pitchFamily="34" charset="-122"/>
                <a:cs typeface="Calibri" pitchFamily="34" charset="-120"/>
              </a:rPr>
              <a:t> or in water?</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A nonpolar solvent · answer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Toluene (C</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H</a:t>
            </a:r>
            <a:pPr indent="0" marL="0">
              <a:buNone/>
            </a:pPr>
            <a:r>
              <a:rPr lang="en-US" sz="1250" baseline="-40000" dirty="0">
                <a:solidFill>
                  <a:srgbClr val="1B2A41"/>
                </a:solidFill>
                <a:latin typeface="Calibri" pitchFamily="34" charset="0"/>
                <a:ea typeface="Calibri" pitchFamily="34" charset="-122"/>
                <a:cs typeface="Calibri" pitchFamily="34" charset="-120"/>
              </a:rPr>
              <a:t>5</a:t>
            </a:r>
            <a:pPr indent="0" marL="0">
              <a:buNone/>
            </a:pPr>
            <a:r>
              <a:rPr lang="en-US" sz="1250" dirty="0">
                <a:solidFill>
                  <a:srgbClr val="1B2A41"/>
                </a:solidFill>
                <a:latin typeface="Calibri" pitchFamily="34" charset="0"/>
                <a:ea typeface="Calibri" pitchFamily="34" charset="-122"/>
                <a:cs typeface="Calibri" pitchFamily="34" charset="-120"/>
              </a:rPr>
              <a:t>CH</a:t>
            </a:r>
            <a:pPr indent="0" marL="0">
              <a:buNone/>
            </a:pPr>
            <a:r>
              <a:rPr lang="en-US" sz="1250" baseline="-40000" dirty="0">
                <a:solidFill>
                  <a:srgbClr val="1B2A41"/>
                </a:solidFill>
                <a:latin typeface="Calibri" pitchFamily="34" charset="0"/>
                <a:ea typeface="Calibri" pitchFamily="34" charset="-122"/>
                <a:cs typeface="Calibri" pitchFamily="34" charset="-120"/>
              </a:rPr>
              <a:t>3</a:t>
            </a:r>
            <a:pPr indent="0" marL="0">
              <a:buNone/>
            </a:pPr>
            <a:r>
              <a:rPr lang="en-US" sz="1250" dirty="0">
                <a:solidFill>
                  <a:srgbClr val="1B2A41"/>
                </a:solidFill>
                <a:latin typeface="Calibri" pitchFamily="34" charset="0"/>
                <a:ea typeface="Calibri" pitchFamily="34" charset="-122"/>
                <a:cs typeface="Calibri" pitchFamily="34" charset="-120"/>
              </a:rPr>
              <a:t>) is a nonpolar industrial solvent. Which dissolves in toluene: (a) water; (b) sodium sulfate; (c) octane? And would iodine (I</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dissolve better in CCl</a:t>
            </a:r>
            <a:pPr indent="0" marL="0">
              <a:buNone/>
            </a:pPr>
            <a:r>
              <a:rPr lang="en-US" sz="1250" baseline="-40000" dirty="0">
                <a:solidFill>
                  <a:srgbClr val="1B2A41"/>
                </a:solidFill>
                <a:latin typeface="Calibri" pitchFamily="34" charset="0"/>
                <a:ea typeface="Calibri" pitchFamily="34" charset="-122"/>
                <a:cs typeface="Calibri" pitchFamily="34" charset="-120"/>
              </a:rPr>
              <a:t>4</a:t>
            </a:r>
            <a:pPr indent="0" marL="0">
              <a:buNone/>
            </a:pPr>
            <a:r>
              <a:rPr lang="en-US" sz="1250" dirty="0">
                <a:solidFill>
                  <a:srgbClr val="1B2A41"/>
                </a:solidFill>
                <a:latin typeface="Calibri" pitchFamily="34" charset="0"/>
                <a:ea typeface="Calibri" pitchFamily="34" charset="-122"/>
                <a:cs typeface="Calibri" pitchFamily="34" charset="-120"/>
              </a:rPr>
              <a:t> or in water?</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Only </a:t>
            </a:r>
            <a:pPr indent="0" marL="0">
              <a:buNone/>
            </a:pPr>
            <a:r>
              <a:rPr lang="en-US" sz="1200" b="1" dirty="0">
                <a:solidFill>
                  <a:srgbClr val="1B2A41"/>
                </a:solidFill>
                <a:latin typeface="Calibri" pitchFamily="34" charset="0"/>
                <a:ea typeface="Calibri" pitchFamily="34" charset="-122"/>
                <a:cs typeface="Calibri" pitchFamily="34" charset="-120"/>
              </a:rPr>
              <a:t>octane</a:t>
            </a:r>
            <a:pPr indent="0" marL="0">
              <a:buNone/>
            </a:pPr>
            <a:r>
              <a:rPr lang="en-US" sz="1200" dirty="0">
                <a:solidFill>
                  <a:srgbClr val="1B2A41"/>
                </a:solidFill>
                <a:latin typeface="Calibri" pitchFamily="34" charset="0"/>
                <a:ea typeface="Calibri" pitchFamily="34" charset="-122"/>
                <a:cs typeface="Calibri" pitchFamily="34" charset="-120"/>
              </a:rPr>
              <a:t>: it is nonpolar like toluene. Water (polar) and sodium sulfate (ionic) do not.</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I</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is nonpolar, so it is more soluble in </a:t>
            </a:r>
            <a:pPr indent="0" marL="0">
              <a:buNone/>
            </a:pPr>
            <a:r>
              <a:rPr lang="en-US" sz="1200" b="1" dirty="0">
                <a:solidFill>
                  <a:srgbClr val="1B2A41"/>
                </a:solidFill>
                <a:latin typeface="Calibri" pitchFamily="34" charset="0"/>
                <a:ea typeface="Calibri" pitchFamily="34" charset="-122"/>
                <a:cs typeface="Calibri" pitchFamily="34" charset="-120"/>
              </a:rPr>
              <a:t>CCl</a:t>
            </a:r>
            <a:pPr indent="0" marL="0">
              <a:buNone/>
            </a:pPr>
            <a:r>
              <a:rPr lang="en-US" sz="1200" b="1" baseline="-40000" dirty="0">
                <a:solidFill>
                  <a:srgbClr val="1B2A41"/>
                </a:solidFill>
                <a:latin typeface="Calibri" pitchFamily="34" charset="0"/>
                <a:ea typeface="Calibri" pitchFamily="34" charset="-122"/>
                <a:cs typeface="Calibri" pitchFamily="34" charset="-120"/>
              </a:rPr>
              <a:t>4</a:t>
            </a:r>
            <a:pPr indent="0" marL="0">
              <a:buNone/>
            </a:pPr>
            <a:r>
              <a:rPr lang="en-US" sz="1200" dirty="0">
                <a:solidFill>
                  <a:srgbClr val="1B2A41"/>
                </a:solidFill>
                <a:latin typeface="Calibri" pitchFamily="34" charset="0"/>
                <a:ea typeface="Calibri" pitchFamily="34" charset="-122"/>
                <a:cs typeface="Calibri" pitchFamily="34" charset="-120"/>
              </a:rPr>
              <a:t> (nonpolar) than in water (polar).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Solubility: there is a limit</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_sol/png/sat.png">    </p:cNvPr>
          <p:cNvPicPr>
            <a:picLocks noChangeAspect="1"/>
          </p:cNvPicPr>
          <p:nvPr/>
        </p:nvPicPr>
        <p:blipFill>
          <a:blip r:embed="rId2"/>
          <a:stretch>
            <a:fillRect/>
          </a:stretch>
        </p:blipFill>
        <p:spPr>
          <a:xfrm>
            <a:off x="2377440" y="1234440"/>
            <a:ext cx="4389120" cy="2194560"/>
          </a:xfrm>
          <a:prstGeom prst="rect">
            <a:avLst/>
          </a:prstGeom>
        </p:spPr>
      </p:pic>
      <p:sp>
        <p:nvSpPr>
          <p:cNvPr id="11" name="Text 7"/>
          <p:cNvSpPr txBox="1"/>
          <p:nvPr/>
        </p:nvSpPr>
        <p:spPr>
          <a:xfrm>
            <a:off x="457200" y="3465576"/>
            <a:ext cx="822960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Unsaturated, saturated and supersaturated solutions (drawn by Dr. NAM)</a:t>
            </a:r>
            <a:endParaRPr lang="en-US" sz="750" dirty="0"/>
          </a:p>
        </p:txBody>
      </p:sp>
      <p:sp>
        <p:nvSpPr>
          <p:cNvPr id="12" name="Text 8"/>
          <p:cNvSpPr txBox="1"/>
          <p:nvPr/>
        </p:nvSpPr>
        <p:spPr>
          <a:xfrm>
            <a:off x="457200" y="3794760"/>
            <a:ext cx="8229600" cy="86868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Solubility</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 the maximum amount of solute that dissolves in a given amount of solvent at a stated temperature.</a:t>
            </a:r>
            <a:endParaRPr lang="en-US" sz="1200" dirty="0"/>
          </a:p>
          <a:p>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Saturated</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at the limit.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Unsaturated</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below it.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Supersaturated</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above it and unstable. Reusable heat packs contain supersaturated sodium acetate; it crystallises and releases heat.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Solubilities in water at 25 °C</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133600"/>
                <a:gridCol w="2438400"/>
                <a:gridCol w="3657600"/>
              </a:tblGrid>
              <a:tr h="0">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Substance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Solubility (g in 100 mL water)</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Like dissolves like?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KBr(s)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67.8</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ionic in polar water: very soluble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NaCl(s)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36.0</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ionic: soluble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benzene, C</a:t>
                      </a:r>
                      <a:pPr indent="0" marL="0">
                        <a:buNone/>
                      </a:pPr>
                      <a:r>
                        <a:rPr lang="en-US" sz="1050" b="1" baseline="-40000" dirty="0">
                          <a:solidFill>
                            <a:srgbClr val="1B2A41"/>
                          </a:solidFill>
                          <a:latin typeface="Calibri" pitchFamily="34" charset="0"/>
                          <a:ea typeface="Calibri" pitchFamily="34" charset="-122"/>
                          <a:cs typeface="Calibri" pitchFamily="34" charset="-120"/>
                        </a:rPr>
                        <a:t>6</a:t>
                      </a:r>
                      <a:pPr indent="0" marL="0">
                        <a:buNone/>
                      </a:pPr>
                      <a:r>
                        <a:rPr lang="en-US" sz="1050" b="1" dirty="0">
                          <a:solidFill>
                            <a:srgbClr val="1B2A41"/>
                          </a:solidFill>
                          <a:latin typeface="Calibri" pitchFamily="34" charset="0"/>
                          <a:ea typeface="Calibri" pitchFamily="34" charset="-122"/>
                          <a:cs typeface="Calibri" pitchFamily="34" charset="-120"/>
                        </a:rPr>
                        <a:t>H</a:t>
                      </a:r>
                      <a:pPr indent="0" marL="0">
                        <a:buNone/>
                      </a:pPr>
                      <a:r>
                        <a:rPr lang="en-US" sz="1050" b="1" baseline="-40000" dirty="0">
                          <a:solidFill>
                            <a:srgbClr val="1B2A41"/>
                          </a:solidFill>
                          <a:latin typeface="Calibri" pitchFamily="34" charset="0"/>
                          <a:ea typeface="Calibri" pitchFamily="34" charset="-122"/>
                          <a:cs typeface="Calibri" pitchFamily="34" charset="-120"/>
                        </a:rPr>
                        <a:t>6</a:t>
                      </a:r>
                      <a:pPr indent="0" marL="0">
                        <a:buNone/>
                      </a:pPr>
                      <a:r>
                        <a:rPr lang="en-US" sz="1050" b="1" dirty="0">
                          <a:solidFill>
                            <a:srgbClr val="1B2A41"/>
                          </a:solidFill>
                          <a:latin typeface="Calibri" pitchFamily="34" charset="0"/>
                          <a:ea typeface="Calibri" pitchFamily="34" charset="-122"/>
                          <a:cs typeface="Calibri" pitchFamily="34" charset="-120"/>
                        </a:rPr>
                        <a:t>(ℓ)</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0.178</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nonpolar: barely soluble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CO</a:t>
                      </a:r>
                      <a:pPr indent="0" marL="0">
                        <a:buNone/>
                      </a:pPr>
                      <a:r>
                        <a:rPr lang="en-US" sz="1050" b="1" baseline="-40000" dirty="0">
                          <a:solidFill>
                            <a:srgbClr val="1B2A41"/>
                          </a:solidFill>
                          <a:latin typeface="Calibri" pitchFamily="34" charset="0"/>
                          <a:ea typeface="Calibri" pitchFamily="34" charset="-122"/>
                          <a:cs typeface="Calibri" pitchFamily="34" charset="-120"/>
                        </a:rPr>
                        <a:t>2</a:t>
                      </a:r>
                      <a:pPr indent="0" marL="0">
                        <a:buNone/>
                      </a:pPr>
                      <a:r>
                        <a:rPr lang="en-US" sz="1050" b="1" dirty="0">
                          <a:solidFill>
                            <a:srgbClr val="1B2A41"/>
                          </a:solidFill>
                          <a:latin typeface="Calibri" pitchFamily="34" charset="0"/>
                          <a:ea typeface="Calibri" pitchFamily="34" charset="-122"/>
                          <a:cs typeface="Calibri" pitchFamily="34" charset="-120"/>
                        </a:rPr>
                        <a:t>(g)</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0.150</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gas: slightly soluble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457200" y="4297680"/>
            <a:ext cx="8229600" cy="457200"/>
          </a:xfrm>
          <a:prstGeom prst="rect">
            <a:avLst/>
          </a:prstGeom>
          <a:noFill/>
          <a:ln/>
        </p:spPr>
        <p:txBody>
          <a:bodyPr wrap="square" lIns="0" tIns="0" rIns="0" bIns="0" rtlCol="0" anchor="t"/>
          <a:lstStyle/>
          <a:p>
            <a:pPr indent="0" marL="0">
              <a:buNone/>
            </a:pPr>
            <a:r>
              <a:rPr lang="en-US" sz="900" i="1" dirty="0">
                <a:solidFill>
                  <a:srgbClr val="56657A"/>
                </a:solidFill>
                <a:latin typeface="Calibri" pitchFamily="34" charset="0"/>
                <a:ea typeface="Calibri" pitchFamily="34" charset="-122"/>
                <a:cs typeface="Calibri" pitchFamily="34" charset="-120"/>
              </a:rPr>
              <a:t>Values from Table 9.2.1 (Ball 9.2). Solubility changes with temperature, so the temperature is always quoted.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Which pair is most likely to form a solution?</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Oil and water</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Iodine and water</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Glucose and water</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Wax and water</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SOL-LO1</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Which pair is most likely to form a solution?</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Oil and water</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Iodine and water</a:t>
            </a:r>
            <a:endParaRPr lang="en-US" sz="1100" dirty="0"/>
          </a:p>
        </p:txBody>
      </p:sp>
      <p:sp>
        <p:nvSpPr>
          <p:cNvPr id="15" name="Shape 12"/>
          <p:cNvSpPr/>
          <p:nvPr/>
        </p:nvSpPr>
        <p:spPr>
          <a:xfrm>
            <a:off x="457200" y="2697480"/>
            <a:ext cx="4023360" cy="594360"/>
          </a:xfrm>
          <a:prstGeom prst="roundRect">
            <a:avLst>
              <a:gd name="adj" fmla="val 12308"/>
            </a:avLst>
          </a:prstGeom>
          <a:solidFill>
            <a:srgbClr val="E3F3E9"/>
          </a:solidFill>
          <a:ln w="9525">
            <a:solidFill>
              <a:srgbClr val="2E7D4F"/>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Glucose and water</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Wax and water</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C. </a:t>
            </a:r>
            <a:pPr indent="0" marL="0">
              <a:buNone/>
            </a:pPr>
            <a:r>
              <a:rPr lang="en-US" sz="1150" dirty="0">
                <a:solidFill>
                  <a:srgbClr val="1B2A41"/>
                </a:solidFill>
                <a:latin typeface="Calibri" pitchFamily="34" charset="0"/>
                <a:ea typeface="Calibri" pitchFamily="34" charset="-122"/>
                <a:cs typeface="Calibri" pitchFamily="34" charset="-120"/>
              </a:rPr>
              <a:t>Glucose is polar with many OH groups, so it hydrogen bonds with water. The others are nonpolar solutes in a polar solvent.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2</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2</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Percent concentration, ppm and ppb</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How much solute is in how much solution: the language of labels and prescriptions.</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SOL-LO2 · Ball 9.2</a:t>
            </a:r>
            <a:endParaRPr lang="en-US" sz="900" dirty="0"/>
          </a:p>
        </p:txBody>
      </p:sp>
      <p:pic>
        <p:nvPicPr>
          <p:cNvPr id="7" name="Image 0" descr="/home/claude/build/mol/ethanol.png">    </p:cNvPr>
          <p:cNvPicPr>
            <a:picLocks noChangeAspect="1"/>
          </p:cNvPicPr>
          <p:nvPr/>
        </p:nvPicPr>
        <p:blipFill>
          <a:blip r:embed="rId1"/>
          <a:stretch>
            <a:fillRect/>
          </a:stretch>
        </p:blipFill>
        <p:spPr>
          <a:xfrm>
            <a:off x="6557554" y="640080"/>
            <a:ext cx="1332411" cy="914400"/>
          </a:xfrm>
          <a:prstGeom prst="rect">
            <a:avLst/>
          </a:prstGeom>
        </p:spPr>
      </p:pic>
      <p:pic>
        <p:nvPicPr>
          <p:cNvPr id="8" name="Image 1" descr="/home/claude/build/mol/water.png">    </p:cNvPr>
          <p:cNvPicPr>
            <a:picLocks noChangeAspect="1"/>
          </p:cNvPicPr>
          <p:nvPr/>
        </p:nvPicPr>
        <p:blipFill>
          <a:blip r:embed="rId2"/>
          <a:stretch>
            <a:fillRect/>
          </a:stretch>
        </p:blipFill>
        <p:spPr>
          <a:xfrm>
            <a:off x="7589520" y="2834640"/>
            <a:ext cx="548640" cy="548640"/>
          </a:xfrm>
          <a:prstGeom prst="rect">
            <a:avLst/>
          </a:prstGeom>
        </p:spPr>
      </p:pic>
      <p:pic>
        <p:nvPicPr>
          <p:cNvPr id="9" name="Image 2" descr="/home/claude/build/mol/acetone.png">    </p:cNvPr>
          <p:cNvPicPr>
            <a:picLocks noChangeAspect="1"/>
          </p:cNvPicPr>
          <p:nvPr/>
        </p:nvPicPr>
        <p:blipFill>
          <a:blip r:embed="rId3"/>
          <a:stretch>
            <a:fillRect/>
          </a:stretch>
        </p:blipFill>
        <p:spPr>
          <a:xfrm>
            <a:off x="5755039" y="3794760"/>
            <a:ext cx="560002"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Solution</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Three percent concentrations</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640080"/>
          </a:xfrm>
          <a:prstGeom prst="roundRect">
            <a:avLst>
              <a:gd name="adj" fmla="val 11429"/>
            </a:avLst>
          </a:prstGeom>
          <a:solidFill>
            <a:srgbClr val="E1EEF7"/>
          </a:solidFill>
          <a:ln w="9525">
            <a:solidFill>
              <a:srgbClr val="E1EEF7"/>
            </a:solidFill>
            <a:prstDash val="solid"/>
          </a:ln>
        </p:spPr>
      </p:sp>
      <p:sp>
        <p:nvSpPr>
          <p:cNvPr id="11" name="Text 8"/>
          <p:cNvSpPr txBox="1"/>
          <p:nvPr/>
        </p:nvSpPr>
        <p:spPr>
          <a:xfrm>
            <a:off x="548640" y="1234440"/>
            <a:ext cx="8046720" cy="640080"/>
          </a:xfrm>
          <a:prstGeom prst="rect">
            <a:avLst/>
          </a:prstGeom>
          <a:noFill/>
          <a:ln/>
        </p:spPr>
        <p:txBody>
          <a:bodyPr wrap="square" lIns="0" tIns="0" rIns="0" bIns="0" rtlCol="0" anchor="ctr"/>
          <a:lstStyle/>
          <a:p>
            <a:pPr algn="ctr" indent="0" marL="0">
              <a:buNone/>
            </a:pPr>
            <a:r>
              <a:rPr lang="en-US" sz="2000" b="1" dirty="0">
                <a:solidFill>
                  <a:srgbClr val="1B2A41"/>
                </a:solidFill>
                <a:latin typeface="Calibri" pitchFamily="34" charset="0"/>
                <a:ea typeface="Calibri" pitchFamily="34" charset="-122"/>
                <a:cs typeface="Calibri" pitchFamily="34" charset="-120"/>
              </a:rPr>
              <a:t>percent = (amount of solute ÷ amount of solution) × 100%</a:t>
            </a:r>
            <a:endParaRPr lang="en-US" sz="2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8229600" cy="914400"/>
        </p:xfrm>
        <a:graphic>
          <a:graphicData uri="http://schemas.openxmlformats.org/drawingml/2006/table">
            <a:tbl>
              <a:tblPr/>
              <a:tblGrid>
                <a:gridCol w="1371600"/>
                <a:gridCol w="6858000"/>
              </a:tblGrid>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 m/m</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mass of solute (g) ÷ mass of solution (g) × 100: creams, ointments</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 v/v</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volume of solute (mL) ÷ volume of solution (mL) × 100: alcohol, hand rubs</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 m/v</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mass of solute (g) ÷ volume of solution (mL) × 100: IV fluids, syrups, injections</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units</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m/m and v/v need the same units top and bottom; m/v is always g per mL</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000" i="1" dirty="0">
                <a:solidFill>
                  <a:srgbClr val="56657A"/>
                </a:solidFill>
                <a:latin typeface="Calibri" pitchFamily="34" charset="0"/>
                <a:ea typeface="Calibri" pitchFamily="34" charset="-122"/>
                <a:cs typeface="Calibri" pitchFamily="34" charset="-120"/>
              </a:rPr>
              <a:t>A percentage is parts of solute per 100 parts of solution: 0.9% m/v NaCl = 0.9 g NaCl per 100 mL of solution.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2.1 · Mass/mass percent</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A saline solution with a mass of 355 g has 36.5 g of NaCl dissolved in it. What is its % m/m?</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 m/m = (mass of solute ÷ mass of solution) × 100%</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 (36.5 g ÷ 355 g) × 100%</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 10.3% m/m NaCl</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2.2 · Normal saline in % m/v</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A normal saline IV solution contains 9.0 g of NaCl in every litre of solution. What is its mass/volume percent?</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Volume must be in mL: 1 L = 1,000 mL (exact).</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 m/v = (9.0 g ÷ 1,000 mL) × 100%</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 0.90% m/v NaCl</a:t>
            </a:r>
            <a:pPr indent="0" marL="0">
              <a:buNone/>
            </a:pPr>
            <a:r>
              <a:rPr lang="en-US" sz="1200" b="1" dirty="0">
                <a:solidFill>
                  <a:srgbClr val="1B2A41"/>
                </a:solidFill>
                <a:latin typeface="Calibri" pitchFamily="34" charset="0"/>
                <a:ea typeface="Calibri" pitchFamily="34" charset="-122"/>
                <a:cs typeface="Calibri" pitchFamily="34" charset="-120"/>
              </a:rPr>
              <a:t>: the 0.9% printed on every saline bag.</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Percent as a conversion factor</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5% v/v alcohol means 5 mL alcohol in every 100 mL solution.</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Two conversion factors: (5 mL alcohol / 100 mL solution) or (100 mL solution / 5 mL alcohol).</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Use the first to go from solution to solute; use the second to go from solute to solution.</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Given any two of solute, solution and percent, you can find the third.</a:t>
            </a:r>
            <a:endParaRPr lang="en-US" sz="1300" dirty="0"/>
          </a:p>
        </p:txBody>
      </p:sp>
      <p:sp>
        <p:nvSpPr>
          <p:cNvPr id="11" name="Shape 8"/>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12" name="Text 9"/>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Road map</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amount of solution × (solute / 100 solution) = amount of solute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2.3 · Using % v/v</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A sample of 45.0% v/v ethanol (C</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H</a:t>
            </a:r>
            <a:pPr indent="0" marL="0">
              <a:buNone/>
            </a:pPr>
            <a:r>
              <a:rPr lang="en-US" sz="1200" baseline="-40000" dirty="0">
                <a:solidFill>
                  <a:srgbClr val="1B2A41"/>
                </a:solidFill>
                <a:latin typeface="Calibri" pitchFamily="34" charset="0"/>
                <a:ea typeface="Calibri" pitchFamily="34" charset="-122"/>
                <a:cs typeface="Calibri" pitchFamily="34" charset="-120"/>
              </a:rPr>
              <a:t>5</a:t>
            </a:r>
            <a:pPr indent="0" marL="0">
              <a:buNone/>
            </a:pPr>
            <a:r>
              <a:rPr lang="en-US" sz="1200" dirty="0">
                <a:solidFill>
                  <a:srgbClr val="1B2A41"/>
                </a:solidFill>
                <a:latin typeface="Calibri" pitchFamily="34" charset="0"/>
                <a:ea typeface="Calibri" pitchFamily="34" charset="-122"/>
                <a:cs typeface="Calibri" pitchFamily="34" charset="-120"/>
              </a:rPr>
              <a:t>OH) in water has a volume of 115 mL. What volume of ethanol does it contain?</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45.0% v/v means 45.0 mL C</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H</a:t>
            </a:r>
            <a:pPr indent="0" marL="0">
              <a:buNone/>
            </a:pPr>
            <a:r>
              <a:rPr lang="en-US" sz="1200" baseline="-40000" dirty="0">
                <a:solidFill>
                  <a:srgbClr val="1B2A41"/>
                </a:solidFill>
                <a:latin typeface="Calibri" pitchFamily="34" charset="0"/>
                <a:ea typeface="Calibri" pitchFamily="34" charset="-122"/>
                <a:cs typeface="Calibri" pitchFamily="34" charset="-120"/>
              </a:rPr>
              <a:t>5</a:t>
            </a:r>
            <a:pPr indent="0" marL="0">
              <a:buNone/>
            </a:pPr>
            <a:r>
              <a:rPr lang="en-US" sz="1200" dirty="0">
                <a:solidFill>
                  <a:srgbClr val="1B2A41"/>
                </a:solidFill>
                <a:latin typeface="Calibri" pitchFamily="34" charset="0"/>
                <a:ea typeface="Calibri" pitchFamily="34" charset="-122"/>
                <a:cs typeface="Calibri" pitchFamily="34" charset="-120"/>
              </a:rPr>
              <a:t>OH per 100 mL solution.</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115 mL solution × (45.0 mL C</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H</a:t>
            </a:r>
            <a:pPr indent="0" marL="0">
              <a:buNone/>
            </a:pPr>
            <a:r>
              <a:rPr lang="en-US" sz="1200" baseline="-40000" dirty="0">
                <a:solidFill>
                  <a:srgbClr val="1B2A41"/>
                </a:solidFill>
                <a:latin typeface="Calibri" pitchFamily="34" charset="0"/>
                <a:ea typeface="Calibri" pitchFamily="34" charset="-122"/>
                <a:cs typeface="Calibri" pitchFamily="34" charset="-120"/>
              </a:rPr>
              <a:t>5</a:t>
            </a:r>
            <a:pPr indent="0" marL="0">
              <a:buNone/>
            </a:pPr>
            <a:r>
              <a:rPr lang="en-US" sz="1200" dirty="0">
                <a:solidFill>
                  <a:srgbClr val="1B2A41"/>
                </a:solidFill>
                <a:latin typeface="Calibri" pitchFamily="34" charset="0"/>
                <a:ea typeface="Calibri" pitchFamily="34" charset="-122"/>
                <a:cs typeface="Calibri" pitchFamily="34" charset="-120"/>
              </a:rPr>
              <a:t>OH ÷ 100 mL solution)</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 51.8 mL C</a:t>
            </a:r>
            <a:pPr indent="0" marL="0">
              <a:buNone/>
            </a:pPr>
            <a:r>
              <a:rPr lang="en-US" sz="1200" b="1" baseline="-40000" dirty="0">
                <a:solidFill>
                  <a:srgbClr val="1B2A41"/>
                </a:solidFill>
                <a:latin typeface="Calibri" pitchFamily="34" charset="0"/>
                <a:ea typeface="Calibri" pitchFamily="34" charset="-122"/>
                <a:cs typeface="Calibri" pitchFamily="34" charset="-120"/>
              </a:rPr>
              <a:t>2</a:t>
            </a:r>
            <a:pPr indent="0" marL="0">
              <a:buNone/>
            </a:pPr>
            <a:r>
              <a:rPr lang="en-US" sz="1200" b="1" dirty="0">
                <a:solidFill>
                  <a:srgbClr val="1B2A41"/>
                </a:solidFill>
                <a:latin typeface="Calibri" pitchFamily="34" charset="0"/>
                <a:ea typeface="Calibri" pitchFamily="34" charset="-122"/>
                <a:cs typeface="Calibri" pitchFamily="34" charset="-120"/>
              </a:rPr>
              <a:t>H</a:t>
            </a:r>
            <a:pPr indent="0" marL="0">
              <a:buNone/>
            </a:pPr>
            <a:r>
              <a:rPr lang="en-US" sz="1200" b="1" baseline="-40000" dirty="0">
                <a:solidFill>
                  <a:srgbClr val="1B2A41"/>
                </a:solidFill>
                <a:latin typeface="Calibri" pitchFamily="34" charset="0"/>
                <a:ea typeface="Calibri" pitchFamily="34" charset="-122"/>
                <a:cs typeface="Calibri" pitchFamily="34" charset="-120"/>
              </a:rPr>
              <a:t>5</a:t>
            </a:r>
            <a:pPr indent="0" marL="0">
              <a:buNone/>
            </a:pPr>
            <a:r>
              <a:rPr lang="en-US" sz="1200" b="1" dirty="0">
                <a:solidFill>
                  <a:srgbClr val="1B2A41"/>
                </a:solidFill>
                <a:latin typeface="Calibri" pitchFamily="34" charset="0"/>
                <a:ea typeface="Calibri" pitchFamily="34" charset="-122"/>
                <a:cs typeface="Calibri" pitchFamily="34" charset="-120"/>
              </a:rPr>
              <a:t>OH</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Paracetamol syrup</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paracetamol syrup label says 120 mg per 5 mL. (a) What is its % m/v? (b) How many grams of paracetamol are in a 60 mL bottle?</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Paracetamol syrup · answer</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paracetamol syrup label says 120 mg per 5 mL. (a) What is its % m/v? (b) How many grams of paracetamol are in a 60 mL bottle?</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(a) 120 mg = 0.120 g. % m/v = (0.120 g ÷ 5 mL) × 100% = </a:t>
            </a:r>
            <a:pPr indent="0" marL="0">
              <a:buNone/>
            </a:pPr>
            <a:r>
              <a:rPr lang="en-US" sz="1200" b="1" dirty="0">
                <a:solidFill>
                  <a:srgbClr val="1B2A41"/>
                </a:solidFill>
                <a:latin typeface="Calibri" pitchFamily="34" charset="0"/>
                <a:ea typeface="Calibri" pitchFamily="34" charset="-122"/>
                <a:cs typeface="Calibri" pitchFamily="34" charset="-120"/>
              </a:rPr>
              <a:t>2.4% m/v</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(b) 60 mL × (2.4 g ÷ 100 mL) = </a:t>
            </a:r>
            <a:pPr indent="0" marL="0">
              <a:buNone/>
            </a:pPr>
            <a:r>
              <a:rPr lang="en-US" sz="1200" b="1" dirty="0">
                <a:solidFill>
                  <a:srgbClr val="1B2A41"/>
                </a:solidFill>
                <a:latin typeface="Calibri" pitchFamily="34" charset="0"/>
                <a:ea typeface="Calibri" pitchFamily="34" charset="-122"/>
                <a:cs typeface="Calibri" pitchFamily="34" charset="-120"/>
              </a:rPr>
              <a:t>1.44 g</a:t>
            </a:r>
            <a:pPr indent="0" marL="0">
              <a:buNone/>
            </a:pPr>
            <a:r>
              <a:rPr lang="en-US" sz="1200" dirty="0">
                <a:solidFill>
                  <a:srgbClr val="1B2A41"/>
                </a:solidFill>
                <a:latin typeface="Calibri" pitchFamily="34" charset="0"/>
                <a:ea typeface="Calibri" pitchFamily="34" charset="-122"/>
                <a:cs typeface="Calibri" pitchFamily="34" charset="-120"/>
              </a:rPr>
              <a:t> of paracetamol.</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Hand rub and glucose</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An alcohol hand rub is 70% v/v ethanol. How much ethanol is in a 500 mL bottle? (b) What volume of 12.5% m/v glucose solution contains 50.0 g of glucose?</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Hand rub and glucose · answer</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An alcohol hand rub is 70% v/v ethanol. How much ethanol is in a 500 mL bottle? (b) What volume of 12.5% m/v glucose solution contains 50.0 g of glucose?</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(a) 500 mL × (70 mL ÷ 100 mL) = </a:t>
            </a:r>
            <a:pPr indent="0" marL="0">
              <a:buNone/>
            </a:pPr>
            <a:r>
              <a:rPr lang="en-US" sz="1200" b="1" dirty="0">
                <a:solidFill>
                  <a:srgbClr val="1B2A41"/>
                </a:solidFill>
                <a:latin typeface="Calibri" pitchFamily="34" charset="0"/>
                <a:ea typeface="Calibri" pitchFamily="34" charset="-122"/>
                <a:cs typeface="Calibri" pitchFamily="34" charset="-120"/>
              </a:rPr>
              <a:t>350 mL ethanol</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(b) 50.0 g × (100 mL ÷ 12.5 g) = </a:t>
            </a:r>
            <a:pPr indent="0" marL="0">
              <a:buNone/>
            </a:pPr>
            <a:r>
              <a:rPr lang="en-US" sz="1200" b="1" dirty="0">
                <a:solidFill>
                  <a:srgbClr val="1B2A41"/>
                </a:solidFill>
                <a:latin typeface="Calibri" pitchFamily="34" charset="0"/>
                <a:ea typeface="Calibri" pitchFamily="34" charset="-122"/>
                <a:cs typeface="Calibri" pitchFamily="34" charset="-120"/>
              </a:rPr>
              <a:t>400 mL</a:t>
            </a:r>
            <a:pPr indent="0" marL="0">
              <a:buNone/>
            </a:pPr>
            <a:r>
              <a:rPr lang="en-US" sz="1200" dirty="0">
                <a:solidFill>
                  <a:srgbClr val="1B2A41"/>
                </a:solidFill>
                <a:latin typeface="Calibri" pitchFamily="34" charset="0"/>
                <a:ea typeface="Calibri" pitchFamily="34" charset="-122"/>
                <a:cs typeface="Calibri" pitchFamily="34" charset="-120"/>
              </a:rPr>
              <a:t> of solution.</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Very small amounts: ppm and ppb</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ppm = (mass of solute ÷ mass of solution) × 1,000,000</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ppb = (mass of solute ÷ mass of solution) × 1,000,000,000</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In water: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1 ppm ≈ 1 mg/L</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and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1 ppb ≈ 1 µg/L</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Used for trace elements in the body, poisons and pollutants: cobalt in the body is about 21 ppb.</a:t>
            </a:r>
            <a:endParaRPr lang="en-US" sz="1300" dirty="0"/>
          </a:p>
        </p:txBody>
      </p:sp>
      <p:sp>
        <p:nvSpPr>
          <p:cNvPr id="11" name="Shape 8"/>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12" name="Text 9"/>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Scale</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1 ppm is like 1 drop in a 50 L bucket. 1 ppb is like 1 drop in a small swimming pool.</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2.4 · Cobalt in the body</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The concentration of cobalt in the human body is 21 ppb. What mass of Co is in a body of 70.0 kg?</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21 ppb means 21 g Co per 1,000,000,000 g of body.</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70.0 kg = 7.00 × 10</a:t>
            </a:r>
            <a:pPr indent="0" marL="0">
              <a:buNone/>
            </a:pPr>
            <a:r>
              <a:rPr lang="en-US" sz="1200" baseline="30000" dirty="0">
                <a:solidFill>
                  <a:srgbClr val="1B2A41"/>
                </a:solidFill>
                <a:latin typeface="Calibri" pitchFamily="34" charset="0"/>
                <a:ea typeface="Calibri" pitchFamily="34" charset="-122"/>
                <a:cs typeface="Calibri" pitchFamily="34" charset="-120"/>
              </a:rPr>
              <a:t>4</a:t>
            </a:r>
            <a:pPr indent="0" marL="0">
              <a:buNone/>
            </a:pPr>
            <a:r>
              <a:rPr lang="en-US" sz="1200" dirty="0">
                <a:solidFill>
                  <a:srgbClr val="1B2A41"/>
                </a:solidFill>
                <a:latin typeface="Calibri" pitchFamily="34" charset="0"/>
                <a:ea typeface="Calibri" pitchFamily="34" charset="-122"/>
                <a:cs typeface="Calibri" pitchFamily="34" charset="-120"/>
              </a:rPr>
              <a:t> g</a:t>
            </a:r>
            <a:endParaRPr lang="en-US" sz="1200" dirty="0"/>
          </a:p>
        </p:txBody>
      </p:sp>
      <p:sp>
        <p:nvSpPr>
          <p:cNvPr id="18" name="Shape 15"/>
          <p:cNvSpPr/>
          <p:nvPr/>
        </p:nvSpPr>
        <p:spPr>
          <a:xfrm>
            <a:off x="457200" y="3346704"/>
            <a:ext cx="274320" cy="274320"/>
          </a:xfrm>
          <a:prstGeom prst="ellipse">
            <a:avLst/>
          </a:prstGeom>
          <a:solidFill>
            <a:srgbClr val="2F6F9F"/>
          </a:solidFill>
          <a:ln w="12700">
            <a:solidFill>
              <a:srgbClr val="2F6F9F"/>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7.00 × 10</a:t>
            </a:r>
            <a:pPr indent="0" marL="0">
              <a:buNone/>
            </a:pPr>
            <a:r>
              <a:rPr lang="en-US" sz="1200" baseline="30000" dirty="0">
                <a:solidFill>
                  <a:srgbClr val="1B2A41"/>
                </a:solidFill>
                <a:latin typeface="Calibri" pitchFamily="34" charset="0"/>
                <a:ea typeface="Calibri" pitchFamily="34" charset="-122"/>
                <a:cs typeface="Calibri" pitchFamily="34" charset="-120"/>
              </a:rPr>
              <a:t>4</a:t>
            </a:r>
            <a:pPr indent="0" marL="0">
              <a:buNone/>
            </a:pPr>
            <a:r>
              <a:rPr lang="en-US" sz="1200" dirty="0">
                <a:solidFill>
                  <a:srgbClr val="1B2A41"/>
                </a:solidFill>
                <a:latin typeface="Calibri" pitchFamily="34" charset="0"/>
                <a:ea typeface="Calibri" pitchFamily="34" charset="-122"/>
                <a:cs typeface="Calibri" pitchFamily="34" charset="-120"/>
              </a:rPr>
              <a:t> g × (21 g ÷ 1,000,000,000 g) = 0.0015 g</a:t>
            </a:r>
            <a:endParaRPr lang="en-US" sz="1200" dirty="0"/>
          </a:p>
        </p:txBody>
      </p:sp>
      <p:sp>
        <p:nvSpPr>
          <p:cNvPr id="21" name="Shape 18"/>
          <p:cNvSpPr/>
          <p:nvPr/>
        </p:nvSpPr>
        <p:spPr>
          <a:xfrm>
            <a:off x="457200" y="3913632"/>
            <a:ext cx="274320" cy="274320"/>
          </a:xfrm>
          <a:prstGeom prst="ellipse">
            <a:avLst/>
          </a:prstGeom>
          <a:solidFill>
            <a:srgbClr val="B86E00"/>
          </a:solidFill>
          <a:ln w="12700">
            <a:solidFill>
              <a:srgbClr val="B86E00"/>
            </a:solidFill>
            <a:prstDash val="solid"/>
          </a:ln>
        </p:spPr>
      </p:sp>
      <p:sp>
        <p:nvSpPr>
          <p:cNvPr id="22" name="Text 19"/>
          <p:cNvSpPr txBox="1"/>
          <p:nvPr/>
        </p:nvSpPr>
        <p:spPr>
          <a:xfrm>
            <a:off x="457200" y="3913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0"/>
          <p:cNvSpPr txBox="1"/>
          <p:nvPr/>
        </p:nvSpPr>
        <p:spPr>
          <a:xfrm>
            <a:off x="868680" y="3895344"/>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1.5 × 10</a:t>
            </a:r>
            <a:pPr indent="0" marL="0">
              <a:buNone/>
            </a:pPr>
            <a:r>
              <a:rPr lang="en-US" sz="1200" b="1" baseline="30000" dirty="0">
                <a:solidFill>
                  <a:srgbClr val="1B2A41"/>
                </a:solidFill>
                <a:latin typeface="Calibri" pitchFamily="34" charset="0"/>
                <a:ea typeface="Calibri" pitchFamily="34" charset="-122"/>
                <a:cs typeface="Calibri" pitchFamily="34" charset="-120"/>
              </a:rPr>
              <a:t>−3</a:t>
            </a:r>
            <a:pPr indent="0" marL="0">
              <a:buNone/>
            </a:pPr>
            <a:r>
              <a:rPr lang="en-US" sz="1200" b="1" dirty="0">
                <a:solidFill>
                  <a:srgbClr val="1B2A41"/>
                </a:solidFill>
                <a:latin typeface="Calibri" pitchFamily="34" charset="0"/>
                <a:ea typeface="Calibri" pitchFamily="34" charset="-122"/>
                <a:cs typeface="Calibri" pitchFamily="34" charset="-120"/>
              </a:rPr>
              <a:t> g = 1.5 mg of cobalt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The dose makes the poison</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50292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Whether a substance helps or harms depends on its concentration.</a:t>
            </a:r>
            <a:endParaRPr lang="en-US" sz="1200" dirty="0"/>
          </a:p>
        </p:txBody>
      </p:sp>
      <p:sp>
        <p:nvSpPr>
          <p:cNvPr id="11" name="Shape 8"/>
          <p:cNvSpPr/>
          <p:nvPr/>
        </p:nvSpPr>
        <p:spPr>
          <a:xfrm>
            <a:off x="457200" y="1783080"/>
            <a:ext cx="4023360" cy="2880360"/>
          </a:xfrm>
          <a:prstGeom prst="roundRect">
            <a:avLst>
              <a:gd name="adj" fmla="val 2540"/>
            </a:avLst>
          </a:prstGeom>
          <a:solidFill>
            <a:srgbClr val="FBEFD9"/>
          </a:solidFill>
          <a:ln w="9525">
            <a:solidFill>
              <a:srgbClr val="FBEFD9"/>
            </a:solidFill>
            <a:prstDash val="solid"/>
          </a:ln>
        </p:spPr>
      </p:sp>
      <p:sp>
        <p:nvSpPr>
          <p:cNvPr id="12" name="Text 9"/>
          <p:cNvSpPr txBox="1"/>
          <p:nvPr/>
        </p:nvSpPr>
        <p:spPr>
          <a:xfrm>
            <a:off x="594360" y="1874520"/>
            <a:ext cx="3749040" cy="320040"/>
          </a:xfrm>
          <a:prstGeom prst="rect">
            <a:avLst/>
          </a:prstGeom>
          <a:noFill/>
          <a:ln/>
        </p:spPr>
        <p:txBody>
          <a:bodyPr wrap="square" lIns="0" tIns="0" rIns="0" bIns="0" rtlCol="0" anchor="ctr"/>
          <a:lstStyle/>
          <a:p>
            <a:pPr indent="0" marL="0">
              <a:buNone/>
            </a:pPr>
            <a:r>
              <a:rPr lang="en-US" sz="1200" b="1" dirty="0">
                <a:solidFill>
                  <a:srgbClr val="B86E00"/>
                </a:solidFill>
                <a:latin typeface="Calibri" pitchFamily="34" charset="0"/>
                <a:ea typeface="Calibri" pitchFamily="34" charset="-122"/>
                <a:cs typeface="Calibri" pitchFamily="34" charset="-120"/>
              </a:rPr>
              <a:t>Arsenic</a:t>
            </a:r>
            <a:endParaRPr lang="en-US" sz="1200" dirty="0"/>
          </a:p>
        </p:txBody>
      </p:sp>
      <p:sp>
        <p:nvSpPr>
          <p:cNvPr id="13" name="Text 10"/>
          <p:cNvSpPr txBox="1"/>
          <p:nvPr/>
        </p:nvSpPr>
        <p:spPr>
          <a:xfrm>
            <a:off x="594360" y="2240280"/>
            <a:ext cx="3749040" cy="233172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May be an essential trace element at about 50 ppb or less</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 toxic dose is about 7,000 ppb and higher</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That is over 140 times the trace amount</a:t>
            </a:r>
            <a:endParaRPr lang="en-US" sz="1100" dirty="0"/>
          </a:p>
        </p:txBody>
      </p:sp>
      <p:sp>
        <p:nvSpPr>
          <p:cNvPr id="14" name="Shape 11"/>
          <p:cNvSpPr/>
          <p:nvPr/>
        </p:nvSpPr>
        <p:spPr>
          <a:xfrm>
            <a:off x="4663440" y="1783080"/>
            <a:ext cx="4023360" cy="2880360"/>
          </a:xfrm>
          <a:prstGeom prst="roundRect">
            <a:avLst>
              <a:gd name="adj" fmla="val 2540"/>
            </a:avLst>
          </a:prstGeom>
          <a:solidFill>
            <a:srgbClr val="E1EEF7"/>
          </a:solidFill>
          <a:ln w="9525">
            <a:solidFill>
              <a:srgbClr val="E1EEF7"/>
            </a:solidFill>
            <a:prstDash val="solid"/>
          </a:ln>
        </p:spPr>
      </p:sp>
      <p:sp>
        <p:nvSpPr>
          <p:cNvPr id="15" name="Text 12"/>
          <p:cNvSpPr txBox="1"/>
          <p:nvPr/>
        </p:nvSpPr>
        <p:spPr>
          <a:xfrm>
            <a:off x="4800600" y="1874520"/>
            <a:ext cx="3749040" cy="320040"/>
          </a:xfrm>
          <a:prstGeom prst="rect">
            <a:avLst/>
          </a:prstGeom>
          <a:noFill/>
          <a:ln/>
        </p:spPr>
        <p:txBody>
          <a:bodyPr wrap="square" lIns="0" tIns="0" rIns="0" bIns="0" rtlCol="0" anchor="ctr"/>
          <a:lstStyle/>
          <a:p>
            <a:pPr indent="0" marL="0">
              <a:buNone/>
            </a:pPr>
            <a:r>
              <a:rPr lang="en-US" sz="1200" b="1" dirty="0">
                <a:solidFill>
                  <a:srgbClr val="2F6F9F"/>
                </a:solidFill>
                <a:latin typeface="Calibri" pitchFamily="34" charset="0"/>
                <a:ea typeface="Calibri" pitchFamily="34" charset="-122"/>
                <a:cs typeface="Calibri" pitchFamily="34" charset="-120"/>
              </a:rPr>
              <a:t>Water</a:t>
            </a:r>
            <a:endParaRPr lang="en-US" sz="1200" dirty="0"/>
          </a:p>
        </p:txBody>
      </p:sp>
      <p:sp>
        <p:nvSpPr>
          <p:cNvPr id="16" name="Text 13"/>
          <p:cNvSpPr txBox="1"/>
          <p:nvPr/>
        </p:nvSpPr>
        <p:spPr>
          <a:xfrm>
            <a:off x="4800600" y="2240280"/>
            <a:ext cx="3749040" cy="233172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Drinking too much water too fast dilutes Na</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K</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and other ions in the blood</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Water intoxication can be fatal</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Athletes and hikers must replace the salts lost in sweat</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A 250 mL bag of 5% m/v dextrose contains how much dextrose?</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5 g</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12.5 g</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50 g</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1.25 g</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ethanol.png">    </p:cNvPr>
          <p:cNvPicPr>
            <a:picLocks noChangeAspect="1"/>
          </p:cNvPicPr>
          <p:nvPr/>
        </p:nvPicPr>
        <p:blipFill>
          <a:blip r:embed="rId1"/>
          <a:stretch>
            <a:fillRect/>
          </a:stretch>
        </p:blipFill>
        <p:spPr>
          <a:xfrm>
            <a:off x="8086954" y="192024"/>
            <a:ext cx="559613"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A 250 mL bag of 5% m/v dextrose contains how much dextrose?</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5 g</a:t>
            </a:r>
            <a:endParaRPr lang="en-US" sz="1100" dirty="0"/>
          </a:p>
        </p:txBody>
      </p:sp>
      <p:sp>
        <p:nvSpPr>
          <p:cNvPr id="13" name="Shape 10"/>
          <p:cNvSpPr/>
          <p:nvPr/>
        </p:nvSpPr>
        <p:spPr>
          <a:xfrm>
            <a:off x="4663440" y="1965960"/>
            <a:ext cx="4023360" cy="594360"/>
          </a:xfrm>
          <a:prstGeom prst="roundRect">
            <a:avLst>
              <a:gd name="adj" fmla="val 12308"/>
            </a:avLst>
          </a:prstGeom>
          <a:solidFill>
            <a:srgbClr val="E3F3E9"/>
          </a:solidFill>
          <a:ln w="9525">
            <a:solidFill>
              <a:srgbClr val="2E7D4F"/>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12.5 g</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50 g</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1.25 g</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B. </a:t>
            </a:r>
            <a:pPr indent="0" marL="0">
              <a:buNone/>
            </a:pPr>
            <a:r>
              <a:rPr lang="en-US" sz="1150" dirty="0">
                <a:solidFill>
                  <a:srgbClr val="1B2A41"/>
                </a:solidFill>
                <a:latin typeface="Calibri" pitchFamily="34" charset="0"/>
                <a:ea typeface="Calibri" pitchFamily="34" charset="-122"/>
                <a:cs typeface="Calibri" pitchFamily="34" charset="-120"/>
              </a:rPr>
              <a:t>5 g per 100 mL, so 250 mL × (5 g ÷ 100 mL) = 12.5 g.</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3</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3</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Molarity</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Moles of solute per litre of solution: the unit chemists use for reactions.</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SOL-LO2 · Ball 9.2</a:t>
            </a:r>
            <a:endParaRPr lang="en-US" sz="900" dirty="0"/>
          </a:p>
        </p:txBody>
      </p:sp>
      <p:pic>
        <p:nvPicPr>
          <p:cNvPr id="7" name="Image 0" descr="/home/claude/build/mol/water.png">    </p:cNvPr>
          <p:cNvPicPr>
            <a:picLocks noChangeAspect="1"/>
          </p:cNvPicPr>
          <p:nvPr/>
        </p:nvPicPr>
        <p:blipFill>
          <a:blip r:embed="rId1"/>
          <a:stretch>
            <a:fillRect/>
          </a:stretch>
        </p:blipFill>
        <p:spPr>
          <a:xfrm>
            <a:off x="6766560" y="640080"/>
            <a:ext cx="914400" cy="914400"/>
          </a:xfrm>
          <a:prstGeom prst="rect">
            <a:avLst/>
          </a:prstGeom>
        </p:spPr>
      </p:pic>
      <p:pic>
        <p:nvPicPr>
          <p:cNvPr id="8" name="Image 1" descr="/home/claude/build/mol/hcl.png">    </p:cNvPr>
          <p:cNvPicPr>
            <a:picLocks noChangeAspect="1"/>
          </p:cNvPicPr>
          <p:nvPr/>
        </p:nvPicPr>
        <p:blipFill>
          <a:blip r:embed="rId2"/>
          <a:stretch>
            <a:fillRect/>
          </a:stretch>
        </p:blipFill>
        <p:spPr>
          <a:xfrm>
            <a:off x="7589520" y="2834640"/>
            <a:ext cx="548640" cy="548640"/>
          </a:xfrm>
          <a:prstGeom prst="rect">
            <a:avLst/>
          </a:prstGeom>
        </p:spPr>
      </p:pic>
      <p:pic>
        <p:nvPicPr>
          <p:cNvPr id="9" name="Image 2" descr="/home/claude/build/mol/ammonia.png">    </p:cNvPr>
          <p:cNvPicPr>
            <a:picLocks noChangeAspect="1"/>
          </p:cNvPicPr>
          <p:nvPr/>
        </p:nvPicPr>
        <p:blipFill>
          <a:blip r:embed="rId3"/>
          <a:stretch>
            <a:fillRect/>
          </a:stretch>
        </p:blipFill>
        <p:spPr>
          <a:xfrm>
            <a:off x="5806440" y="3794760"/>
            <a:ext cx="457200"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Solution</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Molarity</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640080"/>
          </a:xfrm>
          <a:prstGeom prst="roundRect">
            <a:avLst>
              <a:gd name="adj" fmla="val 11429"/>
            </a:avLst>
          </a:prstGeom>
          <a:solidFill>
            <a:srgbClr val="E1EEF7"/>
          </a:solidFill>
          <a:ln w="9525">
            <a:solidFill>
              <a:srgbClr val="E1EEF7"/>
            </a:solidFill>
            <a:prstDash val="solid"/>
          </a:ln>
        </p:spPr>
      </p:sp>
      <p:sp>
        <p:nvSpPr>
          <p:cNvPr id="11" name="Text 8"/>
          <p:cNvSpPr txBox="1"/>
          <p:nvPr/>
        </p:nvSpPr>
        <p:spPr>
          <a:xfrm>
            <a:off x="548640" y="1234440"/>
            <a:ext cx="8046720" cy="640080"/>
          </a:xfrm>
          <a:prstGeom prst="rect">
            <a:avLst/>
          </a:prstGeom>
          <a:noFill/>
          <a:ln/>
        </p:spPr>
        <p:txBody>
          <a:bodyPr wrap="square" lIns="0" tIns="0" rIns="0" bIns="0" rtlCol="0" anchor="ctr"/>
          <a:lstStyle/>
          <a:p>
            <a:pPr algn="ctr" indent="0" marL="0">
              <a:buNone/>
            </a:pPr>
            <a:r>
              <a:rPr lang="en-US" sz="2000" b="1" dirty="0">
                <a:solidFill>
                  <a:srgbClr val="1B2A41"/>
                </a:solidFill>
                <a:latin typeface="Calibri" pitchFamily="34" charset="0"/>
                <a:ea typeface="Calibri" pitchFamily="34" charset="-122"/>
                <a:cs typeface="Calibri" pitchFamily="34" charset="-120"/>
              </a:rPr>
              <a:t>M = moles of solute ÷ litres of solution</a:t>
            </a:r>
            <a:endParaRPr lang="en-US" sz="2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8229600" cy="914400"/>
        </p:xfrm>
        <a:graphic>
          <a:graphicData uri="http://schemas.openxmlformats.org/drawingml/2006/table">
            <a:tbl>
              <a:tblPr/>
              <a:tblGrid>
                <a:gridCol w="1371600"/>
                <a:gridCol w="6858000"/>
              </a:tblGrid>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units</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mol/L, written M and read 'molar'</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moles</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solute amount must be in moles: convert grams with the molar mass</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litres</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volume is of the whole solution, in L: divide mL by 1,000</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1.5 mol NaCl in 0.500 L solution = 3.0 M NaCl(aq)</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000" i="1" dirty="0">
                <a:solidFill>
                  <a:srgbClr val="56657A"/>
                </a:solidFill>
                <a:latin typeface="Calibri" pitchFamily="34" charset="0"/>
                <a:ea typeface="Calibri" pitchFamily="34" charset="-122"/>
                <a:cs typeface="Calibri" pitchFamily="34" charset="-120"/>
              </a:rPr>
              <a:t>Molarity counts particles, so it is the concentration used in reactions and in osmolarity (Part 6).</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From grams to molarity</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molflow.png">    </p:cNvPr>
          <p:cNvPicPr>
            <a:picLocks noChangeAspect="1"/>
          </p:cNvPicPr>
          <p:nvPr/>
        </p:nvPicPr>
        <p:blipFill>
          <a:blip r:embed="rId2"/>
          <a:stretch>
            <a:fillRect/>
          </a:stretch>
        </p:blipFill>
        <p:spPr>
          <a:xfrm>
            <a:off x="622718" y="1234440"/>
            <a:ext cx="7898564" cy="2194560"/>
          </a:xfrm>
          <a:prstGeom prst="rect">
            <a:avLst/>
          </a:prstGeom>
        </p:spPr>
      </p:pic>
      <p:sp>
        <p:nvSpPr>
          <p:cNvPr id="11" name="Text 7"/>
          <p:cNvSpPr txBox="1"/>
          <p:nvPr/>
        </p:nvSpPr>
        <p:spPr>
          <a:xfrm>
            <a:off x="457200" y="3465576"/>
            <a:ext cx="822960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Mass of solute → moles of solute → molarity, for 22.4 g HCl (Ball, The Basics of GOB Chemistry 9.2)</a:t>
            </a:r>
            <a:endParaRPr lang="en-US" sz="750" dirty="0"/>
          </a:p>
        </p:txBody>
      </p:sp>
      <p:sp>
        <p:nvSpPr>
          <p:cNvPr id="12" name="Text 8"/>
          <p:cNvSpPr txBox="1"/>
          <p:nvPr/>
        </p:nvSpPr>
        <p:spPr>
          <a:xfrm>
            <a:off x="457200" y="3794760"/>
            <a:ext cx="8229600" cy="868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22.4 g HCl dissolved in 1.56 L. Step 1: 22.4 g ÷ 36.46 g/mol = 0.614 mol HCl.</a:t>
            </a:r>
            <a:endParaRPr lang="en-US" sz="1200" dirty="0"/>
          </a:p>
          <a:p>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Step 2: M = 0.614 mol ÷ 1.56 L =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0.394 M HCl</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3.1 · Molarity from mass</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What is the molarity of a solution of 25.0 g of NaOH in 750 mL? (Na = 22.99, O = 16.00, H = 1.01)</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Molar mass NaOH = 40.00 g/mol; 25.0 g ÷ 40.00 g/mol = 0.625 mol</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750 mL = 0.750 L</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M = 0.625 mol ÷ 0.750 L </a:t>
            </a:r>
            <a:pPr indent="0" marL="0">
              <a:buNone/>
            </a:pPr>
            <a:r>
              <a:rPr lang="en-US" sz="1200" b="1" dirty="0">
                <a:solidFill>
                  <a:srgbClr val="1B2A41"/>
                </a:solidFill>
                <a:latin typeface="Calibri" pitchFamily="34" charset="0"/>
                <a:ea typeface="Calibri" pitchFamily="34" charset="-122"/>
                <a:cs typeface="Calibri" pitchFamily="34" charset="-120"/>
              </a:rPr>
              <a:t>= 0.833 M NaOH</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Molarity as a conversion factor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convfactor.png">    </p:cNvPr>
          <p:cNvPicPr>
            <a:picLocks noChangeAspect="1"/>
          </p:cNvPicPr>
          <p:nvPr/>
        </p:nvPicPr>
        <p:blipFill>
          <a:blip r:embed="rId2"/>
          <a:stretch>
            <a:fillRect/>
          </a:stretch>
        </p:blipFill>
        <p:spPr>
          <a:xfrm>
            <a:off x="457200" y="1234440"/>
            <a:ext cx="8229600" cy="1810208"/>
          </a:xfrm>
          <a:prstGeom prst="rect">
            <a:avLst/>
          </a:prstGeom>
        </p:spPr>
      </p:pic>
      <p:sp>
        <p:nvSpPr>
          <p:cNvPr id="11" name="Text 7"/>
          <p:cNvSpPr txBox="1"/>
          <p:nvPr/>
        </p:nvSpPr>
        <p:spPr>
          <a:xfrm>
            <a:off x="457200" y="3081224"/>
            <a:ext cx="822960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Litres of solution ↔ moles of solute (Ball, The Basics of GOB Chemistry 9.2)</a:t>
            </a:r>
            <a:endParaRPr lang="en-US" sz="750" dirty="0"/>
          </a:p>
        </p:txBody>
      </p:sp>
      <p:sp>
        <p:nvSpPr>
          <p:cNvPr id="12" name="Text 8"/>
          <p:cNvSpPr txBox="1"/>
          <p:nvPr/>
        </p:nvSpPr>
        <p:spPr>
          <a:xfrm>
            <a:off x="457200" y="3410408"/>
            <a:ext cx="8229600" cy="1253032"/>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3.0 M sucrose means 3.0 mol sucrose = 1 L solution: use (3.0 mol / 1 L) or (1 L / 3.0 mol).</a:t>
            </a:r>
            <a:endParaRPr lang="en-US" sz="1200" dirty="0"/>
          </a:p>
          <a:p>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Moles in 0.108 L: 0.108 L × 3.0 mol/L = 0.32 mol. Volume for 4.88 mol: 4.88 mol × (1 L ÷ 3.0 mol) = 1.63 L.</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3.2 · Mass from molarity</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Engine coolant is ethylene glycol (C</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H</a:t>
            </a:r>
            <a:pPr indent="0" marL="0">
              <a:buNone/>
            </a:pPr>
            <a:r>
              <a:rPr lang="en-US" sz="1200" baseline="-40000" dirty="0">
                <a:solidFill>
                  <a:srgbClr val="1B2A41"/>
                </a:solidFill>
                <a:latin typeface="Calibri" pitchFamily="34" charset="0"/>
                <a:ea typeface="Calibri" pitchFamily="34" charset="-122"/>
                <a:cs typeface="Calibri" pitchFamily="34" charset="-120"/>
              </a:rPr>
              <a:t>6</a:t>
            </a:r>
            <a:pPr indent="0" marL="0">
              <a:buNone/>
            </a:pPr>
            <a:r>
              <a:rPr lang="en-US" sz="1200" dirty="0">
                <a:solidFill>
                  <a:srgbClr val="1B2A41"/>
                </a:solidFill>
                <a:latin typeface="Calibri" pitchFamily="34" charset="0"/>
                <a:ea typeface="Calibri" pitchFamily="34" charset="-122"/>
                <a:cs typeface="Calibri" pitchFamily="34" charset="-120"/>
              </a:rPr>
              <a:t>O</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62.08 g/mol) in water. How many grams are in 5.00 L of a 6.00 M solution?</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mol = M × L = 6.00 mol/L × 5.00 L = 30.0 mol</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mass = 30.0 mol × 62.08 g/mol</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 1.86 × 10</a:t>
            </a:r>
            <a:pPr indent="0" marL="0">
              <a:buNone/>
            </a:pPr>
            <a:r>
              <a:rPr lang="en-US" sz="1200" b="1" baseline="30000" dirty="0">
                <a:solidFill>
                  <a:srgbClr val="1B2A41"/>
                </a:solidFill>
                <a:latin typeface="Calibri" pitchFamily="34" charset="0"/>
                <a:ea typeface="Calibri" pitchFamily="34" charset="-122"/>
                <a:cs typeface="Calibri" pitchFamily="34" charset="-120"/>
              </a:rPr>
              <a:t>3</a:t>
            </a:r>
            <a:pPr indent="0" marL="0">
              <a:buNone/>
            </a:pPr>
            <a:r>
              <a:rPr lang="en-US" sz="1200" b="1" dirty="0">
                <a:solidFill>
                  <a:srgbClr val="1B2A41"/>
                </a:solidFill>
                <a:latin typeface="Calibri" pitchFamily="34" charset="0"/>
                <a:ea typeface="Calibri" pitchFamily="34" charset="-122"/>
                <a:cs typeface="Calibri" pitchFamily="34" charset="-120"/>
              </a:rPr>
              <a:t> g (1,860 g) C</a:t>
            </a:r>
            <a:pPr indent="0" marL="0">
              <a:buNone/>
            </a:pPr>
            <a:r>
              <a:rPr lang="en-US" sz="1200" b="1" baseline="-40000" dirty="0">
                <a:solidFill>
                  <a:srgbClr val="1B2A41"/>
                </a:solidFill>
                <a:latin typeface="Calibri" pitchFamily="34" charset="0"/>
                <a:ea typeface="Calibri" pitchFamily="34" charset="-122"/>
                <a:cs typeface="Calibri" pitchFamily="34" charset="-120"/>
              </a:rPr>
              <a:t>2</a:t>
            </a:r>
            <a:pPr indent="0" marL="0">
              <a:buNone/>
            </a:pPr>
            <a:r>
              <a:rPr lang="en-US" sz="1200" b="1" dirty="0">
                <a:solidFill>
                  <a:srgbClr val="1B2A41"/>
                </a:solidFill>
                <a:latin typeface="Calibri" pitchFamily="34" charset="0"/>
                <a:ea typeface="Calibri" pitchFamily="34" charset="-122"/>
                <a:cs typeface="Calibri" pitchFamily="34" charset="-120"/>
              </a:rPr>
              <a:t>H</a:t>
            </a:r>
            <a:pPr indent="0" marL="0">
              <a:buNone/>
            </a:pPr>
            <a:r>
              <a:rPr lang="en-US" sz="1200" b="1" baseline="-40000" dirty="0">
                <a:solidFill>
                  <a:srgbClr val="1B2A41"/>
                </a:solidFill>
                <a:latin typeface="Calibri" pitchFamily="34" charset="0"/>
                <a:ea typeface="Calibri" pitchFamily="34" charset="-122"/>
                <a:cs typeface="Calibri" pitchFamily="34" charset="-120"/>
              </a:rPr>
              <a:t>6</a:t>
            </a:r>
            <a:pPr indent="0" marL="0">
              <a:buNone/>
            </a:pPr>
            <a:r>
              <a:rPr lang="en-US" sz="1200" b="1" dirty="0">
                <a:solidFill>
                  <a:srgbClr val="1B2A41"/>
                </a:solidFill>
                <a:latin typeface="Calibri" pitchFamily="34" charset="0"/>
                <a:ea typeface="Calibri" pitchFamily="34" charset="-122"/>
                <a:cs typeface="Calibri" pitchFamily="34" charset="-120"/>
              </a:rPr>
              <a:t>O</a:t>
            </a:r>
            <a:pPr indent="0" marL="0">
              <a:buNone/>
            </a:pPr>
            <a:r>
              <a:rPr lang="en-US" sz="1200" b="1" baseline="-40000" dirty="0">
                <a:solidFill>
                  <a:srgbClr val="1B2A41"/>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Making a glucose solution</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pharmacist needs 250 mL of 0.310 M glucose (C</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H</a:t>
            </a:r>
            <a:pPr indent="0" marL="0">
              <a:buNone/>
            </a:pPr>
            <a:r>
              <a:rPr lang="en-US" sz="1250" baseline="-40000" dirty="0">
                <a:solidFill>
                  <a:srgbClr val="1B2A41"/>
                </a:solidFill>
                <a:latin typeface="Calibri" pitchFamily="34" charset="0"/>
                <a:ea typeface="Calibri" pitchFamily="34" charset="-122"/>
                <a:cs typeface="Calibri" pitchFamily="34" charset="-120"/>
              </a:rPr>
              <a:t>12</a:t>
            </a:r>
            <a:pPr indent="0" marL="0">
              <a:buNone/>
            </a:pPr>
            <a:r>
              <a:rPr lang="en-US" sz="1250" dirty="0">
                <a:solidFill>
                  <a:srgbClr val="1B2A41"/>
                </a:solidFill>
                <a:latin typeface="Calibri" pitchFamily="34" charset="0"/>
                <a:ea typeface="Calibri" pitchFamily="34" charset="-122"/>
                <a:cs typeface="Calibri" pitchFamily="34" charset="-120"/>
              </a:rPr>
              <a:t>O</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 180.18 g/mol). What mass of glucose must be weighed?</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Making a glucose solution · answer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pharmacist needs 250 mL of 0.310 M glucose (C</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H</a:t>
            </a:r>
            <a:pPr indent="0" marL="0">
              <a:buNone/>
            </a:pPr>
            <a:r>
              <a:rPr lang="en-US" sz="1250" baseline="-40000" dirty="0">
                <a:solidFill>
                  <a:srgbClr val="1B2A41"/>
                </a:solidFill>
                <a:latin typeface="Calibri" pitchFamily="34" charset="0"/>
                <a:ea typeface="Calibri" pitchFamily="34" charset="-122"/>
                <a:cs typeface="Calibri" pitchFamily="34" charset="-120"/>
              </a:rPr>
              <a:t>12</a:t>
            </a:r>
            <a:pPr indent="0" marL="0">
              <a:buNone/>
            </a:pPr>
            <a:r>
              <a:rPr lang="en-US" sz="1250" dirty="0">
                <a:solidFill>
                  <a:srgbClr val="1B2A41"/>
                </a:solidFill>
                <a:latin typeface="Calibri" pitchFamily="34" charset="0"/>
                <a:ea typeface="Calibri" pitchFamily="34" charset="-122"/>
                <a:cs typeface="Calibri" pitchFamily="34" charset="-120"/>
              </a:rPr>
              <a:t>O</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 180.18 g/mol). What mass of glucose must be weighed?</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mol = 0.310 mol/L × 0.250 L = 0.0775 mol</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mass = 0.0775 mol × 180.18 g/mol = </a:t>
            </a:r>
            <a:pPr indent="0" marL="0">
              <a:buNone/>
            </a:pPr>
            <a:r>
              <a:rPr lang="en-US" sz="1200" b="1" dirty="0">
                <a:solidFill>
                  <a:srgbClr val="1B2A41"/>
                </a:solidFill>
                <a:latin typeface="Calibri" pitchFamily="34" charset="0"/>
                <a:ea typeface="Calibri" pitchFamily="34" charset="-122"/>
                <a:cs typeface="Calibri" pitchFamily="34" charset="-120"/>
              </a:rPr>
              <a:t>14.0 g glucose</a:t>
            </a:r>
            <a:pPr indent="0" marL="0">
              <a:buNone/>
            </a:pPr>
            <a:r>
              <a:rPr lang="en-US" sz="1200" dirty="0">
                <a:solidFill>
                  <a:srgbClr val="1B2A41"/>
                </a:solidFill>
                <a:latin typeface="Calibri" pitchFamily="34" charset="0"/>
                <a:ea typeface="Calibri" pitchFamily="34" charset="-122"/>
                <a:cs typeface="Calibri" pitchFamily="34" charset="-120"/>
              </a:rPr>
              <a:t>, made up to 250 mL with water (not added to 250 mL of water).</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Molarity in reactions</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stoichflow.png">    </p:cNvPr>
          <p:cNvPicPr>
            <a:picLocks noChangeAspect="1"/>
          </p:cNvPicPr>
          <p:nvPr/>
        </p:nvPicPr>
        <p:blipFill>
          <a:blip r:embed="rId2"/>
          <a:stretch>
            <a:fillRect/>
          </a:stretch>
        </p:blipFill>
        <p:spPr>
          <a:xfrm>
            <a:off x="1753210" y="1280160"/>
            <a:ext cx="1797101" cy="3017520"/>
          </a:xfrm>
          <a:prstGeom prst="rect">
            <a:avLst/>
          </a:prstGeom>
        </p:spPr>
      </p:pic>
      <p:sp>
        <p:nvSpPr>
          <p:cNvPr id="11" name="Text 7"/>
          <p:cNvSpPr txBox="1"/>
          <p:nvPr/>
        </p:nvSpPr>
        <p:spPr>
          <a:xfrm>
            <a:off x="457200" y="4334256"/>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Steps for using molarity in stoichiometry, Figure 9.2.3 (Ball, The Basics of GOB Chemistry 9.2)</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Mass of A → moles of A (molar mass)</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Moles of A → moles of B (coefficients of the balanced equation)</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Moles of B → volume of solution (molarity)</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The arrows go both ways: start from either end.</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3.3 · Volume needed for a reaction</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How many mL of 2.75 M HCl are needed to react with 185 g of NaOH (40.00 g/mol)? HCl(aq) + NaOH(s) → H</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O(ℓ) + NaCl(aq)</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185 g NaOH ÷ 40.00 g/mol = 4.63 mol NaOH</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Mole ratio 1 : 1, so 4.63 mol HCl</a:t>
            </a:r>
            <a:endParaRPr lang="en-US" sz="1200" dirty="0"/>
          </a:p>
        </p:txBody>
      </p:sp>
      <p:sp>
        <p:nvSpPr>
          <p:cNvPr id="18" name="Shape 15"/>
          <p:cNvSpPr/>
          <p:nvPr/>
        </p:nvSpPr>
        <p:spPr>
          <a:xfrm>
            <a:off x="457200" y="3346704"/>
            <a:ext cx="274320" cy="274320"/>
          </a:xfrm>
          <a:prstGeom prst="ellipse">
            <a:avLst/>
          </a:prstGeom>
          <a:solidFill>
            <a:srgbClr val="2F6F9F"/>
          </a:solidFill>
          <a:ln w="12700">
            <a:solidFill>
              <a:srgbClr val="2F6F9F"/>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Volume = 4.63 mol ÷ 2.75 mol/L = 1.68 L</a:t>
            </a:r>
            <a:endParaRPr lang="en-US" sz="1200" dirty="0"/>
          </a:p>
        </p:txBody>
      </p:sp>
      <p:sp>
        <p:nvSpPr>
          <p:cNvPr id="21" name="Shape 18"/>
          <p:cNvSpPr/>
          <p:nvPr/>
        </p:nvSpPr>
        <p:spPr>
          <a:xfrm>
            <a:off x="457200" y="3913632"/>
            <a:ext cx="274320" cy="274320"/>
          </a:xfrm>
          <a:prstGeom prst="ellipse">
            <a:avLst/>
          </a:prstGeom>
          <a:solidFill>
            <a:srgbClr val="B86E00"/>
          </a:solidFill>
          <a:ln w="12700">
            <a:solidFill>
              <a:srgbClr val="B86E00"/>
            </a:solidFill>
            <a:prstDash val="solid"/>
          </a:ln>
        </p:spPr>
      </p:sp>
      <p:sp>
        <p:nvSpPr>
          <p:cNvPr id="22" name="Text 19"/>
          <p:cNvSpPr txBox="1"/>
          <p:nvPr/>
        </p:nvSpPr>
        <p:spPr>
          <a:xfrm>
            <a:off x="457200" y="3913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0"/>
          <p:cNvSpPr txBox="1"/>
          <p:nvPr/>
        </p:nvSpPr>
        <p:spPr>
          <a:xfrm>
            <a:off x="868680" y="3895344"/>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 1,680 mL of 2.75 M HCl</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An antacid tablet</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tablet contains 500 mg of Mg(OH)</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(58.33 g/mol). Mg(OH)</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+ 2HCl → MgCl</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+ 2H</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O. What volume of 0.10 M stomach acid (HCl) can it neutralise?</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An antacid tablet · answer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tablet contains 500 mg of Mg(OH)</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(58.33 g/mol). Mg(OH)</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+ 2HCl → MgCl</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+ 2H</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O. What volume of 0.10 M stomach acid (HCl) can it neutralise?</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0.500 g ÷ 58.33 g/mol = 8.57 × 10</a:t>
            </a:r>
            <a:pPr indent="0" marL="0">
              <a:buNone/>
            </a:pPr>
            <a:r>
              <a:rPr lang="en-US" sz="1200" baseline="3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 mol Mg(OH)</a:t>
            </a:r>
            <a:pPr indent="0" marL="0">
              <a:buNone/>
            </a:pPr>
            <a:r>
              <a:rPr lang="en-US" sz="1200" baseline="-40000" dirty="0">
                <a:solidFill>
                  <a:srgbClr val="1B2A41"/>
                </a:solidFill>
                <a:latin typeface="Calibri" pitchFamily="34" charset="0"/>
                <a:ea typeface="Calibri" pitchFamily="34" charset="-122"/>
                <a:cs typeface="Calibri" pitchFamily="34" charset="-120"/>
              </a:rPr>
              <a:t>2</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 2 = 1.71 × 10</a:t>
            </a:r>
            <a:pPr indent="0" marL="0">
              <a:buNone/>
            </a:pPr>
            <a:r>
              <a:rPr lang="en-US" sz="1200" baseline="3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mol HCl</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Volume = 0.0171 mol ÷ 0.10 mol/L = 0.17 L = </a:t>
            </a:r>
            <a:pPr indent="0" marL="0">
              <a:buNone/>
            </a:pPr>
            <a:r>
              <a:rPr lang="en-US" sz="1200" b="1" dirty="0">
                <a:solidFill>
                  <a:srgbClr val="1B2A41"/>
                </a:solidFill>
                <a:latin typeface="Calibri" pitchFamily="34" charset="0"/>
                <a:ea typeface="Calibri" pitchFamily="34" charset="-122"/>
                <a:cs typeface="Calibri" pitchFamily="34" charset="-120"/>
              </a:rPr>
              <a:t>about 170 mL</a:t>
            </a:r>
            <a:pPr indent="0" marL="0">
              <a:buNone/>
            </a:pPr>
            <a:r>
              <a:rPr lang="en-US" sz="1200" dirty="0">
                <a:solidFill>
                  <a:srgbClr val="1B2A41"/>
                </a:solidFill>
                <a:latin typeface="Calibri" pitchFamily="34" charset="0"/>
                <a:ea typeface="Calibri" pitchFamily="34" charset="-122"/>
                <a:cs typeface="Calibri" pitchFamily="34" charset="-120"/>
              </a:rPr>
              <a:t> of stomach acid.</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Equivalents: concentration of charge</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5486400" cy="3383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One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equivalent (Eq)</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 1 mol of positive or negative charge.</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1 mol/L Na</a:t>
            </a:r>
            <a:pPr marL="177800" indent="-177800">
              <a:spcAft>
                <a:spcPts val="600"/>
              </a:spcAft>
              <a:buSzPct val="100000"/>
              <a:buChar char="•"/>
            </a:pPr>
            <a:r>
              <a:rPr lang="en-US" sz="1300" baseline="30000" dirty="0">
                <a:solidFill>
                  <a:srgbClr val="1B2A41"/>
                </a:solidFill>
                <a:latin typeface="Calibri" pitchFamily="34" charset="0"/>
                <a:ea typeface="Calibri" pitchFamily="34" charset="-122"/>
                <a:cs typeface="Calibri" pitchFamily="34" charset="-120"/>
              </a:rPr>
              <a:t>+</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 1 Eq/L. 1 mol/L Ca</a:t>
            </a:r>
            <a:pPr marL="177800" indent="-177800">
              <a:spcAft>
                <a:spcPts val="600"/>
              </a:spcAft>
              <a:buSzPct val="100000"/>
              <a:buChar char="•"/>
            </a:pPr>
            <a:r>
              <a:rPr lang="en-US" sz="1300" baseline="3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 2 Eq/L, because each ion carries 2+.</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Body fluids are usually given in </a:t>
            </a:r>
            <a:pPr marL="177800" indent="-177800">
              <a:spcAft>
                <a:spcPts val="600"/>
              </a:spcAft>
              <a:buSzPct val="100000"/>
              <a:buChar char="•"/>
            </a:pPr>
            <a:r>
              <a:rPr lang="en-US" sz="1300" b="1" dirty="0">
                <a:solidFill>
                  <a:srgbClr val="1B2A41"/>
                </a:solidFill>
                <a:latin typeface="Calibri" pitchFamily="34" charset="0"/>
                <a:ea typeface="Calibri" pitchFamily="34" charset="-122"/>
                <a:cs typeface="Calibri" pitchFamily="34" charset="-120"/>
              </a:rPr>
              <a:t>milliequivalents</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blood plasma has about 150 mEq/L of cations.</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You will see mEq on potassium chloride injections and lab reports.</a:t>
            </a:r>
            <a:endParaRPr lang="en-US" sz="1300" dirty="0"/>
          </a:p>
        </p:txBody>
      </p:sp>
      <p:sp>
        <p:nvSpPr>
          <p:cNvPr id="11" name="Shape 8"/>
          <p:cNvSpPr/>
          <p:nvPr/>
        </p:nvSpPr>
        <p:spPr>
          <a:xfrm>
            <a:off x="6172200" y="1280160"/>
            <a:ext cx="2514600" cy="2103120"/>
          </a:xfrm>
          <a:prstGeom prst="roundRect">
            <a:avLst>
              <a:gd name="adj" fmla="val 3478"/>
            </a:avLst>
          </a:prstGeom>
          <a:solidFill>
            <a:srgbClr val="FBEFD9"/>
          </a:solidFill>
          <a:ln w="9525">
            <a:solidFill>
              <a:srgbClr val="FBEFD9"/>
            </a:solidFill>
            <a:prstDash val="solid"/>
          </a:ln>
        </p:spPr>
      </p:sp>
      <p:sp>
        <p:nvSpPr>
          <p:cNvPr id="12" name="Text 9"/>
          <p:cNvSpPr txBox="1"/>
          <p:nvPr/>
        </p:nvSpPr>
        <p:spPr>
          <a:xfrm>
            <a:off x="6309360" y="1371600"/>
            <a:ext cx="2240280" cy="192024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Quick rule</a:t>
            </a:r>
            <a:endParaRPr lang="en-US" sz="1100" dirty="0"/>
          </a:p>
          <a:p>
            <a:pPr indent="0" marL="0">
              <a:buNone/>
            </a:pPr>
            <a:r>
              <a:rPr lang="en-US" sz="1050" dirty="0">
                <a:solidFill>
                  <a:srgbClr val="1B2A41"/>
                </a:solidFill>
                <a:latin typeface="Calibri" pitchFamily="34" charset="0"/>
                <a:ea typeface="Calibri" pitchFamily="34" charset="-122"/>
                <a:cs typeface="Calibri" pitchFamily="34" charset="-120"/>
              </a:rPr>
              <a:t>Eq/L = mol/L × size of the charge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5.85 g of NaCl (58.44 g/mol) is dissolved to make 500 mL of solution. Its molarity is:</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0.100 M</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0.200 M</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11.7 M</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0.0100 M</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SOL-LO2</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5.85 g of NaCl (58.44 g/mol) is dissolved to make 500 mL of solution. Its molarity is:</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0.100 M</a:t>
            </a:r>
            <a:endParaRPr lang="en-US" sz="1100" dirty="0"/>
          </a:p>
        </p:txBody>
      </p:sp>
      <p:sp>
        <p:nvSpPr>
          <p:cNvPr id="13" name="Shape 10"/>
          <p:cNvSpPr/>
          <p:nvPr/>
        </p:nvSpPr>
        <p:spPr>
          <a:xfrm>
            <a:off x="4663440" y="1965960"/>
            <a:ext cx="4023360" cy="594360"/>
          </a:xfrm>
          <a:prstGeom prst="roundRect">
            <a:avLst>
              <a:gd name="adj" fmla="val 12308"/>
            </a:avLst>
          </a:prstGeom>
          <a:solidFill>
            <a:srgbClr val="E3F3E9"/>
          </a:solidFill>
          <a:ln w="9525">
            <a:solidFill>
              <a:srgbClr val="2E7D4F"/>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0.200 M</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11.7 M</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0.0100 M</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B. </a:t>
            </a:r>
            <a:pPr indent="0" marL="0">
              <a:buNone/>
            </a:pPr>
            <a:r>
              <a:rPr lang="en-US" sz="1150" dirty="0">
                <a:solidFill>
                  <a:srgbClr val="1B2A41"/>
                </a:solidFill>
                <a:latin typeface="Calibri" pitchFamily="34" charset="0"/>
                <a:ea typeface="Calibri" pitchFamily="34" charset="-122"/>
                <a:cs typeface="Calibri" pitchFamily="34" charset="-120"/>
              </a:rPr>
              <a:t>5.85 ÷ 58.44 = 0.100 mol; 0.100 mol ÷ 0.500 L = 0.200 M.</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4</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4</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Dilution</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Adding solvent changes the concentration but not the amount of solute.</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SOL-LO3 · Ball 9.2</a:t>
            </a:r>
            <a:endParaRPr lang="en-US" sz="900" dirty="0"/>
          </a:p>
        </p:txBody>
      </p:sp>
      <p:pic>
        <p:nvPicPr>
          <p:cNvPr id="7" name="Image 0" descr="/home/claude/build/mol/water.png">    </p:cNvPr>
          <p:cNvPicPr>
            <a:picLocks noChangeAspect="1"/>
          </p:cNvPicPr>
          <p:nvPr/>
        </p:nvPicPr>
        <p:blipFill>
          <a:blip r:embed="rId1"/>
          <a:stretch>
            <a:fillRect/>
          </a:stretch>
        </p:blipFill>
        <p:spPr>
          <a:xfrm>
            <a:off x="6766560" y="640080"/>
            <a:ext cx="914400" cy="914400"/>
          </a:xfrm>
          <a:prstGeom prst="rect">
            <a:avLst/>
          </a:prstGeom>
        </p:spPr>
      </p:pic>
      <p:pic>
        <p:nvPicPr>
          <p:cNvPr id="8" name="Image 1" descr="/home/claude/build/mol/ethanol.png">    </p:cNvPr>
          <p:cNvPicPr>
            <a:picLocks noChangeAspect="1"/>
          </p:cNvPicPr>
          <p:nvPr/>
        </p:nvPicPr>
        <p:blipFill>
          <a:blip r:embed="rId2"/>
          <a:stretch>
            <a:fillRect/>
          </a:stretch>
        </p:blipFill>
        <p:spPr>
          <a:xfrm>
            <a:off x="7464117" y="2834640"/>
            <a:ext cx="799447" cy="548640"/>
          </a:xfrm>
          <a:prstGeom prst="rect">
            <a:avLst/>
          </a:prstGeom>
        </p:spPr>
      </p:pic>
      <p:pic>
        <p:nvPicPr>
          <p:cNvPr id="9" name="Image 2" descr="/home/claude/build/mol/methane.png">    </p:cNvPr>
          <p:cNvPicPr>
            <a:picLocks noChangeAspect="1"/>
          </p:cNvPicPr>
          <p:nvPr/>
        </p:nvPicPr>
        <p:blipFill>
          <a:blip r:embed="rId3"/>
          <a:stretch>
            <a:fillRect/>
          </a:stretch>
        </p:blipFill>
        <p:spPr>
          <a:xfrm>
            <a:off x="5806440" y="3794760"/>
            <a:ext cx="457200"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Solution</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What happens in a dilution</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dilution.png">    </p:cNvPr>
          <p:cNvPicPr>
            <a:picLocks noChangeAspect="1"/>
          </p:cNvPicPr>
          <p:nvPr/>
        </p:nvPicPr>
        <p:blipFill>
          <a:blip r:embed="rId2"/>
          <a:stretch>
            <a:fillRect/>
          </a:stretch>
        </p:blipFill>
        <p:spPr>
          <a:xfrm>
            <a:off x="457200" y="1280160"/>
            <a:ext cx="4389120" cy="2406712"/>
          </a:xfrm>
          <a:prstGeom prst="rect">
            <a:avLst/>
          </a:prstGeom>
        </p:spPr>
      </p:pic>
      <p:sp>
        <p:nvSpPr>
          <p:cNvPr id="11" name="Text 7"/>
          <p:cNvSpPr txBox="1"/>
          <p:nvPr/>
        </p:nvSpPr>
        <p:spPr>
          <a:xfrm>
            <a:off x="457200" y="3723448"/>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Diluting a solution: more volume, same solute, lower concentration, Figure 9.2.4 (Ball, The Basics of GOB Chemistry 9.2)</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Adding water does not change the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moles of solute</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mol</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 mol</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Moles = M × V, so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M</a:t>
            </a:r>
            <a:pPr marL="177800" indent="-177800">
              <a:spcAft>
                <a:spcPts val="600"/>
              </a:spcAft>
              <a:buSzPct val="100000"/>
              <a:buChar char="•"/>
            </a:pPr>
            <a:r>
              <a:rPr lang="en-US" sz="1250" b="1"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V</a:t>
            </a:r>
            <a:pPr marL="177800" indent="-177800">
              <a:spcAft>
                <a:spcPts val="600"/>
              </a:spcAft>
              <a:buSzPct val="100000"/>
              <a:buChar char="•"/>
            </a:pPr>
            <a:r>
              <a:rPr lang="en-US" sz="1250" b="1"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 = M</a:t>
            </a:r>
            <a:pPr marL="177800" indent="-177800">
              <a:spcAft>
                <a:spcPts val="600"/>
              </a:spcAft>
              <a:buSzPct val="100000"/>
              <a:buChar char="•"/>
            </a:pPr>
            <a:r>
              <a:rPr lang="en-US" sz="1250" b="1"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V</a:t>
            </a:r>
            <a:pPr marL="177800" indent="-177800">
              <a:spcAft>
                <a:spcPts val="600"/>
              </a:spcAft>
              <a:buSzPct val="100000"/>
              <a:buChar char="•"/>
            </a:pPr>
            <a:r>
              <a:rPr lang="en-US" sz="1250" b="1"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Any volume unit works, as long as V</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and V</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use the same unit.</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Works for % too: %</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V</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 %</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V</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t>
            </a:r>
            <a:endParaRPr lang="en-US" sz="12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4.1 · Finding the new concentration</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100. mL of 2.0 M HCl is diluted with water to a volume of 500. mL. What is the new molarity?</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M</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M</a:t>
            </a:r>
            <a:pPr indent="0" marL="0">
              <a:buNone/>
            </a:pPr>
            <a:r>
              <a:rPr lang="en-US" sz="1200" baseline="-40000" dirty="0">
                <a:solidFill>
                  <a:srgbClr val="1B2A41"/>
                </a:solidFill>
                <a:latin typeface="Calibri" pitchFamily="34" charset="0"/>
                <a:ea typeface="Calibri" pitchFamily="34" charset="-122"/>
                <a:cs typeface="Calibri" pitchFamily="34" charset="-120"/>
              </a:rPr>
              <a:t>1</a:t>
            </a:r>
            <a:pPr indent="0" marL="0">
              <a:buNone/>
            </a:pPr>
            <a:r>
              <a:rPr lang="en-US" sz="1200" dirty="0">
                <a:solidFill>
                  <a:srgbClr val="1B2A41"/>
                </a:solidFill>
                <a:latin typeface="Calibri" pitchFamily="34" charset="0"/>
                <a:ea typeface="Calibri" pitchFamily="34" charset="-122"/>
                <a:cs typeface="Calibri" pitchFamily="34" charset="-120"/>
              </a:rPr>
              <a:t>V</a:t>
            </a:r>
            <a:pPr indent="0" marL="0">
              <a:buNone/>
            </a:pPr>
            <a:r>
              <a:rPr lang="en-US" sz="1200" baseline="-40000" dirty="0">
                <a:solidFill>
                  <a:srgbClr val="1B2A41"/>
                </a:solidFill>
                <a:latin typeface="Calibri" pitchFamily="34" charset="0"/>
                <a:ea typeface="Calibri" pitchFamily="34" charset="-122"/>
                <a:cs typeface="Calibri" pitchFamily="34" charset="-120"/>
              </a:rPr>
              <a:t>1</a:t>
            </a:r>
            <a:pPr indent="0" marL="0">
              <a:buNone/>
            </a:pPr>
            <a:r>
              <a:rPr lang="en-US" sz="1200" dirty="0">
                <a:solidFill>
                  <a:srgbClr val="1B2A41"/>
                </a:solidFill>
                <a:latin typeface="Calibri" pitchFamily="34" charset="0"/>
                <a:ea typeface="Calibri" pitchFamily="34" charset="-122"/>
                <a:cs typeface="Calibri" pitchFamily="34" charset="-120"/>
              </a:rPr>
              <a:t> ÷ V</a:t>
            </a:r>
            <a:pPr indent="0" marL="0">
              <a:buNone/>
            </a:pPr>
            <a:r>
              <a:rPr lang="en-US" sz="1200" baseline="-40000" dirty="0">
                <a:solidFill>
                  <a:srgbClr val="1B2A41"/>
                </a:solidFill>
                <a:latin typeface="Calibri" pitchFamily="34" charset="0"/>
                <a:ea typeface="Calibri" pitchFamily="34" charset="-122"/>
                <a:cs typeface="Calibri" pitchFamily="34" charset="-120"/>
              </a:rPr>
              <a:t>2</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 (2.0 M × 100. mL) ÷ 500. mL</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 0.40 M HCl</a:t>
            </a:r>
            <a:pPr indent="0" marL="0">
              <a:buNone/>
            </a:pPr>
            <a:r>
              <a:rPr lang="en-US" sz="1200" b="1" dirty="0">
                <a:solidFill>
                  <a:srgbClr val="1B2A41"/>
                </a:solidFill>
                <a:latin typeface="Calibri" pitchFamily="34" charset="0"/>
                <a:ea typeface="Calibri" pitchFamily="34" charset="-122"/>
                <a:cs typeface="Calibri" pitchFamily="34" charset="-120"/>
              </a:rPr>
              <a:t>: five times the volume, one fifth of the concentration.</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4.2 · A saline dilution</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A 125 mL sample of 0.900 M NaCl is diluted to 1,125 mL. What is the final concentration?</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0.900 M × 125 mL = M</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1,125 mL</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M</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(0.900 M × 125 mL) ÷ 1,125 mL</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 0.100 M NaCl</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Preparing IV solutions</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ivnurse.png">    </p:cNvPr>
          <p:cNvPicPr>
            <a:picLocks noChangeAspect="1"/>
          </p:cNvPicPr>
          <p:nvPr/>
        </p:nvPicPr>
        <p:blipFill>
          <a:blip r:embed="rId2"/>
          <a:stretch>
            <a:fillRect/>
          </a:stretch>
        </p:blipFill>
        <p:spPr>
          <a:xfrm>
            <a:off x="1416406" y="1280160"/>
            <a:ext cx="2013509" cy="3017520"/>
          </a:xfrm>
          <a:prstGeom prst="rect">
            <a:avLst/>
          </a:prstGeom>
        </p:spPr>
      </p:pic>
      <p:sp>
        <p:nvSpPr>
          <p:cNvPr id="11" name="Text 7"/>
          <p:cNvSpPr txBox="1"/>
          <p:nvPr/>
        </p:nvSpPr>
        <p:spPr>
          <a:xfrm>
            <a:off x="457200" y="4334256"/>
            <a:ext cx="39319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Medical personnel commonly perform dilutions for IV solutions, Figure 9.2.5 (Ball, The Basics of GOB Chemistry 9.2)</a:t>
            </a:r>
            <a:endParaRPr lang="en-US" sz="750" dirty="0"/>
          </a:p>
        </p:txBody>
      </p:sp>
      <p:sp>
        <p:nvSpPr>
          <p:cNvPr id="12" name="Text 8"/>
          <p:cNvSpPr txBox="1"/>
          <p:nvPr/>
        </p:nvSpPr>
        <p:spPr>
          <a:xfrm>
            <a:off x="4663440" y="1280160"/>
            <a:ext cx="40233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 doctor orders 100 mL of 0.50% KCl for a patient with low potassium (hypokalaemia).</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The ward has a sterile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stock solution</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of 10.0% KCl and a bag of IV fluid.</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(10.0%) V</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 (0.50%)(100 mL), so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V</a:t>
            </a:r>
            <a:pPr marL="177800" indent="-177800">
              <a:spcAft>
                <a:spcPts val="600"/>
              </a:spcAft>
              <a:buSzPct val="100000"/>
              <a:buChar char="•"/>
            </a:pPr>
            <a:r>
              <a:rPr lang="en-US" sz="1250" b="1"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 = 5.0 mL</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of stock.</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 wrong dilution can be useless, harmful or fatal: always double-check.</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D50 to D5W</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How many mL of 50% m/v dextrose (D50) are needed to make 500 mL of 5% m/v dextrose (D5W)?</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D50 to D5W · answer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How many mL of 50% m/v dextrose (D50) are needed to make 500 mL of 5% m/v dextrose (D5W)?</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(50%) V</a:t>
            </a:r>
            <a:pPr indent="0" marL="0">
              <a:buNone/>
            </a:pPr>
            <a:r>
              <a:rPr lang="en-US" sz="1200" baseline="-40000" dirty="0">
                <a:solidFill>
                  <a:srgbClr val="1B2A41"/>
                </a:solidFill>
                <a:latin typeface="Calibri" pitchFamily="34" charset="0"/>
                <a:ea typeface="Calibri" pitchFamily="34" charset="-122"/>
                <a:cs typeface="Calibri" pitchFamily="34" charset="-120"/>
              </a:rPr>
              <a:t>1</a:t>
            </a:r>
            <a:pPr indent="0" marL="0">
              <a:buNone/>
            </a:pPr>
            <a:r>
              <a:rPr lang="en-US" sz="1200" dirty="0">
                <a:solidFill>
                  <a:srgbClr val="1B2A41"/>
                </a:solidFill>
                <a:latin typeface="Calibri" pitchFamily="34" charset="0"/>
                <a:ea typeface="Calibri" pitchFamily="34" charset="-122"/>
                <a:cs typeface="Calibri" pitchFamily="34" charset="-120"/>
              </a:rPr>
              <a:t> = (5%)(500 mL)</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V</a:t>
            </a:r>
            <a:pPr indent="0" marL="0">
              <a:buNone/>
            </a:pPr>
            <a:r>
              <a:rPr lang="en-US" sz="1200" baseline="-40000" dirty="0">
                <a:solidFill>
                  <a:srgbClr val="1B2A41"/>
                </a:solidFill>
                <a:latin typeface="Calibri" pitchFamily="34" charset="0"/>
                <a:ea typeface="Calibri" pitchFamily="34" charset="-122"/>
                <a:cs typeface="Calibri" pitchFamily="34" charset="-120"/>
              </a:rPr>
              <a:t>1</a:t>
            </a:r>
            <a:pPr indent="0" marL="0">
              <a:buNone/>
            </a:pPr>
            <a:r>
              <a:rPr lang="en-US" sz="1200" dirty="0">
                <a:solidFill>
                  <a:srgbClr val="1B2A41"/>
                </a:solidFill>
                <a:latin typeface="Calibri" pitchFamily="34" charset="0"/>
                <a:ea typeface="Calibri" pitchFamily="34" charset="-122"/>
                <a:cs typeface="Calibri" pitchFamily="34" charset="-120"/>
              </a:rPr>
              <a:t> = 2,500 ÷ 50 = </a:t>
            </a:r>
            <a:pPr indent="0" marL="0">
              <a:buNone/>
            </a:pPr>
            <a:r>
              <a:rPr lang="en-US" sz="1200" b="1" dirty="0">
                <a:solidFill>
                  <a:srgbClr val="1B2A41"/>
                </a:solidFill>
                <a:latin typeface="Calibri" pitchFamily="34" charset="0"/>
                <a:ea typeface="Calibri" pitchFamily="34" charset="-122"/>
                <a:cs typeface="Calibri" pitchFamily="34" charset="-120"/>
              </a:rPr>
              <a:t>50 mL</a:t>
            </a:r>
            <a:pPr indent="0" marL="0">
              <a:buNone/>
            </a:pPr>
            <a:r>
              <a:rPr lang="en-US" sz="1200" dirty="0">
                <a:solidFill>
                  <a:srgbClr val="1B2A41"/>
                </a:solidFill>
                <a:latin typeface="Calibri" pitchFamily="34" charset="0"/>
                <a:ea typeface="Calibri" pitchFamily="34" charset="-122"/>
                <a:cs typeface="Calibri" pitchFamily="34" charset="-120"/>
              </a:rPr>
              <a:t> of D50, made up to 500 mL.</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Final volume</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20.0 mL of 1.50 M KBr is diluted until its concentration is 0.250 M. What is the final volume, and how much water was added?</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Final volume · answer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20.0 mL of 1.50 M KBr is diluted until its concentration is 0.250 M. What is the final volume, and how much water was added?</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V</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M</a:t>
            </a:r>
            <a:pPr indent="0" marL="0">
              <a:buNone/>
            </a:pPr>
            <a:r>
              <a:rPr lang="en-US" sz="1200" baseline="-40000" dirty="0">
                <a:solidFill>
                  <a:srgbClr val="1B2A41"/>
                </a:solidFill>
                <a:latin typeface="Calibri" pitchFamily="34" charset="0"/>
                <a:ea typeface="Calibri" pitchFamily="34" charset="-122"/>
                <a:cs typeface="Calibri" pitchFamily="34" charset="-120"/>
              </a:rPr>
              <a:t>1</a:t>
            </a:r>
            <a:pPr indent="0" marL="0">
              <a:buNone/>
            </a:pPr>
            <a:r>
              <a:rPr lang="en-US" sz="1200" dirty="0">
                <a:solidFill>
                  <a:srgbClr val="1B2A41"/>
                </a:solidFill>
                <a:latin typeface="Calibri" pitchFamily="34" charset="0"/>
                <a:ea typeface="Calibri" pitchFamily="34" charset="-122"/>
                <a:cs typeface="Calibri" pitchFamily="34" charset="-120"/>
              </a:rPr>
              <a:t>V</a:t>
            </a:r>
            <a:pPr indent="0" marL="0">
              <a:buNone/>
            </a:pPr>
            <a:r>
              <a:rPr lang="en-US" sz="1200" baseline="-40000" dirty="0">
                <a:solidFill>
                  <a:srgbClr val="1B2A41"/>
                </a:solidFill>
                <a:latin typeface="Calibri" pitchFamily="34" charset="0"/>
                <a:ea typeface="Calibri" pitchFamily="34" charset="-122"/>
                <a:cs typeface="Calibri" pitchFamily="34" charset="-120"/>
              </a:rPr>
              <a:t>1</a:t>
            </a:r>
            <a:pPr indent="0" marL="0">
              <a:buNone/>
            </a:pPr>
            <a:r>
              <a:rPr lang="en-US" sz="1200" dirty="0">
                <a:solidFill>
                  <a:srgbClr val="1B2A41"/>
                </a:solidFill>
                <a:latin typeface="Calibri" pitchFamily="34" charset="0"/>
                <a:ea typeface="Calibri" pitchFamily="34" charset="-122"/>
                <a:cs typeface="Calibri" pitchFamily="34" charset="-120"/>
              </a:rPr>
              <a:t> ÷ M</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(1.50 M × 20.0 mL) ÷ 0.250 M = </a:t>
            </a:r>
            <a:pPr indent="0" marL="0">
              <a:buNone/>
            </a:pPr>
            <a:r>
              <a:rPr lang="en-US" sz="1200" b="1" dirty="0">
                <a:solidFill>
                  <a:srgbClr val="1B2A41"/>
                </a:solidFill>
                <a:latin typeface="Calibri" pitchFamily="34" charset="0"/>
                <a:ea typeface="Calibri" pitchFamily="34" charset="-122"/>
                <a:cs typeface="Calibri" pitchFamily="34" charset="-120"/>
              </a:rPr>
              <a:t>120. mL</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Water added = 120. − 20.0 = </a:t>
            </a:r>
            <a:pPr indent="0" marL="0">
              <a:buNone/>
            </a:pPr>
            <a:r>
              <a:rPr lang="en-US" sz="1200" b="1" dirty="0">
                <a:solidFill>
                  <a:srgbClr val="1B2A41"/>
                </a:solidFill>
                <a:latin typeface="Calibri" pitchFamily="34" charset="0"/>
                <a:ea typeface="Calibri" pitchFamily="34" charset="-122"/>
                <a:cs typeface="Calibri" pitchFamily="34" charset="-120"/>
              </a:rPr>
              <a:t>100. mL</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Key takeaways: concentration and dilution</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280160"/>
            <a:ext cx="8229600" cy="3383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Percent: % m/m, % v/v and % m/v (g per 100 mL). ppm and ppb for trace amounts.</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Molarity = mol solute ÷ L solution; mol = M × L.</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Every concentration is a conversion factor between solute and solution.</a:t>
            </a:r>
            <a:endParaRPr lang="en-US" sz="1300" dirty="0"/>
          </a:p>
          <a:p>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Dilution keeps the moles of solute constant: M</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V</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1</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 = M</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V</a:t>
            </a:r>
            <a:pPr marL="177800" indent="-177800">
              <a:spcAft>
                <a:spcPts val="600"/>
              </a:spcAft>
              <a:buSzPct val="100000"/>
              <a:buChar char="•"/>
            </a:pPr>
            <a:r>
              <a:rPr lang="en-US" sz="13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300" dirty="0">
                <a:solidFill>
                  <a:srgbClr val="1B2A41"/>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10.0 mL of 6.0 M HCl is diluted to 60.0 mL. The new concentration is:</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36 M</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1.0 M</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0.60 M</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6.0 M</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SOL-LO3</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10.0 mL of 6.0 M HCl is diluted to 60.0 mL. The new concentration is:</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36 M</a:t>
            </a:r>
            <a:endParaRPr lang="en-US" sz="1100" dirty="0"/>
          </a:p>
        </p:txBody>
      </p:sp>
      <p:sp>
        <p:nvSpPr>
          <p:cNvPr id="13" name="Shape 10"/>
          <p:cNvSpPr/>
          <p:nvPr/>
        </p:nvSpPr>
        <p:spPr>
          <a:xfrm>
            <a:off x="4663440" y="1965960"/>
            <a:ext cx="4023360" cy="594360"/>
          </a:xfrm>
          <a:prstGeom prst="roundRect">
            <a:avLst>
              <a:gd name="adj" fmla="val 12308"/>
            </a:avLst>
          </a:prstGeom>
          <a:solidFill>
            <a:srgbClr val="E3F3E9"/>
          </a:solidFill>
          <a:ln w="9525">
            <a:solidFill>
              <a:srgbClr val="2E7D4F"/>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1.0 M</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0.60 M</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6.0 M</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B. </a:t>
            </a:r>
            <a:pPr indent="0" marL="0">
              <a:buNone/>
            </a:pPr>
            <a:r>
              <a:rPr lang="en-US" sz="1150" dirty="0">
                <a:solidFill>
                  <a:srgbClr val="1B2A41"/>
                </a:solidFill>
                <a:latin typeface="Calibri" pitchFamily="34" charset="0"/>
                <a:ea typeface="Calibri" pitchFamily="34" charset="-122"/>
                <a:cs typeface="Calibri" pitchFamily="34" charset="-120"/>
              </a:rPr>
              <a:t>(6.0 M × 10.0 mL) ÷ 60.0 mL = 1.0 M.</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5</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5</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Dissolving, electrolytes and colligative properties</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What dissolving looks like at the particle level, and why the number of particles matters.</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SOL-LO4 · Ball 9.3–9.4</a:t>
            </a:r>
            <a:endParaRPr lang="en-US" sz="900" dirty="0"/>
          </a:p>
        </p:txBody>
      </p:sp>
      <p:pic>
        <p:nvPicPr>
          <p:cNvPr id="7" name="Image 0" descr="/home/claude/build/mol/nitrate.png">    </p:cNvPr>
          <p:cNvPicPr>
            <a:picLocks noChangeAspect="1"/>
          </p:cNvPicPr>
          <p:nvPr/>
        </p:nvPicPr>
        <p:blipFill>
          <a:blip r:embed="rId1"/>
          <a:stretch>
            <a:fillRect/>
          </a:stretch>
        </p:blipFill>
        <p:spPr>
          <a:xfrm>
            <a:off x="6761563" y="640080"/>
            <a:ext cx="924393" cy="914400"/>
          </a:xfrm>
          <a:prstGeom prst="rect">
            <a:avLst/>
          </a:prstGeom>
        </p:spPr>
      </p:pic>
      <p:pic>
        <p:nvPicPr>
          <p:cNvPr id="8" name="Image 1" descr="/home/claude/build/mol/carbonate.png">    </p:cNvPr>
          <p:cNvPicPr>
            <a:picLocks noChangeAspect="1"/>
          </p:cNvPicPr>
          <p:nvPr/>
        </p:nvPicPr>
        <p:blipFill>
          <a:blip r:embed="rId2"/>
          <a:stretch>
            <a:fillRect/>
          </a:stretch>
        </p:blipFill>
        <p:spPr>
          <a:xfrm>
            <a:off x="7586538" y="2834640"/>
            <a:ext cx="554603" cy="548640"/>
          </a:xfrm>
          <a:prstGeom prst="rect">
            <a:avLst/>
          </a:prstGeom>
        </p:spPr>
      </p:pic>
      <p:pic>
        <p:nvPicPr>
          <p:cNvPr id="9" name="Image 2" descr="/home/claude/build/mol/water.png">    </p:cNvPr>
          <p:cNvPicPr>
            <a:picLocks noChangeAspect="1"/>
          </p:cNvPicPr>
          <p:nvPr/>
        </p:nvPicPr>
        <p:blipFill>
          <a:blip r:embed="rId3"/>
          <a:stretch>
            <a:fillRect/>
          </a:stretch>
        </p:blipFill>
        <p:spPr>
          <a:xfrm>
            <a:off x="5806440" y="3794760"/>
            <a:ext cx="457200"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Solution</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The dissolution process</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solvation.png">    </p:cNvPr>
          <p:cNvPicPr>
            <a:picLocks noChangeAspect="1"/>
          </p:cNvPicPr>
          <p:nvPr/>
        </p:nvPicPr>
        <p:blipFill>
          <a:blip r:embed="rId2"/>
          <a:stretch>
            <a:fillRect/>
          </a:stretch>
        </p:blipFill>
        <p:spPr>
          <a:xfrm>
            <a:off x="2206524" y="1234440"/>
            <a:ext cx="4730952" cy="2194560"/>
          </a:xfrm>
          <a:prstGeom prst="rect">
            <a:avLst/>
          </a:prstGeom>
        </p:spPr>
      </p:pic>
      <p:sp>
        <p:nvSpPr>
          <p:cNvPr id="11" name="Text 7"/>
          <p:cNvSpPr txBox="1"/>
          <p:nvPr/>
        </p:nvSpPr>
        <p:spPr>
          <a:xfrm>
            <a:off x="457200" y="3465576"/>
            <a:ext cx="822960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Solvation: solute particles become surrounded by solvent particles, Figure 9.3.1 (Ball, The Basics of GOB Chemistry 9.3)</a:t>
            </a:r>
            <a:endParaRPr lang="en-US" sz="750" dirty="0"/>
          </a:p>
        </p:txBody>
      </p:sp>
      <p:sp>
        <p:nvSpPr>
          <p:cNvPr id="12" name="Text 8"/>
          <p:cNvSpPr txBox="1"/>
          <p:nvPr/>
        </p:nvSpPr>
        <p:spPr>
          <a:xfrm>
            <a:off x="457200" y="3794760"/>
            <a:ext cx="8229600" cy="86868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Solvation</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each solute particle is pulled away and surrounded by solvent molecules. In water it is called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hydration</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a:t>
            </a:r>
            <a:endParaRPr lang="en-US" sz="1200" dirty="0"/>
          </a:p>
          <a:p>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Molecular solutes (glucose) separate into molecules. Ionic solutes separate into ions: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dissociation</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NaCl(s) → Na</a:t>
            </a:r>
            <a:pPr marL="177800" indent="-177800">
              <a:spcAft>
                <a:spcPts val="600"/>
              </a:spcAft>
              <a:buSzPct val="100000"/>
              <a:buChar char="•"/>
            </a:pPr>
            <a:r>
              <a:rPr lang="en-US" sz="1200" baseline="30000" dirty="0">
                <a:solidFill>
                  <a:srgbClr val="1B2A41"/>
                </a:solidFill>
                <a:latin typeface="Calibri" pitchFamily="34" charset="0"/>
                <a:ea typeface="Calibri" pitchFamily="34" charset="-122"/>
                <a:cs typeface="Calibri" pitchFamily="34" charset="-120"/>
              </a:rPr>
              <a:t>+</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(aq) + Cl</a:t>
            </a:r>
            <a:pPr marL="177800" indent="-177800">
              <a:spcAft>
                <a:spcPts val="600"/>
              </a:spcAft>
              <a:buSzPct val="100000"/>
              <a:buChar char="•"/>
            </a:pPr>
            <a:r>
              <a:rPr lang="en-US" sz="1200" baseline="30000" dirty="0">
                <a:solidFill>
                  <a:srgbClr val="1B2A41"/>
                </a:solidFill>
                <a:latin typeface="Calibri" pitchFamily="34" charset="0"/>
                <a:ea typeface="Calibri" pitchFamily="34" charset="-122"/>
                <a:cs typeface="Calibri" pitchFamily="34" charset="-120"/>
              </a:rPr>
              <a:t>−</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(aq).</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Electrolytes and nonelectrolytes</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772529"/>
                <a:gridCol w="2532185"/>
                <a:gridCol w="1645920"/>
                <a:gridCol w="2278966"/>
              </a:tblGrid>
              <a:tr h="0">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In water</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Conducts electricity?</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Examples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Strong electrolyte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dissociates completely into ions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well</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NaCl, KCl, Mg(OH)</a:t>
                      </a:r>
                      <a:pPr indent="0" marL="0">
                        <a:buNone/>
                      </a:pPr>
                      <a:r>
                        <a:rPr lang="en-US" sz="1050" baseline="-40000" dirty="0">
                          <a:solidFill>
                            <a:srgbClr val="1B2A41"/>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Weak electrolyte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dissociates only partly</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weakly</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acetic acid (vinegar)</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Nonelectrolyte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stays as neutral molecules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sucrose, glucose, ethanol</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457200" y="4297680"/>
            <a:ext cx="8229600" cy="457200"/>
          </a:xfrm>
          <a:prstGeom prst="rect">
            <a:avLst/>
          </a:prstGeom>
          <a:noFill/>
          <a:ln/>
        </p:spPr>
        <p:txBody>
          <a:bodyPr wrap="square" lIns="0" tIns="0" rIns="0" bIns="0" rtlCol="0" anchor="t"/>
          <a:lstStyle/>
          <a:p>
            <a:pPr indent="0" marL="0">
              <a:buNone/>
            </a:pPr>
            <a:r>
              <a:rPr lang="en-US" sz="900" i="1" dirty="0">
                <a:solidFill>
                  <a:srgbClr val="56657A"/>
                </a:solidFill>
                <a:latin typeface="Calibri" pitchFamily="34" charset="0"/>
                <a:ea typeface="Calibri" pitchFamily="34" charset="-122"/>
                <a:cs typeface="Calibri" pitchFamily="34" charset="-120"/>
              </a:rPr>
              <a:t>In medicine, 'electrolytes' means the important ions dissolved in body fluids: Na</a:t>
            </a:r>
            <a:pPr indent="0" marL="0">
              <a:buNone/>
            </a:pPr>
            <a:r>
              <a:rPr lang="en-US" sz="900" i="1" baseline="30000" dirty="0">
                <a:solidFill>
                  <a:srgbClr val="56657A"/>
                </a:solidFill>
                <a:latin typeface="Calibri" pitchFamily="34" charset="0"/>
                <a:ea typeface="Calibri" pitchFamily="34" charset="-122"/>
                <a:cs typeface="Calibri" pitchFamily="34" charset="-120"/>
              </a:rPr>
              <a:t>+</a:t>
            </a:r>
            <a:pPr indent="0" marL="0">
              <a:buNone/>
            </a:pPr>
            <a:r>
              <a:rPr lang="en-US" sz="900" i="1" dirty="0">
                <a:solidFill>
                  <a:srgbClr val="56657A"/>
                </a:solidFill>
                <a:latin typeface="Calibri" pitchFamily="34" charset="0"/>
                <a:ea typeface="Calibri" pitchFamily="34" charset="-122"/>
                <a:cs typeface="Calibri" pitchFamily="34" charset="-120"/>
              </a:rPr>
              <a:t>, K</a:t>
            </a:r>
            <a:pPr indent="0" marL="0">
              <a:buNone/>
            </a:pPr>
            <a:r>
              <a:rPr lang="en-US" sz="900" i="1" baseline="30000" dirty="0">
                <a:solidFill>
                  <a:srgbClr val="56657A"/>
                </a:solidFill>
                <a:latin typeface="Calibri" pitchFamily="34" charset="0"/>
                <a:ea typeface="Calibri" pitchFamily="34" charset="-122"/>
                <a:cs typeface="Calibri" pitchFamily="34" charset="-120"/>
              </a:rPr>
              <a:t>+</a:t>
            </a:r>
            <a:pPr indent="0" marL="0">
              <a:buNone/>
            </a:pPr>
            <a:r>
              <a:rPr lang="en-US" sz="900" i="1" dirty="0">
                <a:solidFill>
                  <a:srgbClr val="56657A"/>
                </a:solidFill>
                <a:latin typeface="Calibri" pitchFamily="34" charset="0"/>
                <a:ea typeface="Calibri" pitchFamily="34" charset="-122"/>
                <a:cs typeface="Calibri" pitchFamily="34" charset="-120"/>
              </a:rPr>
              <a:t>, Ca</a:t>
            </a:r>
            <a:pPr indent="0" marL="0">
              <a:buNone/>
            </a:pPr>
            <a:r>
              <a:rPr lang="en-US" sz="900" i="1" baseline="30000" dirty="0">
                <a:solidFill>
                  <a:srgbClr val="56657A"/>
                </a:solidFill>
                <a:latin typeface="Calibri" pitchFamily="34" charset="0"/>
                <a:ea typeface="Calibri" pitchFamily="34" charset="-122"/>
                <a:cs typeface="Calibri" pitchFamily="34" charset="-120"/>
              </a:rPr>
              <a:t>2+</a:t>
            </a:r>
            <a:pPr indent="0" marL="0">
              <a:buNone/>
            </a:pPr>
            <a:r>
              <a:rPr lang="en-US" sz="900" i="1" dirty="0">
                <a:solidFill>
                  <a:srgbClr val="56657A"/>
                </a:solidFill>
                <a:latin typeface="Calibri" pitchFamily="34" charset="0"/>
                <a:ea typeface="Calibri" pitchFamily="34" charset="-122"/>
                <a:cs typeface="Calibri" pitchFamily="34" charset="-120"/>
              </a:rPr>
              <a:t>, Mg</a:t>
            </a:r>
            <a:pPr indent="0" marL="0">
              <a:buNone/>
            </a:pPr>
            <a:r>
              <a:rPr lang="en-US" sz="900" i="1" baseline="30000" dirty="0">
                <a:solidFill>
                  <a:srgbClr val="56657A"/>
                </a:solidFill>
                <a:latin typeface="Calibri" pitchFamily="34" charset="0"/>
                <a:ea typeface="Calibri" pitchFamily="34" charset="-122"/>
                <a:cs typeface="Calibri" pitchFamily="34" charset="-120"/>
              </a:rPr>
              <a:t>2+</a:t>
            </a:r>
            <a:pPr indent="0" marL="0">
              <a:buNone/>
            </a:pPr>
            <a:r>
              <a:rPr lang="en-US" sz="900" i="1" dirty="0">
                <a:solidFill>
                  <a:srgbClr val="56657A"/>
                </a:solidFill>
                <a:latin typeface="Calibri" pitchFamily="34" charset="0"/>
                <a:ea typeface="Calibri" pitchFamily="34" charset="-122"/>
                <a:cs typeface="Calibri" pitchFamily="34" charset="-120"/>
              </a:rPr>
              <a:t>, Cl</a:t>
            </a:r>
            <a:pPr indent="0" marL="0">
              <a:buNone/>
            </a:pPr>
            <a:r>
              <a:rPr lang="en-US" sz="900" i="1" baseline="30000" dirty="0">
                <a:solidFill>
                  <a:srgbClr val="56657A"/>
                </a:solidFill>
                <a:latin typeface="Calibri" pitchFamily="34" charset="0"/>
                <a:ea typeface="Calibri" pitchFamily="34" charset="-122"/>
                <a:cs typeface="Calibri" pitchFamily="34" charset="-120"/>
              </a:rPr>
              <a:t>−</a:t>
            </a:r>
            <a:pPr indent="0" marL="0">
              <a:buNone/>
            </a:pPr>
            <a:r>
              <a:rPr lang="en-US" sz="900" i="1" dirty="0">
                <a:solidFill>
                  <a:srgbClr val="56657A"/>
                </a:solidFill>
                <a:latin typeface="Calibri" pitchFamily="34" charset="0"/>
                <a:ea typeface="Calibri" pitchFamily="34" charset="-122"/>
                <a:cs typeface="Calibri" pitchFamily="34" charset="-120"/>
              </a:rPr>
              <a:t> and HCO</a:t>
            </a:r>
            <a:pPr indent="0" marL="0">
              <a:buNone/>
            </a:pPr>
            <a:r>
              <a:rPr lang="en-US" sz="900" i="1" baseline="-40000" dirty="0">
                <a:solidFill>
                  <a:srgbClr val="56657A"/>
                </a:solidFill>
                <a:latin typeface="Calibri" pitchFamily="34" charset="0"/>
                <a:ea typeface="Calibri" pitchFamily="34" charset="-122"/>
                <a:cs typeface="Calibri" pitchFamily="34" charset="-120"/>
              </a:rPr>
              <a:t>3</a:t>
            </a:r>
            <a:pPr indent="0" marL="0">
              <a:buNone/>
            </a:pPr>
            <a:r>
              <a:rPr lang="en-US" sz="900" i="1" baseline="30000" dirty="0">
                <a:solidFill>
                  <a:srgbClr val="56657A"/>
                </a:solidFill>
                <a:latin typeface="Calibri" pitchFamily="34" charset="0"/>
                <a:ea typeface="Calibri" pitchFamily="34" charset="-122"/>
                <a:cs typeface="Calibri" pitchFamily="34" charset="-120"/>
              </a:rPr>
              <a:t>−</a:t>
            </a:r>
            <a:pPr indent="0" marL="0">
              <a:buNone/>
            </a:pPr>
            <a:r>
              <a:rPr lang="en-US" sz="900" i="1" dirty="0">
                <a:solidFill>
                  <a:srgbClr val="56657A"/>
                </a:solidFill>
                <a:latin typeface="Calibri" pitchFamily="34" charset="0"/>
                <a:ea typeface="Calibri" pitchFamily="34" charset="-122"/>
                <a:cs typeface="Calibri" pitchFamily="34" charset="-120"/>
              </a:rPr>
              <a:t>.</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5.1 · Electrolyte or not?</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Classify each as an electrolyte or a nonelectrolyte: (a) KCl; (b) fructose, C</a:t>
            </a:r>
            <a:pPr indent="0" marL="0">
              <a:buNone/>
            </a:pPr>
            <a:r>
              <a:rPr lang="en-US" sz="1200" baseline="-40000" dirty="0">
                <a:solidFill>
                  <a:srgbClr val="1B2A41"/>
                </a:solidFill>
                <a:latin typeface="Calibri" pitchFamily="34" charset="0"/>
                <a:ea typeface="Calibri" pitchFamily="34" charset="-122"/>
                <a:cs typeface="Calibri" pitchFamily="34" charset="-120"/>
              </a:rPr>
              <a:t>6</a:t>
            </a:r>
            <a:pPr indent="0" marL="0">
              <a:buNone/>
            </a:pPr>
            <a:r>
              <a:rPr lang="en-US" sz="1200" dirty="0">
                <a:solidFill>
                  <a:srgbClr val="1B2A41"/>
                </a:solidFill>
                <a:latin typeface="Calibri" pitchFamily="34" charset="0"/>
                <a:ea typeface="Calibri" pitchFamily="34" charset="-122"/>
                <a:cs typeface="Calibri" pitchFamily="34" charset="-120"/>
              </a:rPr>
              <a:t>H</a:t>
            </a:r>
            <a:pPr indent="0" marL="0">
              <a:buNone/>
            </a:pPr>
            <a:r>
              <a:rPr lang="en-US" sz="1200" baseline="-40000" dirty="0">
                <a:solidFill>
                  <a:srgbClr val="1B2A41"/>
                </a:solidFill>
                <a:latin typeface="Calibri" pitchFamily="34" charset="0"/>
                <a:ea typeface="Calibri" pitchFamily="34" charset="-122"/>
                <a:cs typeface="Calibri" pitchFamily="34" charset="-120"/>
              </a:rPr>
              <a:t>12</a:t>
            </a:r>
            <a:pPr indent="0" marL="0">
              <a:buNone/>
            </a:pPr>
            <a:r>
              <a:rPr lang="en-US" sz="1200" dirty="0">
                <a:solidFill>
                  <a:srgbClr val="1B2A41"/>
                </a:solidFill>
                <a:latin typeface="Calibri" pitchFamily="34" charset="0"/>
                <a:ea typeface="Calibri" pitchFamily="34" charset="-122"/>
                <a:cs typeface="Calibri" pitchFamily="34" charset="-120"/>
              </a:rPr>
              <a:t>O</a:t>
            </a:r>
            <a:pPr indent="0" marL="0">
              <a:buNone/>
            </a:pPr>
            <a:r>
              <a:rPr lang="en-US" sz="1200" baseline="-40000" dirty="0">
                <a:solidFill>
                  <a:srgbClr val="1B2A41"/>
                </a:solidFill>
                <a:latin typeface="Calibri" pitchFamily="34" charset="0"/>
                <a:ea typeface="Calibri" pitchFamily="34" charset="-122"/>
                <a:cs typeface="Calibri" pitchFamily="34" charset="-120"/>
              </a:rPr>
              <a:t>6</a:t>
            </a:r>
            <a:pPr indent="0" marL="0">
              <a:buNone/>
            </a:pPr>
            <a:r>
              <a:rPr lang="en-US" sz="1200" dirty="0">
                <a:solidFill>
                  <a:srgbClr val="1B2A41"/>
                </a:solidFill>
                <a:latin typeface="Calibri" pitchFamily="34" charset="0"/>
                <a:ea typeface="Calibri" pitchFamily="34" charset="-122"/>
                <a:cs typeface="Calibri" pitchFamily="34" charset="-120"/>
              </a:rPr>
              <a:t>; (c) isopropyl alcohol, CH</a:t>
            </a:r>
            <a:pPr indent="0" marL="0">
              <a:buNone/>
            </a:pPr>
            <a:r>
              <a:rPr lang="en-US" sz="1200" baseline="-4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CH(OH)CH</a:t>
            </a:r>
            <a:pPr indent="0" marL="0">
              <a:buNone/>
            </a:pPr>
            <a:r>
              <a:rPr lang="en-US" sz="1200" baseline="-4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 (d) Mg(OH)</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Ionic solutes dissociate into ions: electrolytes. Molecular (covalent) solutes do not: nonelectrolytes.</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(a) KCl: ionic, </a:t>
            </a:r>
            <a:pPr indent="0" marL="0">
              <a:buNone/>
            </a:pPr>
            <a:r>
              <a:rPr lang="en-US" sz="1200" b="1" dirty="0">
                <a:solidFill>
                  <a:srgbClr val="1B2A41"/>
                </a:solidFill>
                <a:latin typeface="Calibri" pitchFamily="34" charset="0"/>
                <a:ea typeface="Calibri" pitchFamily="34" charset="-122"/>
                <a:cs typeface="Calibri" pitchFamily="34" charset="-120"/>
              </a:rPr>
              <a:t>electrolyte</a:t>
            </a:r>
            <a:pPr indent="0" marL="0">
              <a:buNone/>
            </a:pPr>
            <a:r>
              <a:rPr lang="en-US" sz="1200" dirty="0">
                <a:solidFill>
                  <a:srgbClr val="1B2A41"/>
                </a:solidFill>
                <a:latin typeface="Calibri" pitchFamily="34" charset="0"/>
                <a:ea typeface="Calibri" pitchFamily="34" charset="-122"/>
                <a:cs typeface="Calibri" pitchFamily="34" charset="-120"/>
              </a:rPr>
              <a:t>. (d) Mg(OH)</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ionic, </a:t>
            </a:r>
            <a:pPr indent="0" marL="0">
              <a:buNone/>
            </a:pPr>
            <a:r>
              <a:rPr lang="en-US" sz="1200" b="1" dirty="0">
                <a:solidFill>
                  <a:srgbClr val="1B2A41"/>
                </a:solidFill>
                <a:latin typeface="Calibri" pitchFamily="34" charset="0"/>
                <a:ea typeface="Calibri" pitchFamily="34" charset="-122"/>
                <a:cs typeface="Calibri" pitchFamily="34" charset="-120"/>
              </a:rPr>
              <a:t>electrolyte</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(b) fructose and (c) isopropyl alcohol: covalent molecules, </a:t>
            </a:r>
            <a:pPr indent="0" marL="0">
              <a:buNone/>
            </a:pPr>
            <a:r>
              <a:rPr lang="en-US" sz="1200" b="1" dirty="0">
                <a:solidFill>
                  <a:srgbClr val="1B2A41"/>
                </a:solidFill>
                <a:latin typeface="Calibri" pitchFamily="34" charset="0"/>
                <a:ea typeface="Calibri" pitchFamily="34" charset="-122"/>
                <a:cs typeface="Calibri" pitchFamily="34" charset="-120"/>
              </a:rPr>
              <a:t>nonelectrolytes</a:t>
            </a:r>
            <a:pPr indent="0" marL="0">
              <a:buNone/>
            </a:pPr>
            <a:r>
              <a:rPr lang="en-US" sz="1200" b="1" dirty="0">
                <a:solidFill>
                  <a:srgbClr val="1B2A41"/>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Electrolytes in body fluids</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50292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Electrolyte balance is crucial for nerves, muscles and the heart.</a:t>
            </a:r>
            <a:endParaRPr lang="en-US" sz="1200" dirty="0"/>
          </a:p>
        </p:txBody>
      </p:sp>
      <p:sp>
        <p:nvSpPr>
          <p:cNvPr id="11" name="Shape 8"/>
          <p:cNvSpPr/>
          <p:nvPr/>
        </p:nvSpPr>
        <p:spPr>
          <a:xfrm>
            <a:off x="457200" y="1783080"/>
            <a:ext cx="4023360" cy="2880360"/>
          </a:xfrm>
          <a:prstGeom prst="roundRect">
            <a:avLst>
              <a:gd name="adj" fmla="val 2540"/>
            </a:avLst>
          </a:prstGeom>
          <a:solidFill>
            <a:srgbClr val="FBEFD9"/>
          </a:solidFill>
          <a:ln w="9525">
            <a:solidFill>
              <a:srgbClr val="FBEFD9"/>
            </a:solidFill>
            <a:prstDash val="solid"/>
          </a:ln>
        </p:spPr>
      </p:sp>
      <p:sp>
        <p:nvSpPr>
          <p:cNvPr id="12" name="Text 9"/>
          <p:cNvSpPr txBox="1"/>
          <p:nvPr/>
        </p:nvSpPr>
        <p:spPr>
          <a:xfrm>
            <a:off x="594360" y="1874520"/>
            <a:ext cx="3749040" cy="320040"/>
          </a:xfrm>
          <a:prstGeom prst="rect">
            <a:avLst/>
          </a:prstGeom>
          <a:noFill/>
          <a:ln/>
        </p:spPr>
        <p:txBody>
          <a:bodyPr wrap="square" lIns="0" tIns="0" rIns="0" bIns="0" rtlCol="0" anchor="ctr"/>
          <a:lstStyle/>
          <a:p>
            <a:pPr indent="0" marL="0">
              <a:buNone/>
            </a:pPr>
            <a:r>
              <a:rPr lang="en-US" sz="1200" b="1" dirty="0">
                <a:solidFill>
                  <a:srgbClr val="B86E00"/>
                </a:solidFill>
                <a:latin typeface="Calibri" pitchFamily="34" charset="0"/>
                <a:ea typeface="Calibri" pitchFamily="34" charset="-122"/>
                <a:cs typeface="Calibri" pitchFamily="34" charset="-120"/>
              </a:rPr>
              <a:t>When balance is lost</a:t>
            </a:r>
            <a:endParaRPr lang="en-US" sz="1200" dirty="0"/>
          </a:p>
        </p:txBody>
      </p:sp>
      <p:sp>
        <p:nvSpPr>
          <p:cNvPr id="13" name="Text 10"/>
          <p:cNvSpPr txBox="1"/>
          <p:nvPr/>
        </p:nvSpPr>
        <p:spPr>
          <a:xfrm>
            <a:off x="594360" y="2240280"/>
            <a:ext cx="3749040" cy="233172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High K</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cardiac arrhythmias</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Low K</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outside cells: paralysis</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Too much Na</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outside cells: fluid retention</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Low Ca</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2+</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and Mg</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2+</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muscle spasms</a:t>
            </a:r>
            <a:endParaRPr lang="en-US" sz="1100" dirty="0"/>
          </a:p>
        </p:txBody>
      </p:sp>
      <p:sp>
        <p:nvSpPr>
          <p:cNvPr id="14" name="Shape 11"/>
          <p:cNvSpPr/>
          <p:nvPr/>
        </p:nvSpPr>
        <p:spPr>
          <a:xfrm>
            <a:off x="4663440" y="1783080"/>
            <a:ext cx="4023360" cy="2880360"/>
          </a:xfrm>
          <a:prstGeom prst="roundRect">
            <a:avLst>
              <a:gd name="adj" fmla="val 2540"/>
            </a:avLst>
          </a:prstGeom>
          <a:solidFill>
            <a:srgbClr val="E1EEF7"/>
          </a:solidFill>
          <a:ln w="9525">
            <a:solidFill>
              <a:srgbClr val="E1EEF7"/>
            </a:solidFill>
            <a:prstDash val="solid"/>
          </a:ln>
        </p:spPr>
      </p:sp>
      <p:sp>
        <p:nvSpPr>
          <p:cNvPr id="15" name="Text 12"/>
          <p:cNvSpPr txBox="1"/>
          <p:nvPr/>
        </p:nvSpPr>
        <p:spPr>
          <a:xfrm>
            <a:off x="4800600" y="1874520"/>
            <a:ext cx="3749040" cy="320040"/>
          </a:xfrm>
          <a:prstGeom prst="rect">
            <a:avLst/>
          </a:prstGeom>
          <a:noFill/>
          <a:ln/>
        </p:spPr>
        <p:txBody>
          <a:bodyPr wrap="square" lIns="0" tIns="0" rIns="0" bIns="0" rtlCol="0" anchor="ctr"/>
          <a:lstStyle/>
          <a:p>
            <a:pPr indent="0" marL="0">
              <a:buNone/>
            </a:pPr>
            <a:r>
              <a:rPr lang="en-US" sz="1200" b="1" dirty="0">
                <a:solidFill>
                  <a:srgbClr val="2F6F9F"/>
                </a:solidFill>
                <a:latin typeface="Calibri" pitchFamily="34" charset="0"/>
                <a:ea typeface="Calibri" pitchFamily="34" charset="-122"/>
                <a:cs typeface="Calibri" pitchFamily="34" charset="-120"/>
              </a:rPr>
              <a:t>Putting it right</a:t>
            </a:r>
            <a:endParaRPr lang="en-US" sz="1200" dirty="0"/>
          </a:p>
        </p:txBody>
      </p:sp>
      <p:sp>
        <p:nvSpPr>
          <p:cNvPr id="16" name="Text 13"/>
          <p:cNvSpPr txBox="1"/>
          <p:nvPr/>
        </p:nvSpPr>
        <p:spPr>
          <a:xfrm>
            <a:off x="4800600" y="2240280"/>
            <a:ext cx="3749040" cy="233172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Oral rehydration salts (ORS) for diarrhoea have saved millions of children's lives</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IV fluids such as Ringer's lactate</a:t>
            </a:r>
            <a:endParaRPr lang="en-US" sz="1100" dirty="0"/>
          </a:p>
          <a:p>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Sports drinks replace Na</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K</a:t>
            </a:r>
            <a:pPr marL="177800" indent="-177800">
              <a:spcAft>
                <a:spcPts val="400"/>
              </a:spcAft>
              <a:buSzPct val="100000"/>
              <a:buChar char="•"/>
            </a:pPr>
            <a:r>
              <a:rPr lang="en-US" sz="1100" baseline="30000" dirty="0">
                <a:solidFill>
                  <a:srgbClr val="1B2A41"/>
                </a:solidFill>
                <a:latin typeface="Calibri" pitchFamily="34" charset="0"/>
                <a:ea typeface="Calibri" pitchFamily="34" charset="-122"/>
                <a:cs typeface="Calibri" pitchFamily="34" charset="-120"/>
              </a:rPr>
              <a:t>+</a:t>
            </a:r>
            <a:pPr marL="177800" indent="-177800">
              <a:spcAft>
                <a:spcPts val="400"/>
              </a:spcAft>
              <a:buSzPct val="100000"/>
              <a:buChar char="•"/>
            </a:pPr>
            <a:r>
              <a:rPr lang="en-US" sz="1100" dirty="0">
                <a:solidFill>
                  <a:srgbClr val="1B2A41"/>
                </a:solidFill>
                <a:latin typeface="Calibri" pitchFamily="34" charset="0"/>
                <a:ea typeface="Calibri" pitchFamily="34" charset="-122"/>
                <a:cs typeface="Calibri" pitchFamily="34" charset="-120"/>
              </a:rPr>
              <a:t>, water and sugar lost in sweat</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Colligative properties count particles</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_sol/png/particles.png">    </p:cNvPr>
          <p:cNvPicPr>
            <a:picLocks noChangeAspect="1"/>
          </p:cNvPicPr>
          <p:nvPr/>
        </p:nvPicPr>
        <p:blipFill>
          <a:blip r:embed="rId2"/>
          <a:stretch>
            <a:fillRect/>
          </a:stretch>
        </p:blipFill>
        <p:spPr>
          <a:xfrm>
            <a:off x="2560320" y="1234440"/>
            <a:ext cx="4023360" cy="2194560"/>
          </a:xfrm>
          <a:prstGeom prst="rect">
            <a:avLst/>
          </a:prstGeom>
        </p:spPr>
      </p:pic>
      <p:sp>
        <p:nvSpPr>
          <p:cNvPr id="11" name="Text 7"/>
          <p:cNvSpPr txBox="1"/>
          <p:nvPr/>
        </p:nvSpPr>
        <p:spPr>
          <a:xfrm>
            <a:off x="457200" y="3465576"/>
            <a:ext cx="822960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Particles formed per formula unit (drawn by Dr. NAM)</a:t>
            </a:r>
            <a:endParaRPr lang="en-US" sz="750" dirty="0"/>
          </a:p>
        </p:txBody>
      </p:sp>
      <p:sp>
        <p:nvSpPr>
          <p:cNvPr id="12" name="Text 8"/>
          <p:cNvSpPr txBox="1"/>
          <p:nvPr/>
        </p:nvSpPr>
        <p:spPr>
          <a:xfrm>
            <a:off x="457200" y="3794760"/>
            <a:ext cx="8229600" cy="86868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Colligative properties</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depend only on the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number</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of dissolved particles, not on what they are.</a:t>
            </a:r>
            <a:endParaRPr lang="en-US" sz="1200" dirty="0"/>
          </a:p>
          <a:p>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Four of them: vapour pressure lowering, boiling point elevation, freezing point depression and osmotic pressure. 1 mol NaCl gives 2 mol of particles, so its effect is about twice that of 1 mol glucose.</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Vapour pressure lowering</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vapor.png">    </p:cNvPr>
          <p:cNvPicPr>
            <a:picLocks noChangeAspect="1"/>
          </p:cNvPicPr>
          <p:nvPr/>
        </p:nvPicPr>
        <p:blipFill>
          <a:blip r:embed="rId2"/>
          <a:stretch>
            <a:fillRect/>
          </a:stretch>
        </p:blipFill>
        <p:spPr>
          <a:xfrm>
            <a:off x="457200" y="1280160"/>
            <a:ext cx="4389120" cy="2832977"/>
          </a:xfrm>
          <a:prstGeom prst="rect">
            <a:avLst/>
          </a:prstGeom>
        </p:spPr>
      </p:pic>
      <p:sp>
        <p:nvSpPr>
          <p:cNvPr id="11" name="Text 7"/>
          <p:cNvSpPr txBox="1"/>
          <p:nvPr/>
        </p:nvSpPr>
        <p:spPr>
          <a:xfrm>
            <a:off x="457200" y="4149713"/>
            <a:ext cx="43891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Solute particles block some solvent molecules from evaporating, Figure 9.4.1 (Ball, The Basics of GOB Chemistry 9.4)</a:t>
            </a:r>
            <a:endParaRPr lang="en-US" sz="750" dirty="0"/>
          </a:p>
        </p:txBody>
      </p:sp>
      <p:sp>
        <p:nvSpPr>
          <p:cNvPr id="12" name="Text 8"/>
          <p:cNvSpPr txBox="1"/>
          <p:nvPr/>
        </p:nvSpPr>
        <p:spPr>
          <a:xfrm>
            <a:off x="5120640" y="1280160"/>
            <a:ext cx="35661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Every liquid evaporates until evaporation and condensation balance: its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vapour pressure</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Dissolved solid particles take up space at the surface, so fewer solvent molecules escape.</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A solution therefore has a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lower vapour pressure</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than the pure solvent.</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This one effect causes the boiling and freezing point changes on the next slide.</a:t>
            </a:r>
            <a:endParaRPr lang="en-US" sz="12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Boiling point up, freezing point down</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bpfp.png">    </p:cNvPr>
          <p:cNvPicPr>
            <a:picLocks noChangeAspect="1"/>
          </p:cNvPicPr>
          <p:nvPr/>
        </p:nvPicPr>
        <p:blipFill>
          <a:blip r:embed="rId2"/>
          <a:stretch>
            <a:fillRect/>
          </a:stretch>
        </p:blipFill>
        <p:spPr>
          <a:xfrm>
            <a:off x="506233" y="1280160"/>
            <a:ext cx="3833854" cy="3017520"/>
          </a:xfrm>
          <a:prstGeom prst="rect">
            <a:avLst/>
          </a:prstGeom>
        </p:spPr>
      </p:pic>
      <p:sp>
        <p:nvSpPr>
          <p:cNvPr id="11" name="Text 7"/>
          <p:cNvSpPr txBox="1"/>
          <p:nvPr/>
        </p:nvSpPr>
        <p:spPr>
          <a:xfrm>
            <a:off x="457200" y="4334256"/>
            <a:ext cx="39319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Boiling and freezing points of a solution (left) and a pure liquid (right), Figure 9.4.2 (Ball, The Basics of GOB Chemistry 9.4)</a:t>
            </a:r>
            <a:endParaRPr lang="en-US" sz="750" dirty="0"/>
          </a:p>
        </p:txBody>
      </p:sp>
      <p:sp>
        <p:nvSpPr>
          <p:cNvPr id="12" name="Text 8"/>
          <p:cNvSpPr txBox="1"/>
          <p:nvPr/>
        </p:nvSpPr>
        <p:spPr>
          <a:xfrm>
            <a:off x="4663440" y="1280160"/>
            <a:ext cx="4023360" cy="338328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Boiling point elevation</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about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+0.5 °C</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per mol of particles per litre of water.</a:t>
            </a:r>
            <a:endParaRPr lang="en-US" sz="1250" dirty="0"/>
          </a:p>
          <a:p>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Freezing point depression</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about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−1.9 °C</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per mol of particles per litre.</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1 mol sucrose in 1 L: 100.5 °C. 1 mol NaCl: 101.0 °C. 1 mol CaCl</a:t>
            </a:r>
            <a:pPr marL="177800" indent="-177800">
              <a:spcAft>
                <a:spcPts val="600"/>
              </a:spcAft>
              <a:buSzPct val="100000"/>
              <a:buChar char="•"/>
            </a:pPr>
            <a:r>
              <a:rPr lang="en-US" sz="125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101.5 °C.</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Uses: ethylene glycol coolant boils above 100 °C; salt on icy roads stops ice forming.</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5.2 · Estimating a boiling point</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Estimate the boiling point of a 0.2 M CaCl</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solution.</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CaCl</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Ca</a:t>
            </a:r>
            <a:pPr indent="0" marL="0">
              <a:buNone/>
            </a:pPr>
            <a:r>
              <a:rPr lang="en-US" sz="1200" baseline="3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+ 2Cl</a:t>
            </a:r>
            <a:pPr indent="0" marL="0">
              <a:buNone/>
            </a:pPr>
            <a:r>
              <a:rPr lang="en-US" sz="1200" baseline="30000" dirty="0">
                <a:solidFill>
                  <a:srgbClr val="1B2A41"/>
                </a:solidFill>
                <a:latin typeface="Calibri" pitchFamily="34" charset="0"/>
                <a:ea typeface="Calibri" pitchFamily="34" charset="-122"/>
                <a:cs typeface="Calibri" pitchFamily="34" charset="-120"/>
              </a:rPr>
              <a:t>−</a:t>
            </a:r>
            <a:pPr indent="0" marL="0">
              <a:buNone/>
            </a:pPr>
            <a:r>
              <a:rPr lang="en-US" sz="1200" dirty="0">
                <a:solidFill>
                  <a:srgbClr val="1B2A41"/>
                </a:solidFill>
                <a:latin typeface="Calibri" pitchFamily="34" charset="0"/>
                <a:ea typeface="Calibri" pitchFamily="34" charset="-122"/>
                <a:cs typeface="Calibri" pitchFamily="34" charset="-120"/>
              </a:rPr>
              <a:t>: 3 particles per formula unit.</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0.2 mol/L × 3 = 0.6 mol of particles per litre</a:t>
            </a:r>
            <a:endParaRPr lang="en-US" sz="1200" dirty="0"/>
          </a:p>
        </p:txBody>
      </p:sp>
      <p:sp>
        <p:nvSpPr>
          <p:cNvPr id="18" name="Shape 15"/>
          <p:cNvSpPr/>
          <p:nvPr/>
        </p:nvSpPr>
        <p:spPr>
          <a:xfrm>
            <a:off x="457200" y="3346704"/>
            <a:ext cx="274320" cy="274320"/>
          </a:xfrm>
          <a:prstGeom prst="ellipse">
            <a:avLst/>
          </a:prstGeom>
          <a:solidFill>
            <a:srgbClr val="2F6F9F"/>
          </a:solidFill>
          <a:ln w="12700">
            <a:solidFill>
              <a:srgbClr val="2F6F9F"/>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0.6 × 0.5 °C = 0.3 °C rise</a:t>
            </a:r>
            <a:endParaRPr lang="en-US" sz="1200" dirty="0"/>
          </a:p>
        </p:txBody>
      </p:sp>
      <p:sp>
        <p:nvSpPr>
          <p:cNvPr id="21" name="Shape 18"/>
          <p:cNvSpPr/>
          <p:nvPr/>
        </p:nvSpPr>
        <p:spPr>
          <a:xfrm>
            <a:off x="457200" y="3913632"/>
            <a:ext cx="274320" cy="274320"/>
          </a:xfrm>
          <a:prstGeom prst="ellipse">
            <a:avLst/>
          </a:prstGeom>
          <a:solidFill>
            <a:srgbClr val="B86E00"/>
          </a:solidFill>
          <a:ln w="12700">
            <a:solidFill>
              <a:srgbClr val="B86E00"/>
            </a:solidFill>
            <a:prstDash val="solid"/>
          </a:ln>
        </p:spPr>
      </p:sp>
      <p:sp>
        <p:nvSpPr>
          <p:cNvPr id="22" name="Text 19"/>
          <p:cNvSpPr txBox="1"/>
          <p:nvPr/>
        </p:nvSpPr>
        <p:spPr>
          <a:xfrm>
            <a:off x="457200" y="3913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0"/>
          <p:cNvSpPr txBox="1"/>
          <p:nvPr/>
        </p:nvSpPr>
        <p:spPr>
          <a:xfrm>
            <a:off x="868680" y="3895344"/>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Boiling point ≈ 100.3 °C</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Freezing point</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Estimate the freezing point of 0.3 M CaCl</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(b) Which changes the boiling point of water more, 1 M CaCl</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or 1 M MgSO</a:t>
            </a:r>
            <a:pPr indent="0" marL="0">
              <a:buNone/>
            </a:pPr>
            <a:r>
              <a:rPr lang="en-US" sz="1250" baseline="-40000" dirty="0">
                <a:solidFill>
                  <a:srgbClr val="1B2A41"/>
                </a:solidFill>
                <a:latin typeface="Calibri" pitchFamily="34" charset="0"/>
                <a:ea typeface="Calibri" pitchFamily="34" charset="-122"/>
                <a:cs typeface="Calibri" pitchFamily="34" charset="-120"/>
              </a:rPr>
              <a:t>4</a:t>
            </a:r>
            <a:pPr indent="0" marL="0">
              <a:buNone/>
            </a:pPr>
            <a:r>
              <a:rPr lang="en-US" sz="1250" dirty="0">
                <a:solidFill>
                  <a:srgbClr val="1B2A41"/>
                </a:solidFill>
                <a:latin typeface="Calibri" pitchFamily="34" charset="0"/>
                <a:ea typeface="Calibri" pitchFamily="34" charset="-122"/>
                <a:cs typeface="Calibri" pitchFamily="34" charset="-120"/>
              </a:rPr>
              <a:t>?</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Freezing point · answer</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(a) Estimate the freezing point of 0.3 M CaCl</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(b) Which changes the boiling point of water more, 1 M CaCl</a:t>
            </a:r>
            <a:pPr indent="0" marL="0">
              <a:buNone/>
            </a:pPr>
            <a:r>
              <a:rPr lang="en-US" sz="1250" baseline="-40000" dirty="0">
                <a:solidFill>
                  <a:srgbClr val="1B2A41"/>
                </a:solidFill>
                <a:latin typeface="Calibri" pitchFamily="34" charset="0"/>
                <a:ea typeface="Calibri" pitchFamily="34" charset="-122"/>
                <a:cs typeface="Calibri" pitchFamily="34" charset="-120"/>
              </a:rPr>
              <a:t>2</a:t>
            </a:r>
            <a:pPr indent="0" marL="0">
              <a:buNone/>
            </a:pPr>
            <a:r>
              <a:rPr lang="en-US" sz="1250" dirty="0">
                <a:solidFill>
                  <a:srgbClr val="1B2A41"/>
                </a:solidFill>
                <a:latin typeface="Calibri" pitchFamily="34" charset="0"/>
                <a:ea typeface="Calibri" pitchFamily="34" charset="-122"/>
                <a:cs typeface="Calibri" pitchFamily="34" charset="-120"/>
              </a:rPr>
              <a:t> or 1 M MgSO</a:t>
            </a:r>
            <a:pPr indent="0" marL="0">
              <a:buNone/>
            </a:pPr>
            <a:r>
              <a:rPr lang="en-US" sz="1250" baseline="-40000" dirty="0">
                <a:solidFill>
                  <a:srgbClr val="1B2A41"/>
                </a:solidFill>
                <a:latin typeface="Calibri" pitchFamily="34" charset="0"/>
                <a:ea typeface="Calibri" pitchFamily="34" charset="-122"/>
                <a:cs typeface="Calibri" pitchFamily="34" charset="-120"/>
              </a:rPr>
              <a:t>4</a:t>
            </a:r>
            <a:pPr indent="0" marL="0">
              <a:buNone/>
            </a:pPr>
            <a:r>
              <a:rPr lang="en-US" sz="1250" dirty="0">
                <a:solidFill>
                  <a:srgbClr val="1B2A41"/>
                </a:solidFill>
                <a:latin typeface="Calibri" pitchFamily="34" charset="0"/>
                <a:ea typeface="Calibri" pitchFamily="34" charset="-122"/>
                <a:cs typeface="Calibri" pitchFamily="34" charset="-120"/>
              </a:rPr>
              <a:t>?</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(a) 0.3 × 3 = 0.9 mol particles/L; 0.9 × 1.9 °C = 1.7 °C lower: </a:t>
            </a:r>
            <a:pPr indent="0" marL="0">
              <a:buNone/>
            </a:pPr>
            <a:r>
              <a:rPr lang="en-US" sz="1200" b="1" dirty="0">
                <a:solidFill>
                  <a:srgbClr val="1B2A41"/>
                </a:solidFill>
                <a:latin typeface="Calibri" pitchFamily="34" charset="0"/>
                <a:ea typeface="Calibri" pitchFamily="34" charset="-122"/>
                <a:cs typeface="Calibri" pitchFamily="34" charset="-120"/>
              </a:rPr>
              <a:t>about −1.7 °C</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(b) </a:t>
            </a:r>
            <a:pPr indent="0" marL="0">
              <a:buNone/>
            </a:pPr>
            <a:r>
              <a:rPr lang="en-US" sz="1200" b="1" dirty="0">
                <a:solidFill>
                  <a:srgbClr val="1B2A41"/>
                </a:solidFill>
                <a:latin typeface="Calibri" pitchFamily="34" charset="0"/>
                <a:ea typeface="Calibri" pitchFamily="34" charset="-122"/>
                <a:cs typeface="Calibri" pitchFamily="34" charset="-120"/>
              </a:rPr>
              <a:t>CaCl</a:t>
            </a:r>
            <a:pPr indent="0" marL="0">
              <a:buNone/>
            </a:pPr>
            <a:r>
              <a:rPr lang="en-US" sz="1200" b="1"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3 particles per unit, against 2 for MgSO</a:t>
            </a:r>
            <a:pPr indent="0" marL="0">
              <a:buNone/>
            </a:pPr>
            <a:r>
              <a:rPr lang="en-US" sz="1200" baseline="-40000" dirty="0">
                <a:solidFill>
                  <a:srgbClr val="1B2A41"/>
                </a:solidFill>
                <a:latin typeface="Calibri" pitchFamily="34" charset="0"/>
                <a:ea typeface="Calibri" pitchFamily="34" charset="-122"/>
                <a:cs typeface="Calibri" pitchFamily="34" charset="-120"/>
              </a:rPr>
              <a:t>4</a:t>
            </a:r>
            <a:pPr indent="0" marL="0">
              <a:buNone/>
            </a:pPr>
            <a:r>
              <a:rPr lang="en-US" sz="1200" dirty="0">
                <a:solidFill>
                  <a:srgbClr val="1B2A41"/>
                </a:solidFill>
                <a:latin typeface="Calibri" pitchFamily="34" charset="0"/>
                <a:ea typeface="Calibri" pitchFamily="34" charset="-122"/>
                <a:cs typeface="Calibri" pitchFamily="34" charset="-120"/>
              </a:rPr>
              <a:t> (Mg</a:t>
            </a:r>
            <a:pPr indent="0" marL="0">
              <a:buNone/>
            </a:pPr>
            <a:r>
              <a:rPr lang="en-US" sz="1200" baseline="3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SO</a:t>
            </a:r>
            <a:pPr indent="0" marL="0">
              <a:buNone/>
            </a:pPr>
            <a:r>
              <a:rPr lang="en-US" sz="1200" baseline="-40000" dirty="0">
                <a:solidFill>
                  <a:srgbClr val="1B2A41"/>
                </a:solidFill>
                <a:latin typeface="Calibri" pitchFamily="34" charset="0"/>
                <a:ea typeface="Calibri" pitchFamily="34" charset="-122"/>
                <a:cs typeface="Calibri" pitchFamily="34" charset="-120"/>
              </a:rPr>
              <a:t>4</a:t>
            </a:r>
            <a:pPr indent="0" marL="0">
              <a:buNone/>
            </a:pPr>
            <a:r>
              <a:rPr lang="en-US" sz="1200" baseline="3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Which 1 M solution has the lowest freezing point?</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glucose</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NaCl</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CaCl</a:t>
            </a:r>
            <a:pPr indent="0" marL="0">
              <a:buNone/>
            </a:pPr>
            <a:r>
              <a:rPr lang="en-US" sz="1150" baseline="-40000" dirty="0">
                <a:solidFill>
                  <a:srgbClr val="1B2A41"/>
                </a:solidFill>
                <a:latin typeface="Calibri" pitchFamily="34" charset="0"/>
                <a:ea typeface="Calibri" pitchFamily="34" charset="-122"/>
                <a:cs typeface="Calibri" pitchFamily="34" charset="-120"/>
              </a:rPr>
              <a:t>2</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KCl</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SOL-LO4</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nitrate.png">    </p:cNvPr>
          <p:cNvPicPr>
            <a:picLocks noChangeAspect="1"/>
          </p:cNvPicPr>
          <p:nvPr/>
        </p:nvPicPr>
        <p:blipFill>
          <a:blip r:embed="rId1"/>
          <a:stretch>
            <a:fillRect/>
          </a:stretch>
        </p:blipFill>
        <p:spPr>
          <a:xfrm>
            <a:off x="8172637" y="192024"/>
            <a:ext cx="388245"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Which 1 M solution has the lowest freezing point?</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glucose</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NaCl</a:t>
            </a:r>
            <a:endParaRPr lang="en-US" sz="1100" dirty="0"/>
          </a:p>
        </p:txBody>
      </p:sp>
      <p:sp>
        <p:nvSpPr>
          <p:cNvPr id="15" name="Shape 12"/>
          <p:cNvSpPr/>
          <p:nvPr/>
        </p:nvSpPr>
        <p:spPr>
          <a:xfrm>
            <a:off x="457200" y="2697480"/>
            <a:ext cx="4023360" cy="594360"/>
          </a:xfrm>
          <a:prstGeom prst="roundRect">
            <a:avLst>
              <a:gd name="adj" fmla="val 12308"/>
            </a:avLst>
          </a:prstGeom>
          <a:solidFill>
            <a:srgbClr val="E3F3E9"/>
          </a:solidFill>
          <a:ln w="9525">
            <a:solidFill>
              <a:srgbClr val="2E7D4F"/>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CaCl</a:t>
            </a:r>
            <a:pPr indent="0" marL="0">
              <a:buNone/>
            </a:pPr>
            <a:r>
              <a:rPr lang="en-US" sz="1150" baseline="-40000" dirty="0">
                <a:solidFill>
                  <a:srgbClr val="1B2A41"/>
                </a:solidFill>
                <a:latin typeface="Calibri" pitchFamily="34" charset="0"/>
                <a:ea typeface="Calibri" pitchFamily="34" charset="-122"/>
                <a:cs typeface="Calibri" pitchFamily="34" charset="-120"/>
              </a:rPr>
              <a:t>2</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KCl</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C. </a:t>
            </a:r>
            <a:pPr indent="0" marL="0">
              <a:buNone/>
            </a:pPr>
            <a:r>
              <a:rPr lang="en-US" sz="1150" dirty="0">
                <a:solidFill>
                  <a:srgbClr val="1B2A41"/>
                </a:solidFill>
                <a:latin typeface="Calibri" pitchFamily="34" charset="0"/>
                <a:ea typeface="Calibri" pitchFamily="34" charset="-122"/>
                <a:cs typeface="Calibri" pitchFamily="34" charset="-120"/>
              </a:rPr>
              <a:t>CaCl</a:t>
            </a:r>
            <a:pPr indent="0" marL="0">
              <a:buNone/>
            </a:pPr>
            <a:r>
              <a:rPr lang="en-US" sz="1150" baseline="-40000" dirty="0">
                <a:solidFill>
                  <a:srgbClr val="1B2A41"/>
                </a:solidFill>
                <a:latin typeface="Calibri" pitchFamily="34" charset="0"/>
                <a:ea typeface="Calibri" pitchFamily="34" charset="-122"/>
                <a:cs typeface="Calibri" pitchFamily="34" charset="-120"/>
              </a:rPr>
              <a:t>2</a:t>
            </a:r>
            <a:pPr indent="0" marL="0">
              <a:buNone/>
            </a:pPr>
            <a:r>
              <a:rPr lang="en-US" sz="1150" dirty="0">
                <a:solidFill>
                  <a:srgbClr val="1B2A41"/>
                </a:solidFill>
                <a:latin typeface="Calibri" pitchFamily="34" charset="0"/>
                <a:ea typeface="Calibri" pitchFamily="34" charset="-122"/>
                <a:cs typeface="Calibri" pitchFamily="34" charset="-120"/>
              </a:rPr>
              <a:t> gives 3 particles per formula unit, the most particles, so the largest freezing point depression.</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640080"/>
            <a:ext cx="1371600" cy="1005840"/>
          </a:xfrm>
          <a:prstGeom prst="rect">
            <a:avLst/>
          </a:prstGeom>
          <a:noFill/>
          <a:ln/>
        </p:spPr>
        <p:txBody>
          <a:bodyPr wrap="square" lIns="0" tIns="0" rIns="0" bIns="0" rtlCol="0" anchor="ctr"/>
          <a:lstStyle/>
          <a:p>
            <a:pPr indent="0" marL="0">
              <a:buNone/>
            </a:pPr>
            <a:r>
              <a:rPr lang="en-US" sz="6600" b="1" dirty="0">
                <a:solidFill>
                  <a:srgbClr val="F0B24A"/>
                </a:solidFill>
                <a:latin typeface="Calibri" pitchFamily="34" charset="0"/>
                <a:ea typeface="Calibri" pitchFamily="34" charset="-122"/>
                <a:cs typeface="Calibri" pitchFamily="34" charset="-120"/>
              </a:rPr>
              <a:t>6</a:t>
            </a:r>
            <a:endParaRPr lang="en-US" sz="6600" dirty="0"/>
          </a:p>
        </p:txBody>
      </p:sp>
      <p:sp>
        <p:nvSpPr>
          <p:cNvPr id="3" name="Text 1"/>
          <p:cNvSpPr txBox="1"/>
          <p:nvPr/>
        </p:nvSpPr>
        <p:spPr>
          <a:xfrm>
            <a:off x="548640" y="1691640"/>
            <a:ext cx="2743200" cy="228600"/>
          </a:xfrm>
          <a:prstGeom prst="rect">
            <a:avLst/>
          </a:prstGeom>
          <a:noFill/>
          <a:ln/>
        </p:spPr>
        <p:txBody>
          <a:bodyPr wrap="square" lIns="0" tIns="0" rIns="0" bIns="0" rtlCol="0" anchor="ctr"/>
          <a:lstStyle/>
          <a:p>
            <a:pPr indent="0" marL="0">
              <a:buNone/>
            </a:pPr>
            <a:r>
              <a:rPr lang="en-US" sz="900" b="1" spc="200" kern="0" dirty="0">
                <a:solidFill>
                  <a:srgbClr val="A3B1C2"/>
                </a:solidFill>
                <a:latin typeface="Calibri" pitchFamily="34" charset="0"/>
                <a:ea typeface="Calibri" pitchFamily="34" charset="-122"/>
                <a:cs typeface="Calibri" pitchFamily="34" charset="-120"/>
              </a:rPr>
              <a:t>PART 6</a:t>
            </a:r>
            <a:endParaRPr lang="en-US" sz="900" dirty="0"/>
          </a:p>
        </p:txBody>
      </p:sp>
      <p:sp>
        <p:nvSpPr>
          <p:cNvPr id="4" name="Text 2"/>
          <p:cNvSpPr txBox="1"/>
          <p:nvPr/>
        </p:nvSpPr>
        <p:spPr>
          <a:xfrm>
            <a:off x="548640" y="1920240"/>
            <a:ext cx="6400800" cy="82296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Osmosis, osmolarity and tonicity</a:t>
            </a:r>
            <a:endParaRPr lang="en-US" sz="2600" dirty="0"/>
          </a:p>
        </p:txBody>
      </p:sp>
      <p:sp>
        <p:nvSpPr>
          <p:cNvPr id="5" name="Text 3"/>
          <p:cNvSpPr txBox="1"/>
          <p:nvPr/>
        </p:nvSpPr>
        <p:spPr>
          <a:xfrm>
            <a:off x="548640" y="2788920"/>
            <a:ext cx="6400800" cy="548640"/>
          </a:xfrm>
          <a:prstGeom prst="rect">
            <a:avLst/>
          </a:prstGeom>
          <a:noFill/>
          <a:ln/>
        </p:spPr>
        <p:txBody>
          <a:bodyPr wrap="square" lIns="0" tIns="0" rIns="0" bIns="0" rtlCol="0" anchor="t"/>
          <a:lstStyle/>
          <a:p>
            <a:pPr indent="0" marL="0">
              <a:buNone/>
            </a:pPr>
            <a:r>
              <a:rPr lang="en-US" sz="1200" dirty="0">
                <a:solidFill>
                  <a:srgbClr val="A3B1C2"/>
                </a:solidFill>
                <a:latin typeface="Calibri" pitchFamily="34" charset="0"/>
                <a:ea typeface="Calibri" pitchFamily="34" charset="-122"/>
                <a:cs typeface="Calibri" pitchFamily="34" charset="-120"/>
              </a:rPr>
              <a:t>Water follows the particles: the chemistry behind every IV bag.</a:t>
            </a:r>
            <a:endParaRPr lang="en-US" sz="1200" dirty="0"/>
          </a:p>
        </p:txBody>
      </p:sp>
      <p:sp>
        <p:nvSpPr>
          <p:cNvPr id="6" name="Text 4"/>
          <p:cNvSpPr txBox="1"/>
          <p:nvPr/>
        </p:nvSpPr>
        <p:spPr>
          <a:xfrm>
            <a:off x="548640" y="3520440"/>
            <a:ext cx="5486400" cy="274320"/>
          </a:xfrm>
          <a:prstGeom prst="rect">
            <a:avLst/>
          </a:prstGeom>
          <a:noFill/>
          <a:ln/>
        </p:spPr>
        <p:txBody>
          <a:bodyPr wrap="square" lIns="0" tIns="0" rIns="0" bIns="0" rtlCol="0" anchor="ctr"/>
          <a:lstStyle/>
          <a:p>
            <a:pPr indent="0" marL="0">
              <a:buNone/>
            </a:pPr>
            <a:r>
              <a:rPr lang="en-US" sz="900" b="1" dirty="0">
                <a:solidFill>
                  <a:srgbClr val="7DB6E3"/>
                </a:solidFill>
                <a:latin typeface="Calibri" pitchFamily="34" charset="0"/>
                <a:ea typeface="Calibri" pitchFamily="34" charset="-122"/>
                <a:cs typeface="Calibri" pitchFamily="34" charset="-120"/>
              </a:rPr>
              <a:t>SOL-LO5 · Ball 9.4 · 9.7</a:t>
            </a:r>
            <a:endParaRPr lang="en-US" sz="900" dirty="0"/>
          </a:p>
        </p:txBody>
      </p:sp>
      <p:pic>
        <p:nvPicPr>
          <p:cNvPr id="7" name="Image 0" descr="/home/claude/build/mol/water.png">    </p:cNvPr>
          <p:cNvPicPr>
            <a:picLocks noChangeAspect="1"/>
          </p:cNvPicPr>
          <p:nvPr/>
        </p:nvPicPr>
        <p:blipFill>
          <a:blip r:embed="rId1"/>
          <a:stretch>
            <a:fillRect/>
          </a:stretch>
        </p:blipFill>
        <p:spPr>
          <a:xfrm>
            <a:off x="6766560" y="640080"/>
            <a:ext cx="914400" cy="914400"/>
          </a:xfrm>
          <a:prstGeom prst="rect">
            <a:avLst/>
          </a:prstGeom>
        </p:spPr>
      </p:pic>
      <p:pic>
        <p:nvPicPr>
          <p:cNvPr id="8" name="Image 1" descr="/home/claude/build/mol/co2.png">    </p:cNvPr>
          <p:cNvPicPr>
            <a:picLocks noChangeAspect="1"/>
          </p:cNvPicPr>
          <p:nvPr/>
        </p:nvPicPr>
        <p:blipFill>
          <a:blip r:embed="rId2"/>
          <a:stretch>
            <a:fillRect/>
          </a:stretch>
        </p:blipFill>
        <p:spPr>
          <a:xfrm>
            <a:off x="7589520" y="2834640"/>
            <a:ext cx="548640" cy="548640"/>
          </a:xfrm>
          <a:prstGeom prst="rect">
            <a:avLst/>
          </a:prstGeom>
        </p:spPr>
      </p:pic>
      <p:pic>
        <p:nvPicPr>
          <p:cNvPr id="9" name="Image 2" descr="/home/claude/build/mol/o2.png">    </p:cNvPr>
          <p:cNvPicPr>
            <a:picLocks noChangeAspect="1"/>
          </p:cNvPicPr>
          <p:nvPr/>
        </p:nvPicPr>
        <p:blipFill>
          <a:blip r:embed="rId3"/>
          <a:stretch>
            <a:fillRect/>
          </a:stretch>
        </p:blipFill>
        <p:spPr>
          <a:xfrm>
            <a:off x="5806440" y="3794760"/>
            <a:ext cx="457200" cy="457200"/>
          </a:xfrm>
          <a:prstGeom prst="rect">
            <a:avLst/>
          </a:prstGeom>
        </p:spPr>
      </p:pic>
      <p:sp>
        <p:nvSpPr>
          <p:cNvPr id="10"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Solution</a:t>
            </a:r>
            <a:endParaRPr lang="en-US" sz="800" dirty="0"/>
          </a:p>
        </p:txBody>
      </p:sp>
      <p:sp>
        <p:nvSpPr>
          <p:cNvPr id="11"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Osmosis</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home/claude/build_sol/png/osmosis.png">    </p:cNvPr>
          <p:cNvPicPr>
            <a:picLocks noChangeAspect="1"/>
          </p:cNvPicPr>
          <p:nvPr/>
        </p:nvPicPr>
        <p:blipFill>
          <a:blip r:embed="rId2"/>
          <a:stretch>
            <a:fillRect/>
          </a:stretch>
        </p:blipFill>
        <p:spPr>
          <a:xfrm>
            <a:off x="2487168" y="1234440"/>
            <a:ext cx="4169664" cy="2194560"/>
          </a:xfrm>
          <a:prstGeom prst="rect">
            <a:avLst/>
          </a:prstGeom>
        </p:spPr>
      </p:pic>
      <p:sp>
        <p:nvSpPr>
          <p:cNvPr id="11" name="Text 7"/>
          <p:cNvSpPr txBox="1"/>
          <p:nvPr/>
        </p:nvSpPr>
        <p:spPr>
          <a:xfrm>
            <a:off x="457200" y="3465576"/>
            <a:ext cx="822960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Osmosis through a semipermeable membrane (drawn by Dr. NAM)</a:t>
            </a:r>
            <a:endParaRPr lang="en-US" sz="750" dirty="0"/>
          </a:p>
        </p:txBody>
      </p:sp>
      <p:sp>
        <p:nvSpPr>
          <p:cNvPr id="12" name="Text 8"/>
          <p:cNvSpPr txBox="1"/>
          <p:nvPr/>
        </p:nvSpPr>
        <p:spPr>
          <a:xfrm>
            <a:off x="457200" y="3794760"/>
            <a:ext cx="8229600" cy="868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A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semipermeable membrane</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lets solvent (water) through but not solute particles. Cell membranes are semipermeable.</a:t>
            </a:r>
            <a:endParaRPr lang="en-US" sz="1200" dirty="0"/>
          </a:p>
          <a:p>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Osmosis</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water moves from the more dilute solution into the more concentrated one. The pressure needed to stop it is the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osmotic pressure</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Osmolarity</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640080"/>
          </a:xfrm>
          <a:prstGeom prst="roundRect">
            <a:avLst>
              <a:gd name="adj" fmla="val 11429"/>
            </a:avLst>
          </a:prstGeom>
          <a:solidFill>
            <a:srgbClr val="E1EEF7"/>
          </a:solidFill>
          <a:ln w="9525">
            <a:solidFill>
              <a:srgbClr val="E1EEF7"/>
            </a:solidFill>
            <a:prstDash val="solid"/>
          </a:ln>
        </p:spPr>
      </p:sp>
      <p:sp>
        <p:nvSpPr>
          <p:cNvPr id="11" name="Text 8"/>
          <p:cNvSpPr txBox="1"/>
          <p:nvPr/>
        </p:nvSpPr>
        <p:spPr>
          <a:xfrm>
            <a:off x="548640" y="1234440"/>
            <a:ext cx="8046720" cy="640080"/>
          </a:xfrm>
          <a:prstGeom prst="rect">
            <a:avLst/>
          </a:prstGeom>
          <a:noFill/>
          <a:ln/>
        </p:spPr>
        <p:txBody>
          <a:bodyPr wrap="square" lIns="0" tIns="0" rIns="0" bIns="0" rtlCol="0" anchor="ctr"/>
          <a:lstStyle/>
          <a:p>
            <a:pPr algn="ctr" indent="0" marL="0">
              <a:buNone/>
            </a:pPr>
            <a:r>
              <a:rPr lang="en-US" sz="2000" b="1" dirty="0">
                <a:solidFill>
                  <a:srgbClr val="1B2A41"/>
                </a:solidFill>
                <a:latin typeface="Calibri" pitchFamily="34" charset="0"/>
                <a:ea typeface="Calibri" pitchFamily="34" charset="-122"/>
                <a:cs typeface="Calibri" pitchFamily="34" charset="-120"/>
              </a:rPr>
              <a:t>osmol = M × i</a:t>
            </a:r>
            <a:endParaRPr lang="en-US" sz="20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8229600" cy="914400"/>
        </p:xfrm>
        <a:graphic>
          <a:graphicData uri="http://schemas.openxmlformats.org/drawingml/2006/table">
            <a:tbl>
              <a:tblPr/>
              <a:tblGrid>
                <a:gridCol w="1371600"/>
                <a:gridCol w="6858000"/>
              </a:tblGrid>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M</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molarity of the solute (mol/L)</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i</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particles formed by one formula unit: glucose 1, NaCl 2, CaCl</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 3, Al(NO</a:t>
                      </a:r>
                      <a:pPr indent="0" marL="0">
                        <a:buNone/>
                      </a:pPr>
                      <a:r>
                        <a:rPr lang="en-US" sz="1100" baseline="-40000" dirty="0">
                          <a:solidFill>
                            <a:srgbClr val="1B2A41"/>
                          </a:solidFill>
                          <a:latin typeface="Calibri" pitchFamily="34" charset="0"/>
                          <a:ea typeface="Calibri" pitchFamily="34" charset="-122"/>
                          <a:cs typeface="Calibri" pitchFamily="34" charset="-120"/>
                        </a:rPr>
                        <a:t>3</a:t>
                      </a:r>
                      <a:pPr indent="0" marL="0">
                        <a:buNone/>
                      </a:pPr>
                      <a:r>
                        <a:rPr lang="en-US" sz="1100" dirty="0">
                          <a:solidFill>
                            <a:srgbClr val="1B2A41"/>
                          </a:solidFill>
                          <a:latin typeface="Calibri" pitchFamily="34" charset="0"/>
                          <a:ea typeface="Calibri" pitchFamily="34" charset="-122"/>
                          <a:cs typeface="Calibri" pitchFamily="34" charset="-120"/>
                        </a:rPr>
                        <a:t>)</a:t>
                      </a:r>
                      <a:pPr indent="0" marL="0">
                        <a:buNone/>
                      </a:pPr>
                      <a:r>
                        <a:rPr lang="en-US" sz="1100" baseline="-40000" dirty="0">
                          <a:solidFill>
                            <a:srgbClr val="1B2A41"/>
                          </a:solidFill>
                          <a:latin typeface="Calibri" pitchFamily="34" charset="0"/>
                          <a:ea typeface="Calibri" pitchFamily="34" charset="-122"/>
                          <a:cs typeface="Calibri" pitchFamily="34" charset="-120"/>
                        </a:rPr>
                        <a:t>3</a:t>
                      </a:r>
                      <a:pPr indent="0" marL="0">
                        <a:buNone/>
                      </a:pPr>
                      <a:r>
                        <a:rPr lang="en-US" sz="1100" dirty="0">
                          <a:solidFill>
                            <a:srgbClr val="1B2A41"/>
                          </a:solidFill>
                          <a:latin typeface="Calibri" pitchFamily="34" charset="0"/>
                          <a:ea typeface="Calibri" pitchFamily="34" charset="-122"/>
                          <a:cs typeface="Calibri" pitchFamily="34" charset="-120"/>
                        </a:rPr>
                        <a:t> 4</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mixtures</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add the osmolarities of all solutes</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direction</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water moves from </a:t>
                      </a:r>
                      <a:pPr indent="0" marL="0">
                        <a:buNone/>
                      </a:pPr>
                      <a:r>
                        <a:rPr lang="en-US" sz="1100" b="1" dirty="0">
                          <a:solidFill>
                            <a:srgbClr val="1B2A41"/>
                          </a:solidFill>
                          <a:latin typeface="Calibri" pitchFamily="34" charset="0"/>
                          <a:ea typeface="Calibri" pitchFamily="34" charset="-122"/>
                          <a:cs typeface="Calibri" pitchFamily="34" charset="-120"/>
                        </a:rPr>
                        <a:t>lower</a:t>
                      </a:r>
                      <a:pPr indent="0" marL="0">
                        <a:buNone/>
                      </a:pPr>
                      <a:r>
                        <a:rPr lang="en-US" sz="1100" dirty="0">
                          <a:solidFill>
                            <a:srgbClr val="1B2A41"/>
                          </a:solidFill>
                          <a:latin typeface="Calibri" pitchFamily="34" charset="0"/>
                          <a:ea typeface="Calibri" pitchFamily="34" charset="-122"/>
                          <a:cs typeface="Calibri" pitchFamily="34" charset="-120"/>
                        </a:rPr>
                        <a:t> osmolarity to </a:t>
                      </a:r>
                      <a:pPr indent="0" marL="0">
                        <a:buNone/>
                      </a:pPr>
                      <a:r>
                        <a:rPr lang="en-US" sz="1100" b="1" dirty="0">
                          <a:solidFill>
                            <a:srgbClr val="1B2A41"/>
                          </a:solidFill>
                          <a:latin typeface="Calibri" pitchFamily="34" charset="0"/>
                          <a:ea typeface="Calibri" pitchFamily="34" charset="-122"/>
                          <a:cs typeface="Calibri" pitchFamily="34" charset="-120"/>
                        </a:rPr>
                        <a:t>higher</a:t>
                      </a:r>
                      <a:pPr indent="0" marL="0">
                        <a:buNone/>
                      </a:pPr>
                      <a:r>
                        <a:rPr lang="en-US" sz="1100" dirty="0">
                          <a:solidFill>
                            <a:srgbClr val="1B2A41"/>
                          </a:solidFill>
                          <a:latin typeface="Calibri" pitchFamily="34" charset="0"/>
                          <a:ea typeface="Calibri" pitchFamily="34" charset="-122"/>
                          <a:cs typeface="Calibri" pitchFamily="34" charset="-120"/>
                        </a:rPr>
                        <a:t> osmolarity</a:t>
                      </a:r>
                      <a:endParaRPr lang="en-US" sz="1100" dirty="0">
                        <a:latin typeface="Calibri" charset="0"/>
                        <a:ea typeface="Calibri" charset="0"/>
                        <a:cs typeface="Calibri" charset="0"/>
                      </a:endParaRPr>
                    </a:p>
                  </a:txBody>
                  <a:tcPr marL="54864" marR="54864" marT="54864" marB="54864">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000" i="1" dirty="0">
                <a:solidFill>
                  <a:srgbClr val="56657A"/>
                </a:solidFill>
                <a:latin typeface="Calibri" pitchFamily="34" charset="0"/>
                <a:ea typeface="Calibri" pitchFamily="34" charset="-122"/>
                <a:cs typeface="Calibri" pitchFamily="34" charset="-120"/>
              </a:rPr>
              <a:t>Equal osmolarity means equal osmotic pressure. Pushing harder than the osmotic pressure forces water the other way: reverse osmosis, used to make drinking water from seawater.</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6.1 · Which way does water flow?</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0.50 M NaCl and 0.30 M Ca(NO</a:t>
            </a:r>
            <a:pPr indent="0" marL="0">
              <a:buNone/>
            </a:pPr>
            <a:r>
              <a:rPr lang="en-US" sz="1200" baseline="-4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are on opposite sides of a semipermeable membrane. Find each osmolarity and the direction of water flow.</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NaCl → Na</a:t>
            </a:r>
            <a:pPr indent="0" marL="0">
              <a:buNone/>
            </a:pPr>
            <a:r>
              <a:rPr lang="en-US" sz="1200" baseline="30000" dirty="0">
                <a:solidFill>
                  <a:srgbClr val="1B2A41"/>
                </a:solidFill>
                <a:latin typeface="Calibri" pitchFamily="34" charset="0"/>
                <a:ea typeface="Calibri" pitchFamily="34" charset="-122"/>
                <a:cs typeface="Calibri" pitchFamily="34" charset="-120"/>
              </a:rPr>
              <a:t>+</a:t>
            </a:r>
            <a:pPr indent="0" marL="0">
              <a:buNone/>
            </a:pPr>
            <a:r>
              <a:rPr lang="en-US" sz="1200" dirty="0">
                <a:solidFill>
                  <a:srgbClr val="1B2A41"/>
                </a:solidFill>
                <a:latin typeface="Calibri" pitchFamily="34" charset="0"/>
                <a:ea typeface="Calibri" pitchFamily="34" charset="-122"/>
                <a:cs typeface="Calibri" pitchFamily="34" charset="-120"/>
              </a:rPr>
              <a:t> + Cl</a:t>
            </a:r>
            <a:pPr indent="0" marL="0">
              <a:buNone/>
            </a:pPr>
            <a:r>
              <a:rPr lang="en-US" sz="1200" baseline="30000" dirty="0">
                <a:solidFill>
                  <a:srgbClr val="1B2A41"/>
                </a:solidFill>
                <a:latin typeface="Calibri" pitchFamily="34" charset="0"/>
                <a:ea typeface="Calibri" pitchFamily="34" charset="-122"/>
                <a:cs typeface="Calibri" pitchFamily="34" charset="-120"/>
              </a:rPr>
              <a:t>−</a:t>
            </a:r>
            <a:pPr indent="0" marL="0">
              <a:buNone/>
            </a:pPr>
            <a:r>
              <a:rPr lang="en-US" sz="1200" dirty="0">
                <a:solidFill>
                  <a:srgbClr val="1B2A41"/>
                </a:solidFill>
                <a:latin typeface="Calibri" pitchFamily="34" charset="0"/>
                <a:ea typeface="Calibri" pitchFamily="34" charset="-122"/>
                <a:cs typeface="Calibri" pitchFamily="34" charset="-120"/>
              </a:rPr>
              <a:t>: 0.50 M × 2 = 1.0 osmol</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Ca(NO</a:t>
            </a:r>
            <a:pPr indent="0" marL="0">
              <a:buNone/>
            </a:pPr>
            <a:r>
              <a:rPr lang="en-US" sz="1200" baseline="-4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a:t>
            </a:r>
            <a:pPr indent="0" marL="0">
              <a:buNone/>
            </a:pPr>
            <a:r>
              <a:rPr lang="en-US" sz="1200" baseline="-4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Ca</a:t>
            </a:r>
            <a:pPr indent="0" marL="0">
              <a:buNone/>
            </a:pPr>
            <a:r>
              <a:rPr lang="en-US" sz="1200" baseline="30000" dirty="0">
                <a:solidFill>
                  <a:srgbClr val="1B2A41"/>
                </a:solidFill>
                <a:latin typeface="Calibri" pitchFamily="34" charset="0"/>
                <a:ea typeface="Calibri" pitchFamily="34" charset="-122"/>
                <a:cs typeface="Calibri" pitchFamily="34" charset="-120"/>
              </a:rPr>
              <a:t>2+</a:t>
            </a:r>
            <a:pPr indent="0" marL="0">
              <a:buNone/>
            </a:pPr>
            <a:r>
              <a:rPr lang="en-US" sz="1200" dirty="0">
                <a:solidFill>
                  <a:srgbClr val="1B2A41"/>
                </a:solidFill>
                <a:latin typeface="Calibri" pitchFamily="34" charset="0"/>
                <a:ea typeface="Calibri" pitchFamily="34" charset="-122"/>
                <a:cs typeface="Calibri" pitchFamily="34" charset="-120"/>
              </a:rPr>
              <a:t> + 2NO</a:t>
            </a:r>
            <a:pPr indent="0" marL="0">
              <a:buNone/>
            </a:pPr>
            <a:r>
              <a:rPr lang="en-US" sz="1200" baseline="-40000" dirty="0">
                <a:solidFill>
                  <a:srgbClr val="1B2A41"/>
                </a:solidFill>
                <a:latin typeface="Calibri" pitchFamily="34" charset="0"/>
                <a:ea typeface="Calibri" pitchFamily="34" charset="-122"/>
                <a:cs typeface="Calibri" pitchFamily="34" charset="-120"/>
              </a:rPr>
              <a:t>3</a:t>
            </a:r>
            <a:pPr indent="0" marL="0">
              <a:buNone/>
            </a:pPr>
            <a:r>
              <a:rPr lang="en-US" sz="1200" baseline="30000" dirty="0">
                <a:solidFill>
                  <a:srgbClr val="1B2A41"/>
                </a:solidFill>
                <a:latin typeface="Calibri" pitchFamily="34" charset="0"/>
                <a:ea typeface="Calibri" pitchFamily="34" charset="-122"/>
                <a:cs typeface="Calibri" pitchFamily="34" charset="-120"/>
              </a:rPr>
              <a:t>−</a:t>
            </a:r>
            <a:pPr indent="0" marL="0">
              <a:buNone/>
            </a:pPr>
            <a:r>
              <a:rPr lang="en-US" sz="1200" dirty="0">
                <a:solidFill>
                  <a:srgbClr val="1B2A41"/>
                </a:solidFill>
                <a:latin typeface="Calibri" pitchFamily="34" charset="0"/>
                <a:ea typeface="Calibri" pitchFamily="34" charset="-122"/>
                <a:cs typeface="Calibri" pitchFamily="34" charset="-120"/>
              </a:rPr>
              <a:t>: 0.30 M × 3 = 0.90 osmol</a:t>
            </a:r>
            <a:endParaRPr lang="en-US" sz="1200" dirty="0"/>
          </a:p>
        </p:txBody>
      </p:sp>
      <p:sp>
        <p:nvSpPr>
          <p:cNvPr id="18" name="Shape 15"/>
          <p:cNvSpPr/>
          <p:nvPr/>
        </p:nvSpPr>
        <p:spPr>
          <a:xfrm>
            <a:off x="457200" y="3346704"/>
            <a:ext cx="274320" cy="274320"/>
          </a:xfrm>
          <a:prstGeom prst="ellipse">
            <a:avLst/>
          </a:prstGeom>
          <a:solidFill>
            <a:srgbClr val="B86E00"/>
          </a:solidFill>
          <a:ln w="12700">
            <a:solidFill>
              <a:srgbClr val="B86E00"/>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Water flows from the Ca(NO</a:t>
            </a:r>
            <a:pPr indent="0" marL="0">
              <a:buNone/>
            </a:pPr>
            <a:r>
              <a:rPr lang="en-US" sz="1200" b="1" baseline="-40000" dirty="0">
                <a:solidFill>
                  <a:srgbClr val="1B2A41"/>
                </a:solidFill>
                <a:latin typeface="Calibri" pitchFamily="34" charset="0"/>
                <a:ea typeface="Calibri" pitchFamily="34" charset="-122"/>
                <a:cs typeface="Calibri" pitchFamily="34" charset="-120"/>
              </a:rPr>
              <a:t>3</a:t>
            </a:r>
            <a:pPr indent="0" marL="0">
              <a:buNone/>
            </a:pPr>
            <a:r>
              <a:rPr lang="en-US" sz="1200" b="1" dirty="0">
                <a:solidFill>
                  <a:srgbClr val="1B2A41"/>
                </a:solidFill>
                <a:latin typeface="Calibri" pitchFamily="34" charset="0"/>
                <a:ea typeface="Calibri" pitchFamily="34" charset="-122"/>
                <a:cs typeface="Calibri" pitchFamily="34" charset="-120"/>
              </a:rPr>
              <a:t>)</a:t>
            </a:r>
            <a:pPr indent="0" marL="0">
              <a:buNone/>
            </a:pPr>
            <a:r>
              <a:rPr lang="en-US" sz="1200" b="1" baseline="-40000" dirty="0">
                <a:solidFill>
                  <a:srgbClr val="1B2A41"/>
                </a:solidFill>
                <a:latin typeface="Calibri" pitchFamily="34" charset="0"/>
                <a:ea typeface="Calibri" pitchFamily="34" charset="-122"/>
                <a:cs typeface="Calibri" pitchFamily="34" charset="-120"/>
              </a:rPr>
              <a:t>2</a:t>
            </a:r>
            <a:pPr indent="0" marL="0">
              <a:buNone/>
            </a:pPr>
            <a:r>
              <a:rPr lang="en-US" sz="1200" b="1" dirty="0">
                <a:solidFill>
                  <a:srgbClr val="1B2A41"/>
                </a:solidFill>
                <a:latin typeface="Calibri" pitchFamily="34" charset="0"/>
                <a:ea typeface="Calibri" pitchFamily="34" charset="-122"/>
                <a:cs typeface="Calibri" pitchFamily="34" charset="-120"/>
              </a:rPr>
              <a:t> side into the NaCl side</a:t>
            </a:r>
            <a:pPr indent="0" marL="0">
              <a:buNone/>
            </a:pPr>
            <a:r>
              <a:rPr lang="en-US" sz="1200" b="1" dirty="0">
                <a:solidFill>
                  <a:srgbClr val="1B2A41"/>
                </a:solidFill>
                <a:latin typeface="Calibri" pitchFamily="34" charset="0"/>
                <a:ea typeface="Calibri" pitchFamily="34" charset="-122"/>
                <a:cs typeface="Calibri" pitchFamily="34" charset="-120"/>
              </a:rPr>
              <a:t> (lower → higher osmolarity).</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Glucose against aluminium nitrate</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1.5 M glucose (C</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H</a:t>
            </a:r>
            <a:pPr indent="0" marL="0">
              <a:buNone/>
            </a:pPr>
            <a:r>
              <a:rPr lang="en-US" sz="1250" baseline="-40000" dirty="0">
                <a:solidFill>
                  <a:srgbClr val="1B2A41"/>
                </a:solidFill>
                <a:latin typeface="Calibri" pitchFamily="34" charset="0"/>
                <a:ea typeface="Calibri" pitchFamily="34" charset="-122"/>
                <a:cs typeface="Calibri" pitchFamily="34" charset="-120"/>
              </a:rPr>
              <a:t>12</a:t>
            </a:r>
            <a:pPr indent="0" marL="0">
              <a:buNone/>
            </a:pPr>
            <a:r>
              <a:rPr lang="en-US" sz="1250" dirty="0">
                <a:solidFill>
                  <a:srgbClr val="1B2A41"/>
                </a:solidFill>
                <a:latin typeface="Calibri" pitchFamily="34" charset="0"/>
                <a:ea typeface="Calibri" pitchFamily="34" charset="-122"/>
                <a:cs typeface="Calibri" pitchFamily="34" charset="-120"/>
              </a:rPr>
              <a:t>O</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 and 0.40 M Al(NO</a:t>
            </a:r>
            <a:pPr indent="0" marL="0">
              <a:buNone/>
            </a:pPr>
            <a:r>
              <a:rPr lang="en-US" sz="1250" baseline="-40000" dirty="0">
                <a:solidFill>
                  <a:srgbClr val="1B2A41"/>
                </a:solidFill>
                <a:latin typeface="Calibri" pitchFamily="34" charset="0"/>
                <a:ea typeface="Calibri" pitchFamily="34" charset="-122"/>
                <a:cs typeface="Calibri" pitchFamily="34" charset="-120"/>
              </a:rPr>
              <a:t>3</a:t>
            </a:r>
            <a:pPr indent="0" marL="0">
              <a:buNone/>
            </a:pPr>
            <a:r>
              <a:rPr lang="en-US" sz="1250" dirty="0">
                <a:solidFill>
                  <a:srgbClr val="1B2A41"/>
                </a:solidFill>
                <a:latin typeface="Calibri" pitchFamily="34" charset="0"/>
                <a:ea typeface="Calibri" pitchFamily="34" charset="-122"/>
                <a:cs typeface="Calibri" pitchFamily="34" charset="-120"/>
              </a:rPr>
              <a:t>)</a:t>
            </a:r>
            <a:pPr indent="0" marL="0">
              <a:buNone/>
            </a:pPr>
            <a:r>
              <a:rPr lang="en-US" sz="1250" baseline="-40000" dirty="0">
                <a:solidFill>
                  <a:srgbClr val="1B2A41"/>
                </a:solidFill>
                <a:latin typeface="Calibri" pitchFamily="34" charset="0"/>
                <a:ea typeface="Calibri" pitchFamily="34" charset="-122"/>
                <a:cs typeface="Calibri" pitchFamily="34" charset="-120"/>
              </a:rPr>
              <a:t>3</a:t>
            </a:r>
            <a:pPr indent="0" marL="0">
              <a:buNone/>
            </a:pPr>
            <a:r>
              <a:rPr lang="en-US" sz="1250" dirty="0">
                <a:solidFill>
                  <a:srgbClr val="1B2A41"/>
                </a:solidFill>
                <a:latin typeface="Calibri" pitchFamily="34" charset="0"/>
                <a:ea typeface="Calibri" pitchFamily="34" charset="-122"/>
                <a:cs typeface="Calibri" pitchFamily="34" charset="-120"/>
              </a:rPr>
              <a:t> are separated by a semipermeable membrane. Which way does water flow?</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Glucose against aluminium nitrate · answer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1.5 M glucose (C</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H</a:t>
            </a:r>
            <a:pPr indent="0" marL="0">
              <a:buNone/>
            </a:pPr>
            <a:r>
              <a:rPr lang="en-US" sz="1250" baseline="-40000" dirty="0">
                <a:solidFill>
                  <a:srgbClr val="1B2A41"/>
                </a:solidFill>
                <a:latin typeface="Calibri" pitchFamily="34" charset="0"/>
                <a:ea typeface="Calibri" pitchFamily="34" charset="-122"/>
                <a:cs typeface="Calibri" pitchFamily="34" charset="-120"/>
              </a:rPr>
              <a:t>12</a:t>
            </a:r>
            <a:pPr indent="0" marL="0">
              <a:buNone/>
            </a:pPr>
            <a:r>
              <a:rPr lang="en-US" sz="1250" dirty="0">
                <a:solidFill>
                  <a:srgbClr val="1B2A41"/>
                </a:solidFill>
                <a:latin typeface="Calibri" pitchFamily="34" charset="0"/>
                <a:ea typeface="Calibri" pitchFamily="34" charset="-122"/>
                <a:cs typeface="Calibri" pitchFamily="34" charset="-120"/>
              </a:rPr>
              <a:t>O</a:t>
            </a:r>
            <a:pPr indent="0" marL="0">
              <a:buNone/>
            </a:pPr>
            <a:r>
              <a:rPr lang="en-US" sz="1250" baseline="-40000" dirty="0">
                <a:solidFill>
                  <a:srgbClr val="1B2A41"/>
                </a:solidFill>
                <a:latin typeface="Calibri" pitchFamily="34" charset="0"/>
                <a:ea typeface="Calibri" pitchFamily="34" charset="-122"/>
                <a:cs typeface="Calibri" pitchFamily="34" charset="-120"/>
              </a:rPr>
              <a:t>6</a:t>
            </a:r>
            <a:pPr indent="0" marL="0">
              <a:buNone/>
            </a:pPr>
            <a:r>
              <a:rPr lang="en-US" sz="1250" dirty="0">
                <a:solidFill>
                  <a:srgbClr val="1B2A41"/>
                </a:solidFill>
                <a:latin typeface="Calibri" pitchFamily="34" charset="0"/>
                <a:ea typeface="Calibri" pitchFamily="34" charset="-122"/>
                <a:cs typeface="Calibri" pitchFamily="34" charset="-120"/>
              </a:rPr>
              <a:t>) and 0.40 M Al(NO</a:t>
            </a:r>
            <a:pPr indent="0" marL="0">
              <a:buNone/>
            </a:pPr>
            <a:r>
              <a:rPr lang="en-US" sz="1250" baseline="-40000" dirty="0">
                <a:solidFill>
                  <a:srgbClr val="1B2A41"/>
                </a:solidFill>
                <a:latin typeface="Calibri" pitchFamily="34" charset="0"/>
                <a:ea typeface="Calibri" pitchFamily="34" charset="-122"/>
                <a:cs typeface="Calibri" pitchFamily="34" charset="-120"/>
              </a:rPr>
              <a:t>3</a:t>
            </a:r>
            <a:pPr indent="0" marL="0">
              <a:buNone/>
            </a:pPr>
            <a:r>
              <a:rPr lang="en-US" sz="1250" dirty="0">
                <a:solidFill>
                  <a:srgbClr val="1B2A41"/>
                </a:solidFill>
                <a:latin typeface="Calibri" pitchFamily="34" charset="0"/>
                <a:ea typeface="Calibri" pitchFamily="34" charset="-122"/>
                <a:cs typeface="Calibri" pitchFamily="34" charset="-120"/>
              </a:rPr>
              <a:t>)</a:t>
            </a:r>
            <a:pPr indent="0" marL="0">
              <a:buNone/>
            </a:pPr>
            <a:r>
              <a:rPr lang="en-US" sz="1250" baseline="-40000" dirty="0">
                <a:solidFill>
                  <a:srgbClr val="1B2A41"/>
                </a:solidFill>
                <a:latin typeface="Calibri" pitchFamily="34" charset="0"/>
                <a:ea typeface="Calibri" pitchFamily="34" charset="-122"/>
                <a:cs typeface="Calibri" pitchFamily="34" charset="-120"/>
              </a:rPr>
              <a:t>3</a:t>
            </a:r>
            <a:pPr indent="0" marL="0">
              <a:buNone/>
            </a:pPr>
            <a:r>
              <a:rPr lang="en-US" sz="1250" dirty="0">
                <a:solidFill>
                  <a:srgbClr val="1B2A41"/>
                </a:solidFill>
                <a:latin typeface="Calibri" pitchFamily="34" charset="0"/>
                <a:ea typeface="Calibri" pitchFamily="34" charset="-122"/>
                <a:cs typeface="Calibri" pitchFamily="34" charset="-120"/>
              </a:rPr>
              <a:t> are separated by a semipermeable membrane. Which way does water flow?</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Glucose: 1.5 M × 1 = 1.5 osmol. Al(NO</a:t>
            </a:r>
            <a:pPr indent="0" marL="0">
              <a:buNone/>
            </a:pPr>
            <a:r>
              <a:rPr lang="en-US" sz="1200" baseline="-4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a:t>
            </a:r>
            <a:pPr indent="0" marL="0">
              <a:buNone/>
            </a:pPr>
            <a:r>
              <a:rPr lang="en-US" sz="1200" baseline="-4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 → Al</a:t>
            </a:r>
            <a:pPr indent="0" marL="0">
              <a:buNone/>
            </a:pPr>
            <a:r>
              <a:rPr lang="en-US" sz="1200" baseline="30000" dirty="0">
                <a:solidFill>
                  <a:srgbClr val="1B2A41"/>
                </a:solidFill>
                <a:latin typeface="Calibri" pitchFamily="34" charset="0"/>
                <a:ea typeface="Calibri" pitchFamily="34" charset="-122"/>
                <a:cs typeface="Calibri" pitchFamily="34" charset="-120"/>
              </a:rPr>
              <a:t>3+</a:t>
            </a:r>
            <a:pPr indent="0" marL="0">
              <a:buNone/>
            </a:pPr>
            <a:r>
              <a:rPr lang="en-US" sz="1200" dirty="0">
                <a:solidFill>
                  <a:srgbClr val="1B2A41"/>
                </a:solidFill>
                <a:latin typeface="Calibri" pitchFamily="34" charset="0"/>
                <a:ea typeface="Calibri" pitchFamily="34" charset="-122"/>
                <a:cs typeface="Calibri" pitchFamily="34" charset="-120"/>
              </a:rPr>
              <a:t> + 3NO</a:t>
            </a:r>
            <a:pPr indent="0" marL="0">
              <a:buNone/>
            </a:pPr>
            <a:r>
              <a:rPr lang="en-US" sz="1200" baseline="-40000" dirty="0">
                <a:solidFill>
                  <a:srgbClr val="1B2A41"/>
                </a:solidFill>
                <a:latin typeface="Calibri" pitchFamily="34" charset="0"/>
                <a:ea typeface="Calibri" pitchFamily="34" charset="-122"/>
                <a:cs typeface="Calibri" pitchFamily="34" charset="-120"/>
              </a:rPr>
              <a:t>3</a:t>
            </a:r>
            <a:pPr indent="0" marL="0">
              <a:buNone/>
            </a:pPr>
            <a:r>
              <a:rPr lang="en-US" sz="1200" baseline="30000" dirty="0">
                <a:solidFill>
                  <a:srgbClr val="1B2A41"/>
                </a:solidFill>
                <a:latin typeface="Calibri" pitchFamily="34" charset="0"/>
                <a:ea typeface="Calibri" pitchFamily="34" charset="-122"/>
                <a:cs typeface="Calibri" pitchFamily="34" charset="-120"/>
              </a:rPr>
              <a:t>−</a:t>
            </a:r>
            <a:pPr indent="0" marL="0">
              <a:buNone/>
            </a:pPr>
            <a:r>
              <a:rPr lang="en-US" sz="1200" dirty="0">
                <a:solidFill>
                  <a:srgbClr val="1B2A41"/>
                </a:solidFill>
                <a:latin typeface="Calibri" pitchFamily="34" charset="0"/>
                <a:ea typeface="Calibri" pitchFamily="34" charset="-122"/>
                <a:cs typeface="Calibri" pitchFamily="34" charset="-120"/>
              </a:rPr>
              <a:t>: 0.40 M × 4 = 1.6 osmol.</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Water flows </a:t>
            </a:r>
            <a:pPr indent="0" marL="0">
              <a:buNone/>
            </a:pPr>
            <a:r>
              <a:rPr lang="en-US" sz="1200" b="1" dirty="0">
                <a:solidFill>
                  <a:srgbClr val="1B2A41"/>
                </a:solidFill>
                <a:latin typeface="Calibri" pitchFamily="34" charset="0"/>
                <a:ea typeface="Calibri" pitchFamily="34" charset="-122"/>
                <a:cs typeface="Calibri" pitchFamily="34" charset="-120"/>
              </a:rPr>
              <a:t>from the glucose solution into the Al(NO</a:t>
            </a:r>
            <a:pPr indent="0" marL="0">
              <a:buNone/>
            </a:pPr>
            <a:r>
              <a:rPr lang="en-US" sz="1200" b="1" baseline="-40000" dirty="0">
                <a:solidFill>
                  <a:srgbClr val="1B2A41"/>
                </a:solidFill>
                <a:latin typeface="Calibri" pitchFamily="34" charset="0"/>
                <a:ea typeface="Calibri" pitchFamily="34" charset="-122"/>
                <a:cs typeface="Calibri" pitchFamily="34" charset="-120"/>
              </a:rPr>
              <a:t>3</a:t>
            </a:r>
            <a:pPr indent="0" marL="0">
              <a:buNone/>
            </a:pPr>
            <a:r>
              <a:rPr lang="en-US" sz="1200" b="1" dirty="0">
                <a:solidFill>
                  <a:srgbClr val="1B2A41"/>
                </a:solidFill>
                <a:latin typeface="Calibri" pitchFamily="34" charset="0"/>
                <a:ea typeface="Calibri" pitchFamily="34" charset="-122"/>
                <a:cs typeface="Calibri" pitchFamily="34" charset="-120"/>
              </a:rPr>
              <a:t>)</a:t>
            </a:r>
            <a:pPr indent="0" marL="0">
              <a:buNone/>
            </a:pPr>
            <a:r>
              <a:rPr lang="en-US" sz="1200" b="1" baseline="-40000" dirty="0">
                <a:solidFill>
                  <a:srgbClr val="1B2A41"/>
                </a:solidFill>
                <a:latin typeface="Calibri" pitchFamily="34" charset="0"/>
                <a:ea typeface="Calibri" pitchFamily="34" charset="-122"/>
                <a:cs typeface="Calibri" pitchFamily="34" charset="-120"/>
              </a:rPr>
              <a:t>3</a:t>
            </a:r>
            <a:pPr indent="0" marL="0">
              <a:buNone/>
            </a:pPr>
            <a:r>
              <a:rPr lang="en-US" sz="1200" b="1" dirty="0">
                <a:solidFill>
                  <a:srgbClr val="1B2A41"/>
                </a:solidFill>
                <a:latin typeface="Calibri" pitchFamily="34" charset="0"/>
                <a:ea typeface="Calibri" pitchFamily="34" charset="-122"/>
                <a:cs typeface="Calibri" pitchFamily="34" charset="-120"/>
              </a:rPr>
              <a:t> solution</a:t>
            </a:r>
            <a:pPr indent="0" marL="0">
              <a:buNone/>
            </a:pPr>
            <a:r>
              <a:rPr lang="en-US" sz="1200" dirty="0">
                <a:solidFill>
                  <a:srgbClr val="1B2A41"/>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Tonicity: red blood cells</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rbc.png">    </p:cNvPr>
          <p:cNvPicPr>
            <a:picLocks noChangeAspect="1"/>
          </p:cNvPicPr>
          <p:nvPr/>
        </p:nvPicPr>
        <p:blipFill>
          <a:blip r:embed="rId2"/>
          <a:stretch>
            <a:fillRect/>
          </a:stretch>
        </p:blipFill>
        <p:spPr>
          <a:xfrm>
            <a:off x="2487561" y="1234440"/>
            <a:ext cx="4168877" cy="2194560"/>
          </a:xfrm>
          <a:prstGeom prst="rect">
            <a:avLst/>
          </a:prstGeom>
        </p:spPr>
      </p:pic>
      <p:sp>
        <p:nvSpPr>
          <p:cNvPr id="11" name="Text 7"/>
          <p:cNvSpPr txBox="1"/>
          <p:nvPr/>
        </p:nvSpPr>
        <p:spPr>
          <a:xfrm>
            <a:off x="457200" y="3465576"/>
            <a:ext cx="822960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Red blood cells in hypertonic, isotonic and hypotonic solutions, Figure 9.7.1 (Ball, The Basics of GOB Chemistry 9.7)</a:t>
            </a:r>
            <a:endParaRPr lang="en-US" sz="750" dirty="0"/>
          </a:p>
        </p:txBody>
      </p:sp>
      <p:sp>
        <p:nvSpPr>
          <p:cNvPr id="12" name="Text 8"/>
          <p:cNvSpPr txBox="1"/>
          <p:nvPr/>
        </p:nvSpPr>
        <p:spPr>
          <a:xfrm>
            <a:off x="457200" y="3794760"/>
            <a:ext cx="8229600" cy="86868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Hypertonic</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(higher osmolarity outside): water leaves, cells shrivel: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crenation</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Isotonic</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(same): no net flow, cells stay normal.</a:t>
            </a:r>
            <a:endParaRPr lang="en-US" sz="1200" dirty="0"/>
          </a:p>
          <a:p>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Hypotonic</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(lower osmolarity outside): water enters, cells swell and burst: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haemolysis</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That is why pure water is never infused.</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Pharmacy focus: IV fluids and tonicity</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36576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Blood plasma is about 0.30 osmol. Glucose about 0.31 M and NaCl about 0.16 M are isotonic with it.</a:t>
            </a:r>
            <a:endParaRPr lang="en-US" sz="12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914400"/>
        </p:xfrm>
        <a:graphic>
          <a:graphicData uri="http://schemas.openxmlformats.org/drawingml/2006/table">
            <a:tbl>
              <a:tblPr/>
              <a:tblGrid>
                <a:gridCol w="1943100"/>
                <a:gridCol w="2971800"/>
                <a:gridCol w="1485900"/>
                <a:gridCol w="1828800"/>
              </a:tblGrid>
              <a:tr h="0">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IV fluid</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Osmolarity (approx.)</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Tonicity</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c>
                  <a:txBody>
                    <a:bodyPr/>
                    <a:lstStyle/>
                    <a:p>
                      <a:pPr indent="0" marL="0">
                        <a:buNone/>
                      </a:pPr>
                      <a:r>
                        <a:rPr lang="en-US" sz="1050" b="1" dirty="0">
                          <a:solidFill>
                            <a:srgbClr val="2F6F9F"/>
                          </a:solidFill>
                          <a:latin typeface="Calibri" pitchFamily="34" charset="0"/>
                          <a:ea typeface="Calibri" pitchFamily="34" charset="-122"/>
                          <a:cs typeface="Calibri" pitchFamily="34" charset="-120"/>
                        </a:rPr>
                        <a:t>Effect on red cells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E1EEF7"/>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0.9% NaCl (normal saline)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9.0 g/L ÷ 58.44 = 0.154 M × 2 = 0.31 osmol</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isotonic</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5% dextrose (D5W)</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50 g/L ÷ 180.18 = 0.28 M × 1 = 0.28 osmol</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about isotonic in the bag</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none at infusion</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3% NaCl</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30 g/L ÷ 58.44 = 0.51 M × 2 = 1.0 osmol</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hypertonic</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crenation; used only for special cases</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B2A41"/>
                          </a:solidFill>
                          <a:latin typeface="Calibri" pitchFamily="34" charset="0"/>
                          <a:ea typeface="Calibri" pitchFamily="34" charset="-122"/>
                          <a:cs typeface="Calibri" pitchFamily="34" charset="-120"/>
                        </a:rPr>
                        <a:t>sterile water</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0 osmol</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hypotonic</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c>
                  <a:txBody>
                    <a:bodyPr/>
                    <a:lstStyle/>
                    <a:p>
                      <a:pPr indent="0" marL="0">
                        <a:buNone/>
                      </a:pPr>
                      <a:r>
                        <a:rPr lang="en-US" sz="1050" dirty="0">
                          <a:solidFill>
                            <a:srgbClr val="1B2A41"/>
                          </a:solidFill>
                          <a:latin typeface="Calibri" pitchFamily="34" charset="0"/>
                          <a:ea typeface="Calibri" pitchFamily="34" charset="-122"/>
                          <a:cs typeface="Calibri" pitchFamily="34" charset="-120"/>
                        </a:rPr>
                        <a:t>haemolysis: never given IV</a:t>
                      </a:r>
                      <a:endParaRPr lang="en-US" sz="1050" dirty="0">
                        <a:latin typeface="Calibri" charset="0"/>
                        <a:ea typeface="Calibri" charset="0"/>
                        <a:cs typeface="Calibri" charset="0"/>
                      </a:endParaRPr>
                    </a:p>
                  </a:txBody>
                  <a:tcPr marL="45720" marR="45720" marT="45720" marB="45720" anchor="ctr">
                    <a:lnL w="6350" cap="flat" cmpd="sng" algn="ctr">
                      <a:solidFill>
                        <a:srgbClr val="D7E0E8"/>
                      </a:solidFill>
                      <a:prstDash val="solid"/>
                      <a:round/>
                      <a:headEnd type="none" w="med" len="med"/>
                      <a:tailEnd type="none" w="med" len="med"/>
                    </a:lnL>
                    <a:lnR w="6350" cap="flat" cmpd="sng" algn="ctr">
                      <a:solidFill>
                        <a:srgbClr val="D7E0E8"/>
                      </a:solidFill>
                      <a:prstDash val="solid"/>
                      <a:round/>
                      <a:headEnd type="none" w="med" len="med"/>
                      <a:tailEnd type="none" w="med" len="med"/>
                    </a:lnR>
                    <a:lnT w="6350" cap="flat" cmpd="sng" algn="ctr">
                      <a:solidFill>
                        <a:srgbClr val="D7E0E8"/>
                      </a:solidFill>
                      <a:prstDash val="solid"/>
                      <a:round/>
                      <a:headEnd type="none" w="med" len="med"/>
                      <a:tailEnd type="none" w="med" len="med"/>
                    </a:lnT>
                    <a:lnB w="6350" cap="flat" cmpd="sng" algn="ctr">
                      <a:solidFill>
                        <a:srgbClr val="D7E0E8"/>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457200" y="4297680"/>
            <a:ext cx="8229600" cy="457200"/>
          </a:xfrm>
          <a:prstGeom prst="rect">
            <a:avLst/>
          </a:prstGeom>
          <a:noFill/>
          <a:ln/>
        </p:spPr>
        <p:txBody>
          <a:bodyPr wrap="square" lIns="0" tIns="0" rIns="0" bIns="0" rtlCol="0" anchor="t"/>
          <a:lstStyle/>
          <a:p>
            <a:pPr indent="0" marL="0">
              <a:buNone/>
            </a:pPr>
            <a:r>
              <a:rPr lang="en-US" sz="900" i="1" dirty="0">
                <a:solidFill>
                  <a:srgbClr val="56657A"/>
                </a:solidFill>
                <a:latin typeface="Calibri" pitchFamily="34" charset="0"/>
                <a:ea typeface="Calibri" pitchFamily="34" charset="-122"/>
                <a:cs typeface="Calibri" pitchFamily="34" charset="-120"/>
              </a:rPr>
              <a:t>Isotonic NaCl is about half the molarity of isotonic glucose, because each NaCl gives 2 particles.</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Example 6.2 · Is normal saline isotonic?</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777240"/>
          </a:xfrm>
          <a:prstGeom prst="roundRect">
            <a:avLst>
              <a:gd name="adj" fmla="val 9412"/>
            </a:avLst>
          </a:prstGeom>
          <a:solidFill>
            <a:srgbClr val="FFFFFF"/>
          </a:solidFill>
          <a:ln w="9525">
            <a:solidFill>
              <a:srgbClr val="D7E0E8"/>
            </a:solidFill>
            <a:prstDash val="solid"/>
          </a:ln>
        </p:spPr>
      </p:sp>
      <p:sp>
        <p:nvSpPr>
          <p:cNvPr id="11" name="Text 8"/>
          <p:cNvSpPr txBox="1"/>
          <p:nvPr/>
        </p:nvSpPr>
        <p:spPr>
          <a:xfrm>
            <a:off x="594360" y="1280160"/>
            <a:ext cx="7955280" cy="6858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Show that 0.9% m/v NaCl (58.44 g/mol) is isotonic with blood (about 0.30 osmol).</a:t>
            </a:r>
            <a:endParaRPr lang="en-US" sz="1200" dirty="0"/>
          </a:p>
        </p:txBody>
      </p:sp>
      <p:sp>
        <p:nvSpPr>
          <p:cNvPr id="12" name="Shape 9"/>
          <p:cNvSpPr/>
          <p:nvPr/>
        </p:nvSpPr>
        <p:spPr>
          <a:xfrm>
            <a:off x="457200" y="2212848"/>
            <a:ext cx="274320" cy="274320"/>
          </a:xfrm>
          <a:prstGeom prst="ellipse">
            <a:avLst/>
          </a:prstGeom>
          <a:solidFill>
            <a:srgbClr val="2F6F9F"/>
          </a:solidFill>
          <a:ln w="12700">
            <a:solidFill>
              <a:srgbClr val="2F6F9F"/>
            </a:solidFill>
            <a:prstDash val="solid"/>
          </a:ln>
        </p:spPr>
      </p:sp>
      <p:sp>
        <p:nvSpPr>
          <p:cNvPr id="13" name="Text 10"/>
          <p:cNvSpPr txBox="1"/>
          <p:nvPr/>
        </p:nvSpPr>
        <p:spPr>
          <a:xfrm>
            <a:off x="457200" y="221284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4" name="Text 11"/>
          <p:cNvSpPr txBox="1"/>
          <p:nvPr/>
        </p:nvSpPr>
        <p:spPr>
          <a:xfrm>
            <a:off x="868680" y="2194560"/>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0.9% m/v = 0.9 g per 100 mL = 9.0 g per litre</a:t>
            </a:r>
            <a:endParaRPr lang="en-US" sz="1200" dirty="0"/>
          </a:p>
        </p:txBody>
      </p:sp>
      <p:sp>
        <p:nvSpPr>
          <p:cNvPr id="15" name="Shape 12"/>
          <p:cNvSpPr/>
          <p:nvPr/>
        </p:nvSpPr>
        <p:spPr>
          <a:xfrm>
            <a:off x="457200" y="2779776"/>
            <a:ext cx="274320" cy="274320"/>
          </a:xfrm>
          <a:prstGeom prst="ellipse">
            <a:avLst/>
          </a:prstGeom>
          <a:solidFill>
            <a:srgbClr val="2F6F9F"/>
          </a:solidFill>
          <a:ln w="12700">
            <a:solidFill>
              <a:srgbClr val="2F6F9F"/>
            </a:solidFill>
            <a:prstDash val="solid"/>
          </a:ln>
        </p:spPr>
      </p:sp>
      <p:sp>
        <p:nvSpPr>
          <p:cNvPr id="16" name="Text 13"/>
          <p:cNvSpPr txBox="1"/>
          <p:nvPr/>
        </p:nvSpPr>
        <p:spPr>
          <a:xfrm>
            <a:off x="457200" y="277977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4"/>
          <p:cNvSpPr txBox="1"/>
          <p:nvPr/>
        </p:nvSpPr>
        <p:spPr>
          <a:xfrm>
            <a:off x="868680" y="2761488"/>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9.0 g ÷ 58.44 g/mol = 0.154 mol, so 0.154 M</a:t>
            </a:r>
            <a:endParaRPr lang="en-US" sz="1200" dirty="0"/>
          </a:p>
        </p:txBody>
      </p:sp>
      <p:sp>
        <p:nvSpPr>
          <p:cNvPr id="18" name="Shape 15"/>
          <p:cNvSpPr/>
          <p:nvPr/>
        </p:nvSpPr>
        <p:spPr>
          <a:xfrm>
            <a:off x="457200" y="3346704"/>
            <a:ext cx="274320" cy="274320"/>
          </a:xfrm>
          <a:prstGeom prst="ellipse">
            <a:avLst/>
          </a:prstGeom>
          <a:solidFill>
            <a:srgbClr val="2F6F9F"/>
          </a:solidFill>
          <a:ln w="12700">
            <a:solidFill>
              <a:srgbClr val="2F6F9F"/>
            </a:solidFill>
            <a:prstDash val="solid"/>
          </a:ln>
        </p:spPr>
      </p:sp>
      <p:sp>
        <p:nvSpPr>
          <p:cNvPr id="19" name="Text 16"/>
          <p:cNvSpPr txBox="1"/>
          <p:nvPr/>
        </p:nvSpPr>
        <p:spPr>
          <a:xfrm>
            <a:off x="457200" y="33467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0" name="Text 17"/>
          <p:cNvSpPr txBox="1"/>
          <p:nvPr/>
        </p:nvSpPr>
        <p:spPr>
          <a:xfrm>
            <a:off x="868680" y="3328416"/>
            <a:ext cx="7772400" cy="566928"/>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osmol = 0.154 M × 2 = 0.31 osmol</a:t>
            </a:r>
            <a:endParaRPr lang="en-US" sz="1200" dirty="0"/>
          </a:p>
        </p:txBody>
      </p:sp>
      <p:sp>
        <p:nvSpPr>
          <p:cNvPr id="21" name="Shape 18"/>
          <p:cNvSpPr/>
          <p:nvPr/>
        </p:nvSpPr>
        <p:spPr>
          <a:xfrm>
            <a:off x="457200" y="3913632"/>
            <a:ext cx="274320" cy="274320"/>
          </a:xfrm>
          <a:prstGeom prst="ellipse">
            <a:avLst/>
          </a:prstGeom>
          <a:solidFill>
            <a:srgbClr val="B86E00"/>
          </a:solidFill>
          <a:ln w="12700">
            <a:solidFill>
              <a:srgbClr val="B86E00"/>
            </a:solidFill>
            <a:prstDash val="solid"/>
          </a:ln>
        </p:spPr>
      </p:sp>
      <p:sp>
        <p:nvSpPr>
          <p:cNvPr id="22" name="Text 19"/>
          <p:cNvSpPr txBox="1"/>
          <p:nvPr/>
        </p:nvSpPr>
        <p:spPr>
          <a:xfrm>
            <a:off x="457200" y="39136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3" name="Text 20"/>
          <p:cNvSpPr txBox="1"/>
          <p:nvPr/>
        </p:nvSpPr>
        <p:spPr>
          <a:xfrm>
            <a:off x="868680" y="3895344"/>
            <a:ext cx="7772400" cy="566928"/>
          </a:xfrm>
          <a:prstGeom prst="rect">
            <a:avLst/>
          </a:prstGeom>
          <a:noFill/>
          <a:ln/>
        </p:spPr>
        <p:txBody>
          <a:bodyPr wrap="square" lIns="0" tIns="0" rIns="0" bIns="0" rtlCol="0" anchor="t"/>
          <a:lstStyle/>
          <a:p>
            <a:pPr indent="0" marL="0">
              <a:buNone/>
            </a:pPr>
            <a:r>
              <a:rPr lang="en-US" sz="1200" b="1" dirty="0">
                <a:solidFill>
                  <a:srgbClr val="1B2A41"/>
                </a:solidFill>
                <a:latin typeface="Calibri" pitchFamily="34" charset="0"/>
                <a:ea typeface="Calibri" pitchFamily="34" charset="-122"/>
                <a:cs typeface="Calibri" pitchFamily="34" charset="-120"/>
              </a:rPr>
              <a:t>0.31 ≈ 0.30 osmol: isotonic</a:t>
            </a:r>
            <a:pPr indent="0" marL="0">
              <a:buNone/>
            </a:pPr>
            <a:r>
              <a:rPr lang="en-US" sz="1200" b="1" dirty="0">
                <a:solidFill>
                  <a:srgbClr val="1B2A41"/>
                </a:solidFill>
                <a:latin typeface="Calibri" pitchFamily="34" charset="0"/>
                <a:ea typeface="Calibri" pitchFamily="34" charset="-122"/>
                <a:cs typeface="Calibri" pitchFamily="34" charset="-120"/>
              </a:rPr>
              <a:t>, so red blood cells neither swell nor shrink.</a:t>
            </a:r>
            <a:endParaRPr lang="en-US"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Dialysis: osmosis as treatment</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dialysis.png">    </p:cNvPr>
          <p:cNvPicPr>
            <a:picLocks noChangeAspect="1"/>
          </p:cNvPicPr>
          <p:nvPr/>
        </p:nvPicPr>
        <p:blipFill>
          <a:blip r:embed="rId2"/>
          <a:stretch>
            <a:fillRect/>
          </a:stretch>
        </p:blipFill>
        <p:spPr>
          <a:xfrm>
            <a:off x="457200" y="1280160"/>
            <a:ext cx="3931920" cy="2595067"/>
          </a:xfrm>
          <a:prstGeom prst="rect">
            <a:avLst/>
          </a:prstGeom>
        </p:spPr>
      </p:pic>
      <p:sp>
        <p:nvSpPr>
          <p:cNvPr id="11" name="Text 7"/>
          <p:cNvSpPr txBox="1"/>
          <p:nvPr/>
        </p:nvSpPr>
        <p:spPr>
          <a:xfrm>
            <a:off x="457200" y="3911803"/>
            <a:ext cx="393192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A patient undergoing haemodialysis, Figure 9.4.3 (Ball, The Basics of GOB Chemistry 9.4)</a:t>
            </a:r>
            <a:endParaRPr lang="en-US" sz="750" dirty="0"/>
          </a:p>
        </p:txBody>
      </p:sp>
      <p:sp>
        <p:nvSpPr>
          <p:cNvPr id="12" name="Text 8"/>
          <p:cNvSpPr txBox="1"/>
          <p:nvPr/>
        </p:nvSpPr>
        <p:spPr>
          <a:xfrm>
            <a:off x="4663440" y="1280160"/>
            <a:ext cx="4023360" cy="33832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Damaged kidneys cannot filter waste and extra water from the blood.</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In </a:t>
            </a:r>
            <a:pPr marL="177800" indent="-177800">
              <a:spcAft>
                <a:spcPts val="600"/>
              </a:spcAft>
              <a:buSzPct val="100000"/>
              <a:buChar char="•"/>
            </a:pPr>
            <a:r>
              <a:rPr lang="en-US" sz="1250" b="1" dirty="0">
                <a:solidFill>
                  <a:srgbClr val="1B2A41"/>
                </a:solidFill>
                <a:latin typeface="Calibri" pitchFamily="34" charset="0"/>
                <a:ea typeface="Calibri" pitchFamily="34" charset="-122"/>
                <a:cs typeface="Calibri" pitchFamily="34" charset="-120"/>
              </a:rPr>
              <a:t>haemodialysis</a:t>
            </a:r>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 blood flows through tubing made of a semipermeable membrane, bathed in a sterile solution of water, glucose, amino acids and electrolytes.</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Waste molecules and excess water cross the membrane; blood cells are too large and stay in the blood.</a:t>
            </a:r>
            <a:endParaRPr lang="en-US" sz="1250" dirty="0"/>
          </a:p>
          <a:p>
            <a:pPr marL="177800" indent="-177800">
              <a:spcAft>
                <a:spcPts val="600"/>
              </a:spcAft>
              <a:buSzPct val="100000"/>
              <a:buChar char="•"/>
            </a:pPr>
            <a:r>
              <a:rPr lang="en-US" sz="1250" dirty="0">
                <a:solidFill>
                  <a:srgbClr val="1B2A41"/>
                </a:solidFill>
                <a:latin typeface="Calibri" pitchFamily="34" charset="0"/>
                <a:ea typeface="Calibri" pitchFamily="34" charset="-122"/>
                <a:cs typeface="Calibri" pitchFamily="34" charset="-120"/>
              </a:rPr>
              <a:t>Sessions last hours and are repeated several times a week; a transplant is the permanent solution.</a:t>
            </a:r>
            <a:endParaRPr lang="en-US" sz="12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Diffusion and the cell membrane</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pic>
        <p:nvPicPr>
          <p:cNvPr id="10" name="Image 1" descr="/tmp/solimg/membrane.png">    </p:cNvPr>
          <p:cNvPicPr>
            <a:picLocks noChangeAspect="1"/>
          </p:cNvPicPr>
          <p:nvPr/>
        </p:nvPicPr>
        <p:blipFill>
          <a:blip r:embed="rId2"/>
          <a:stretch>
            <a:fillRect/>
          </a:stretch>
        </p:blipFill>
        <p:spPr>
          <a:xfrm>
            <a:off x="1959429" y="1234440"/>
            <a:ext cx="5225143" cy="2194560"/>
          </a:xfrm>
          <a:prstGeom prst="rect">
            <a:avLst/>
          </a:prstGeom>
        </p:spPr>
      </p:pic>
      <p:sp>
        <p:nvSpPr>
          <p:cNvPr id="11" name="Text 7"/>
          <p:cNvSpPr txBox="1"/>
          <p:nvPr/>
        </p:nvSpPr>
        <p:spPr>
          <a:xfrm>
            <a:off x="457200" y="3465576"/>
            <a:ext cx="8229600" cy="292608"/>
          </a:xfrm>
          <a:prstGeom prst="rect">
            <a:avLst/>
          </a:prstGeom>
          <a:noFill/>
          <a:ln/>
        </p:spPr>
        <p:txBody>
          <a:bodyPr wrap="square" lIns="0" tIns="0" rIns="0" bIns="0" rtlCol="0" anchor="t"/>
          <a:lstStyle/>
          <a:p>
            <a:pPr algn="ctr" indent="0" marL="0">
              <a:buNone/>
            </a:pPr>
            <a:r>
              <a:rPr lang="en-US" sz="750" i="1" dirty="0">
                <a:solidFill>
                  <a:srgbClr val="56657A"/>
                </a:solidFill>
                <a:latin typeface="Calibri" pitchFamily="34" charset="0"/>
                <a:ea typeface="Calibri" pitchFamily="34" charset="-122"/>
                <a:cs typeface="Calibri" pitchFamily="34" charset="-120"/>
              </a:rPr>
              <a:t>The phospholipid bilayer of the plasma membrane, Figure 9.7.2 (Ball, The Basics of GOB Chemistry 9.7)</a:t>
            </a:r>
            <a:endParaRPr lang="en-US" sz="750" dirty="0"/>
          </a:p>
        </p:txBody>
      </p:sp>
      <p:sp>
        <p:nvSpPr>
          <p:cNvPr id="12" name="Text 8"/>
          <p:cNvSpPr txBox="1"/>
          <p:nvPr/>
        </p:nvSpPr>
        <p:spPr>
          <a:xfrm>
            <a:off x="457200" y="3794760"/>
            <a:ext cx="8229600" cy="86868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Diffusion</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molecules move from high to low concentration (down the concentration gradient) until it is even. </a:t>
            </a:r>
            <a:pPr marL="177800" indent="-177800">
              <a:spcAft>
                <a:spcPts val="600"/>
              </a:spcAft>
              <a:buSzPct val="100000"/>
              <a:buChar char="•"/>
            </a:pPr>
            <a:r>
              <a:rPr lang="en-US" sz="1200" b="1" dirty="0">
                <a:solidFill>
                  <a:srgbClr val="1B2A41"/>
                </a:solidFill>
                <a:latin typeface="Calibri" pitchFamily="34" charset="0"/>
                <a:ea typeface="Calibri" pitchFamily="34" charset="-122"/>
                <a:cs typeface="Calibri" pitchFamily="34" charset="-120"/>
              </a:rPr>
              <a:t>Osmosis</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is the diffusion of water.</a:t>
            </a:r>
            <a:endParaRPr lang="en-US" sz="1200" dirty="0"/>
          </a:p>
          <a:p>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The membrane is a bilayer of phospholipids: hydrophilic heads outside, hydrophobic tails inside. O</a:t>
            </a:r>
            <a:pPr marL="177800" indent="-177800">
              <a:spcAft>
                <a:spcPts val="600"/>
              </a:spcAft>
              <a:buSzPct val="100000"/>
              <a:buChar char="•"/>
            </a:pPr>
            <a:r>
              <a:rPr lang="en-US" sz="12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CO</a:t>
            </a:r>
            <a:pPr marL="177800" indent="-177800">
              <a:spcAft>
                <a:spcPts val="600"/>
              </a:spcAft>
              <a:buSzPct val="100000"/>
              <a:buChar char="•"/>
            </a:pPr>
            <a:r>
              <a:rPr lang="en-US" sz="1200" baseline="-40000" dirty="0">
                <a:solidFill>
                  <a:srgbClr val="1B2A41"/>
                </a:solidFill>
                <a:latin typeface="Calibri" pitchFamily="34" charset="0"/>
                <a:ea typeface="Calibri" pitchFamily="34" charset="-122"/>
                <a:cs typeface="Calibri" pitchFamily="34" charset="-120"/>
              </a:rPr>
              <a:t>2</a:t>
            </a:r>
            <a:pPr marL="177800" indent="-177800">
              <a:spcAft>
                <a:spcPts val="600"/>
              </a:spcAft>
              <a:buSzPct val="100000"/>
              <a:buChar char="•"/>
            </a:pPr>
            <a:r>
              <a:rPr lang="en-US" sz="1200" dirty="0">
                <a:solidFill>
                  <a:srgbClr val="1B2A41"/>
                </a:solidFill>
                <a:latin typeface="Calibri" pitchFamily="34" charset="0"/>
                <a:ea typeface="Calibri" pitchFamily="34" charset="-122"/>
                <a:cs typeface="Calibri" pitchFamily="34" charset="-120"/>
              </a:rPr>
              <a:t> and water cross; ions, glucose and proteins do not cross freely.</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Lost at sea</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Seawater has about three times the osmolarity of body fluids. Explain why a person in a lifeboat should not drink seawater.</a:t>
            </a:r>
            <a:endParaRPr lang="en-US" sz="1250" dirty="0"/>
          </a:p>
        </p:txBody>
      </p:sp>
      <p:sp>
        <p:nvSpPr>
          <p:cNvPr id="12" name="Text 9"/>
          <p:cNvSpPr txBox="1"/>
          <p:nvPr/>
        </p:nvSpPr>
        <p:spPr>
          <a:xfrm>
            <a:off x="457200" y="2377440"/>
            <a:ext cx="5486400" cy="274320"/>
          </a:xfrm>
          <a:prstGeom prst="rect">
            <a:avLst/>
          </a:prstGeom>
          <a:noFill/>
          <a:ln/>
        </p:spPr>
        <p:txBody>
          <a:bodyPr wrap="square" lIns="0" tIns="0" rIns="0" bIns="0" rtlCol="0" anchor="ctr"/>
          <a:lstStyle/>
          <a:p>
            <a:pPr indent="0" marL="0">
              <a:buNone/>
            </a:pPr>
            <a:r>
              <a:rPr lang="en-US" sz="1000" i="1" dirty="0">
                <a:solidFill>
                  <a:srgbClr val="56657A"/>
                </a:solidFill>
                <a:latin typeface="Calibri" pitchFamily="34" charset="0"/>
                <a:ea typeface="Calibri" pitchFamily="34" charset="-122"/>
                <a:cs typeface="Calibri" pitchFamily="34" charset="-120"/>
              </a:rPr>
              <a:t>Work it out, then check on the next slide.</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Try it · Lost at sea · answer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Shape 7"/>
          <p:cNvSpPr/>
          <p:nvPr/>
        </p:nvSpPr>
        <p:spPr>
          <a:xfrm>
            <a:off x="457200" y="1234440"/>
            <a:ext cx="8229600" cy="914400"/>
          </a:xfrm>
          <a:prstGeom prst="roundRect">
            <a:avLst>
              <a:gd name="adj" fmla="val 8000"/>
            </a:avLst>
          </a:prstGeom>
          <a:solidFill>
            <a:srgbClr val="FFFFFF"/>
          </a:solidFill>
          <a:ln w="9525">
            <a:solidFill>
              <a:srgbClr val="D7E0E8"/>
            </a:solidFill>
            <a:prstDash val="solid"/>
          </a:ln>
        </p:spPr>
      </p:sp>
      <p:sp>
        <p:nvSpPr>
          <p:cNvPr id="11" name="Text 8"/>
          <p:cNvSpPr txBox="1"/>
          <p:nvPr/>
        </p:nvSpPr>
        <p:spPr>
          <a:xfrm>
            <a:off x="594360" y="1280160"/>
            <a:ext cx="7955280" cy="822960"/>
          </a:xfrm>
          <a:prstGeom prst="rect">
            <a:avLst/>
          </a:prstGeom>
          <a:noFill/>
          <a:ln/>
        </p:spPr>
        <p:txBody>
          <a:bodyPr wrap="square" lIns="0" tIns="0" rIns="0" bIns="0" rtlCol="0" anchor="ctr"/>
          <a:lstStyle/>
          <a:p>
            <a:pPr indent="0" marL="0">
              <a:buNone/>
            </a:pPr>
            <a:r>
              <a:rPr lang="en-US" sz="1250" dirty="0">
                <a:solidFill>
                  <a:srgbClr val="1B2A41"/>
                </a:solidFill>
                <a:latin typeface="Calibri" pitchFamily="34" charset="0"/>
                <a:ea typeface="Calibri" pitchFamily="34" charset="-122"/>
                <a:cs typeface="Calibri" pitchFamily="34" charset="-120"/>
              </a:rPr>
              <a:t>Seawater has about three times the osmolarity of body fluids. Explain why a person in a lifeboat should not drink seawater.</a:t>
            </a:r>
            <a:endParaRPr lang="en-US" sz="1250" dirty="0"/>
          </a:p>
        </p:txBody>
      </p:sp>
      <p:sp>
        <p:nvSpPr>
          <p:cNvPr id="12" name="Shape 9"/>
          <p:cNvSpPr/>
          <p:nvPr/>
        </p:nvSpPr>
        <p:spPr>
          <a:xfrm>
            <a:off x="457200" y="2331720"/>
            <a:ext cx="8229600" cy="2240280"/>
          </a:xfrm>
          <a:prstGeom prst="roundRect">
            <a:avLst>
              <a:gd name="adj" fmla="val 3265"/>
            </a:avLst>
          </a:prstGeom>
          <a:solidFill>
            <a:srgbClr val="FBEFD9"/>
          </a:solidFill>
          <a:ln w="9525">
            <a:solidFill>
              <a:srgbClr val="FBEFD9"/>
            </a:solidFill>
            <a:prstDash val="solid"/>
          </a:ln>
        </p:spPr>
      </p:sp>
      <p:sp>
        <p:nvSpPr>
          <p:cNvPr id="13" name="Text 10"/>
          <p:cNvSpPr txBox="1"/>
          <p:nvPr/>
        </p:nvSpPr>
        <p:spPr>
          <a:xfrm>
            <a:off x="640080" y="2423160"/>
            <a:ext cx="7863840" cy="2057400"/>
          </a:xfrm>
          <a:prstGeom prst="rect">
            <a:avLst/>
          </a:prstGeom>
          <a:noFill/>
          <a:ln/>
        </p:spPr>
        <p:txBody>
          <a:bodyPr wrap="square" lIns="0" tIns="0" rIns="0" bIns="0" rtlCol="0" anchor="t"/>
          <a:lstStyle/>
          <a:p>
            <a:pPr indent="0" marL="0">
              <a:buNone/>
            </a:pPr>
            <a:r>
              <a:rPr lang="en-US" sz="1100" b="1" dirty="0">
                <a:solidFill>
                  <a:srgbClr val="B86E00"/>
                </a:solidFill>
                <a:latin typeface="Calibri" pitchFamily="34" charset="0"/>
                <a:ea typeface="Calibri" pitchFamily="34" charset="-122"/>
                <a:cs typeface="Calibri" pitchFamily="34" charset="-120"/>
              </a:rPr>
              <a:t>Answer</a:t>
            </a:r>
            <a:endParaRPr lang="en-US" sz="1100" dirty="0"/>
          </a:p>
          <a:p>
            <a:pPr indent="0" marL="0">
              <a:buNone/>
            </a:pPr>
            <a:r>
              <a:rPr lang="en-US" sz="1200" dirty="0">
                <a:solidFill>
                  <a:srgbClr val="1B2A41"/>
                </a:solidFill>
                <a:latin typeface="Calibri" pitchFamily="34" charset="0"/>
                <a:ea typeface="Calibri" pitchFamily="34" charset="-122"/>
                <a:cs typeface="Calibri" pitchFamily="34" charset="-120"/>
              </a:rPr>
              <a:t>Seawater is </a:t>
            </a:r>
            <a:pPr indent="0" marL="0">
              <a:buNone/>
            </a:pPr>
            <a:r>
              <a:rPr lang="en-US" sz="1200" b="1" dirty="0">
                <a:solidFill>
                  <a:srgbClr val="1B2A41"/>
                </a:solidFill>
                <a:latin typeface="Calibri" pitchFamily="34" charset="0"/>
                <a:ea typeface="Calibri" pitchFamily="34" charset="-122"/>
                <a:cs typeface="Calibri" pitchFamily="34" charset="-120"/>
              </a:rPr>
              <a:t>hypertonic</a:t>
            </a:r>
            <a:pPr indent="0" marL="0">
              <a:buNone/>
            </a:pPr>
            <a:r>
              <a:rPr lang="en-US" sz="1200" dirty="0">
                <a:solidFill>
                  <a:srgbClr val="1B2A41"/>
                </a:solidFill>
                <a:latin typeface="Calibri" pitchFamily="34" charset="0"/>
                <a:ea typeface="Calibri" pitchFamily="34" charset="-122"/>
                <a:cs typeface="Calibri" pitchFamily="34" charset="-120"/>
              </a:rPr>
              <a:t> to body fluids. Water moves by osmosis from the cells (lower osmolarity) into the salty fluid (higher osmolarity), so the cells lose water and the person becomes even more dehydrated and thirsty.</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Red blood cells are placed in a solution and swell until they burst. The solution was:</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isotonic</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hypertonic</a:t>
            </a:r>
            <a:endParaRPr lang="en-US" sz="1100" dirty="0"/>
          </a:p>
        </p:txBody>
      </p:sp>
      <p:sp>
        <p:nvSpPr>
          <p:cNvPr id="15" name="Shape 12"/>
          <p:cNvSpPr/>
          <p:nvPr/>
        </p:nvSpPr>
        <p:spPr>
          <a:xfrm>
            <a:off x="457200" y="2697480"/>
            <a:ext cx="4023360" cy="594360"/>
          </a:xfrm>
          <a:prstGeom prst="roundRect">
            <a:avLst>
              <a:gd name="adj" fmla="val 12308"/>
            </a:avLst>
          </a:prstGeom>
          <a:solidFill>
            <a:srgbClr val="FFFFFF"/>
          </a:solidFill>
          <a:ln w="9525">
            <a:solidFill>
              <a:srgbClr val="D7E0E8"/>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hypotonic</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saturated</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2F6F9"/>
        </a:solidFill>
      </p:bgPr>
    </p:bg>
    <p:spTree>
      <p:nvGrpSpPr>
        <p:cNvPr id="1" name=""/>
        <p:cNvGrpSpPr/>
        <p:nvPr/>
      </p:nvGrpSpPr>
      <p:grpSpPr>
        <a:xfrm>
          <a:off x="0" y="0"/>
          <a:ext cx="0" cy="0"/>
          <a:chOff x="0" y="0"/>
          <a:chExt cx="0" cy="0"/>
        </a:xfrm>
      </p:grpSpPr>
      <p:sp>
        <p:nvSpPr>
          <p:cNvPr id="2" name="Shape 0"/>
          <p:cNvSpPr/>
          <p:nvPr/>
        </p:nvSpPr>
        <p:spPr>
          <a:xfrm>
            <a:off x="457200" y="292608"/>
            <a:ext cx="329184" cy="329184"/>
          </a:xfrm>
          <a:prstGeom prst="ellipse">
            <a:avLst/>
          </a:prstGeom>
          <a:solidFill>
            <a:srgbClr val="2F6F9F"/>
          </a:solidFill>
          <a:ln w="12700">
            <a:solidFill>
              <a:srgbClr val="2F6F9F"/>
            </a:solidFill>
            <a:prstDash val="solid"/>
          </a:ln>
        </p:spPr>
      </p:sp>
      <p:sp>
        <p:nvSpPr>
          <p:cNvPr id="3" name="Text 1"/>
          <p:cNvSpPr txBox="1"/>
          <p:nvPr/>
        </p:nvSpPr>
        <p:spPr>
          <a:xfrm>
            <a:off x="457200" y="292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 name="Shape 2"/>
          <p:cNvSpPr/>
          <p:nvPr/>
        </p:nvSpPr>
        <p:spPr>
          <a:xfrm>
            <a:off x="868680" y="320040"/>
            <a:ext cx="868680" cy="274320"/>
          </a:xfrm>
          <a:prstGeom prst="roundRect">
            <a:avLst>
              <a:gd name="adj" fmla="val 50000"/>
            </a:avLst>
          </a:prstGeom>
          <a:solidFill>
            <a:srgbClr val="E1EEF7"/>
          </a:solidFill>
          <a:ln w="12700">
            <a:solidFill>
              <a:srgbClr val="E1EEF7"/>
            </a:solidFill>
            <a:prstDash val="solid"/>
          </a:ln>
        </p:spPr>
      </p:sp>
      <p:sp>
        <p:nvSpPr>
          <p:cNvPr id="5" name="Text 3"/>
          <p:cNvSpPr txBox="1"/>
          <p:nvPr/>
        </p:nvSpPr>
        <p:spPr>
          <a:xfrm>
            <a:off x="868680" y="320040"/>
            <a:ext cx="868680" cy="274320"/>
          </a:xfrm>
          <a:prstGeom prst="rect">
            <a:avLst/>
          </a:prstGeom>
          <a:noFill/>
          <a:ln/>
        </p:spPr>
        <p:txBody>
          <a:bodyPr wrap="square" lIns="0" tIns="0" rIns="0" bIns="0" rtlCol="0" anchor="ctr"/>
          <a:lstStyle/>
          <a:p>
            <a:pPr algn="ctr" indent="0" marL="0">
              <a:buNone/>
            </a:pPr>
            <a:r>
              <a:rPr lang="en-US" sz="800" b="1" dirty="0">
                <a:solidFill>
                  <a:srgbClr val="2F6F9F"/>
                </a:solidFill>
                <a:latin typeface="Calibri" pitchFamily="34" charset="0"/>
                <a:ea typeface="Calibri" pitchFamily="34" charset="-122"/>
                <a:cs typeface="Calibri" pitchFamily="34" charset="-120"/>
              </a:rPr>
              <a:t>SOL-LO5</a:t>
            </a:r>
            <a:endParaRPr lang="en-US" sz="800" dirty="0"/>
          </a:p>
        </p:txBody>
      </p:sp>
      <p:sp>
        <p:nvSpPr>
          <p:cNvPr id="6" name="Text 4"/>
          <p:cNvSpPr txBox="1"/>
          <p:nvPr/>
        </p:nvSpPr>
        <p:spPr>
          <a:xfrm>
            <a:off x="457200" y="68580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Quick check · answer</a:t>
            </a:r>
            <a:endParaRPr lang="en-US" sz="2000" dirty="0"/>
          </a:p>
        </p:txBody>
      </p:sp>
      <p:pic>
        <p:nvPicPr>
          <p:cNvPr id="7"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8" name="Text 5"/>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9" name="Text 6"/>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
        <p:nvSpPr>
          <p:cNvPr id="10" name="Text 7"/>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Red blood cells are placed in a solution and swell until they burst. The solution was:</a:t>
            </a:r>
            <a:endParaRPr lang="en-US" sz="1300" dirty="0"/>
          </a:p>
        </p:txBody>
      </p:sp>
      <p:sp>
        <p:nvSpPr>
          <p:cNvPr id="11" name="Shape 8"/>
          <p:cNvSpPr/>
          <p:nvPr/>
        </p:nvSpPr>
        <p:spPr>
          <a:xfrm>
            <a:off x="457200" y="1965960"/>
            <a:ext cx="4023360" cy="594360"/>
          </a:xfrm>
          <a:prstGeom prst="roundRect">
            <a:avLst>
              <a:gd name="adj" fmla="val 12308"/>
            </a:avLst>
          </a:prstGeom>
          <a:solidFill>
            <a:srgbClr val="FFFFFF"/>
          </a:solidFill>
          <a:ln w="9525">
            <a:solidFill>
              <a:srgbClr val="D7E0E8"/>
            </a:solidFill>
            <a:prstDash val="solid"/>
          </a:ln>
        </p:spPr>
      </p:sp>
      <p:sp>
        <p:nvSpPr>
          <p:cNvPr id="12" name="Text 9"/>
          <p:cNvSpPr txBox="1"/>
          <p:nvPr/>
        </p:nvSpPr>
        <p:spPr>
          <a:xfrm>
            <a:off x="59436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A   </a:t>
            </a:r>
            <a:pPr indent="0" marL="0">
              <a:buNone/>
            </a:pPr>
            <a:r>
              <a:rPr lang="en-US" sz="1150" dirty="0">
                <a:solidFill>
                  <a:srgbClr val="1B2A41"/>
                </a:solidFill>
                <a:latin typeface="Calibri" pitchFamily="34" charset="0"/>
                <a:ea typeface="Calibri" pitchFamily="34" charset="-122"/>
                <a:cs typeface="Calibri" pitchFamily="34" charset="-120"/>
              </a:rPr>
              <a:t>isotonic</a:t>
            </a:r>
            <a:endParaRPr lang="en-US" sz="1100" dirty="0"/>
          </a:p>
        </p:txBody>
      </p:sp>
      <p:sp>
        <p:nvSpPr>
          <p:cNvPr id="13" name="Shape 10"/>
          <p:cNvSpPr/>
          <p:nvPr/>
        </p:nvSpPr>
        <p:spPr>
          <a:xfrm>
            <a:off x="4663440" y="1965960"/>
            <a:ext cx="4023360" cy="594360"/>
          </a:xfrm>
          <a:prstGeom prst="roundRect">
            <a:avLst>
              <a:gd name="adj" fmla="val 12308"/>
            </a:avLst>
          </a:prstGeom>
          <a:solidFill>
            <a:srgbClr val="FFFFFF"/>
          </a:solidFill>
          <a:ln w="9525">
            <a:solidFill>
              <a:srgbClr val="D7E0E8"/>
            </a:solidFill>
            <a:prstDash val="solid"/>
          </a:ln>
        </p:spPr>
      </p:sp>
      <p:sp>
        <p:nvSpPr>
          <p:cNvPr id="14" name="Text 11"/>
          <p:cNvSpPr txBox="1"/>
          <p:nvPr/>
        </p:nvSpPr>
        <p:spPr>
          <a:xfrm>
            <a:off x="4800600" y="196596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B   </a:t>
            </a:r>
            <a:pPr indent="0" marL="0">
              <a:buNone/>
            </a:pPr>
            <a:r>
              <a:rPr lang="en-US" sz="1150" dirty="0">
                <a:solidFill>
                  <a:srgbClr val="1B2A41"/>
                </a:solidFill>
                <a:latin typeface="Calibri" pitchFamily="34" charset="0"/>
                <a:ea typeface="Calibri" pitchFamily="34" charset="-122"/>
                <a:cs typeface="Calibri" pitchFamily="34" charset="-120"/>
              </a:rPr>
              <a:t>hypertonic</a:t>
            </a:r>
            <a:endParaRPr lang="en-US" sz="1100" dirty="0"/>
          </a:p>
        </p:txBody>
      </p:sp>
      <p:sp>
        <p:nvSpPr>
          <p:cNvPr id="15" name="Shape 12"/>
          <p:cNvSpPr/>
          <p:nvPr/>
        </p:nvSpPr>
        <p:spPr>
          <a:xfrm>
            <a:off x="457200" y="2697480"/>
            <a:ext cx="4023360" cy="594360"/>
          </a:xfrm>
          <a:prstGeom prst="roundRect">
            <a:avLst>
              <a:gd name="adj" fmla="val 12308"/>
            </a:avLst>
          </a:prstGeom>
          <a:solidFill>
            <a:srgbClr val="E3F3E9"/>
          </a:solidFill>
          <a:ln w="9525">
            <a:solidFill>
              <a:srgbClr val="2E7D4F"/>
            </a:solidFill>
            <a:prstDash val="solid"/>
          </a:ln>
        </p:spPr>
      </p:sp>
      <p:sp>
        <p:nvSpPr>
          <p:cNvPr id="16" name="Text 13"/>
          <p:cNvSpPr txBox="1"/>
          <p:nvPr/>
        </p:nvSpPr>
        <p:spPr>
          <a:xfrm>
            <a:off x="59436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C   </a:t>
            </a:r>
            <a:pPr indent="0" marL="0">
              <a:buNone/>
            </a:pPr>
            <a:r>
              <a:rPr lang="en-US" sz="1150" dirty="0">
                <a:solidFill>
                  <a:srgbClr val="1B2A41"/>
                </a:solidFill>
                <a:latin typeface="Calibri" pitchFamily="34" charset="0"/>
                <a:ea typeface="Calibri" pitchFamily="34" charset="-122"/>
                <a:cs typeface="Calibri" pitchFamily="34" charset="-120"/>
              </a:rPr>
              <a:t>hypotonic</a:t>
            </a:r>
            <a:endParaRPr lang="en-US" sz="1100" dirty="0"/>
          </a:p>
        </p:txBody>
      </p:sp>
      <p:sp>
        <p:nvSpPr>
          <p:cNvPr id="17" name="Shape 14"/>
          <p:cNvSpPr/>
          <p:nvPr/>
        </p:nvSpPr>
        <p:spPr>
          <a:xfrm>
            <a:off x="4663440" y="2697480"/>
            <a:ext cx="4023360" cy="594360"/>
          </a:xfrm>
          <a:prstGeom prst="roundRect">
            <a:avLst>
              <a:gd name="adj" fmla="val 12308"/>
            </a:avLst>
          </a:prstGeom>
          <a:solidFill>
            <a:srgbClr val="FFFFFF"/>
          </a:solidFill>
          <a:ln w="9525">
            <a:solidFill>
              <a:srgbClr val="D7E0E8"/>
            </a:solidFill>
            <a:prstDash val="solid"/>
          </a:ln>
        </p:spPr>
      </p:sp>
      <p:sp>
        <p:nvSpPr>
          <p:cNvPr id="18" name="Text 15"/>
          <p:cNvSpPr txBox="1"/>
          <p:nvPr/>
        </p:nvSpPr>
        <p:spPr>
          <a:xfrm>
            <a:off x="4800600" y="2697480"/>
            <a:ext cx="3749040" cy="594360"/>
          </a:xfrm>
          <a:prstGeom prst="rect">
            <a:avLst/>
          </a:prstGeom>
          <a:noFill/>
          <a:ln/>
        </p:spPr>
        <p:txBody>
          <a:bodyPr wrap="square" lIns="0" tIns="0" rIns="0" bIns="0" rtlCol="0" anchor="ctr"/>
          <a:lstStyle/>
          <a:p>
            <a:pPr indent="0" marL="0">
              <a:buNone/>
            </a:pPr>
            <a:r>
              <a:rPr lang="en-US" sz="1100" b="1" dirty="0">
                <a:solidFill>
                  <a:srgbClr val="2F6F9F"/>
                </a:solidFill>
                <a:latin typeface="Calibri" pitchFamily="34" charset="0"/>
                <a:ea typeface="Calibri" pitchFamily="34" charset="-122"/>
                <a:cs typeface="Calibri" pitchFamily="34" charset="-120"/>
              </a:rPr>
              <a:t>D   </a:t>
            </a:r>
            <a:pPr indent="0" marL="0">
              <a:buNone/>
            </a:pPr>
            <a:r>
              <a:rPr lang="en-US" sz="1150" dirty="0">
                <a:solidFill>
                  <a:srgbClr val="1B2A41"/>
                </a:solidFill>
                <a:latin typeface="Calibri" pitchFamily="34" charset="0"/>
                <a:ea typeface="Calibri" pitchFamily="34" charset="-122"/>
                <a:cs typeface="Calibri" pitchFamily="34" charset="-120"/>
              </a:rPr>
              <a:t>saturated</a:t>
            </a:r>
            <a:endParaRPr lang="en-US" sz="1100" dirty="0"/>
          </a:p>
        </p:txBody>
      </p:sp>
      <p:sp>
        <p:nvSpPr>
          <p:cNvPr id="19" name="Text 16"/>
          <p:cNvSpPr txBox="1"/>
          <p:nvPr/>
        </p:nvSpPr>
        <p:spPr>
          <a:xfrm>
            <a:off x="457200" y="3520440"/>
            <a:ext cx="8229600" cy="731520"/>
          </a:xfrm>
          <a:prstGeom prst="rect">
            <a:avLst/>
          </a:prstGeom>
          <a:noFill/>
          <a:ln/>
        </p:spPr>
        <p:txBody>
          <a:bodyPr wrap="square" lIns="0" tIns="0" rIns="0" bIns="0" rtlCol="0" anchor="t"/>
          <a:lstStyle/>
          <a:p>
            <a:pPr indent="0" marL="0">
              <a:buNone/>
            </a:pPr>
            <a:r>
              <a:rPr lang="en-US" sz="1150" b="1" dirty="0">
                <a:solidFill>
                  <a:srgbClr val="1B2A41"/>
                </a:solidFill>
                <a:latin typeface="Calibri" pitchFamily="34" charset="0"/>
                <a:ea typeface="Calibri" pitchFamily="34" charset="-122"/>
                <a:cs typeface="Calibri" pitchFamily="34" charset="-120"/>
              </a:rPr>
              <a:t>Answer C. </a:t>
            </a:r>
            <a:pPr indent="0" marL="0">
              <a:buNone/>
            </a:pPr>
            <a:r>
              <a:rPr lang="en-US" sz="1150" dirty="0">
                <a:solidFill>
                  <a:srgbClr val="1B2A41"/>
                </a:solidFill>
                <a:latin typeface="Calibri" pitchFamily="34" charset="0"/>
                <a:ea typeface="Calibri" pitchFamily="34" charset="-122"/>
                <a:cs typeface="Calibri" pitchFamily="34" charset="-120"/>
              </a:rPr>
              <a:t>In a hypotonic solution water moves into the cells, which swell and undergo haemolysis.</a:t>
            </a:r>
            <a:endParaRPr lang="en-US" sz="11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2F6F9"/>
        </a:solidFill>
      </p:bgPr>
    </p:bg>
    <p:spTree>
      <p:nvGrpSpPr>
        <p:cNvPr id="1" name=""/>
        <p:cNvGrpSpPr/>
        <p:nvPr/>
      </p:nvGrpSpPr>
      <p:grpSpPr>
        <a:xfrm>
          <a:off x="0" y="0"/>
          <a:ext cx="0" cy="0"/>
          <a:chOff x="0" y="0"/>
          <a:chExt cx="0" cy="0"/>
        </a:xfrm>
      </p:grpSpPr>
      <p:sp>
        <p:nvSpPr>
          <p:cNvPr id="2" name="Text 0"/>
          <p:cNvSpPr txBox="1"/>
          <p:nvPr/>
        </p:nvSpPr>
        <p:spPr>
          <a:xfrm>
            <a:off x="457200" y="411480"/>
            <a:ext cx="7680960" cy="45720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Summary: key rules</a:t>
            </a:r>
            <a:endParaRPr lang="en-US" sz="2000" dirty="0"/>
          </a:p>
        </p:txBody>
      </p:sp>
      <p:pic>
        <p:nvPicPr>
          <p:cNvPr id="3" name="Image 0" descr="/home/claude/build/mol/water.png">    </p:cNvPr>
          <p:cNvPicPr>
            <a:picLocks noChangeAspect="1"/>
          </p:cNvPicPr>
          <p:nvPr/>
        </p:nvPicPr>
        <p:blipFill>
          <a:blip r:embed="rId1"/>
          <a:stretch>
            <a:fillRect/>
          </a:stretch>
        </p:blipFill>
        <p:spPr>
          <a:xfrm>
            <a:off x="8174736" y="192024"/>
            <a:ext cx="384048" cy="384048"/>
          </a:xfrm>
          <a:prstGeom prst="rect">
            <a:avLst/>
          </a:prstGeom>
        </p:spPr>
      </p:pic>
      <p:sp>
        <p:nvSpPr>
          <p:cNvPr id="4" name="Text 1"/>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5" name="Text 2"/>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011680"/>
                <a:gridCol w="6217920"/>
              </a:tblGrid>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Solubility</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like dissolves like · saturated = at the limit</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Percent</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 m/m · % v/v · % m/v = g per 100 mL</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ppm / ppb</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 10</a:t>
                      </a:r>
                      <a:pPr indent="0" marL="0">
                        <a:buNone/>
                      </a:pPr>
                      <a:r>
                        <a:rPr lang="en-US" sz="1100" baseline="30000" dirty="0">
                          <a:solidFill>
                            <a:srgbClr val="1B2A41"/>
                          </a:solidFill>
                          <a:latin typeface="Calibri" pitchFamily="34" charset="0"/>
                          <a:ea typeface="Calibri" pitchFamily="34" charset="-122"/>
                          <a:cs typeface="Calibri" pitchFamily="34" charset="-120"/>
                        </a:rPr>
                        <a:t>6</a:t>
                      </a:r>
                      <a:pPr indent="0" marL="0">
                        <a:buNone/>
                      </a:pPr>
                      <a:r>
                        <a:rPr lang="en-US" sz="1100" dirty="0">
                          <a:solidFill>
                            <a:srgbClr val="1B2A41"/>
                          </a:solidFill>
                          <a:latin typeface="Calibri" pitchFamily="34" charset="0"/>
                          <a:ea typeface="Calibri" pitchFamily="34" charset="-122"/>
                          <a:cs typeface="Calibri" pitchFamily="34" charset="-120"/>
                        </a:rPr>
                        <a:t> / × 10</a:t>
                      </a:r>
                      <a:pPr indent="0" marL="0">
                        <a:buNone/>
                      </a:pPr>
                      <a:r>
                        <a:rPr lang="en-US" sz="1100" baseline="30000" dirty="0">
                          <a:solidFill>
                            <a:srgbClr val="1B2A41"/>
                          </a:solidFill>
                          <a:latin typeface="Calibri" pitchFamily="34" charset="0"/>
                          <a:ea typeface="Calibri" pitchFamily="34" charset="-122"/>
                          <a:cs typeface="Calibri" pitchFamily="34" charset="-120"/>
                        </a:rPr>
                        <a:t>9</a:t>
                      </a:r>
                      <a:pPr indent="0" marL="0">
                        <a:buNone/>
                      </a:pPr>
                      <a:r>
                        <a:rPr lang="en-US" sz="1100" dirty="0">
                          <a:solidFill>
                            <a:srgbClr val="1B2A41"/>
                          </a:solidFill>
                          <a:latin typeface="Calibri" pitchFamily="34" charset="0"/>
                          <a:ea typeface="Calibri" pitchFamily="34" charset="-122"/>
                          <a:cs typeface="Calibri" pitchFamily="34" charset="-120"/>
                        </a:rPr>
                        <a:t> · 1 ppm ≈ 1 mg/L</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Molarity</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M = mol ÷ L · mol = M × L</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Dilution</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M</a:t>
                      </a:r>
                      <a:pPr indent="0" marL="0">
                        <a:buNone/>
                      </a:pPr>
                      <a:r>
                        <a:rPr lang="en-US" sz="1100" baseline="-40000" dirty="0">
                          <a:solidFill>
                            <a:srgbClr val="1B2A41"/>
                          </a:solidFill>
                          <a:latin typeface="Calibri" pitchFamily="34" charset="0"/>
                          <a:ea typeface="Calibri" pitchFamily="34" charset="-122"/>
                          <a:cs typeface="Calibri" pitchFamily="34" charset="-120"/>
                        </a:rPr>
                        <a:t>1</a:t>
                      </a:r>
                      <a:pPr indent="0" marL="0">
                        <a:buNone/>
                      </a:pPr>
                      <a:r>
                        <a:rPr lang="en-US" sz="1100" dirty="0">
                          <a:solidFill>
                            <a:srgbClr val="1B2A41"/>
                          </a:solidFill>
                          <a:latin typeface="Calibri" pitchFamily="34" charset="0"/>
                          <a:ea typeface="Calibri" pitchFamily="34" charset="-122"/>
                          <a:cs typeface="Calibri" pitchFamily="34" charset="-120"/>
                        </a:rPr>
                        <a:t>V</a:t>
                      </a:r>
                      <a:pPr indent="0" marL="0">
                        <a:buNone/>
                      </a:pPr>
                      <a:r>
                        <a:rPr lang="en-US" sz="1100" baseline="-40000" dirty="0">
                          <a:solidFill>
                            <a:srgbClr val="1B2A41"/>
                          </a:solidFill>
                          <a:latin typeface="Calibri" pitchFamily="34" charset="0"/>
                          <a:ea typeface="Calibri" pitchFamily="34" charset="-122"/>
                          <a:cs typeface="Calibri" pitchFamily="34" charset="-120"/>
                        </a:rPr>
                        <a:t>1</a:t>
                      </a:r>
                      <a:pPr indent="0" marL="0">
                        <a:buNone/>
                      </a:pPr>
                      <a:r>
                        <a:rPr lang="en-US" sz="1100" dirty="0">
                          <a:solidFill>
                            <a:srgbClr val="1B2A41"/>
                          </a:solidFill>
                          <a:latin typeface="Calibri" pitchFamily="34" charset="0"/>
                          <a:ea typeface="Calibri" pitchFamily="34" charset="-122"/>
                          <a:cs typeface="Calibri" pitchFamily="34" charset="-120"/>
                        </a:rPr>
                        <a:t> = M</a:t>
                      </a:r>
                      <a:pPr indent="0" marL="0">
                        <a:buNone/>
                      </a:pPr>
                      <a:r>
                        <a:rPr lang="en-US" sz="1100" baseline="-40000" dirty="0">
                          <a:solidFill>
                            <a:srgbClr val="1B2A41"/>
                          </a:solidFill>
                          <a:latin typeface="Calibri" pitchFamily="34" charset="0"/>
                          <a:ea typeface="Calibri" pitchFamily="34" charset="-122"/>
                          <a:cs typeface="Calibri" pitchFamily="34" charset="-120"/>
                        </a:rPr>
                        <a:t>2</a:t>
                      </a:r>
                      <a:pPr indent="0" marL="0">
                        <a:buNone/>
                      </a:pPr>
                      <a:r>
                        <a:rPr lang="en-US" sz="1100" dirty="0">
                          <a:solidFill>
                            <a:srgbClr val="1B2A41"/>
                          </a:solidFill>
                          <a:latin typeface="Calibri" pitchFamily="34" charset="0"/>
                          <a:ea typeface="Calibri" pitchFamily="34" charset="-122"/>
                          <a:cs typeface="Calibri" pitchFamily="34" charset="-120"/>
                        </a:rPr>
                        <a:t>V</a:t>
                      </a:r>
                      <a:pPr indent="0" marL="0">
                        <a:buNone/>
                      </a:pPr>
                      <a:r>
                        <a:rPr lang="en-US" sz="1100" baseline="-40000" dirty="0">
                          <a:solidFill>
                            <a:srgbClr val="1B2A41"/>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Colligative</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depend on particle number · +0.5 °C bp, −1.9 °C fp per mol/L</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F6F9F"/>
                          </a:solidFill>
                          <a:latin typeface="Calibri" pitchFamily="34" charset="0"/>
                          <a:ea typeface="Calibri" pitchFamily="34" charset="-122"/>
                          <a:cs typeface="Calibri" pitchFamily="34" charset="-120"/>
                        </a:rPr>
                        <a:t>Osmosis</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c>
                  <a:txBody>
                    <a:bodyPr/>
                    <a:lstStyle/>
                    <a:p>
                      <a:pPr indent="0" marL="0">
                        <a:buNone/>
                      </a:pPr>
                      <a:r>
                        <a:rPr lang="en-US" sz="1100" dirty="0">
                          <a:solidFill>
                            <a:srgbClr val="1B2A41"/>
                          </a:solidFill>
                          <a:latin typeface="Calibri" pitchFamily="34" charset="0"/>
                          <a:ea typeface="Calibri" pitchFamily="34" charset="-122"/>
                          <a:cs typeface="Calibri" pitchFamily="34" charset="-120"/>
                        </a:rPr>
                        <a:t>osmol = M × i · water → higher osmolarity · IV = isotonic</a:t>
                      </a:r>
                      <a:endParaRPr lang="en-US" sz="1100" dirty="0">
                        <a:latin typeface="Calibri" charset="0"/>
                        <a:ea typeface="Calibri" charset="0"/>
                        <a:cs typeface="Calibri" charset="0"/>
                      </a:endParaRPr>
                    </a:p>
                  </a:txBody>
                  <a:tcPr marL="64008" marR="64008" marT="64008" marB="6400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1EEF7"/>
                    </a:solidFill>
                  </a:tcPr>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548640" y="548640"/>
            <a:ext cx="64008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Before the next topic</a:t>
            </a:r>
            <a:endParaRPr lang="en-US" sz="2400" dirty="0"/>
          </a:p>
        </p:txBody>
      </p:sp>
      <p:sp>
        <p:nvSpPr>
          <p:cNvPr id="3" name="Shape 1"/>
          <p:cNvSpPr/>
          <p:nvPr/>
        </p:nvSpPr>
        <p:spPr>
          <a:xfrm>
            <a:off x="548640" y="1371600"/>
            <a:ext cx="292608" cy="292608"/>
          </a:xfrm>
          <a:prstGeom prst="ellipse">
            <a:avLst/>
          </a:prstGeom>
          <a:solidFill>
            <a:srgbClr val="7DB6E3"/>
          </a:solidFill>
          <a:ln w="12700">
            <a:solidFill>
              <a:srgbClr val="7DB6E3"/>
            </a:solidFill>
            <a:prstDash val="solid"/>
          </a:ln>
        </p:spPr>
      </p:sp>
      <p:sp>
        <p:nvSpPr>
          <p:cNvPr id="4" name="Text 2"/>
          <p:cNvSpPr txBox="1"/>
          <p:nvPr/>
        </p:nvSpPr>
        <p:spPr>
          <a:xfrm>
            <a:off x="548640" y="1371600"/>
            <a:ext cx="292608" cy="292608"/>
          </a:xfrm>
          <a:prstGeom prst="rect">
            <a:avLst/>
          </a:prstGeom>
          <a:noFill/>
          <a:ln/>
        </p:spPr>
        <p:txBody>
          <a:bodyPr wrap="square" lIns="0" tIns="0" rIns="0" bIns="0" rtlCol="0" anchor="ctr"/>
          <a:lstStyle/>
          <a:p>
            <a:pPr algn="ctr" indent="0" marL="0">
              <a:buNone/>
            </a:pPr>
            <a:r>
              <a:rPr lang="en-US" sz="1000" b="1" dirty="0">
                <a:solidFill>
                  <a:srgbClr val="1B2A41"/>
                </a:solidFill>
                <a:latin typeface="Calibri" pitchFamily="34" charset="0"/>
                <a:ea typeface="Calibri" pitchFamily="34" charset="-122"/>
                <a:cs typeface="Calibri" pitchFamily="34" charset="-120"/>
              </a:rPr>
              <a:t>1</a:t>
            </a:r>
            <a:endParaRPr lang="en-US" sz="1000" dirty="0"/>
          </a:p>
        </p:txBody>
      </p:sp>
      <p:sp>
        <p:nvSpPr>
          <p:cNvPr id="5" name="Text 3"/>
          <p:cNvSpPr txBox="1"/>
          <p:nvPr/>
        </p:nvSpPr>
        <p:spPr>
          <a:xfrm>
            <a:off x="1005840" y="1335024"/>
            <a:ext cx="65836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Do the </a:t>
            </a:r>
            <a:pPr indent="0" marL="0">
              <a:buNone/>
            </a:pPr>
            <a:r>
              <a:rPr lang="en-US" sz="1200" b="1" dirty="0">
                <a:solidFill>
                  <a:srgbClr val="FFFFFF"/>
                </a:solidFill>
                <a:latin typeface="Calibri" pitchFamily="34" charset="0"/>
                <a:ea typeface="Calibri" pitchFamily="34" charset="-122"/>
                <a:cs typeface="Calibri" pitchFamily="34" charset="-120"/>
              </a:rPr>
              <a:t>After class</a:t>
            </a:r>
            <a:pPr indent="0" marL="0">
              <a:buNone/>
            </a:pPr>
            <a:r>
              <a:rPr lang="en-US" sz="1200" dirty="0">
                <a:solidFill>
                  <a:srgbClr val="FFFFFF"/>
                </a:solidFill>
                <a:latin typeface="Calibri" pitchFamily="34" charset="0"/>
                <a:ea typeface="Calibri" pitchFamily="34" charset="-122"/>
                <a:cs typeface="Calibri" pitchFamily="34" charset="-120"/>
              </a:rPr>
              <a:t> activity in the Study Hub (about 25 minutes).</a:t>
            </a:r>
            <a:endParaRPr lang="en-US" sz="1200" dirty="0"/>
          </a:p>
        </p:txBody>
      </p:sp>
      <p:sp>
        <p:nvSpPr>
          <p:cNvPr id="6" name="Shape 4"/>
          <p:cNvSpPr/>
          <p:nvPr/>
        </p:nvSpPr>
        <p:spPr>
          <a:xfrm>
            <a:off x="548640" y="1828800"/>
            <a:ext cx="292608" cy="292608"/>
          </a:xfrm>
          <a:prstGeom prst="ellipse">
            <a:avLst/>
          </a:prstGeom>
          <a:solidFill>
            <a:srgbClr val="7DB6E3"/>
          </a:solidFill>
          <a:ln w="12700">
            <a:solidFill>
              <a:srgbClr val="7DB6E3"/>
            </a:solidFill>
            <a:prstDash val="solid"/>
          </a:ln>
        </p:spPr>
      </p:sp>
      <p:sp>
        <p:nvSpPr>
          <p:cNvPr id="7" name="Text 5"/>
          <p:cNvSpPr txBox="1"/>
          <p:nvPr/>
        </p:nvSpPr>
        <p:spPr>
          <a:xfrm>
            <a:off x="548640" y="1828800"/>
            <a:ext cx="292608" cy="292608"/>
          </a:xfrm>
          <a:prstGeom prst="rect">
            <a:avLst/>
          </a:prstGeom>
          <a:noFill/>
          <a:ln/>
        </p:spPr>
        <p:txBody>
          <a:bodyPr wrap="square" lIns="0" tIns="0" rIns="0" bIns="0" rtlCol="0" anchor="ctr"/>
          <a:lstStyle/>
          <a:p>
            <a:pPr algn="ctr" indent="0" marL="0">
              <a:buNone/>
            </a:pPr>
            <a:r>
              <a:rPr lang="en-US" sz="1000" b="1" dirty="0">
                <a:solidFill>
                  <a:srgbClr val="1B2A41"/>
                </a:solidFill>
                <a:latin typeface="Calibri" pitchFamily="34" charset="0"/>
                <a:ea typeface="Calibri" pitchFamily="34" charset="-122"/>
                <a:cs typeface="Calibri" pitchFamily="34" charset="-120"/>
              </a:rPr>
              <a:t>2</a:t>
            </a:r>
            <a:endParaRPr lang="en-US" sz="1000" dirty="0"/>
          </a:p>
        </p:txBody>
      </p:sp>
      <p:sp>
        <p:nvSpPr>
          <p:cNvPr id="8" name="Text 6"/>
          <p:cNvSpPr txBox="1"/>
          <p:nvPr/>
        </p:nvSpPr>
        <p:spPr>
          <a:xfrm>
            <a:off x="1005840" y="1792224"/>
            <a:ext cx="65836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Try the </a:t>
            </a:r>
            <a:pPr indent="0" marL="0">
              <a:buNone/>
            </a:pPr>
            <a:r>
              <a:rPr lang="en-US" sz="1200" b="1" dirty="0">
                <a:solidFill>
                  <a:srgbClr val="FFFFFF"/>
                </a:solidFill>
                <a:latin typeface="Calibri" pitchFamily="34" charset="0"/>
                <a:ea typeface="Calibri" pitchFamily="34" charset="-122"/>
                <a:cs typeface="Calibri" pitchFamily="34" charset="-120"/>
              </a:rPr>
              <a:t>Tutorial</a:t>
            </a:r>
            <a:pPr indent="0" marL="0">
              <a:buNone/>
            </a:pPr>
            <a:r>
              <a:rPr lang="en-US" sz="1200" dirty="0">
                <a:solidFill>
                  <a:srgbClr val="FFFFFF"/>
                </a:solidFill>
                <a:latin typeface="Calibri" pitchFamily="34" charset="0"/>
                <a:ea typeface="Calibri" pitchFamily="34" charset="-122"/>
                <a:cs typeface="Calibri" pitchFamily="34" charset="-120"/>
              </a:rPr>
              <a:t>: exam-style questions with full worked solutions.</a:t>
            </a:r>
            <a:endParaRPr lang="en-US" sz="1200" dirty="0"/>
          </a:p>
        </p:txBody>
      </p:sp>
      <p:sp>
        <p:nvSpPr>
          <p:cNvPr id="9" name="Shape 7"/>
          <p:cNvSpPr/>
          <p:nvPr/>
        </p:nvSpPr>
        <p:spPr>
          <a:xfrm>
            <a:off x="548640" y="2286000"/>
            <a:ext cx="292608" cy="292608"/>
          </a:xfrm>
          <a:prstGeom prst="ellipse">
            <a:avLst/>
          </a:prstGeom>
          <a:solidFill>
            <a:srgbClr val="F0B24A"/>
          </a:solidFill>
          <a:ln w="12700">
            <a:solidFill>
              <a:srgbClr val="F0B24A"/>
            </a:solidFill>
            <a:prstDash val="solid"/>
          </a:ln>
        </p:spPr>
      </p:sp>
      <p:sp>
        <p:nvSpPr>
          <p:cNvPr id="10" name="Text 8"/>
          <p:cNvSpPr txBox="1"/>
          <p:nvPr/>
        </p:nvSpPr>
        <p:spPr>
          <a:xfrm>
            <a:off x="548640" y="2286000"/>
            <a:ext cx="292608" cy="292608"/>
          </a:xfrm>
          <a:prstGeom prst="rect">
            <a:avLst/>
          </a:prstGeom>
          <a:noFill/>
          <a:ln/>
        </p:spPr>
        <p:txBody>
          <a:bodyPr wrap="square" lIns="0" tIns="0" rIns="0" bIns="0" rtlCol="0" anchor="ctr"/>
          <a:lstStyle/>
          <a:p>
            <a:pPr algn="ctr" indent="0" marL="0">
              <a:buNone/>
            </a:pPr>
            <a:r>
              <a:rPr lang="en-US" sz="1000" b="1" dirty="0">
                <a:solidFill>
                  <a:srgbClr val="1B2A41"/>
                </a:solidFill>
                <a:latin typeface="Calibri" pitchFamily="34" charset="0"/>
                <a:ea typeface="Calibri" pitchFamily="34" charset="-122"/>
                <a:cs typeface="Calibri" pitchFamily="34" charset="-120"/>
              </a:rPr>
              <a:t>3</a:t>
            </a:r>
            <a:endParaRPr lang="en-US" sz="1000" dirty="0"/>
          </a:p>
        </p:txBody>
      </p:sp>
      <p:sp>
        <p:nvSpPr>
          <p:cNvPr id="11" name="Text 9"/>
          <p:cNvSpPr txBox="1"/>
          <p:nvPr/>
        </p:nvSpPr>
        <p:spPr>
          <a:xfrm>
            <a:off x="1005840" y="2249424"/>
            <a:ext cx="6583680"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Revise all five of Dr. NAM's topics with the Study Hub before the final assessment.</a:t>
            </a:r>
            <a:endParaRPr lang="en-US" sz="1200" dirty="0"/>
          </a:p>
        </p:txBody>
      </p:sp>
      <p:sp>
        <p:nvSpPr>
          <p:cNvPr id="12" name="Text 10"/>
          <p:cNvSpPr txBox="1"/>
          <p:nvPr/>
        </p:nvSpPr>
        <p:spPr>
          <a:xfrm>
            <a:off x="548640" y="3520440"/>
            <a:ext cx="7680960" cy="822960"/>
          </a:xfrm>
          <a:prstGeom prst="rect">
            <a:avLst/>
          </a:prstGeom>
          <a:noFill/>
          <a:ln/>
        </p:spPr>
        <p:txBody>
          <a:bodyPr wrap="square" lIns="0" tIns="0" rIns="0" bIns="0" rtlCol="0" anchor="t"/>
          <a:lstStyle/>
          <a:p>
            <a:pPr indent="0" marL="0">
              <a:buNone/>
            </a:pPr>
            <a:r>
              <a:rPr lang="en-US" sz="800" dirty="0">
                <a:solidFill>
                  <a:srgbClr val="A3B1C2"/>
                </a:solidFill>
                <a:latin typeface="Calibri" pitchFamily="34" charset="0"/>
                <a:ea typeface="Calibri" pitchFamily="34" charset="-122"/>
                <a:cs typeface="Calibri" pitchFamily="34" charset="-120"/>
              </a:rPr>
              <a:t>Core reference: </a:t>
            </a:r>
            <a:pPr indent="0" marL="0">
              <a:buNone/>
            </a:pPr>
            <a:r>
              <a:rPr lang="en-US" sz="800" i="1" dirty="0">
                <a:solidFill>
                  <a:srgbClr val="A3B1C2"/>
                </a:solidFill>
                <a:latin typeface="Calibri" pitchFamily="34" charset="0"/>
                <a:ea typeface="Calibri" pitchFamily="34" charset="-122"/>
                <a:cs typeface="Calibri" pitchFamily="34" charset="-120"/>
              </a:rPr>
              <a:t>The Basics of GOB Chemistry</a:t>
            </a:r>
            <a:pPr indent="0" marL="0">
              <a:buNone/>
            </a:pPr>
            <a:r>
              <a:rPr lang="en-US" sz="800" dirty="0">
                <a:solidFill>
                  <a:srgbClr val="A3B1C2"/>
                </a:solidFill>
                <a:latin typeface="Calibri" pitchFamily="34" charset="0"/>
                <a:ea typeface="Calibri" pitchFamily="34" charset="-122"/>
                <a:cs typeface="Calibri" pitchFamily="34" charset="-120"/>
              </a:rPr>
              <a:t> (Ball, Hill &amp; Scott), LibreTexts, CC BY-NC-SA 3.0: sections 9.0–9.4 and 9.7, including the photographs and figures reproduced from those sections. Saturation, osmosis and particle diagrams drawn by Dr. NAM. Shared under the same licence for non-commercial teaching.</a:t>
            </a:r>
            <a:endParaRPr lang="en-US" sz="800" dirty="0"/>
          </a:p>
        </p:txBody>
      </p:sp>
      <p:pic>
        <p:nvPicPr>
          <p:cNvPr id="13" name="Image 0" descr="/home/claude/build/mol/water.png">    </p:cNvPr>
          <p:cNvPicPr>
            <a:picLocks noChangeAspect="1"/>
          </p:cNvPicPr>
          <p:nvPr/>
        </p:nvPicPr>
        <p:blipFill>
          <a:blip r:embed="rId1"/>
          <a:stretch>
            <a:fillRect/>
          </a:stretch>
        </p:blipFill>
        <p:spPr>
          <a:xfrm>
            <a:off x="7406640" y="640080"/>
            <a:ext cx="914400" cy="914400"/>
          </a:xfrm>
          <a:prstGeom prst="rect">
            <a:avLst/>
          </a:prstGeom>
        </p:spPr>
      </p:pic>
      <p:sp>
        <p:nvSpPr>
          <p:cNvPr id="14" name="Text 11"/>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A3B1C2"/>
                </a:solidFill>
                <a:latin typeface="Calibri" pitchFamily="34" charset="0"/>
                <a:ea typeface="Calibri" pitchFamily="34" charset="-122"/>
                <a:cs typeface="Calibri" pitchFamily="34" charset="-120"/>
              </a:rPr>
              <a:t>PHD115 · Solution</a:t>
            </a:r>
            <a:endParaRPr lang="en-US" sz="800" dirty="0"/>
          </a:p>
        </p:txBody>
      </p:sp>
      <p:sp>
        <p:nvSpPr>
          <p:cNvPr id="15" name="Text 12"/>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F0B24A"/>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2F6F9"/>
        </a:solidFill>
      </p:bgPr>
    </p:bg>
    <p:spTree>
      <p:nvGrpSpPr>
        <p:cNvPr id="1" name=""/>
        <p:cNvGrpSpPr/>
        <p:nvPr/>
      </p:nvGrpSpPr>
      <p:grpSpPr>
        <a:xfrm>
          <a:off x="0" y="0"/>
          <a:ext cx="0" cy="0"/>
          <a:chOff x="0" y="0"/>
          <a:chExt cx="0" cy="0"/>
        </a:xfrm>
      </p:grpSpPr>
      <p:sp>
        <p:nvSpPr>
          <p:cNvPr id="2" name="Text 0"/>
          <p:cNvSpPr txBox="1"/>
          <p:nvPr/>
        </p:nvSpPr>
        <p:spPr>
          <a:xfrm>
            <a:off x="457200" y="320040"/>
            <a:ext cx="7315200" cy="411480"/>
          </a:xfrm>
          <a:prstGeom prst="rect">
            <a:avLst/>
          </a:prstGeom>
          <a:noFill/>
          <a:ln/>
        </p:spPr>
        <p:txBody>
          <a:bodyPr wrap="square" lIns="0" tIns="0" rIns="0" bIns="0" rtlCol="0" anchor="ctr"/>
          <a:lstStyle/>
          <a:p>
            <a:pPr indent="0" marL="0">
              <a:buNone/>
            </a:pPr>
            <a:r>
              <a:rPr lang="en-US" sz="2000" b="1" dirty="0">
                <a:solidFill>
                  <a:srgbClr val="1B2A41"/>
                </a:solidFill>
                <a:latin typeface="Calibri" pitchFamily="34" charset="0"/>
                <a:ea typeface="Calibri" pitchFamily="34" charset="-122"/>
                <a:cs typeface="Calibri" pitchFamily="34" charset="-120"/>
              </a:rPr>
              <a:t>Appendix · Periodic table</a:t>
            </a:r>
            <a:endParaRPr lang="en-US" sz="2000" dirty="0"/>
          </a:p>
        </p:txBody>
      </p:sp>
      <p:pic>
        <p:nvPicPr>
          <p:cNvPr id="3" name="Image 0" descr="/home/claude/build/ptable.png">    </p:cNvPr>
          <p:cNvPicPr>
            <a:picLocks noChangeAspect="1"/>
          </p:cNvPicPr>
          <p:nvPr/>
        </p:nvPicPr>
        <p:blipFill>
          <a:blip r:embed="rId1"/>
          <a:stretch>
            <a:fillRect/>
          </a:stretch>
        </p:blipFill>
        <p:spPr>
          <a:xfrm>
            <a:off x="743893" y="822960"/>
            <a:ext cx="7656214" cy="3931920"/>
          </a:xfrm>
          <a:prstGeom prst="rect">
            <a:avLst/>
          </a:prstGeom>
        </p:spPr>
      </p:pic>
      <p:sp>
        <p:nvSpPr>
          <p:cNvPr id="4" name="Text 1"/>
          <p:cNvSpPr txBox="1"/>
          <p:nvPr/>
        </p:nvSpPr>
        <p:spPr>
          <a:xfrm>
            <a:off x="457200" y="4828032"/>
            <a:ext cx="3657600" cy="201168"/>
          </a:xfrm>
          <a:prstGeom prst="rect">
            <a:avLst/>
          </a:prstGeom>
          <a:noFill/>
          <a:ln/>
        </p:spPr>
        <p:txBody>
          <a:bodyPr wrap="square" lIns="0" tIns="0" rIns="0" bIns="0" rtlCol="0" anchor="ctr"/>
          <a:lstStyle/>
          <a:p>
            <a:pPr indent="0" marL="0">
              <a:buNone/>
            </a:pPr>
            <a:r>
              <a:rPr lang="en-US" sz="800" dirty="0">
                <a:solidFill>
                  <a:srgbClr val="56657A"/>
                </a:solidFill>
                <a:latin typeface="Calibri" pitchFamily="34" charset="0"/>
                <a:ea typeface="Calibri" pitchFamily="34" charset="-122"/>
                <a:cs typeface="Calibri" pitchFamily="34" charset="-120"/>
              </a:rPr>
              <a:t>PHD115 · Solution</a:t>
            </a:r>
            <a:endParaRPr lang="en-US" sz="800" dirty="0"/>
          </a:p>
        </p:txBody>
      </p:sp>
      <p:sp>
        <p:nvSpPr>
          <p:cNvPr id="5" name="Text 2"/>
          <p:cNvSpPr txBox="1"/>
          <p:nvPr/>
        </p:nvSpPr>
        <p:spPr>
          <a:xfrm>
            <a:off x="4572000" y="4828032"/>
            <a:ext cx="4114800" cy="201168"/>
          </a:xfrm>
          <a:prstGeom prst="rect">
            <a:avLst/>
          </a:prstGeom>
          <a:noFill/>
          <a:ln/>
        </p:spPr>
        <p:txBody>
          <a:bodyPr wrap="square" lIns="0" tIns="0" rIns="0" bIns="0" rtlCol="0" anchor="ctr"/>
          <a:lstStyle/>
          <a:p>
            <a:pPr algn="r" indent="0" marL="0">
              <a:buNone/>
            </a:pPr>
            <a:r>
              <a:rPr lang="en-US" sz="800" b="1" dirty="0">
                <a:solidFill>
                  <a:srgbClr val="2F6F9F"/>
                </a:solidFill>
                <a:latin typeface="Calibri" pitchFamily="34" charset="0"/>
                <a:ea typeface="Calibri" pitchFamily="34" charset="-122"/>
                <a:cs typeface="Calibri" pitchFamily="34" charset="-120"/>
              </a:rPr>
              <a:t>Dr. NAM · Faculty of Pharmacy, UiTM Bertam, Penang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91</Slides>
  <Notes>91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91</vt:i4>
      </vt:variant>
    </vt:vector>
  </HeadingPairs>
  <TitlesOfParts>
    <vt:vector size="9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Solution</dc:title>
  <dc:subject>PptxGenJS Presentation</dc:subject>
  <dc:creator>Dr. Nur 'Ainun Mokhtar (Dr. NAM)</dc:creator>
  <cp:lastModifiedBy>Dr. Nur 'Ainun Mokhtar (Dr. NAM)</cp:lastModifiedBy>
  <cp:revision>1</cp:revision>
  <dcterms:created xsi:type="dcterms:W3CDTF">2026-10-02T12:23:24Z</dcterms:created>
  <dcterms:modified xsi:type="dcterms:W3CDTF">2026-10-02T12:23:24Z</dcterms:modified>
</cp:coreProperties>
</file>