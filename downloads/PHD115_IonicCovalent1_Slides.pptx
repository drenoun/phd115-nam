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</p:sldIdLst>
  <p:notesMasterIdLst>
    <p:notesMasterId r:id="rId10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notesMaster" Target="notesMasters/notesMaster1.xml"/><Relationship Id="rId101" Type="http://schemas.openxmlformats.org/officeDocument/2006/relationships/presProps" Target="presProps.xml"/><Relationship Id="rId102" Type="http://schemas.openxmlformats.org/officeDocument/2006/relationships/viewProps" Target="viewProps.xml"/><Relationship Id="rId103" Type="http://schemas.openxmlformats.org/officeDocument/2006/relationships/theme" Target="theme/theme1.xml"/><Relationship Id="rId10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lecture follows chapter 3 of the core reference, section by section: two types of bonding, ions, formulas, naming, formula mass, and the properties of ionic compounds.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same six outcomes appear in the notes, activities, tutorial, game and exam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parts, in the book's order. Covalent bonding is the main subject of the next topic, IC2.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3 introduction.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Based on the chapter 3 introduction. Pairs discuss for one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3.0 Prelude. Pharmacy link: normal saline, and potassium chloride salt substitutes are relevant for patients on some antihypertensives.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= section 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3.1. This chapter focuses on the transfer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3.1 Key Takeaways, plus end-of-section exercises 3 to 8 as quick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 = section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 Pronunciation note from the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 'Electron Transfer'.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3.2.1. The book's solution says 'Mg can achieve octet'; it should read 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3.2, Figure 3.2.3.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 'Lewis Diagrams'.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3.2.4.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3.2.3.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3.2.3; the book's answer figure shows Mg· transferring two electrons to 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3.2.3; the book's answer figure shows Mg· transferring two electrons to 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3.2.5.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3.2 Key Takeaways and exercises 3–5.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 = section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3.3, Figure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 'Polyatomic Ions'.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 'Recognizing Ionic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3.3.3.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3.3 Looking Closer.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 = section 3.4.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3.4 'Naming Ions'.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Table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3.4 'Naming Compounds'.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3.4.3. Pharmacy link: stannous fluoride is used in toothpastes.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3.4.3.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3.4.1. Key takeaway: each ionic compound has its own unique name that comes from the names of its 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= section 3.5.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 worked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Example 3.5.1.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3.5.1.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3.5 To Your Health.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6 = section 3.6.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Figure 3.6.1.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'Melting Points'.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'Shattering'.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and Example 3.6.1.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3.6.1. Link: this is the instant cold pack compound from Energy &amp;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Exercise 3.6.1. Link: this is the instant cold pack compound from Energy &amp;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Ball 3.6 Key Takeaways, plus a pharmacy link.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here appears in the summary page of the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students to the student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48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Fundamentals of Chemistry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9601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&amp; Covalent Compounds I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Nur 'Ainun Mokhtar (Dr. NAM) · Faculty of Pharmacy, UiTM Bertam, Penang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286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reference: Ball, Hill &amp; Scott, The Basics of GOB Chemistry, chapter 3 (3.0–3.6)</a:t>
            </a:r>
            <a:endParaRPr lang="en-US" sz="1100" dirty="0"/>
          </a:p>
        </p:txBody>
      </p:sp>
      <p:pic>
        <p:nvPicPr>
          <p:cNvPr id="9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41013" y="2514600"/>
            <a:ext cx="1965493" cy="2011680"/>
          </a:xfrm>
          <a:prstGeom prst="rect">
            <a:avLst/>
          </a:prstGeom>
        </p:spPr>
      </p:pic>
      <p:pic>
        <p:nvPicPr>
          <p:cNvPr id="10" name="Image 1" descr="/home/claude/em/mol/trim/sulf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2866" y="1965960"/>
            <a:ext cx="779228" cy="731520"/>
          </a:xfrm>
          <a:prstGeom prst="rect">
            <a:avLst/>
          </a:prstGeom>
        </p:spPr>
      </p:pic>
      <p:pic>
        <p:nvPicPr>
          <p:cNvPr id="11" name="Image 2" descr="/home/claude/em/mol/trim/ammoniu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0226" y="3771900"/>
            <a:ext cx="735227" cy="685800"/>
          </a:xfrm>
          <a:prstGeom prst="rect">
            <a:avLst/>
          </a:prstGeom>
        </p:spPr>
      </p:pic>
      <p:pic>
        <p:nvPicPr>
          <p:cNvPr id="12" name="Image 3" descr="/home/claude/em/mol/trim/nitr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5810" y="2971800"/>
            <a:ext cx="54102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octet rule and describe how ionic bonds form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663440" y="141732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28032" y="150876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176479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cations and anions, use Lewis diagrams to show ion formation, and predict ionic charges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5720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2179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formulas for ionic compounds, including those with polyatomic ions, and recognise ionic compounds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663440" y="24688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28032" y="256032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281635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ions and ionic compounds using the Stock and common systems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5720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2179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the formula mass of ionic compounds, including hydrates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4663440" y="35204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28032" y="3611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3867912"/>
            <a:ext cx="3703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physical properties of ionic compounds and write dissociation equations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map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Two types of bonding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3.1): the octet rule, ionic and covalent bonds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· Ions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3.2): cations and anions, electron transfer, Lewis diagrams, predicting charges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 · Formulas for ionic compounds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3.3): charge balance, crossing charges, polyatomic ions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 · Ionic nomenclature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3.4): naming ions and compounds, Stock and common systems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· Formula mass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3.5): adding atomic masses, hydrates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· Characteristics of ionic compounds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 3.6): melting, shattering, conductivity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407" y="182880"/>
            <a:ext cx="804066" cy="8229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3258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is a reactive metal and chlorine is a poisonous gas. So why is sodium chloride safe to eat and put into IV drips?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with a partner for one minute.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407" y="182880"/>
            <a:ext cx="804066" cy="8229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 · ANSWER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12801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is a reactive metal and chlorine is a poisonous gas. So why is sodium chloride safe to eat and put into IV drips?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731520" y="237744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sodium and chlorine combine, they form ions with stable octets. The compound's properties are completely different from those of the elements. Parts 1 and 2 explain how.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Salt: from salary to saline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thousand years ago Roman soldiers were partly paid in salt, which is why 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share a Latin root (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salarium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salt is sodium chloride (NaCl), a simple compound of two elements the body needs. Sodium is important for nerve conduction and fluid balance.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blood is about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0.9% NaCl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solution, and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saline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(0.9% NaCl) is given intravenously in hospitals.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salt is unhealthy. The RDI of sodium is 2400 mg (about 1 teaspoon of salt), but many people eat more, because salt is added to prepared foods.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substitutes use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instead of sodium; some people find them slightly bitter.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types of bonding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atoms bond at all, and the two ways they reach a stable octet.</a:t>
            </a:r>
            <a:endParaRPr lang="en-US" sz="1600" dirty="0"/>
          </a:p>
        </p:txBody>
      </p:sp>
      <p:pic>
        <p:nvPicPr>
          <p:cNvPr id="9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4284" y="411480"/>
            <a:ext cx="1876153" cy="1920240"/>
          </a:xfrm>
          <a:prstGeom prst="rect">
            <a:avLst/>
          </a:prstGeom>
        </p:spPr>
      </p:pic>
      <p:pic>
        <p:nvPicPr>
          <p:cNvPr id="10" name="Image 1" descr="/home/claude/em/mol/trim/wa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3611746"/>
            <a:ext cx="1051560" cy="73178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   ·   Ball 3.1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octet rule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very strong attraction between two atoms. It forms when electrons interact to give an arrangement more stable than the separate atoms.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Clue: the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noble gases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(He, Ne, Ar, Kr, Xe, Rn) rarely form compounds, so they are especially stable as single atoms.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 helium, they all have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valence electrons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 rule: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atoms are especially stable with eight electrons in their outermost shell. This is the key to why compounds form.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atoms (H, He, Li) have only the first shell, which holds two electrons: they follow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duet rule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know?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noble gases, only krypton, xenon and radon have ever been made to form compounds.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reach an octet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atom without an octet can get one by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transferring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by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→ ionic bond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Electrons move from one atom to another until all have octets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that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become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atoms that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become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atoms are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charges attract: this is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bond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giving an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electrons is unchanged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→ covalent bond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share electrons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electrons occupy the outer shell of both atoms at once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bond is a </a:t>
            </a: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covalent bond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subject of the next topic (IC2)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1.1 · Lose one or gain seven?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sodium atom has one valence electron. Is it more likely to lose one electron or gain seven to obtain an octet?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is possible, but losing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 is far easier than gaining seven.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atom: 11 protons (11+), 11 electrons (11−), overall charge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ion: 11 protons (11+), 10 electrons (10−), overall charge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written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Fluorine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fluorine atom has seven valence electrons. Is it more likely to lose seven electrons or gain one to obtain an octet? Write the formula of the resulting ion.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Fluorine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fluorine atom has seven valence electrons. Is it more likely to lose seven electrons or gain one to obtain an octet? Write the formula of the resulting ion.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involving fewer electrons is more favourable: fluorine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one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ion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two types of bonding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tend to have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electrons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their valence shell (the octet rule).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attraction between oppositely charged ions makes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bonds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ionic compound is unlikely to contain two positive ions, or two negative ions, because like charges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yourself: calcium (2 valence electrons) loses 2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aluminium (3) loses 3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selenium (6) gains 2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iodine (7) gains 1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an ionic compound unlikely to consist of two positively charged ions?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have no electrons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charges repel each other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are always too large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break the octet rule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water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183880" y="207050"/>
            <a:ext cx="640080" cy="44543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IC1-LO1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an ionic compound unlikely to consist of two positively charged ions?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have no electrons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charges repel each other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ions are always too large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would break the octet rule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Ionic bonds come from the attraction of opposite charges. Two positive ions repel.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atoms become ions, how to draw it, and how the periodic table predicts the charge.</a:t>
            </a:r>
            <a:endParaRPr lang="en-US" sz="1600" dirty="0"/>
          </a:p>
        </p:txBody>
      </p:sp>
      <p:pic>
        <p:nvPicPr>
          <p:cNvPr id="9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4284" y="411480"/>
            <a:ext cx="1876153" cy="1920240"/>
          </a:xfrm>
          <a:prstGeom prst="rect">
            <a:avLst/>
          </a:prstGeom>
        </p:spPr>
      </p:pic>
      <p:pic>
        <p:nvPicPr>
          <p:cNvPr id="10" name="Image 1" descr="/home/claude/em/mol/trim/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317" y="3520440"/>
            <a:ext cx="893406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   ·   Ball 3.2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types of ions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atoms do not have eight valence electrons, so they gain or lose electrons.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45720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5836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Cations (CAT-eye-ons)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fewer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valence electrons lose them easily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is a lower shell with an octet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electrons than protons: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 cations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663440" y="1713738"/>
            <a:ext cx="4023360" cy="2967990"/>
          </a:xfrm>
          <a:prstGeom prst="roundRect">
            <a:avLst>
              <a:gd name="adj" fmla="val 3081"/>
            </a:avLst>
          </a:prstGeom>
          <a:solidFill>
            <a:srgbClr val="E1EEF7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64608" y="182346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Anions (ANN-eye-ons)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864608" y="2216658"/>
            <a:ext cx="3611880" cy="2401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with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eight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valence electrons gain electrons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now have more electrons than protons: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nonmetals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become anions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transfer: forming the sodium ion</a:t>
            </a:r>
            <a:endParaRPr lang="en-US" sz="2700" dirty="0"/>
          </a:p>
        </p:txBody>
      </p:sp>
      <p:pic>
        <p:nvPicPr>
          <p:cNvPr id="11" name="Image 1" descr="/home/claude/em/fig/ic1/ic1_na_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629" y="1371600"/>
            <a:ext cx="4304741" cy="16276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30449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formation of a sodium ion (Ball, The Basics of GOB Chemistry Figure 3.2.1)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349300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Na: 1s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One valence electron in the third energy level.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it gives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ion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 octet in the second level.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3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the same configuration as neon. Species with the same electron configuration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isoelectronic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 transfer: forming the chloride ion</a:t>
            </a:r>
            <a:endParaRPr lang="en-US" sz="2700" dirty="0"/>
          </a:p>
        </p:txBody>
      </p:sp>
      <p:pic>
        <p:nvPicPr>
          <p:cNvPr id="11" name="Image 1" descr="/home/claude/em/fig/ic1/ic1_cl_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2869" y="1371600"/>
            <a:ext cx="2558263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formation of a chloride ion (Ball, The Basics of GOB Chemistry Figure 3.2.2)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Cl: 1s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It needs only one more electron.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Gaining one gives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chloride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ion. Note the suffix change: chlor</a:t>
            </a:r>
            <a:r>
              <a:rPr lang="en-US" sz="18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chlor</a:t>
            </a:r>
            <a:r>
              <a:rPr lang="en-US" sz="18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table salt, this electron comes from the sodium atom.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+ chlorine → sodium chloride</a:t>
            </a:r>
            <a:endParaRPr lang="en-US" sz="2700" dirty="0"/>
          </a:p>
        </p:txBody>
      </p:sp>
      <p:pic>
        <p:nvPicPr>
          <p:cNvPr id="11" name="Image 1" descr="/home/claude/em/fig/ic1/ic1_nacl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86" y="1371600"/>
            <a:ext cx="7961429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3.2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oppositely charged ions attract: this is the compound sodium chloride.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electrons are left over. Electrons lost by Na (one) = electrons gained by Cl (one), so the compound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electrically neutral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sample holds billions of ions, but always the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cations and anions.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2.1 · Aluminium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electron configuration of an aluminium atom (Z = 13). How many electrons must Al lose or gain to achieve an octet? Write the resulting ion and its configuration.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Al: 1s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3p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second shell already has an octet; the valence shell has 3 electrons.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achieves an octet by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the 3 valence electrons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ion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Oxygen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electron configuration of an oxygen atom (Z = 8). How many electrons must O lose or gain? Write the resulting ion and its configuration.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Oxygen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electron configuration of an oxygen atom (Z = 8). How many electrons must O lose or gain? Write the resulting ion and its configuration.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O: 1s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second shell has six electrons and needs two more.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gains 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ionic charges</a:t>
            </a:r>
            <a:endParaRPr lang="en-US" sz="2700" dirty="0"/>
          </a:p>
        </p:txBody>
      </p:sp>
      <p:pic>
        <p:nvPicPr>
          <p:cNvPr id="11" name="Image 1" descr="/home/claude/em/fig/ic1/ic1_predict_char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118405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3535725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ionic charges (Ball, The Basics of GOB Chemistry Figure 3.2.3)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in the same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form ions with the same charge, because they have the same number of valence electrons.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1A (alkali metals):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2A (alkaline earth metals):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3A: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7A (halogens):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6A: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Group 5A: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number first, then the sign: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r>
              <a:rPr lang="en-US" sz="16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Ba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2.2 · Which ion is not likely to form?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Mg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K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is in Group 2A with two valence electrons. It reaches an octet by losing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electrons: Mg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Losing only one (Mg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does not give an octet, so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likely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(Group 1A) is fine.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ion is not likely to form?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N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Which ion is not likely to form? · answer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N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is in Group 6A with six valence electrons: it reaches an octet by gaining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Gaining three does not give an octet, so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not likely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N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(Group 5A) is fine.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</a:t>
            </a:r>
            <a:endParaRPr lang="en-US" sz="2700" dirty="0"/>
          </a:p>
        </p:txBody>
      </p:sp>
      <p:pic>
        <p:nvPicPr>
          <p:cNvPr id="11" name="Image 1" descr="/home/claude/em/fig/ic1/ic1_f_d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64" y="1371600"/>
            <a:ext cx="7255472" cy="8503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26771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Lewis diagram of fluorine one dot at a time (Ball, The Basics of GOB Chemistry 3.2)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715768"/>
            <a:ext cx="8229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electron dot diagrams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 only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valence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electrons, as dots around the symbol (after Gilbert N. Lewis).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two dots on each side (top, bottom, left, right).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first four dots singly, one per side, then pair them up. Which side you start on does not matter.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 of the second period</a:t>
            </a:r>
            <a:endParaRPr lang="en-US" sz="2700" dirty="0"/>
          </a:p>
        </p:txBody>
      </p:sp>
      <p:pic>
        <p:nvPicPr>
          <p:cNvPr id="11" name="Image 1" descr="/home/claude/em/fig/ic1/ic1_lewis_li_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5099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06831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diagrams of lithium through neon (Ball, The Basics of GOB Chemistry Figure 3.2.4)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516374"/>
            <a:ext cx="8229600" cy="214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main-group elements, the number of valence electrons equals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number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(1A → 1 dot, 7A → 7 dots).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 has a full octet: eight dots, all paired.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Elements in the same column have the same Lewis diagram pattern (Li and Na; F, Cl and Br).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2.3 · Forming LiBr with Lewis diagrams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lithium and bromine atoms, use Lewis diagrams to show the formation of LiBr.</a:t>
            </a:r>
            <a:endParaRPr lang="en-US" sz="1600" dirty="0"/>
          </a:p>
        </p:txBody>
      </p:sp>
      <p:pic>
        <p:nvPicPr>
          <p:cNvPr id="13" name="Image 1" descr="/home/claude/em/fig/ic1/ic1_libr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77440"/>
            <a:ext cx="3429000" cy="41337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2836537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Example 3.2.3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242316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in the same column as Na, so it has one dot. Br is in the same column as Cl, so it has seven.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316992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transfers its electron to Br: Li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Br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(bromide now has an octet).</a:t>
            </a:r>
            <a:endParaRPr lang="en-US" sz="1600" dirty="0"/>
          </a:p>
        </p:txBody>
      </p:sp>
      <p:sp>
        <p:nvSpPr>
          <p:cNvPr id="21" name="Shape 16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960120" y="3916680"/>
            <a:ext cx="429768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final formula the dots are omitted: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Forming MgO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magnesium and oxygen atoms, use Lewis diagrams to show the formation of MgO.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Forming MgO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magnesium and oxygen atoms, use Lewis diagrams to show the formation of MgO.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4754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(2 dots) transfers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electrons to O (6 dots): Mg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O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oxide ion now has an octet.</a:t>
            </a:r>
            <a:endParaRPr lang="en-US" sz="1800" dirty="0"/>
          </a:p>
        </p:txBody>
      </p:sp>
      <p:pic>
        <p:nvPicPr>
          <p:cNvPr id="16" name="Image 1" descr="/home/claude/em/fig/ic1/ic1_mgo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2697480"/>
            <a:ext cx="3017520" cy="6705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577840" y="3413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Exercise 3.2.3 answer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balance: forming MgBr₂</a:t>
            </a:r>
            <a:endParaRPr lang="en-US" sz="2700" dirty="0"/>
          </a:p>
        </p:txBody>
      </p:sp>
      <p:pic>
        <p:nvPicPr>
          <p:cNvPr id="11" name="Image 1" descr="/home/claude/em/fig/ic1/ic1_mgbr2_lewi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77466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191989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3.2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2640045"/>
            <a:ext cx="8229600" cy="2023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compounds need different numbers of cations and anions. Electron transfer then involves more than two atoms.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 gives one electron to each of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 atoms: one Mg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balances two Br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charge = zero: this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balance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number of each ion appears as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MgBr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of the monatomic ions</a:t>
            </a:r>
            <a:endParaRPr lang="en-US" sz="2700" dirty="0"/>
          </a:p>
        </p:txBody>
      </p:sp>
      <p:pic>
        <p:nvPicPr>
          <p:cNvPr id="11" name="Image 1" descr="/home/claude/em/fig/ic1/ic1_monatomic_char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19745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348335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 of the monatomic ions (Ball, The Basics of GOB Chemistry Figure 3.2.5)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elements that form ionic compounds have a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 charge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Na always 1+, Cl always 1−.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Main-group charges follow the group pattern.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metals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(and larger main-group elements) can form ions of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charge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e.g. Fe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/Fe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Cu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/Cu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There is no simple pattern: learn them.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ions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 can be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charged (cations)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charged (anions).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diagram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shows how electrons are transferred to make ions and ionic compounds.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yourself: Li → Li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 → S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Ca → Ca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F → F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cation nor anion: neutral molecules such as NH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CS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ion is isoelectronic with neon?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IC1-LO2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ion is isoelectronic with neon?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Mg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10 electrons (1s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2s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2p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like neon. K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Cl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isoelectronic with argon.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for ionic compounds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correct formulas, including compounds that contain polyatomic ions.</a:t>
            </a:r>
            <a:endParaRPr lang="en-US" sz="1600" dirty="0"/>
          </a:p>
        </p:txBody>
      </p:sp>
      <p:pic>
        <p:nvPicPr>
          <p:cNvPr id="9" name="Image 0" descr="/home/claude/em/mol/trim/nit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5575" y="411480"/>
            <a:ext cx="1893570" cy="1920240"/>
          </a:xfrm>
          <a:prstGeom prst="rect">
            <a:avLst/>
          </a:prstGeom>
        </p:spPr>
      </p:pic>
      <p:pic>
        <p:nvPicPr>
          <p:cNvPr id="10" name="Image 1" descr="/home/claude/em/mol/trim/sulf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4003" y="3520440"/>
            <a:ext cx="974035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   ·   Ball 3.3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crystals and formula units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formula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 concise list of the elements in a compound and their ratios.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exist as alternating positive and negative ions in regular 3D arrays called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are no separate 'particles': each ion is surrounded by ions of opposite charge.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 has a 1:1 ratio, so its formula is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One NaCl pair is a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unit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pic>
        <p:nvPicPr>
          <p:cNvPr id="12" name="Image 1" descr="/home/claude/em/fig/ic1/ic1_nacl_cryst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1889" y="1417320"/>
            <a:ext cx="3017983" cy="28620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4325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sodium chloride crystal (Ball, The Basics of GOB Chemistry Figure 3.3.1)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for writing ionic formulas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54406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first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then the anion (usually metal, then nonmetal).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charges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are written in the formula, even though the particles are ions.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must have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balance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total positive charge = total negative charge (matter is electrically neutral).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subscript means one; we never write 1.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whole-number ratio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LiBr: 1+ and 1−. MgO: 2+ and 2−. MgCl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one Mg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needs two Cl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(Cl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here means two chloride ions, not a chlorine molecule.)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172200" y="1463040"/>
            <a:ext cx="2514600" cy="2011680"/>
          </a:xfrm>
          <a:prstGeom prst="roundRect">
            <a:avLst>
              <a:gd name="adj" fmla="val 4545"/>
            </a:avLst>
          </a:prstGeom>
          <a:solidFill>
            <a:srgbClr val="FBEFD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355080" y="1600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1938528"/>
            <a:ext cx="2148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ratios are the rule, but a few ions break it, e.g. the mercury(I) ion, Hg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charges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ratio is not obvious,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the charges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size of each ion's charge becomes the other ion's subscript.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 × 3+ = 6+; 3 × 2− = 6−).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reduce afterwards: Pb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Pb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pic>
        <p:nvPicPr>
          <p:cNvPr id="12" name="Image 1" descr="/home/claude/em/fig/ic1/ic1_cross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32623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78927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charges (Ball, The Basics of GOB Chemistry Figure 3.3.2)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3.1 · Writing ionic formulas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sodium ion and the sulfur ion (b) the aluminium ion and the fluoride ion (c) the 3+ iron ion and the oxygen ion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two 1+ ions balance one 2−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Al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F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three 1− ions balance one 3+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least common multiple 6 → two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(6+) and three O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(6−)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ionic formulas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calcium ion and the oxygen ion (b) the 2+ copper ion and the sulfur ion (c) the 1+ copper ion and the sulfur 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ionic formulas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calcium ion and the oxygen ion (b) the 2+ copper ion and the sulfur ion (c) the 1+ copper ion and the sulfur ion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</a:t>
            </a:r>
            <a:endParaRPr lang="en-US" sz="2700" dirty="0"/>
          </a:p>
        </p:txBody>
      </p:sp>
      <p:pic>
        <p:nvPicPr>
          <p:cNvPr id="11" name="Image 1" descr="/home/claude/em/fig/ic1/ic1_poly_pos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201" y="1463040"/>
            <a:ext cx="4079199" cy="28620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3708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ions: names, formulae and charges (© Compound Interest, CC BY-NC-ND, as in Ball 3.3)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ions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atoms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covalently bonded together with an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charge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formulas, names and charges are fixed and cannot be changed.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must be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memorised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polyatomic ions</a:t>
            </a:r>
            <a:endParaRPr lang="en-US" sz="27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920240"/>
                <a:gridCol w="2011680"/>
                <a:gridCol w="19202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ammonium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hydroxide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OH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cyanide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bicarbonate (hydrogen carbonate)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phosphate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or CH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phosphite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</a:t>
                      </a:r>
                      <a:r>
                        <a:rPr lang="en-US" sz="12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387705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3.3.2. Only ammonium is a cation.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patterns: -ide, -ate and -ite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ammonium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NH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 a cation; the rest are anions.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hydroxide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cyanide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 the usual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-ide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ending.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oxygen-containing anions come in series.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-ate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 has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oxygen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than the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-ite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ion: nitrate NO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nitrite NO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sulfate SO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sulfite SO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endings are only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nitrate has three O but sulfate has four, and nitrate and sulfite both have three. So the formulas must be learnt.</a:t>
            </a:r>
            <a:endParaRPr lang="en-US" sz="1500" dirty="0"/>
          </a:p>
        </p:txBody>
      </p:sp>
      <p:pic>
        <p:nvPicPr>
          <p:cNvPr id="12" name="Image 1" descr="/home/claude/em/mol/trim/sulf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516" y="1417320"/>
            <a:ext cx="3048729" cy="28620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4325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Sulfate ion, SO₄²⁻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 with polyatomic ions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 as before: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and negative charges must balance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more than one polyatomic ion is needed, put the whole ion in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parentheses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the subscript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Ba(NO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(NH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pic>
        <p:nvPicPr>
          <p:cNvPr id="12" name="Image 1" descr="/home/claude/em/fig/ic1/ic1_poly_cross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136768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2830729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3.3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3.2 · Formulas with polyatomic ions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potassium ion and the sulfate ion (b) the calcium ion and the nitrate ion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K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two K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balance one 2−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two nitrates needed, in parentheses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Ca(NO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Formulas with polyatomic ions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magnesium ion and the carbonate ion (b) the aluminium ion and the acetate 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Formulas with polyatomic ions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 the compound of: (a) the magnesium ion and the carbonate ion (b) the aluminium ion and the acetate ion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Mg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CO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MgCO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Al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C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Al(C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ionic compounds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+ nonmetal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compounds are usually ionic: CaBr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(Ca is a Group 2A metal, Br a Group 7A nonmetal).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nonmetals are usually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ionic: 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covalent (and, with no charge shown, it is not the nitrite ion).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recognise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compound is ionic: in Ba(NO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nitrate, so Ba is Ba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3.3 · Ionic or not?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PCl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   (d) OF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 is a metal and O a nonmetal: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01980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0198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298323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 and Cl are both nonmetals: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54330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ammonium ion: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2920" y="413994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02920" y="4139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4103370"/>
            <a:ext cx="768096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O and F are both nonmetals: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endParaRPr lang="en-US" sz="17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 or not?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FeCl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(NH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SOCl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Ionic or not?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  (b) FeCl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(NH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SOCl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ionic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closer: blood and seawater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0.9% NaCl solution approximates blood; seawater is about 3% NaCl, over three times more concentrated.</a:t>
            </a:r>
            <a:endParaRPr lang="en-US" sz="15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5486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</a:tblGrid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in seawater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in blood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128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HPO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8"/>
          <p:cNvSpPr/>
          <p:nvPr/>
        </p:nvSpPr>
        <p:spPr>
          <a:xfrm>
            <a:off x="6217920" y="1946148"/>
            <a:ext cx="2468880" cy="1737360"/>
          </a:xfrm>
          <a:prstGeom prst="roundRect">
            <a:avLst>
              <a:gd name="adj" fmla="val 5263"/>
            </a:avLst>
          </a:prstGeom>
          <a:solidFill>
            <a:srgbClr val="FBEFD9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6400800" y="205587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0" y="2357628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has far more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bicarbonate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</a:t>
            </a: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ions, which control the acid–base balance of blood. Pharmacy link: IV fluids and bicarbonate infusions are designed around these ions.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3.3 'Looking Closer'.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correct formula for the compound of Ca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carbon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5128" y="146304"/>
            <a:ext cx="557583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IC1-LO3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correct formula for the compound of Ca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20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Ca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(6+) balance two PO</a:t>
            </a:r>
            <a:r>
              <a:rPr lang="en-US" sz="14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(6−); the phosphate goes in parentheses.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nomenclature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systematic rules for naming ions and ionic compounds.</a:t>
            </a:r>
            <a:endParaRPr lang="en-US" sz="1600" dirty="0"/>
          </a:p>
        </p:txBody>
      </p:sp>
      <p:pic>
        <p:nvPicPr>
          <p:cNvPr id="9" name="Image 0" descr="/home/claude/em/mol/trim/sulf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9623" y="411480"/>
            <a:ext cx="2045473" cy="1920240"/>
          </a:xfrm>
          <a:prstGeom prst="rect">
            <a:avLst/>
          </a:prstGeom>
        </p:spPr>
      </p:pic>
      <p:pic>
        <p:nvPicPr>
          <p:cNvPr id="10" name="Image 1" descr="/home/claude/em/mol/trim/nit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170" y="3520440"/>
            <a:ext cx="901700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   ·   Ball 3.4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cations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monatomic cation takes 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 name + ion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sodium ion, Al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aluminium ion, Ca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calcium ion.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elements form ions of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charges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(e.g.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 which make different compounds, so each needs its own name.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system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(modern): the charge as a Roman numeral in brackets.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iron(II) ion; Fe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iron(III) ion.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Roman numerals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elements with more than one common charge: sodium ion, never 'sodium(I) ion'.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 system of cation names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older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system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still used in the health sciences: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-ic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higher charge,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-ous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lower charge, often on the Latin stem.</a:t>
            </a:r>
            <a:endParaRPr lang="en-US" sz="15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4614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286000"/>
                <a:gridCol w="2286000"/>
              </a:tblGrid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charge (-ous)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charge (-ic)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ferrous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ferric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cupr-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cuprous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cupric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stann-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stannous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stannic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plumb-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plumbous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Pb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plumbic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chromous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chromic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59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aurous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3+</a:t>
                      </a: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auric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437083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3.4.1. Pharmacy example: ferrous sulfate tablets are an iron supplement.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monatomic anions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 name =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 of the element + -ide + ion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Cl</a:t>
            </a:r>
            <a:r>
              <a:rPr lang="en-US" sz="15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chlor- + -ide → chloride ion.</a:t>
            </a:r>
            <a:endParaRPr lang="en-US" sz="15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13738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651760"/>
                <a:gridCol w="14630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fluoride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chloride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sulfide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bromide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phosphide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iodide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r>
                        <a:rPr lang="en-US" sz="1250" baseline="3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nitride 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8"/>
          <p:cNvSpPr txBox="1"/>
          <p:nvPr/>
        </p:nvSpPr>
        <p:spPr>
          <a:xfrm>
            <a:off x="457200" y="352425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3.4.2. Polyatomic ions keep their own names.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4.1 · Naming ions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ion: (a) Ca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S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SO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Cu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calcium ion   (b) sulfide ion   (c) sulfite ion   (d) ammonium ion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copper(I) ion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cuprous ion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copper can be 1+ or 2+, so the charge must be shown</a:t>
            </a:r>
            <a:endParaRPr lang="en-US" sz="17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ion: (a)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Ba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HCO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ion: (a)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Ba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HCO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iron(II) or ferrous ion   (b) iron(III) or ferric ion   (c) sulfate 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barium ion   (e) bicarbonate or hydrogen carbonate ion</a:t>
            </a:r>
            <a:endParaRPr lang="en-US" sz="18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4.2 · Writing ion formulas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for: (a) the bromide ion (b) the phosphate ion (c) the cupric ion (d) the magnesium ion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7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3−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57987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5798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543300"/>
            <a:ext cx="7680960" cy="1074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cupric = the higher copper charge →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</a:t>
            </a:r>
            <a:r>
              <a:rPr lang="en-US" sz="17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endParaRPr lang="en-US" sz="17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 formulas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for: (a) the fluoride ion (b) the carbonate ion (c) the ferrous ion (d) the potassium 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Writing ion formulas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formula for: (a) the fluoride ion (b) the carbonate ion (c) the ferrous ion (d) the potassium ion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(c)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ionic compounds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name first, then anion name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drop the word 'ion' from both: Ba(NO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barium nitrate.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 does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say how many of each ion; you work that out from charge balance.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cation can have more than one charge, find its charge first: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Fe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(two Cl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Fe</a:t>
            </a:r>
            <a:r>
              <a:rPr lang="en-US" sz="16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3+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iron(II) chloride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(ferrous chloride) and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iron(III) chloride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(ferric chloride).</a:t>
            </a:r>
            <a:endParaRPr lang="en-US" sz="1600" dirty="0"/>
          </a:p>
        </p:txBody>
      </p:sp>
      <p:pic>
        <p:nvPicPr>
          <p:cNvPr id="12" name="Image 1" descr="/home/claude/em/fig/ic1/ic1_ba_nitr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27057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7336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Ball, The Basics of GOB Chemistry 3.4</a:t>
            </a:r>
            <a:endParaRPr lang="en-US" sz="9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4.3 · Naming ionic compounds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compound, using both Stock and common systems if necessary: (a) Ca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(NH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KCl (d) CuCl (e) SnF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calcium phosphate   (b) ammonium dichromate (</a:t>
            </a:r>
            <a:r>
              <a:rPr lang="en-US" sz="17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di-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part of the anion's name)   (c) potassium chloride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copper(I) chloride or cuprous chloride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tin(II) fluoride or stannous fluoride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ionic compounds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compound: (a) ZnBr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Al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CuF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AgF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Naming ionic compounds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each compound: (a) ZnBr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Fe(NO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Al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CuF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(e) AgF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zinc bromide   (b) iron(III) nitrate or ferric nitrate   (c) aluminium oxide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copper(II) fluoride or cupric fluoride   (e) silver fluoride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naming simple ionic compounds</a:t>
            </a:r>
            <a:endParaRPr lang="en-US" sz="2700" dirty="0"/>
          </a:p>
        </p:txBody>
      </p:sp>
      <p:pic>
        <p:nvPicPr>
          <p:cNvPr id="11" name="Image 1" descr="/home/claude/em/fig/ic1/ic1_naming_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212080" cy="26863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19511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 to naming simple ionic compounds (Ball, The Basics of GOB Chemistry Figure 3.4.1)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the cation have more than one charge? </a:t>
            </a: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Stock name or -ic/-ous name + anion, e.g.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iron(II) chloride, CuSO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copper(II) sulfate, Cr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chromium(III) oxide.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No: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cation name + anion name, e.g. KBr potassium bromide, NaNO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sodium nitrate, (NH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ammonium sulfide.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sulf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1969" y="146304"/>
            <a:ext cx="60390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Stock name of Fe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iron(II) oxide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iron(III) oxide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diiron trioxide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IC1-LO4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Stock name of Fe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oxide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iron(II) oxide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iron(III) oxide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diiron trioxide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Three O</a:t>
            </a:r>
            <a:r>
              <a:rPr lang="en-US" sz="14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2−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(6−) are balanced by two Fe, so each iron is 3+: iron(III) oxide (ferric oxide).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mass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up atomic masses: a skill used again in Chemical Reactions and Solution.</a:t>
            </a:r>
            <a:endParaRPr lang="en-US" sz="1600" dirty="0"/>
          </a:p>
        </p:txBody>
      </p:sp>
      <p:pic>
        <p:nvPicPr>
          <p:cNvPr id="9" name="Image 0" descr="/home/claude/em/mol/trim/phosph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32718" y="411480"/>
            <a:ext cx="2039285" cy="1920240"/>
          </a:xfrm>
          <a:prstGeom prst="rect">
            <a:avLst/>
          </a:prstGeom>
        </p:spPr>
      </p:pic>
      <p:pic>
        <p:nvPicPr>
          <p:cNvPr id="10" name="Image 1" descr="/home/claude/em/mol/trim/ammoni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0869" y="3520440"/>
            <a:ext cx="980303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   ·   Ball 3.5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formula mass?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mass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an ionic compound is the sum of the masses of all the atoms in its formula.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proper formula is electrically neutral, so the ions can be treated as atoms for this calculation.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atomic masses from the periodic table (here, to two decimal places), in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NaCl: Na 22.99 + Cl 35.45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58.44 amu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5.1 · Using subscripts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formula mass of (a) CaF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KNO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(c) Ca(NO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Ca 1 × 40.08 + F 2 × 19.00 = 40.08 + 38.00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78.08 amu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K 39.10 + N 14.01 + O 3 × 16.00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101.11 amu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in gunpowder and has been used as a diuretic)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The 2 outside the brackets doubles everything inside: Ca 40.08 + N 2 × 14.01 + O 6 × 16.00 = 40.08 + 28.02 + 96.00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164.10 amu</a:t>
            </a:r>
            <a:endParaRPr lang="en-US" sz="17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5.2 · Formula mass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35608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formula mass of (a) FeCl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(NH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</a:t>
            </a:r>
            <a:r>
              <a:rPr lang="en-US" sz="16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02920" y="245973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02920" y="2459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42316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Fe 55.84 + Cl 3 × 35.45 = 55.84 + 106.35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162.19 amu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02920" y="3206496"/>
            <a:ext cx="292608" cy="292608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02920" y="32064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16992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Three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 N and 12 H: N 3 × 14.01 = 42.03; H 12 × 1.01 = 12.12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02920" y="3953256"/>
            <a:ext cx="292608" cy="292608"/>
          </a:xfrm>
          <a:prstGeom prst="ellipse">
            <a:avLst/>
          </a:prstGeom>
          <a:solidFill>
            <a:srgbClr val="B86E0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502920" y="39532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3916680"/>
            <a:ext cx="768096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30.97; O 4 × 16.00 = 64.00. Total =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149.12 amu</a:t>
            </a:r>
            <a:endParaRPr lang="en-US" sz="17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mass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formula mass of (a) TiO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AgBr (c) Au(NO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Fe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Formula mass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the formula mass of (a) TiO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(b) AgBr (c) Au(NO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(d) Fe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47.87 + 2(16.00)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79.87 amu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(b) 107.87 + 79.90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187.77 amu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196.97 + 3(14.01) + 9(16.00)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383.00 amu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(d) 3(55.84) + 2(30.97) + 8(16.00) =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357.46 amu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Hydrates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ionic compounds include water in their formula unit: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hydrates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They are solids, not solutions.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number of water units after the formula, separated by a centred dot: CuSO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·5H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copper(II) sulfate </a:t>
            </a:r>
            <a:r>
              <a:rPr lang="en-US" sz="1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pentahydrate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(penta- = five water units per formula unit).</a:t>
            </a:r>
            <a:endParaRPr lang="en-US" sz="17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the water in the formula mass: CuSO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·5H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adds 5 × 18.02.</a:t>
            </a:r>
            <a:endParaRPr lang="en-US" sz="1700" dirty="0"/>
          </a:p>
        </p:txBody>
      </p:sp>
      <p:pic>
        <p:nvPicPr>
          <p:cNvPr id="12" name="Image 1" descr="/home/claude/em/fig/ic1/ic1_eps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6822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4145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sulfate heptahydrate, Epsom salt (Public Domain, Chemicalinterest; as in Ball 3.5)</a:t>
            </a:r>
            <a:endParaRPr lang="en-US" sz="9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itr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4393" y="146304"/>
            <a:ext cx="55905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health: useful hydrates</a:t>
            </a:r>
            <a:endParaRPr lang="en-US" sz="2700" dirty="0"/>
          </a:p>
        </p:txBody>
      </p:sp>
      <p:graphicFrame>
        <p:nvGraphicFramePr>
          <p:cNvPr id="8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2560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665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AlCl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·6H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aluminium chloride hexahydrate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antiperspirant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·½H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 sulfate hemihydrate (plaster of Paris)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casts for broken bones, castings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·2H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 sulfate dihydrate (gypsum)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drywall 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CoCl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·6H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cobalt(II) chloride hexahydrate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drying agent, humidity indicator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·5H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copper(II) sulfate pentahydrate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fungicide, algicide, herbicide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MgSO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·7H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magnesium sulfate heptahydrate (Epsom salts)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laxative, bathing salt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·10H</a:t>
                      </a:r>
                      <a:r>
                        <a:rPr lang="en-US" sz="1150" baseline="-400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sodium carbonate decahydrate (washing soda)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laundry additive, cleaner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7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Ball Table 3.5.1 (To Your Health: Hydrates).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phosphate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2883" y="146304"/>
            <a:ext cx="602074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formula mass of MgCl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(Mg 24.31, Cl 35.45)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59.76 amu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95.21 amu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130.66 amu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84.21 amu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ammonium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00026" y="146304"/>
            <a:ext cx="60778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IC1-LO5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formula mass of MgCl</a:t>
            </a:r>
            <a:r>
              <a:rPr lang="en-US" sz="20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(Mg 24.31, Cl 35.45)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59.76 amu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95.21 amu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130.66 amu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84.21 amu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24.31 + 2 × 35.45 = 95.21 amu.</a:t>
            </a:r>
            <a:endParaRPr lang="en-US" sz="14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8229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46888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 of ionic compounds</a:t>
            </a:r>
            <a:endParaRPr lang="en-US" sz="3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4612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ionic compounds are hard, brittle, high-melting, and conduct only when melted or dissolved.</a:t>
            </a:r>
            <a:endParaRPr lang="en-US" sz="1600" dirty="0"/>
          </a:p>
        </p:txBody>
      </p:sp>
      <p:pic>
        <p:nvPicPr>
          <p:cNvPr id="9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4284" y="411480"/>
            <a:ext cx="1876153" cy="1920240"/>
          </a:xfrm>
          <a:prstGeom prst="rect">
            <a:avLst/>
          </a:prstGeom>
        </p:spPr>
      </p:pic>
      <p:pic>
        <p:nvPicPr>
          <p:cNvPr id="10" name="Image 1" descr="/home/claude/em/mol/trim/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4317" y="3520440"/>
            <a:ext cx="893406" cy="9144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023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7DB6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   ·   Ball 3.6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crystals in nature</a:t>
            </a:r>
            <a:endParaRPr lang="en-US" sz="2700" dirty="0"/>
          </a:p>
        </p:txBody>
      </p:sp>
      <p:pic>
        <p:nvPicPr>
          <p:cNvPr id="11" name="Image 1" descr="/home/claude/em/fig/ic1/ic1_crysta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7485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416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Naturally occurring ionic crystals (Ball, The Basics of GOB Chemistry Figure 3.6.1)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434840" y="1463040"/>
            <a:ext cx="42519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regular, orderly arrangement of ions in the lattice gives crystals their shapes; transition-metal ions give the colours.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Amethyst: quartz, SiO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coloured purple by iron ions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Cinnabar: mercury(II) sulfide, HgS, the main ore of mercury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Azurite: a copper mineral, Cu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(OH)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Vanadinite: Pb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(VO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en-US" sz="15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Cl, the main ore of vanadium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melting points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ion is attracted to many oppositely charged neighbours at once, so the crystal lattice is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strong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 means breaking all those ionic attractions, which takes a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amount of energy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chloride melts at about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 °C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molecular compound water melts at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°C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pic>
        <p:nvPicPr>
          <p:cNvPr id="12" name="Image 1" descr="/home/claude/em/mol/trim/na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2699" y="1417320"/>
            <a:ext cx="2796361" cy="286207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4325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Na⁺ (purple) is surrounded by Cl⁻ (green), and vice versa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but brittle</a:t>
            </a:r>
            <a:endParaRPr lang="en-US" sz="2700" dirty="0"/>
          </a:p>
        </p:txBody>
      </p:sp>
      <p:pic>
        <p:nvPicPr>
          <p:cNvPr id="11" name="Image 1" descr="/home/claude/em/fig/ic1/ic1_sh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6242" y="1371600"/>
            <a:ext cx="4471516" cy="16276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30449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NaCl in two dimensions. (B) A hammer blow forces chloride ions together (Ball, The Basics of GOB Chemistry Figure 3.6.2)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457200" y="3493008"/>
            <a:ext cx="8229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 large force is needed to shift one layer of ions against the next.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they are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brittle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the shift brings </a:t>
            </a:r>
            <a:r>
              <a:rPr lang="en-US" sz="13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charges</a:t>
            </a: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side by side, they repel, and the crystal shatters.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Crystals break along smooth planes because the ions are regularly arranged.</a:t>
            </a:r>
            <a:endParaRPr lang="en-US" sz="13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conductivity</a:t>
            </a:r>
            <a:endParaRPr lang="en-US" sz="2700" dirty="0"/>
          </a:p>
        </p:txBody>
      </p:sp>
      <p:pic>
        <p:nvPicPr>
          <p:cNvPr id="11" name="Image 1" descr="/home/claude/em/fig/ic1/ic1_conductiv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693" y="1463040"/>
            <a:ext cx="3830215" cy="286207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5760" y="437083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(Ball, The Basics of GOB Chemistry Figure 3.6.3)</a:t>
            </a:r>
            <a:endParaRPr lang="en-US" sz="950" dirty="0"/>
          </a:p>
        </p:txBody>
      </p:sp>
      <p:sp>
        <p:nvSpPr>
          <p:cNvPr id="13" name="Text 8"/>
          <p:cNvSpPr txBox="1"/>
          <p:nvPr/>
        </p:nvSpPr>
        <p:spPr>
          <a:xfrm>
            <a:off x="5806440" y="1463040"/>
            <a:ext cx="2880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Distilled water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 conduct: water is a molecular compound.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NaCl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does not conduct: the ions are locked in the lattice and cannot move.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</a:t>
            </a: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 dissolved in water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conducts well: the lattice breaks up and the ions move freely.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Melting</a:t>
            </a:r>
            <a:r>
              <a:rPr lang="en-US" sz="15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ionic compound also frees the ions to conduct.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 move to the electrodes: dissociation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4709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solution,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move to the negative electrode and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the positive electrode, so current flows.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an ionic compound separates it into ions: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dissociation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NaCl(s) → Na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 + Cl</a:t>
            </a:r>
            <a:r>
              <a:rPr lang="en-US" sz="1800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Dissolving ionic compounds is covered in Solution (Ball 9.3).</a:t>
            </a:r>
            <a:endParaRPr lang="en-US" sz="1800" dirty="0"/>
          </a:p>
        </p:txBody>
      </p:sp>
      <p:pic>
        <p:nvPicPr>
          <p:cNvPr id="12" name="Image 1" descr="/home/claude/em/fig/ic1/ic1_migr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417320"/>
            <a:ext cx="3291840" cy="244443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39074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 migration in an ionic solution (Ball, The Basics of GOB Chemistry Figure 3.6.4)</a:t>
            </a:r>
            <a:endParaRPr lang="en-US" sz="9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Dissociation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dissociation equation of solid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water.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it out, then check on the next slide.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· Dissociation · answer</a:t>
            </a:r>
            <a:endParaRPr lang="en-US" sz="2700" dirty="0"/>
          </a:p>
        </p:txBody>
      </p:sp>
      <p:sp>
        <p:nvSpPr>
          <p:cNvPr id="11" name="Shape 7"/>
          <p:cNvSpPr/>
          <p:nvPr/>
        </p:nvSpPr>
        <p:spPr>
          <a:xfrm>
            <a:off x="457200" y="1371600"/>
            <a:ext cx="822960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58368" y="1444752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dissociation equation of solid NH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7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water.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57200" y="2560320"/>
            <a:ext cx="8229600" cy="2057400"/>
          </a:xfrm>
          <a:prstGeom prst="roundRect">
            <a:avLst>
              <a:gd name="adj" fmla="val 4444"/>
            </a:avLst>
          </a:prstGeom>
          <a:solidFill>
            <a:srgbClr val="FBEFD9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58368" y="2670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2999232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r>
              <a:rPr lang="en-US" sz="1800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(s) →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 + NO</a:t>
            </a:r>
            <a:r>
              <a:rPr lang="en-US" sz="1800" b="1" baseline="-4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800" b="1" baseline="30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(aq)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polyatomic ions stay intact.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takeaways: characteristics of ionic compounds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4173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have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melting points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are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and brittle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Ionic compounds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dissociate into 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dissolved in water.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and melts of ionic compounds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conduct electricity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solids do not.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ionic compound can be identified by its formula: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+ nonmetal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or </a:t>
            </a: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polyatomic ions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link:</a:t>
            </a:r>
            <a:r>
              <a:rPr lang="en-US" sz="18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drugs are made as ionic salts (e.g. sodium or hydrochloride salts) because salts dissolve and dissociate well in water.</a:t>
            </a:r>
            <a:endParaRPr lang="en-US" sz="18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which condition does sodium chloride conduct electricity?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solid crystal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mixed with distilled water that stays pure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dissolved in water or melted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Never, because it is neutral</a:t>
            </a:r>
            <a:endParaRPr lang="en-US" sz="16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>
            <a:alphaModFix amt="90000"/>
          </a:blip>
          <a:stretch>
            <a:fillRect/>
          </a:stretch>
        </p:blipFill>
        <p:spPr>
          <a:xfrm>
            <a:off x="8226964" y="146304"/>
            <a:ext cx="553912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47472"/>
            <a:ext cx="347472" cy="347472"/>
          </a:xfrm>
          <a:prstGeom prst="ellipse">
            <a:avLst/>
          </a:prstGeom>
          <a:solidFill>
            <a:srgbClr val="2F6F9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347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914400" y="374904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E1EEF7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400" y="37490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IC1-LO6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 · answer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which condition does sodium chloride conduct electricity?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45720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5836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solid crystal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4663440" y="21488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64608" y="21488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mixed with distilled water that stays pure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5720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E3F3E9"/>
          </a:solidFill>
          <a:ln w="9525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5836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dissolved in water or melted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663440" y="3063240"/>
            <a:ext cx="40233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E0E8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864608" y="3063240"/>
            <a:ext cx="3703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 </a:t>
            </a:r>
            <a:r>
              <a:rPr lang="en-US" sz="16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Never, because it is neutral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C.</a:t>
            </a:r>
            <a:r>
              <a:rPr lang="en-US" sz="14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Ions must be free to move. That happens only when the lattice is broken up by dissolving or melting.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6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key rules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457200" y="138988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" y="138988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Octet rule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38988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atoms are most stable with 8 valence electrons (duet for H, He, Li)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7200" y="179565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179565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Ions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179565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metals lose electrons → cations; nonmetals gain → anions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57200" y="220141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220141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from group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291840" y="220141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1A 1+ · 2A 2+ · 3A 3+ · 5A 3− · 6A 2− · 7A 1−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457200" y="260718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260718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260718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first · no charges shown · charges balance · lowest ratio · brackets for &gt;1 polyatomic ion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57200" y="301294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40080" y="301294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3291840" y="301294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cation + anion; Roman numeral (Stock) or -ous/-ic for variable-charge metals; anions end -ide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457200" y="341871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341871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-ate vs -ite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3291840" y="341871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-ate has one more O than -ite (nitrate NO₃⁻, nitrite NO₂⁻)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57200" y="3824478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E1EEF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0080" y="3824478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mass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3291840" y="3824478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of all atomic masses × subscripts (include hydrate water)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457200" y="4230243"/>
            <a:ext cx="8229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40080" y="4230243"/>
            <a:ext cx="265176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6F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291840" y="4230243"/>
            <a:ext cx="5303520" cy="3417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melting point · hard, brittle · conduct only when melted or dissolved</a:t>
            </a:r>
            <a:endParaRPr lang="en-US" sz="135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457200" y="482803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PHD115 · Ionic &amp; Covalent I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4572000" y="48280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0B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NAM · Faculty of Pharmacy, UiTM Bertam, Penang</a:t>
            </a:r>
            <a:endParaRPr lang="en-US" sz="900" dirty="0"/>
          </a:p>
        </p:txBody>
      </p:sp>
      <p:pic>
        <p:nvPicPr>
          <p:cNvPr id="5" name="Image 0" descr="/home/claude/em/mol/trim/na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0407" y="182880"/>
            <a:ext cx="804066" cy="8229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48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topic</a:t>
            </a:r>
            <a:endParaRPr lang="en-US" sz="3600" dirty="0"/>
          </a:p>
        </p:txBody>
      </p:sp>
      <p:sp>
        <p:nvSpPr>
          <p:cNvPr id="7" name="Shape 3"/>
          <p:cNvSpPr/>
          <p:nvPr/>
        </p:nvSpPr>
        <p:spPr>
          <a:xfrm>
            <a:off x="548640" y="1517904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48640" y="1517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097280" y="1463040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post-lecture activity (25 min)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54864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097280" y="2066544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 tutorial questions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724912"/>
            <a:ext cx="365760" cy="365760"/>
          </a:xfrm>
          <a:prstGeom prst="ellipse">
            <a:avLst/>
          </a:prstGeom>
          <a:solidFill>
            <a:srgbClr val="7DB6E3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27249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097280" y="267004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ion game to find your weak outcomes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3328416"/>
            <a:ext cx="365760" cy="365760"/>
          </a:xfrm>
          <a:prstGeom prst="ellipse">
            <a:avLst/>
          </a:prstGeom>
          <a:solidFill>
            <a:srgbClr val="F0B24A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48640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1097280" y="327355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topic: Ionic &amp; Covalent Compounds II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 from </a:t>
            </a:r>
            <a:r>
              <a:rPr lang="en-US" sz="900" i="1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Basics of GOB Chemistry</a:t>
            </a:r>
            <a:r>
              <a:rPr lang="en-US" sz="900" dirty="0">
                <a:solidFill>
                  <a:srgbClr val="A3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(Ball, Hill &amp; Scott), LibreTexts, CC BY-NC-SA 3.0, sections 3.0–3.6. Polyatomic ion chart © Compound Interest (CC BY-NC-ND). Shared under the same licence for non-commercial teaching.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98</Slides>
  <Notes>98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98</vt:i4>
      </vt:variant>
    </vt:vector>
  </HeadingPairs>
  <TitlesOfParts>
    <vt:vector size="10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PHD115 Ionic &amp; Covalent Compounds I: Lecture</dc:title>
  <dc:subject>PptxGenJS Presentation</dc:subject>
  <dc:creator>PptxGenJS</dc:creator>
  <cp:lastModifiedBy>PptxGenJS</cp:lastModifiedBy>
  <cp:revision>1</cp:revision>
  <dcterms:created xsi:type="dcterms:W3CDTF">2026-09-29T09:49:39Z</dcterms:created>
  <dcterms:modified xsi:type="dcterms:W3CDTF">2026-09-29T09:49:39Z</dcterms:modified>
</cp:coreProperties>
</file>