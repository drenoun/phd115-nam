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354" r:id="rId105"/>
    <p:sldId id="355" r:id="rId106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356" r:id="rId107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357" r:id="rId108"/>
    <p:sldId id="358" r:id="rId109"/>
    <p:sldId id="359" r:id="rId110"/>
    <p:sldId id="360" r:id="rId111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</p:sldIdLst>
  <p:notesMasterIdLst>
    <p:notesMasterId r:id="rId10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slide" Target="slides/slide20.xml"/><Relationship Id="rId20" Type="http://schemas.openxmlformats.org/officeDocument/2006/relationships/slide" Target="slides/slide21.xml"/><Relationship Id="rId21" Type="http://schemas.openxmlformats.org/officeDocument/2006/relationships/slide" Target="slides/slide22.xml"/><Relationship Id="rId22" Type="http://schemas.openxmlformats.org/officeDocument/2006/relationships/slide" Target="slides/slide24.xml"/><Relationship Id="rId23" Type="http://schemas.openxmlformats.org/officeDocument/2006/relationships/slide" Target="slides/slide25.xml"/><Relationship Id="rId24" Type="http://schemas.openxmlformats.org/officeDocument/2006/relationships/slide" Target="slides/slide26.xml"/><Relationship Id="rId25" Type="http://schemas.openxmlformats.org/officeDocument/2006/relationships/slide" Target="slides/slide27.xml"/><Relationship Id="rId26" Type="http://schemas.openxmlformats.org/officeDocument/2006/relationships/slide" Target="slides/slide28.xml"/><Relationship Id="rId27" Type="http://schemas.openxmlformats.org/officeDocument/2006/relationships/slide" Target="slides/slide29.xml"/><Relationship Id="rId28" Type="http://schemas.openxmlformats.org/officeDocument/2006/relationships/slide" Target="slides/slide30.xml"/><Relationship Id="rId29" Type="http://schemas.openxmlformats.org/officeDocument/2006/relationships/slide" Target="slides/slide31.xml"/><Relationship Id="rId30" Type="http://schemas.openxmlformats.org/officeDocument/2006/relationships/slide" Target="slides/slide32.xml"/><Relationship Id="rId31" Type="http://schemas.openxmlformats.org/officeDocument/2006/relationships/slide" Target="slides/slide37.xml"/><Relationship Id="rId32" Type="http://schemas.openxmlformats.org/officeDocument/2006/relationships/slide" Target="slides/slide38.xml"/><Relationship Id="rId33" Type="http://schemas.openxmlformats.org/officeDocument/2006/relationships/slide" Target="slides/slide39.xml"/><Relationship Id="rId34" Type="http://schemas.openxmlformats.org/officeDocument/2006/relationships/slide" Target="slides/slide40.xml"/><Relationship Id="rId35" Type="http://schemas.openxmlformats.org/officeDocument/2006/relationships/slide" Target="slides/slide41.xml"/><Relationship Id="rId36" Type="http://schemas.openxmlformats.org/officeDocument/2006/relationships/slide" Target="slides/slide42.xml"/><Relationship Id="rId37" Type="http://schemas.openxmlformats.org/officeDocument/2006/relationships/slide" Target="slides/slide43.xml"/><Relationship Id="rId38" Type="http://schemas.openxmlformats.org/officeDocument/2006/relationships/slide" Target="slides/slide44.xml"/><Relationship Id="rId39" Type="http://schemas.openxmlformats.org/officeDocument/2006/relationships/slide" Target="slides/slide45.xml"/><Relationship Id="rId40" Type="http://schemas.openxmlformats.org/officeDocument/2006/relationships/slide" Target="slides/slide46.xml"/><Relationship Id="rId41" Type="http://schemas.openxmlformats.org/officeDocument/2006/relationships/slide" Target="slides/slide47.xml"/><Relationship Id="rId42" Type="http://schemas.openxmlformats.org/officeDocument/2006/relationships/slide" Target="slides/slide48.xml"/><Relationship Id="rId43" Type="http://schemas.openxmlformats.org/officeDocument/2006/relationships/slide" Target="slides/slide49.xml"/><Relationship Id="rId44" Type="http://schemas.openxmlformats.org/officeDocument/2006/relationships/slide" Target="slides/slide50.xml"/><Relationship Id="rId45" Type="http://schemas.openxmlformats.org/officeDocument/2006/relationships/slide" Target="slides/slide51.xml"/><Relationship Id="rId46" Type="http://schemas.openxmlformats.org/officeDocument/2006/relationships/slide" Target="slides/slide52.xml"/><Relationship Id="rId47" Type="http://schemas.openxmlformats.org/officeDocument/2006/relationships/slide" Target="slides/slide53.xml"/><Relationship Id="rId48" Type="http://schemas.openxmlformats.org/officeDocument/2006/relationships/slide" Target="slides/slide54.xml"/><Relationship Id="rId49" Type="http://schemas.openxmlformats.org/officeDocument/2006/relationships/slide" Target="slides/slide55.xml"/><Relationship Id="rId50" Type="http://schemas.openxmlformats.org/officeDocument/2006/relationships/slide" Target="slides/slide56.xml"/><Relationship Id="rId51" Type="http://schemas.openxmlformats.org/officeDocument/2006/relationships/slide" Target="slides/slide57.xml"/><Relationship Id="rId52" Type="http://schemas.openxmlformats.org/officeDocument/2006/relationships/slide" Target="slides/slide58.xml"/><Relationship Id="rId53" Type="http://schemas.openxmlformats.org/officeDocument/2006/relationships/slide" Target="slides/slide59.xml"/><Relationship Id="rId54" Type="http://schemas.openxmlformats.org/officeDocument/2006/relationships/slide" Target="slides/slide60.xml"/><Relationship Id="rId55" Type="http://schemas.openxmlformats.org/officeDocument/2006/relationships/slide" Target="slides/slide61.xml"/><Relationship Id="rId56" Type="http://schemas.openxmlformats.org/officeDocument/2006/relationships/slide" Target="slides/slide62.xml"/><Relationship Id="rId57" Type="http://schemas.openxmlformats.org/officeDocument/2006/relationships/slide" Target="slides/slide63.xml"/><Relationship Id="rId58" Type="http://schemas.openxmlformats.org/officeDocument/2006/relationships/slide" Target="slides/slide64.xml"/><Relationship Id="rId59" Type="http://schemas.openxmlformats.org/officeDocument/2006/relationships/slide" Target="slides/slide65.xml"/><Relationship Id="rId60" Type="http://schemas.openxmlformats.org/officeDocument/2006/relationships/slide" Target="slides/slide66.xml"/><Relationship Id="rId61" Type="http://schemas.openxmlformats.org/officeDocument/2006/relationships/slide" Target="slides/slide67.xml"/><Relationship Id="rId62" Type="http://schemas.openxmlformats.org/officeDocument/2006/relationships/slide" Target="slides/slide68.xml"/><Relationship Id="rId63" Type="http://schemas.openxmlformats.org/officeDocument/2006/relationships/slide" Target="slides/slide69.xml"/><Relationship Id="rId64" Type="http://schemas.openxmlformats.org/officeDocument/2006/relationships/slide" Target="slides/slide70.xml"/><Relationship Id="rId65" Type="http://schemas.openxmlformats.org/officeDocument/2006/relationships/slide" Target="slides/slide71.xml"/><Relationship Id="rId66" Type="http://schemas.openxmlformats.org/officeDocument/2006/relationships/slide" Target="slides/slide72.xml"/><Relationship Id="rId67" Type="http://schemas.openxmlformats.org/officeDocument/2006/relationships/slide" Target="slides/slide73.xml"/><Relationship Id="rId68" Type="http://schemas.openxmlformats.org/officeDocument/2006/relationships/slide" Target="slides/slide74.xml"/><Relationship Id="rId69" Type="http://schemas.openxmlformats.org/officeDocument/2006/relationships/slide" Target="slides/slide75.xml"/><Relationship Id="rId70" Type="http://schemas.openxmlformats.org/officeDocument/2006/relationships/slide" Target="slides/slide76.xml"/><Relationship Id="rId71" Type="http://schemas.openxmlformats.org/officeDocument/2006/relationships/slide" Target="slides/slide77.xml"/><Relationship Id="rId72" Type="http://schemas.openxmlformats.org/officeDocument/2006/relationships/slide" Target="slides/slide78.xml"/><Relationship Id="rId73" Type="http://schemas.openxmlformats.org/officeDocument/2006/relationships/slide" Target="slides/slide79.xml"/><Relationship Id="rId74" Type="http://schemas.openxmlformats.org/officeDocument/2006/relationships/slide" Target="slides/slide80.xml"/><Relationship Id="rId75" Type="http://schemas.openxmlformats.org/officeDocument/2006/relationships/slide" Target="slides/slide81.xml"/><Relationship Id="rId76" Type="http://schemas.openxmlformats.org/officeDocument/2006/relationships/slide" Target="slides/slide82.xml"/><Relationship Id="rId77" Type="http://schemas.openxmlformats.org/officeDocument/2006/relationships/slide" Target="slides/slide83.xml"/><Relationship Id="rId78" Type="http://schemas.openxmlformats.org/officeDocument/2006/relationships/slide" Target="slides/slide84.xml"/><Relationship Id="rId79" Type="http://schemas.openxmlformats.org/officeDocument/2006/relationships/slide" Target="slides/slide85.xml"/><Relationship Id="rId80" Type="http://schemas.openxmlformats.org/officeDocument/2006/relationships/slide" Target="slides/slide86.xml"/><Relationship Id="rId81" Type="http://schemas.openxmlformats.org/officeDocument/2006/relationships/slide" Target="slides/slide87.xml"/><Relationship Id="rId82" Type="http://schemas.openxmlformats.org/officeDocument/2006/relationships/slide" Target="slides/slide88.xml"/><Relationship Id="rId83" Type="http://schemas.openxmlformats.org/officeDocument/2006/relationships/slide" Target="slides/slide89.xml"/><Relationship Id="rId84" Type="http://schemas.openxmlformats.org/officeDocument/2006/relationships/slide" Target="slides/slide90.xml"/><Relationship Id="rId85" Type="http://schemas.openxmlformats.org/officeDocument/2006/relationships/slide" Target="slides/slide91.xml"/><Relationship Id="rId86" Type="http://schemas.openxmlformats.org/officeDocument/2006/relationships/slide" Target="slides/slide92.xml"/><Relationship Id="rId87" Type="http://schemas.openxmlformats.org/officeDocument/2006/relationships/slide" Target="slides/slide93.xml"/><Relationship Id="rId88" Type="http://schemas.openxmlformats.org/officeDocument/2006/relationships/slide" Target="slides/slide94.xml"/><Relationship Id="rId89" Type="http://schemas.openxmlformats.org/officeDocument/2006/relationships/slide" Target="slides/slide95.xml"/><Relationship Id="rId90" Type="http://schemas.openxmlformats.org/officeDocument/2006/relationships/slide" Target="slides/slide96.xml"/><Relationship Id="rId91" Type="http://schemas.openxmlformats.org/officeDocument/2006/relationships/slide" Target="slides/slide97.xml"/><Relationship Id="rId92" Type="http://schemas.openxmlformats.org/officeDocument/2006/relationships/slide" Target="slides/slide98.xml"/><Relationship Id="rId93" Type="http://schemas.openxmlformats.org/officeDocument/2006/relationships/slide" Target="slides/slide99.xml"/><Relationship Id="rId94" Type="http://schemas.openxmlformats.org/officeDocument/2006/relationships/slide" Target="slides/slide100.xml"/><Relationship Id="rId95" Type="http://schemas.openxmlformats.org/officeDocument/2006/relationships/slide" Target="slides/slide101.xml"/><Relationship Id="rId96" Type="http://schemas.openxmlformats.org/officeDocument/2006/relationships/slide" Target="slides/slide102.xml"/><Relationship Id="rId97" Type="http://schemas.openxmlformats.org/officeDocument/2006/relationships/slide" Target="slides/slide103.xml"/><Relationship Id="rId98" Type="http://schemas.openxmlformats.org/officeDocument/2006/relationships/slide" Target="slides/slide104.xml"/><Relationship Id="rId99" Type="http://schemas.openxmlformats.org/officeDocument/2006/relationships/slide" Target="slides/slide105.xml"/><Relationship Id="rId100" Type="http://schemas.openxmlformats.org/officeDocument/2006/relationships/notesMaster" Target="notesMasters/notesMaster1.xml"/><Relationship Id="rId101" Type="http://schemas.openxmlformats.org/officeDocument/2006/relationships/presProps" Target="presProps.xml"/><Relationship Id="rId102" Type="http://schemas.openxmlformats.org/officeDocument/2006/relationships/viewProps" Target="viewProps.xml"/><Relationship Id="rId103" Type="http://schemas.openxmlformats.org/officeDocument/2006/relationships/theme" Target="theme/theme1.xml"/><Relationship Id="rId104" Type="http://schemas.openxmlformats.org/officeDocument/2006/relationships/tableStyles" Target="tableStyles.xml"/><Relationship Id="rId105" Type="http://schemas.openxmlformats.org/officeDocument/2006/relationships/slide" Target="slides/slide10.xml"/><Relationship Id="rId106" Type="http://schemas.openxmlformats.org/officeDocument/2006/relationships/slide" Target="slides/slide11.xml"/><Relationship Id="rId107" Type="http://schemas.openxmlformats.org/officeDocument/2006/relationships/slide" Target="slides/slide23.xml"/><Relationship Id="rId108" Type="http://schemas.openxmlformats.org/officeDocument/2006/relationships/slide" Target="slides/slide33.xml"/><Relationship Id="rId109" Type="http://schemas.openxmlformats.org/officeDocument/2006/relationships/slide" Target="slides/slide34.xml"/><Relationship Id="rId110" Type="http://schemas.openxmlformats.org/officeDocument/2006/relationships/slide" Target="slides/slide35.xml"/><Relationship Id="rId111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lecture follows chapter 3 of the core reference, section by section: two types of bonding, ions, formulas, naming, formula mass, and the properties of ionic compounds.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six outcomes appear in the notes, activities, tutorial, game and exam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parts, in the book's order. Covalent bonding is the main subject of the next topic, IC2.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Based on the chapter 3 introduction. Pairs discuss for one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Based on the chapter 3 introduction. Pairs discuss for one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3.0 Prelude. Pharmacy link: normal saline, and potassium chloride salt substitutes are relevant for patients on some antihypertensives.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 = section 3.1.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3.1.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3.1. This chapter focuses on the transfer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Example 3.1.1.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3.1.1.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3.1.1.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3.1 Key Takeaways, plus end-of-section exercises 3 to 8 as quick 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 = section 3.2.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3.2. Pronunciation note from the 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3.2 'Electron Transfer'.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3.2.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3.2.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Example 3.2.1. The book's solution says 'Mg can achieve octet'; it should read 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3.2.1.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3.2.1.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3.2, Figure 3.2.3.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Example 3.2.2.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3.2.2.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3.2.2.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3.2 'Lewis Diagrams'.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Figure 3.2.4.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Example 3.2.3.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3.2.3; the book's answer figure shows Mg· transferring two electrons to 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3.2.3; the book's answer figure shows Mg· transferring two electrons to 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3.2.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Figure 3.2.5.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3.2 Key Takeaways and exercises 3–5.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3 = section 3.3.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3.3.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3.3.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3.3, Figure 3.3.2.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Example 3.3.1.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3.3.1.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3.3.1.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3.3 'Polyatomic Ions'.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Table 3.3.2.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3.3.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3.3.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Example 3.3.2.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3.3.2.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3.3.2.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3.3 'Recognizing Ionic Compounds'.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Example 3.3.3.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3.3.3.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3.3.3.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3.3 Looking Closer.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4 = section 3.4.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3.4 'Naming Ions'.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Table 3.4.1.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Table 3.4.2.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Example 3.4.1.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3.4.1.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3.4.1.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Example 3.4.2.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3.4.2.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3.4.2.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3.4 'Naming Compounds'.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Example 3.4.3. Pharmacy link: stannous fluoride is used in toothpastes.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3.4.3.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3.4.3.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Figure 3.4.1. Key takeaway: each ionic compound has its own unique name that comes from the names of its 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5 = section 3.5.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3.5.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3.5 worked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Example 3.5.1.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3.5.1.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3.5.1.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3.5.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3.5 To Your Health.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6 = section 3.6.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Figure 3.6.1.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3.6 'Melting Points'.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3.6 'Shattering'.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3.6.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3.6 and Example 3.6.1.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3.6.1. Link: this is the instant cold pack compound from Energy &amp;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Exercise 3.6.1. Link: this is the instant cold pack compound from Energy &amp;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3.6 Key Takeaways, plus a pharmacy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here appears in the summary page of the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students to the student 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slide from Roy et al., General Chemistry for Gee-Gees 9.1 'Types of Chemical Bonds' (CC BY-NC-SA 4.0). Metallic bonding is outside the PHD115 syllabus; mention it only so students see the full picture. Analogies: ionic = magnets, covalent = holding hands, metallic = a crowd sharing one pool of electrons.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Roy et al. 9.2 Figure 9.2.2. Point out the size change: Na+ is smaller than the Na atom (lost its outer shell); Cl- is bigger than the Cl atom (extra electron).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Roy et al. 9.2 Figure 9.2.1 (originally OpenStax Chemistry). Daily-life link: the salt in our food and the 0.9% NaCl normal saline drip are made of the same Na+ and Cl- ions, not of sodium metal or chlorine gas.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Redrawn from Roy et al. Figure 9.1.1 (CC BY-NC-SA 4.0). Links the Lewis symbol back to the electron configurations from Atom and Periodic Table 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Roy et al. 9.1 worked examples (sulfur and fluorine).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in the style of Roy et al. 9.1.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in the style of Roy et al. 9.1.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9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jpg"/><Relationship Id="rId5" Type="http://schemas.openxmlformats.org/officeDocument/2006/relationships/notesSlide" Target="../notesSlides/notesSlide10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10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0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0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9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3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6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image" Target="../media/image-8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image" Target="../media/image-8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image" Target="../media/image-8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image" Target="../media/image-8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8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image" Target="../media/image-8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9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image" Target="../media/image-9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0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image" Target="../media/image-9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Fundamentals of Chemistry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9601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 &amp; Covalent Compounds I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920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Nur 'Ainun Mokhtar (Dr. NAM) · Faculty of Pharmacy, UiTM Bertam, Penang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reference: Ball, Hill &amp; Scott, The Basics of GOB Chemistry, chapter 3 (3.0–3.6)</a:t>
            </a:r>
            <a:endParaRPr lang="en-US" sz="1100" dirty="0"/>
          </a:p>
        </p:txBody>
      </p:sp>
      <p:pic>
        <p:nvPicPr>
          <p:cNvPr id="9" name="Image 0" descr="/home/claude/em/mol/trim/nac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1013" y="2514600"/>
            <a:ext cx="1965493" cy="2011680"/>
          </a:xfrm>
          <a:prstGeom prst="rect">
            <a:avLst/>
          </a:prstGeom>
        </p:spPr>
      </p:pic>
      <p:pic>
        <p:nvPicPr>
          <p:cNvPr id="10" name="Image 1" descr="/home/claude/em/mol/trim/sulf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2866" y="1965960"/>
            <a:ext cx="779228" cy="731520"/>
          </a:xfrm>
          <a:prstGeom prst="rect">
            <a:avLst/>
          </a:prstGeom>
        </p:spPr>
      </p:pic>
      <p:pic>
        <p:nvPicPr>
          <p:cNvPr id="11" name="Image 2" descr="/home/claude/em/mol/trim/ammoniu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226" y="3771900"/>
            <a:ext cx="735227" cy="685800"/>
          </a:xfrm>
          <a:prstGeom prst="rect">
            <a:avLst/>
          </a:prstGeom>
        </p:spPr>
      </p:pic>
      <p:pic>
        <p:nvPicPr>
          <p:cNvPr id="12" name="Image 3" descr="/home/claude/em/mol/trim/nit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5810" y="2971800"/>
            <a:ext cx="54102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21792" y="1508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1764792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octet rule and describe how ionic bonds form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63440" y="1417320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28032" y="1508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828032" y="1764792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cations and anions, use Lewis diagrams to show ion formation, and predict ionic charges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7200" y="2468880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" y="2560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IC1-LO3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" y="2816352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formulas for ionic compounds, including those with polyatomic ions, and recognise ionic compounds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663440" y="2468880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28032" y="2560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IC1-LO4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828032" y="2816352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ions and ionic compounds using the Stock and common systems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57200" y="3520440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" y="3611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IC1-LO5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21792" y="3867912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formula mass of ionic compounds, including hydrates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663440" y="3520440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828032" y="3611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IC1-LO6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828032" y="3867912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physical properties of ionic compounds and write dissociation equations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map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4173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Two types of bonding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(Ball 3.1): the octet rule, ionic and covalent bonds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Ions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(Ball 3.2): cations and anions, electron transfer, Lewis diagrams, predicting charges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Formulas for ionic compounds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(Ball 3.3): charge balance, crossing charges, polyatomic ions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Ionic nomenclature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(Ball 3.4): naming ions and compounds, Stock and common systems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Formula mass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(Ball 3.5): adding atomic masses, hydrates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Characteristics of ionic compounds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(Ball 3.6): melting, shattering, conductivity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0407" y="182880"/>
            <a:ext cx="804066" cy="8229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3152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132588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Sodium is a reactive metal and chlorine is a poisonous gas. So why is sodium chloride safe to eat and put into IV drips?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3474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a partner for one minute.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0407" y="182880"/>
            <a:ext cx="804066" cy="8229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3152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 · ANSWER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Sodium is a reactive metal and chlorine is a poisonous gas. So why is sodium chloride safe to eat and put into IV drips?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237744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sodium and chlorine combine, they form ions with stable octets. The compound's properties are completely different from those of the elements. Parts 1 and 2 explain how.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Salt: from salary to saline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4173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thousand years ago Roman soldiers were partly paid in salt, which is why </a:t>
            </a:r>
            <a:r>
              <a:rPr lang="en-US" sz="170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70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share a Latin root (</a:t>
            </a:r>
            <a:r>
              <a:rPr lang="en-US" sz="170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salarium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salt is sodium chloride (NaCl), a simple compound of two elements the body needs. Sodium is important for nerve conduction and fluid balance.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blood is about a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0.9% NaCl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solution, and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saline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(0.9% NaCl) is given intravenously in hospitals.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salt is unhealthy. The RDI of sodium is 2400 mg (about 1 teaspoon of salt), but many people eat more, because salt is added to prepared foods.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substitutes use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potassium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instead of sodium; some people find them slightly bitter.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229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468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types of bonding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461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atoms bond at all, and the two ways they reach a stable octet.</a:t>
            </a:r>
            <a:endParaRPr lang="en-US" sz="1600" dirty="0"/>
          </a:p>
        </p:txBody>
      </p:sp>
      <p:pic>
        <p:nvPicPr>
          <p:cNvPr id="9" name="Image 0" descr="/home/claude/em/mol/trim/nac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4284" y="411480"/>
            <a:ext cx="1876153" cy="1920240"/>
          </a:xfrm>
          <a:prstGeom prst="rect">
            <a:avLst/>
          </a:prstGeom>
        </p:spPr>
      </p:pic>
      <p:pic>
        <p:nvPicPr>
          <p:cNvPr id="10" name="Image 1" descr="/home/claude/em/mol/trim/wa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611746"/>
            <a:ext cx="1051560" cy="73178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864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DB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IC1-LO1   ·   Ball 3.1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IC1-LO1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octet rule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417320"/>
            <a:ext cx="5440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bond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very strong attraction between two atoms. It forms when electrons interact to give an arrangement more stable than the separate atoms.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Clue: the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noble gases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(He, Ne, Ar, Kr, Xe, Rn) rarely form compounds, so they are especially stable as single atoms.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 helium, they all have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valence electrons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Octet rule: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atoms are especially stable with eight electrons in their outermost shell. This is the key to why compounds form.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atoms (H, He, Li) have only the first shell, which holds two electrons: they follow a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duet rule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172200" y="146304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FBEFD9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355080" y="1600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know?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355080" y="1938528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noble gases, only krypton, xenon and radon have ever been made to form compounds.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IC1-LO1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reach an octet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atom without an octet can get one by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transferring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by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electrons.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57200" y="1713738"/>
            <a:ext cx="4023360" cy="2967990"/>
          </a:xfrm>
          <a:prstGeom prst="roundRect">
            <a:avLst>
              <a:gd name="adj" fmla="val 3081"/>
            </a:avLst>
          </a:prstGeom>
          <a:solidFill>
            <a:srgbClr val="FBEFD9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58368" y="182346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→ ionic bond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658368" y="2216658"/>
            <a:ext cx="3611880" cy="2401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Electrons move from one atom to another until all have octets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 that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electrons become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atoms that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electrons become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Charged atoms are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 charges attract: this is an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 bond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giving an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 compound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number of electrons is unchanged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663440" y="1713738"/>
            <a:ext cx="4023360" cy="2967990"/>
          </a:xfrm>
          <a:prstGeom prst="roundRect">
            <a:avLst>
              <a:gd name="adj" fmla="val 3081"/>
            </a:avLst>
          </a:prstGeom>
          <a:solidFill>
            <a:srgbClr val="E1EEF7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864608" y="182346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→ covalent bond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4864608" y="2216658"/>
            <a:ext cx="3611880" cy="2401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 share electrons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electrons occupy the outer shell of both atoms at once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bond is a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covalent bond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subject of the next topic (IC2)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 b="1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IC1-LO1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types of chemical bond</a:t>
            </a:r>
            <a:endParaRPr lang="en-US" sz="2700" dirty="0"/>
          </a:p>
        </p:txBody>
      </p:sp>
      <p:pic>
        <p:nvPicPr>
          <p:cNvPr id="14" name="Image 1" descr="ic1_bondtyp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1091" y="1371600"/>
            <a:ext cx="6181818" cy="17000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57200" y="31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types of chemical bond (Dr. NAM, after Roy et al., General Chemistry for Gee-Gees 9.1)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3574520"/>
            <a:ext cx="8229600" cy="1125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(metal + nonmetal): electrons move; + and − ions attract, like magnets.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Covalent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(nonmetal + nonmetal): atoms share electrons, like holding hands.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Metallic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(metals only): + cores in a sea of free electrons. The borders are </a:t>
            </a:r>
            <a:r>
              <a:rPr lang="en-US" sz="1800" dirty="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sharp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 b="1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IC1-LO1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vs transfer: H</a:t>
            </a:r>
            <a:r>
              <a:rPr lang="en-US" sz="2700" dirty="0" b="1" baseline="-2500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700" dirty="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and NaCl</a:t>
            </a:r>
            <a:endParaRPr lang="en-US" sz="2700" dirty="0"/>
          </a:p>
        </p:txBody>
      </p:sp>
      <p:pic>
        <p:nvPicPr>
          <p:cNvPr id="14" name="Image 1" descr="cov_ioni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4208" y="1371600"/>
            <a:ext cx="4415584" cy="17000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57200" y="31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Covalent bonding in H</a:t>
            </a:r>
            <a:r>
              <a:rPr lang="en-US" sz="950" i="1" dirty="0" baseline="-2500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(b) ionic bonding in NaCl (Roy et al., General Chemistry for Gee-Gees Figure 9.2.2)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3574520"/>
            <a:ext cx="8229600" cy="1125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(a) </a:t>
            </a:r>
            <a:r>
              <a:rPr lang="en-US" sz="1800" dirty="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Covalent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two H atoms share their electrons to make H</a:t>
            </a:r>
            <a:r>
              <a:rPr lang="en-US" sz="1800" dirty="0" baseline="-2500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(net charge 0).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(b) </a:t>
            </a:r>
            <a:r>
              <a:rPr lang="en-US" sz="1800" dirty="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Na gives one electron to Cl → Na</a:t>
            </a:r>
            <a:r>
              <a:rPr lang="en-US" sz="1800" dirty="0" baseline="3000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(11+, 10−) and Cl</a:t>
            </a:r>
            <a:r>
              <a:rPr lang="en-US" sz="1800" dirty="0" baseline="3000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(17+, 18−). Many ions pack into a 3D crystal.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IC1-LO1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1.1 · Lose one or gain seven?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35608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sodium atom has one valence electron. Is it more likely to lose one electron or gain seven to obtain an octet?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02920" y="245973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0292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960120" y="2423160"/>
            <a:ext cx="768096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is possible, but losing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electron is far easier than gaining seven.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02920" y="320649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02920" y="3206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960120" y="3169920"/>
            <a:ext cx="768096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Sodium atom: 11 protons (11+), 11 electrons (11−), overall charge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502920" y="3953256"/>
            <a:ext cx="292608" cy="292608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502920" y="3953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960120" y="3916680"/>
            <a:ext cx="768096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Sodium ion: 11 protons (11+), 10 electrons (10−), overall charge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1+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written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7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IC1-LO1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Fluorine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fluorine atom has seven valence electrons. Is it more likely to lose seven electrons or gain one to obtain an octet? Write the formula of the resulting ion.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IC1-LO1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Fluorine · answer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fluorine atom has seven valence electrons. Is it more likely to lose seven electrons or gain one to obtain an octet? Write the formula of the resulting ion.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457200" y="2560320"/>
            <a:ext cx="8229600" cy="2057400"/>
          </a:xfrm>
          <a:prstGeom prst="roundRect">
            <a:avLst>
              <a:gd name="adj" fmla="val 4444"/>
            </a:avLst>
          </a:prstGeom>
          <a:solidFill>
            <a:srgbClr val="FBEFD9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58368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" y="2999232"/>
            <a:ext cx="7863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involving fewer electrons is more favourable: fluorine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one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electron.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ion is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18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IC1-LO1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takeaways: two types of bonding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4173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 tend to have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electrons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their valence shell (the octet rule).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attraction between oppositely charged ions makes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 bonds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ionic compound is unlikely to contain two positive ions, or two negative ions, because like charges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repel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yourself: calcium (2 valence electrons) loses 2 →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r>
              <a:rPr lang="en-US" sz="18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aluminium (3) loses 3 →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</a:t>
            </a:r>
            <a:r>
              <a:rPr lang="en-US" sz="18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selenium (6) gains 2 →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</a:t>
            </a:r>
            <a:r>
              <a:rPr lang="en-US" sz="18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2−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iodine (7) gains 1 →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8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IC1-LO1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an ionic compound unlikely to consist of two positively charged ions?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45720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5836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ions have no electrons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66344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86460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charges repel each other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5720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5836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ions are always too large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66344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86460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would break the octet rule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IC1-LO1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answer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an ionic compound unlikely to consist of two positively charged ions?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45720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5836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ions have no electrons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66344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E3F3E9"/>
          </a:solidFill>
          <a:ln w="9525">
            <a:solidFill>
              <a:srgbClr val="2E7D4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86460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charges repel each other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5720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5836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ions are always too large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66344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86460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would break the octet rule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B.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Ionic bonds come from the attraction of opposite charges. Two positive ions repel.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229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468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Ions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461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atoms become ions, how to draw it, and how the periodic table predicts the charge.</a:t>
            </a:r>
            <a:endParaRPr lang="en-US" sz="1600" dirty="0"/>
          </a:p>
        </p:txBody>
      </p:sp>
      <p:pic>
        <p:nvPicPr>
          <p:cNvPr id="9" name="Image 0" descr="/home/claude/em/mol/trim/nac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4284" y="411480"/>
            <a:ext cx="1876153" cy="1920240"/>
          </a:xfrm>
          <a:prstGeom prst="rect">
            <a:avLst/>
          </a:prstGeom>
        </p:spPr>
      </p:pic>
      <p:pic>
        <p:nvPicPr>
          <p:cNvPr id="10" name="Image 1" descr="/home/claude/em/mol/trim/nac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4317" y="3520440"/>
            <a:ext cx="893406" cy="9144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864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DB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IC1-LO2   ·   Ball 3.2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types of ions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atoms do not have eight valence electrons, so they gain or lose electrons.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57200" y="1713738"/>
            <a:ext cx="4023360" cy="2967990"/>
          </a:xfrm>
          <a:prstGeom prst="roundRect">
            <a:avLst>
              <a:gd name="adj" fmla="val 3081"/>
            </a:avLst>
          </a:prstGeom>
          <a:solidFill>
            <a:srgbClr val="FBEFD9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58368" y="182346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Cations (CAT-eye-ons)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658368" y="2216658"/>
            <a:ext cx="3611880" cy="2401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 with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or fewer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valence electrons lose them easily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remains is a lower shell with an octet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electrons than protons: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charge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metals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become cations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4663440" y="1713738"/>
            <a:ext cx="4023360" cy="2967990"/>
          </a:xfrm>
          <a:prstGeom prst="roundRect">
            <a:avLst>
              <a:gd name="adj" fmla="val 3081"/>
            </a:avLst>
          </a:prstGeom>
          <a:solidFill>
            <a:srgbClr val="E1EEF7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864608" y="182346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Anions (ANN-eye-ons)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4864608" y="2216658"/>
            <a:ext cx="3611880" cy="2401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 with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eight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valence electrons gain electrons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now have more electrons than protons: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charge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nonmetals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become anions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transfer: forming the sodium ion</a:t>
            </a:r>
            <a:endParaRPr lang="en-US" sz="2700" dirty="0"/>
          </a:p>
        </p:txBody>
      </p:sp>
      <p:pic>
        <p:nvPicPr>
          <p:cNvPr id="11" name="Image 1" descr="/home/claude/em/fig/ic1/ic1_na_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629" y="1371600"/>
            <a:ext cx="4304741" cy="16276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57200" y="30449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formation of a sodium ion (Ball, The Basics of GOB Chemistry Figure 3.2.1)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349300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Na: 1s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2s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3s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One valence electron in the third energy level.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it gives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3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sodium ion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1s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2s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 octet in the second level.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3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the same configuration as neon. Species with the same electron configuration are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isoelectronic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transfer: forming the chloride ion</a:t>
            </a:r>
            <a:endParaRPr lang="en-US" sz="2700" dirty="0"/>
          </a:p>
        </p:txBody>
      </p:sp>
      <p:pic>
        <p:nvPicPr>
          <p:cNvPr id="11" name="Image 1" descr="/home/claude/em/fig/ic1/ic1_cl_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2869" y="1371600"/>
            <a:ext cx="2558263" cy="85039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57200" y="22677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formation of a chloride ion (Ball, The Basics of GOB Chemistry Figure 3.2.2)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2715768"/>
            <a:ext cx="822960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Cl: 1s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2s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3s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3p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It needs only one more electron.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Gaining one gives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</a:t>
            </a:r>
            <a:r>
              <a:rPr lang="en-US" sz="18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chloride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ion. Note the suffix change: chlor</a:t>
            </a:r>
            <a:r>
              <a:rPr lang="en-US" sz="180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chlor</a:t>
            </a:r>
            <a:r>
              <a:rPr lang="en-US" sz="180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table salt, this electron comes from the sodium atom.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Sodium + chlorine → sodium chloride</a:t>
            </a:r>
            <a:endParaRPr lang="en-US" sz="2700" dirty="0"/>
          </a:p>
        </p:txBody>
      </p:sp>
      <p:pic>
        <p:nvPicPr>
          <p:cNvPr id="11" name="Image 1" descr="/home/claude/em/fig/ic1/ic1_nacl_lew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86" y="1371600"/>
            <a:ext cx="7961429" cy="85039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57200" y="22677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Ball, The Basics of GOB Chemistry 3.2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2715768"/>
            <a:ext cx="822960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oppositely charged ions attract: this is the compound sodium chloride.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electrons are left over. Electrons lost by Na (one) = electrons gained by Cl (one), so the compound is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electrically neutral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sample holds billions of ions, but always the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number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cations and anions.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 b="1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elements, very different substances</a:t>
            </a:r>
            <a:endParaRPr lang="en-US" sz="2700" dirty="0"/>
          </a:p>
        </p:txBody>
      </p:sp>
      <p:pic>
        <p:nvPicPr>
          <p:cNvPr id="14" name="Image 1" descr="na_cl_sal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2152" y="1371600"/>
            <a:ext cx="4919696" cy="17000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57200" y="31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Sodium, chlorine and table salt (Roy et al., General Chemistry for Gee-Gees Figure 9.2.1; photo a: 'Jurii'/Wikimedia Commons)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3574520"/>
            <a:ext cx="8229600" cy="1125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Sodium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(a): soft metal, explodes in water. </a:t>
            </a:r>
            <a:r>
              <a:rPr lang="en-US" sz="1800" dirty="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Chlorine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(b): poisonous yellow-green gas.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Together they make </a:t>
            </a:r>
            <a:r>
              <a:rPr lang="en-US" sz="1800" dirty="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salt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(c), safe to eat. Ions behave very differently from their atoms.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2.1 · Aluminium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35608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electron configuration of an aluminium atom (Z = 13). How many electrons must Al lose or gain to achieve an octet? Write the resulting ion and its configuration.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02920" y="245973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0292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960120" y="2423160"/>
            <a:ext cx="768096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Al: 1s</a:t>
            </a:r>
            <a:r>
              <a:rPr lang="en-US" sz="17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2s</a:t>
            </a:r>
            <a:r>
              <a:rPr lang="en-US" sz="17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</a:t>
            </a:r>
            <a:r>
              <a:rPr lang="en-US" sz="17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3s</a:t>
            </a:r>
            <a:r>
              <a:rPr lang="en-US" sz="17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3p</a:t>
            </a:r>
            <a:r>
              <a:rPr lang="en-US" sz="17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second shell already has an octet; the valence shell has 3 electrons.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02920" y="320649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02920" y="3206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960120" y="3169920"/>
            <a:ext cx="768096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achieves an octet by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the 3 valence electrons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502920" y="3953256"/>
            <a:ext cx="292608" cy="292608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502920" y="3953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960120" y="3916680"/>
            <a:ext cx="768096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ion is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</a:t>
            </a:r>
            <a:r>
              <a:rPr lang="en-US" sz="17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1s</a:t>
            </a:r>
            <a:r>
              <a:rPr lang="en-US" sz="17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2s</a:t>
            </a:r>
            <a:r>
              <a:rPr lang="en-US" sz="17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</a:t>
            </a:r>
            <a:r>
              <a:rPr lang="en-US" sz="17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Oxygen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electron configuration of an oxygen atom (Z = 8). How many electrons must O lose or gain? Write the resulting ion and its configuration.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Oxygen · answer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electron configuration of an oxygen atom (Z = 8). How many electrons must O lose or gain? Write the resulting ion and its configuration.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457200" y="2560320"/>
            <a:ext cx="8229600" cy="2057400"/>
          </a:xfrm>
          <a:prstGeom prst="roundRect">
            <a:avLst>
              <a:gd name="adj" fmla="val 4444"/>
            </a:avLst>
          </a:prstGeom>
          <a:solidFill>
            <a:srgbClr val="FBEFD9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58368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" y="2999232"/>
            <a:ext cx="7863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O: 1s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2s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second shell has six electrons and needs two more.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2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electrons →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8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2−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1s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2s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ionic charges</a:t>
            </a:r>
            <a:endParaRPr lang="en-US" sz="2700" dirty="0"/>
          </a:p>
        </p:txBody>
      </p:sp>
      <p:pic>
        <p:nvPicPr>
          <p:cNvPr id="11" name="Image 1" descr="/home/claude/em/fig/ic1/ic1_predict_charg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657600" cy="211840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57200" y="3535725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ionic charges (Ball, The Basics of GOB Chemistry Figure 3.2.3)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4434840" y="1463040"/>
            <a:ext cx="4251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in the same </a:t>
            </a: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usually form ions with the same charge, because they have the same number of valence electrons.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1A (alkali metals): </a:t>
            </a: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1+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Group 2A (alkaline earth metals): </a:t>
            </a: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Group 3A: </a:t>
            </a: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7A (halogens): </a:t>
            </a: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1−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Group 6A: </a:t>
            </a: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2−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Group 5A: </a:t>
            </a: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3−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number first, then the sign: </a:t>
            </a: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r>
              <a:rPr lang="en-US" sz="16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Ba</a:t>
            </a:r>
            <a:r>
              <a:rPr lang="en-US" sz="16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2.2 · Which ion is not likely to form?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35608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Mg</a:t>
            </a:r>
            <a:r>
              <a:rPr lang="en-US" sz="16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(b) K</a:t>
            </a:r>
            <a:r>
              <a:rPr lang="en-US" sz="16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02920" y="245973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0292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960120" y="2423160"/>
            <a:ext cx="768096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 is in Group 2A with two valence electrons. It reaches an octet by losing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electrons: Mg</a:t>
            </a:r>
            <a:r>
              <a:rPr lang="en-US" sz="17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02920" y="3579876"/>
            <a:ext cx="292608" cy="292608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02920" y="35798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960120" y="3543300"/>
            <a:ext cx="768096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only one (Mg</a:t>
            </a:r>
            <a:r>
              <a:rPr lang="en-US" sz="17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does not give an octet, so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</a:t>
            </a:r>
            <a:r>
              <a:rPr lang="en-US" sz="17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not likely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K</a:t>
            </a:r>
            <a:r>
              <a:rPr lang="en-US" sz="17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(Group 1A) is fine.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Which ion is not likely to form?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S</a:t>
            </a:r>
            <a:r>
              <a:rPr lang="en-US" sz="17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3−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(b) N</a:t>
            </a:r>
            <a:r>
              <a:rPr lang="en-US" sz="17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3−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Which ion is not likely to form? · answer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S</a:t>
            </a:r>
            <a:r>
              <a:rPr lang="en-US" sz="17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3−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(b) N</a:t>
            </a:r>
            <a:r>
              <a:rPr lang="en-US" sz="17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3−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457200" y="2560320"/>
            <a:ext cx="8229600" cy="2057400"/>
          </a:xfrm>
          <a:prstGeom prst="roundRect">
            <a:avLst>
              <a:gd name="adj" fmla="val 4444"/>
            </a:avLst>
          </a:prstGeom>
          <a:solidFill>
            <a:srgbClr val="FBEFD9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58368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" y="2999232"/>
            <a:ext cx="7863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is in Group 6A with six valence electrons: it reaches an octet by gaining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2−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Gaining three does not give an octet, so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8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3−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not likely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3−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(Group 5A) is fine.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 diagrams</a:t>
            </a:r>
            <a:endParaRPr lang="en-US" sz="2700" dirty="0"/>
          </a:p>
        </p:txBody>
      </p:sp>
      <p:pic>
        <p:nvPicPr>
          <p:cNvPr id="11" name="Image 1" descr="/home/claude/em/fig/ic1/ic1_f_do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264" y="1371600"/>
            <a:ext cx="7255472" cy="85039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57200" y="22677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Lewis diagram of fluorine one dot at a time (Ball, The Basics of GOB Chemistry 3.2)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2715768"/>
            <a:ext cx="822960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 electron dot diagrams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show only the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valence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electrons, as dots around the symbol (after Gilbert N. Lewis).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two dots on each side (top, bottom, left, right).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the first four dots singly, one per side, then pair them up. Which side you start on does not matter.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 diagrams of the second period</a:t>
            </a:r>
            <a:endParaRPr lang="en-US" sz="2700" dirty="0"/>
          </a:p>
        </p:txBody>
      </p:sp>
      <p:pic>
        <p:nvPicPr>
          <p:cNvPr id="11" name="Image 1" descr="/home/claude/em/fig/ic1/ic1_lewis_li_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65099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57200" y="206831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 diagrams of lithium through neon (Ball, The Basics of GOB Chemistry Figure 3.2.4)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2516374"/>
            <a:ext cx="8229600" cy="2147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main-group elements, the number of valence electrons equals the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number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(1A → 1 dot, 7A → 7 dots).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has a full octet: eight dots, all paired.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in the same column have the same Lewis diagram pattern (Li and Na; F, Cl and Br).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 b="1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 symbols of the third period</a:t>
            </a:r>
            <a:endParaRPr lang="en-US" sz="2700" dirty="0"/>
          </a:p>
        </p:txBody>
      </p:sp>
      <p:pic>
        <p:nvPicPr>
          <p:cNvPr id="14" name="Image 1" descr="ic1_period3_lew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1091" y="1371600"/>
            <a:ext cx="6181818" cy="17000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57200" y="31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 symbols of sodium to argon with their electron configurations (Dr. NAM, after Roy et al., General Chemistry for Gee-Gees Figure 9.1.1)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3574520"/>
            <a:ext cx="8229600" cy="1125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Count only </a:t>
            </a:r>
            <a:r>
              <a:rPr lang="en-US" sz="1800" dirty="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outer-shell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electrons (3s + 3p after [Ne]). Dots = </a:t>
            </a:r>
            <a:r>
              <a:rPr lang="en-US" sz="1800" dirty="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digit of the group number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Orange dots are </a:t>
            </a:r>
            <a:r>
              <a:rPr lang="en-US" sz="1800" dirty="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unpaired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dark dots are paired. Same pattern as Li to Ne above.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 b="1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· Electron configuration → Lewis symbol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35608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Lewis symbols of sulfur and fluorine from their electron configurations.</a:t>
            </a:r>
            <a:endParaRPr lang="en-US" sz="1600" dirty="0"/>
          </a:p>
        </p:txBody>
      </p:sp>
      <p:pic>
        <p:nvPicPr>
          <p:cNvPr id="24" name="Image 1" descr="ic1_config_do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9082" y="2377440"/>
            <a:ext cx="3006436" cy="1600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257800" y="40233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NAM, after Roy et al., General Chemistry for Gee-Gees 9.1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02920" y="245973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50292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960120" y="2423160"/>
            <a:ext cx="42976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Sulfur: [Ne] 3s</a:t>
            </a:r>
            <a:r>
              <a:rPr lang="en-US" sz="1600" dirty="0" baseline="3000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3p</a:t>
            </a:r>
            <a:r>
              <a:rPr lang="en-US" sz="1600" dirty="0" baseline="3000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. Ignore the [Ne] core. Outer shell = 2 + 4 = </a:t>
            </a:r>
            <a:r>
              <a:rPr lang="en-US" sz="1600" dirty="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valence electrons.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02920" y="320649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502920" y="3206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960120" y="3169920"/>
            <a:ext cx="42976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Fluorine: [He] 2s</a:t>
            </a:r>
            <a:r>
              <a:rPr lang="en-US" sz="1600" dirty="0" baseline="3000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2p</a:t>
            </a:r>
            <a:r>
              <a:rPr lang="en-US" sz="1600" dirty="0" baseline="3000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. Outer shell = 2 + 5 = </a:t>
            </a:r>
            <a:r>
              <a:rPr lang="en-US" sz="1600" dirty="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valence electrons.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02920" y="3953256"/>
            <a:ext cx="292608" cy="292608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502920" y="3953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960120" y="3916680"/>
            <a:ext cx="42976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dot per side first, then pair up. S: 2 pairs + 2 single dots. F: 3 pairs + 1 single dot.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water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183880" y="207050"/>
            <a:ext cx="640080" cy="4454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 b="1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Phosphorus and magnesium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Phosphorus is [Ne] 3s</a:t>
            </a:r>
            <a:r>
              <a:rPr lang="en-US" sz="1700" dirty="0" baseline="3000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3p</a:t>
            </a:r>
            <a:r>
              <a:rPr lang="en-US" sz="1700" dirty="0" baseline="3000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and magnesium is [Ne] 3s</a:t>
            </a:r>
            <a:r>
              <a:rPr lang="en-US" sz="1700" dirty="0" baseline="3000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How many dots does each Lewis symbol have, and how many are unpaired?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 b="1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Phosphorus and magnesium · answer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Phosphorus is [Ne] 3s</a:t>
            </a:r>
            <a:r>
              <a:rPr lang="en-US" sz="1700" dirty="0" baseline="3000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3p</a:t>
            </a:r>
            <a:r>
              <a:rPr lang="en-US" sz="1700" dirty="0" baseline="3000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and magnesium is [Ne] 3s</a:t>
            </a:r>
            <a:r>
              <a:rPr lang="en-US" sz="1700" dirty="0" baseline="3000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How many dots does each Lewis symbol have, and how many are unpaired?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457200" y="2560320"/>
            <a:ext cx="8229600" cy="2057400"/>
          </a:xfrm>
          <a:prstGeom prst="roundRect">
            <a:avLst>
              <a:gd name="adj" fmla="val 4444"/>
            </a:avLst>
          </a:prstGeom>
          <a:solidFill>
            <a:srgbClr val="FBEFD9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58368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" y="2999232"/>
            <a:ext cx="7863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P: </a:t>
            </a:r>
            <a:r>
              <a:rPr lang="en-US" sz="1800" dirty="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dots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(1 pair + 3 single).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Mg: </a:t>
            </a:r>
            <a:r>
              <a:rPr lang="en-US" sz="1800" dirty="0" b="1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dots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(one on each of two sides, both single). Check with the third-period figure.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2.3 · Forming LiBr with Lewis diagrams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35608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with lithium and bromine atoms, use Lewis diagrams to show the formation of LiBr.</a:t>
            </a:r>
            <a:endParaRPr lang="en-US" sz="1600" dirty="0"/>
          </a:p>
        </p:txBody>
      </p:sp>
      <p:pic>
        <p:nvPicPr>
          <p:cNvPr id="13" name="Image 1" descr="/home/claude/em/fig/ic1/ic1_libr_lew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2377440"/>
            <a:ext cx="3429000" cy="41337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257800" y="2836537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Ball, The Basics of GOB Chemistry Example 3.2.3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02920" y="245973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50292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960120" y="2423160"/>
            <a:ext cx="42976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is in the same column as Na, so it has one dot. Br is in the same column as Cl, so it has seven.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02920" y="320649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502920" y="3206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960120" y="3169920"/>
            <a:ext cx="42976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transfers its electron to Br: Li</a:t>
            </a:r>
            <a:r>
              <a:rPr lang="en-US" sz="16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Br</a:t>
            </a:r>
            <a:r>
              <a:rPr lang="en-US" sz="16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(bromide now has an octet).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02920" y="3953256"/>
            <a:ext cx="292608" cy="292608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502920" y="3953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960120" y="3916680"/>
            <a:ext cx="42976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final formula the dots are omitted: </a:t>
            </a: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Forming MgO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with magnesium and oxygen atoms, use Lewis diagrams to show the formation of MgO.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Forming MgO · answer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with magnesium and oxygen atoms, use Lewis diagrams to show the formation of MgO.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457200" y="2560320"/>
            <a:ext cx="8229600" cy="2057400"/>
          </a:xfrm>
          <a:prstGeom prst="roundRect">
            <a:avLst>
              <a:gd name="adj" fmla="val 4444"/>
            </a:avLst>
          </a:prstGeom>
          <a:solidFill>
            <a:srgbClr val="FBEFD9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58368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" y="2999232"/>
            <a:ext cx="4754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 (2 dots) transfers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electrons to O (6 dots): Mg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O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2−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MgO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oxide ion now has an octet.</a:t>
            </a:r>
            <a:endParaRPr lang="en-US" sz="1800" dirty="0"/>
          </a:p>
        </p:txBody>
      </p:sp>
      <p:pic>
        <p:nvPicPr>
          <p:cNvPr id="16" name="Image 1" descr="/home/claude/em/fig/ic1/ic1_mgo_lew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697480"/>
            <a:ext cx="3017520" cy="6705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577840" y="3413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Ball, The Basics of GOB Chemistry Exercise 3.2.3 answer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balance: forming MgBr₂</a:t>
            </a:r>
            <a:endParaRPr lang="en-US" sz="2700" dirty="0"/>
          </a:p>
        </p:txBody>
      </p:sp>
      <p:pic>
        <p:nvPicPr>
          <p:cNvPr id="11" name="Image 1" descr="/home/claude/em/fig/ic1/ic1_mgbr2_lew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774669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57200" y="2191989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Ball, The Basics of GOB Chemistry 3.2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2640045"/>
            <a:ext cx="8229600" cy="2023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compounds need different numbers of cations and anions. Electron transfer then involves more than two atoms.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 gives one electron to each of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 atoms: one Mg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balances two Br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charge = zero: this is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balance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number of each ion appears as the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MgBr</a:t>
            </a:r>
            <a:r>
              <a:rPr lang="en-US" sz="18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of the monatomic ions</a:t>
            </a:r>
            <a:endParaRPr lang="en-US" sz="2700" dirty="0"/>
          </a:p>
        </p:txBody>
      </p:sp>
      <p:pic>
        <p:nvPicPr>
          <p:cNvPr id="11" name="Image 1" descr="/home/claude/em/fig/ic1/ic1_monatomic_charg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5212080" cy="197459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65760" y="348335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of the monatomic ions (Ball, The Basics of GOB Chemistry Figure 3.2.5)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5806440" y="1463040"/>
            <a:ext cx="2880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elements that form ionic compounds have a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 charge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Na always 1+, Cl always 1−.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Main-group charges follow the group pattern.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metals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(and larger main-group elements) can form ions of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 charge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e.g. Fe</a:t>
            </a:r>
            <a:r>
              <a:rPr lang="en-US" sz="15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/Fe</a:t>
            </a:r>
            <a:r>
              <a:rPr lang="en-US" sz="15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Cu</a:t>
            </a:r>
            <a:r>
              <a:rPr lang="en-US" sz="15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/Cu</a:t>
            </a:r>
            <a:r>
              <a:rPr lang="en-US" sz="15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There is no simple pattern: learn them.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takeaways: ions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4173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Ions can be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positively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charged (cations) or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negatively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charged (anions).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 diagram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shows how electrons are transferred to make ions and ionic compounds.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yourself: Li → Li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S → S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2−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Ca → Ca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F → F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cation nor anion: neutral molecules such as NH</a:t>
            </a:r>
            <a:r>
              <a:rPr lang="en-US" sz="18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</a:t>
            </a:r>
            <a:r>
              <a:rPr lang="en-US" sz="18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CH</a:t>
            </a:r>
            <a:r>
              <a:rPr lang="en-US" sz="18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CS</a:t>
            </a:r>
            <a:r>
              <a:rPr lang="en-US" sz="18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ion is isoelectronic with neon?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45720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5836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6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66344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86460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</a:t>
            </a:r>
            <a:r>
              <a:rPr lang="en-US" sz="16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5720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5836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</a:t>
            </a:r>
            <a:r>
              <a:rPr lang="en-US" sz="16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66344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86460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6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2−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answer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ion is isoelectronic with neon?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45720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5836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6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66344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E3F3E9"/>
          </a:solidFill>
          <a:ln w="9525">
            <a:solidFill>
              <a:srgbClr val="2E7D4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86460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</a:t>
            </a:r>
            <a:r>
              <a:rPr lang="en-US" sz="16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5720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5836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</a:t>
            </a:r>
            <a:r>
              <a:rPr lang="en-US" sz="16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66344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86460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6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2−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B.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Mg</a:t>
            </a:r>
            <a:r>
              <a:rPr lang="en-US" sz="14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10 electrons (1s</a:t>
            </a:r>
            <a:r>
              <a:rPr lang="en-US" sz="14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2s</a:t>
            </a:r>
            <a:r>
              <a:rPr lang="en-US" sz="14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</a:t>
            </a:r>
            <a:r>
              <a:rPr lang="en-US" sz="14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like neon. K</a:t>
            </a:r>
            <a:r>
              <a:rPr lang="en-US" sz="14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Cl</a:t>
            </a:r>
            <a:r>
              <a:rPr lang="en-US" sz="14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S</a:t>
            </a:r>
            <a:r>
              <a:rPr lang="en-US" sz="14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2−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isoelectronic with argon.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229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468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 for ionic compounds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461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correct formulas, including compounds that contain polyatomic ions.</a:t>
            </a:r>
            <a:endParaRPr lang="en-US" sz="1600" dirty="0"/>
          </a:p>
        </p:txBody>
      </p:sp>
      <p:pic>
        <p:nvPicPr>
          <p:cNvPr id="9" name="Image 0" descr="/home/claude/em/mol/trim/nit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5575" y="411480"/>
            <a:ext cx="1893570" cy="1920240"/>
          </a:xfrm>
          <a:prstGeom prst="rect">
            <a:avLst/>
          </a:prstGeom>
        </p:spPr>
      </p:pic>
      <p:pic>
        <p:nvPicPr>
          <p:cNvPr id="10" name="Image 1" descr="/home/claude/em/mol/trim/sulf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03" y="3520440"/>
            <a:ext cx="974035" cy="9144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864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DB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IC1-LO3   ·   Ball 3.3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phosphat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02883" y="146304"/>
            <a:ext cx="602074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IC1-LO3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 crystals and formula units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417320"/>
            <a:ext cx="4709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formula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concise list of the elements in a compound and their ratios.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 compounds exist as alternating positive and negative ions in regular 3D arrays called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crystals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no separate 'particles': each ion is surrounded by ions of opposite charge.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NaCl has a 1:1 ratio, so its formula is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NaCl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One NaCl pair is a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unit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pic>
        <p:nvPicPr>
          <p:cNvPr id="12" name="Image 1" descr="/home/claude/em/fig/ic1/ic1_nacl_cryst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1889" y="1417320"/>
            <a:ext cx="3017983" cy="286207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94960" y="43251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sodium chloride crystal (Ball, The Basics of GOB Chemistry Figure 3.3.1)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itrat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4393" y="146304"/>
            <a:ext cx="559054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IC1-LO3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for writing ionic formulas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417320"/>
            <a:ext cx="5440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cation first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the anion (usually metal, then nonmetal).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charges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written in the formula, even though the particles are ions.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 must have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balance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total positive charge = total negative charge (matter is electrically neutral).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subscript means one; we never write 1.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whole-number ratio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LiBr: 1+ and 1−. MgO: 2+ and 2−. MgCl</a:t>
            </a:r>
            <a:r>
              <a:rPr lang="en-US" sz="15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one Mg</a:t>
            </a:r>
            <a:r>
              <a:rPr lang="en-US" sz="15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needs two Cl</a:t>
            </a:r>
            <a:r>
              <a:rPr lang="en-US" sz="15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(Cl</a:t>
            </a:r>
            <a:r>
              <a:rPr lang="en-US" sz="15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here means two chloride ions, not a chlorine molecule.)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172200" y="146304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FBEFD9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355080" y="1600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355080" y="1938528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ratios are the rule, but a few ions break it, e.g. the mercury(I) ion, Hg</a:t>
            </a:r>
            <a:r>
              <a:rPr lang="en-US" sz="15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sulfat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01969" y="146304"/>
            <a:ext cx="60390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IC1-LO3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charges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417320"/>
            <a:ext cx="4709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ratio is not obvious,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the charges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size of each ion's charge becomes the other ion's subscript.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O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2−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</a:t>
            </a:r>
            <a:r>
              <a:rPr lang="en-US" sz="18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8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 × 3+ = 6+; 3 × 2− = 6−).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reduce afterwards: Pb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O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2−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Pb</a:t>
            </a:r>
            <a:r>
              <a:rPr lang="en-US" sz="18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8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</a:t>
            </a:r>
            <a:r>
              <a:rPr lang="en-US" sz="18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pic>
        <p:nvPicPr>
          <p:cNvPr id="12" name="Image 1" descr="/home/claude/em/fig/ic1/ic1_cross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417320"/>
            <a:ext cx="3291840" cy="232623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94960" y="378927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charges (Ball, The Basics of GOB Chemistry Figure 3.3.2)</a:t>
            </a:r>
            <a:endParaRPr lang="en-US" sz="9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ammonium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00026" y="146304"/>
            <a:ext cx="60778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IC1-LO3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3.1 · Writing ionic formulas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35608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formula for the compound of: (a) the sodium ion and the sulfur ion (b) the aluminium ion and the fluoride ion (c) the 3+ iron ion and the oxygen ion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02920" y="245973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0292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960120" y="2423160"/>
            <a:ext cx="768096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Na</a:t>
            </a:r>
            <a:r>
              <a:rPr lang="en-US" sz="17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S</a:t>
            </a:r>
            <a:r>
              <a:rPr lang="en-US" sz="17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2−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two 1+ ions balance one 2− →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7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02920" y="320649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02920" y="3206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960120" y="3169920"/>
            <a:ext cx="768096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Al</a:t>
            </a:r>
            <a:r>
              <a:rPr lang="en-US" sz="17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F</a:t>
            </a:r>
            <a:r>
              <a:rPr lang="en-US" sz="17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three 1− ions balance one 3+ →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</a:t>
            </a:r>
            <a:r>
              <a:rPr lang="en-US" sz="17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502920" y="3953256"/>
            <a:ext cx="292608" cy="292608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502920" y="3953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960120" y="3916680"/>
            <a:ext cx="768096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Fe</a:t>
            </a:r>
            <a:r>
              <a:rPr lang="en-US" sz="17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O</a:t>
            </a:r>
            <a:r>
              <a:rPr lang="en-US" sz="17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2−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least common multiple 6 → two Fe</a:t>
            </a:r>
            <a:r>
              <a:rPr lang="en-US" sz="17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(6+) and three O</a:t>
            </a:r>
            <a:r>
              <a:rPr lang="en-US" sz="17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2−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(6−) →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r>
              <a:rPr lang="en-US" sz="17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7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carbonat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5128" y="146304"/>
            <a:ext cx="557583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IC1-LO3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Writing ionic formulas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formula for the compound of: (a) the calcium ion and the oxygen ion (b) the 2+ copper ion and the sulfur ion (c) the 1+ copper ion and the sulfur ion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phosphat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02883" y="146304"/>
            <a:ext cx="602074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IC1-LO3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Writing ionic formulas · answer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formula for the compound of: (a) the calcium ion and the oxygen ion (b) the 2+ copper ion and the sulfur ion (c) the 1+ copper ion and the sulfur ion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457200" y="2560320"/>
            <a:ext cx="8229600" cy="2057400"/>
          </a:xfrm>
          <a:prstGeom prst="roundRect">
            <a:avLst>
              <a:gd name="adj" fmla="val 4444"/>
            </a:avLst>
          </a:prstGeom>
          <a:solidFill>
            <a:srgbClr val="FBEFD9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58368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" y="2999232"/>
            <a:ext cx="7863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(b)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(c)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</a:t>
            </a:r>
            <a:r>
              <a:rPr lang="en-US" sz="18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itrat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4393" y="146304"/>
            <a:ext cx="559054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IC1-LO3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Polyatomic ions</a:t>
            </a:r>
            <a:endParaRPr lang="en-US" sz="2700" dirty="0"/>
          </a:p>
        </p:txBody>
      </p:sp>
      <p:pic>
        <p:nvPicPr>
          <p:cNvPr id="11" name="Image 1" descr="/home/claude/em/fig/ic1/ic1_poly_pos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201" y="1463040"/>
            <a:ext cx="4079199" cy="286207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65760" y="437083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Polyatomic ions: names, formulae and charges (© Compound Interest, CC BY-NC-ND, as in Ball 3.3)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5806440" y="1463040"/>
            <a:ext cx="2880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ions are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of atoms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covalently bonded together with an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charge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polyatomic ions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formulas, names and charges are fixed and cannot be changed.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must be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memorised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sulfat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01969" y="146304"/>
            <a:ext cx="60390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IC1-LO3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polyatomic ions</a:t>
            </a:r>
            <a:endParaRPr lang="en-US" sz="27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920240"/>
                <a:gridCol w="2011680"/>
                <a:gridCol w="19202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Ion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Ion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ammonium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</a:t>
                      </a:r>
                      <a:r>
                        <a:rPr lang="en-US" sz="125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r>
                        <a:rPr lang="en-US" sz="12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nitrate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r>
                        <a:rPr lang="en-US" sz="125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r>
                        <a:rPr lang="en-US" sz="12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hydroxide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OH</a:t>
                      </a:r>
                      <a:r>
                        <a:rPr lang="en-US" sz="12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nitrite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r>
                        <a:rPr lang="en-US" sz="125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2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cyanide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</a:t>
                      </a:r>
                      <a:r>
                        <a:rPr lang="en-US" sz="12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sulfate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</a:t>
                      </a:r>
                      <a:r>
                        <a:rPr lang="en-US" sz="125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r>
                        <a:rPr lang="en-US" sz="12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carbonate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</a:t>
                      </a:r>
                      <a:r>
                        <a:rPr lang="en-US" sz="125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r>
                        <a:rPr lang="en-US" sz="12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sulfite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</a:t>
                      </a:r>
                      <a:r>
                        <a:rPr lang="en-US" sz="125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r>
                        <a:rPr lang="en-US" sz="12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bicarbonate (hydrogen carbonate)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HCO</a:t>
                      </a:r>
                      <a:r>
                        <a:rPr lang="en-US" sz="125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r>
                        <a:rPr lang="en-US" sz="12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phosphate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</a:t>
                      </a:r>
                      <a:r>
                        <a:rPr lang="en-US" sz="125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r>
                        <a:rPr lang="en-US" sz="12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r>
                        <a:rPr lang="en-US" sz="125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r>
                        <a:rPr lang="en-US" sz="125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r>
                        <a:rPr lang="en-US" sz="125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2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or CH</a:t>
                      </a:r>
                      <a:r>
                        <a:rPr lang="en-US" sz="125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</a:t>
                      </a:r>
                      <a:r>
                        <a:rPr lang="en-US" sz="125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2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phosphite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</a:t>
                      </a:r>
                      <a:r>
                        <a:rPr lang="en-US" sz="125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r>
                        <a:rPr lang="en-US" sz="12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457200" y="38770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Ball Table 3.3.2. Only ammonium is a cation.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ammonium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00026" y="146304"/>
            <a:ext cx="60778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IC1-LO3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patterns: -ide, -ate and -ite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417320"/>
            <a:ext cx="4709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ammonium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NH</a:t>
            </a:r>
            <a:r>
              <a:rPr lang="en-US" sz="15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5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is a cation; the rest are anions.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hydroxide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cyanide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 the usual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-ide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ending.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oxygen-containing anions come in series. The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-ate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ion has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more oxygen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the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-ite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ion: nitrate NO</a:t>
            </a:r>
            <a:r>
              <a:rPr lang="en-US" sz="15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5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nitrite NO</a:t>
            </a:r>
            <a:r>
              <a:rPr lang="en-US" sz="15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sulfate SO</a:t>
            </a:r>
            <a:r>
              <a:rPr lang="en-US" sz="15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5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2−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sulfite SO</a:t>
            </a:r>
            <a:r>
              <a:rPr lang="en-US" sz="15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5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2−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endings are only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nitrate has three O but sulfate has four, and nitrate and sulfite both have three. So the formulas must be learnt.</a:t>
            </a:r>
            <a:endParaRPr lang="en-US" sz="1500" dirty="0"/>
          </a:p>
        </p:txBody>
      </p:sp>
      <p:pic>
        <p:nvPicPr>
          <p:cNvPr id="12" name="Image 1" descr="/home/claude/em/mol/trim/sulf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516" y="1417320"/>
            <a:ext cx="3048729" cy="286207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94960" y="43251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Sulfate ion, SO₄²⁻</a:t>
            </a:r>
            <a:endParaRPr lang="en-US" sz="9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carbonat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5128" y="146304"/>
            <a:ext cx="557583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IC1-LO3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 with polyatomic ions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417320"/>
            <a:ext cx="4709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rule as before: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and negative charges must balance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more than one polyatomic ion is needed, put the whole ion in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parentheses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the subscript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NO</a:t>
            </a:r>
            <a:r>
              <a:rPr lang="en-US" sz="18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Ba(NO</a:t>
            </a:r>
            <a:r>
              <a:rPr lang="en-US" sz="18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8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</a:t>
            </a:r>
            <a:r>
              <a:rPr lang="en-US" sz="18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PO</a:t>
            </a:r>
            <a:r>
              <a:rPr lang="en-US" sz="18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3−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(NH</a:t>
            </a:r>
            <a:r>
              <a:rPr lang="en-US" sz="18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8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r>
              <a:rPr lang="en-US" sz="18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pic>
        <p:nvPicPr>
          <p:cNvPr id="12" name="Image 1" descr="/home/claude/em/fig/ic1/ic1_poly_cross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417320"/>
            <a:ext cx="3291840" cy="136768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94960" y="2830729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Ball, The Basics of GOB Chemistry 3.3</a:t>
            </a:r>
            <a:endParaRPr lang="en-US" sz="9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phosphat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02883" y="146304"/>
            <a:ext cx="602074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IC1-LO3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3.2 · Formulas with polyatomic ions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35608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formula for the compound of: (a) the potassium ion and the sulfate ion (b) the calcium ion and the nitrate ion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02920" y="245973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0292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960120" y="2423160"/>
            <a:ext cx="768096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K</a:t>
            </a:r>
            <a:r>
              <a:rPr lang="en-US" sz="17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SO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7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2−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two K</a:t>
            </a:r>
            <a:r>
              <a:rPr lang="en-US" sz="17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balance one 2− →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7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</a:t>
            </a:r>
            <a:r>
              <a:rPr lang="en-US" sz="17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02920" y="3579876"/>
            <a:ext cx="292608" cy="292608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02920" y="35798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960120" y="3543300"/>
            <a:ext cx="768096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Ca</a:t>
            </a:r>
            <a:r>
              <a:rPr lang="en-US" sz="17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NO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7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two nitrates needed, in parentheses →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Ca(NO</a:t>
            </a:r>
            <a:r>
              <a:rPr lang="en-US" sz="17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7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itrat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4393" y="146304"/>
            <a:ext cx="559054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IC1-LO3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Formulas with polyatomic ions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formula for the compound of: (a) the magnesium ion and the carbonate ion (b) the aluminium ion and the acetate ion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sulfat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01969" y="146304"/>
            <a:ext cx="60390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IC1-LO3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Formulas with polyatomic ions · answer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formula for the compound of: (a) the magnesium ion and the carbonate ion (b) the aluminium ion and the acetate ion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457200" y="2560320"/>
            <a:ext cx="8229600" cy="2057400"/>
          </a:xfrm>
          <a:prstGeom prst="roundRect">
            <a:avLst>
              <a:gd name="adj" fmla="val 4444"/>
            </a:avLst>
          </a:prstGeom>
          <a:solidFill>
            <a:srgbClr val="FBEFD9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58368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" y="2999232"/>
            <a:ext cx="7863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Mg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CO</a:t>
            </a:r>
            <a:r>
              <a:rPr lang="en-US" sz="18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2−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MgCO</a:t>
            </a:r>
            <a:r>
              <a:rPr lang="en-US" sz="18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Al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C</a:t>
            </a:r>
            <a:r>
              <a:rPr lang="en-US" sz="18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8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8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Al(C</a:t>
            </a:r>
            <a:r>
              <a:rPr lang="en-US" sz="18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8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8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8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ammonium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00026" y="146304"/>
            <a:ext cx="60778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IC1-LO3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Recognising ionic compounds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4173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+ nonmetal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compounds are usually ionic: CaBr</a:t>
            </a:r>
            <a:r>
              <a:rPr lang="en-US" sz="18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(Ca is a Group 2A metal, Br a Group 7A nonmetal).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nonmetals are usually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ionic: NO</a:t>
            </a:r>
            <a:r>
              <a:rPr lang="en-US" sz="18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covalent (and, with no charge shown, it is not the nitrite ion).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recognise a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polyatomic ion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compound is ionic: in Ba(NO</a:t>
            </a:r>
            <a:r>
              <a:rPr lang="en-US" sz="18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8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</a:t>
            </a:r>
            <a:r>
              <a:rPr lang="en-US" sz="18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nitrate, so Ba is Ba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carbonat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5128" y="146304"/>
            <a:ext cx="557583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IC1-LO3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3.3 · Ionic or not?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35608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Na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 (b) PCl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(c) NH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   (d) OF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02920" y="245973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0292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960120" y="2423160"/>
            <a:ext cx="76809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Na is a metal and O a nonmetal: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02920" y="301980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02920" y="301980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960120" y="2983230"/>
            <a:ext cx="76809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P and Cl are both nonmetals: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ionic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502920" y="357987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502920" y="35798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960120" y="3543300"/>
            <a:ext cx="76809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NH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ammonium ion: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502920" y="4139946"/>
            <a:ext cx="292608" cy="292608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502920" y="413994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960120" y="4103370"/>
            <a:ext cx="76809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O and F are both nonmetals: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ionic</a:t>
            </a:r>
            <a:endParaRPr lang="en-US" sz="17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phosphat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02883" y="146304"/>
            <a:ext cx="602074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IC1-LO3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Ionic or not?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N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 (b) FeCl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(c) (NH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(d) SOCl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itrat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4393" y="146304"/>
            <a:ext cx="559054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IC1-LO3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Ionic or not? · answer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N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 (b) FeCl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(c) (NH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(d) SOCl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457200" y="2560320"/>
            <a:ext cx="8229600" cy="2057400"/>
          </a:xfrm>
          <a:prstGeom prst="roundRect">
            <a:avLst>
              <a:gd name="adj" fmla="val 4444"/>
            </a:avLst>
          </a:prstGeom>
          <a:solidFill>
            <a:srgbClr val="FBEFD9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58368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" y="2999232"/>
            <a:ext cx="7863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ionic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(b)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(c)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(d)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ionic</a:t>
            </a:r>
            <a:endParaRPr lang="en-US" sz="1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sulfat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01969" y="146304"/>
            <a:ext cx="60390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IC1-LO3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closer: blood and seawater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0.9% NaCl solution approximates blood; seawater is about 3% NaCl, over three times more concentrated.</a:t>
            </a:r>
            <a:endParaRPr lang="en-US" sz="15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46148"/>
          <a:ext cx="5486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1645920"/>
              </a:tblGrid>
              <a:tr h="2612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in seawater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in blood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12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r>
                        <a:rPr lang="en-US" sz="11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12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</a:t>
                      </a:r>
                      <a:r>
                        <a:rPr lang="en-US" sz="11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12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</a:t>
                      </a:r>
                      <a:r>
                        <a:rPr lang="en-US" sz="11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12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</a:t>
                      </a:r>
                      <a:r>
                        <a:rPr lang="en-US" sz="115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r>
                        <a:rPr lang="en-US" sz="11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12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r>
                        <a:rPr lang="en-US" sz="11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12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</a:t>
                      </a:r>
                      <a:r>
                        <a:rPr lang="en-US" sz="11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12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HCO</a:t>
                      </a:r>
                      <a:r>
                        <a:rPr lang="en-US" sz="115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r>
                        <a:rPr lang="en-US" sz="11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12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HPO</a:t>
                      </a:r>
                      <a:r>
                        <a:rPr lang="en-US" sz="115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r>
                        <a:rPr lang="en-US" sz="11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2−</a:t>
                      </a: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H</a:t>
                      </a:r>
                      <a:r>
                        <a:rPr lang="en-US" sz="115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</a:t>
                      </a:r>
                      <a:r>
                        <a:rPr lang="en-US" sz="115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r>
                        <a:rPr lang="en-US" sz="11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6217920" y="1946148"/>
            <a:ext cx="2468880" cy="1737360"/>
          </a:xfrm>
          <a:prstGeom prst="roundRect">
            <a:avLst>
              <a:gd name="adj" fmla="val 5263"/>
            </a:avLst>
          </a:prstGeom>
          <a:solidFill>
            <a:srgbClr val="FBEFD9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6400800" y="20558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6400800" y="2357628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has far more </a:t>
            </a: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bicarbonate</a:t>
            </a: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phosphate</a:t>
            </a: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ions, which control the acid–base balance of blood. Pharmacy link: IV fluids and bicarbonate infusions are designed around these ions.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" y="43708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Ball 3.3 'Looking Closer'.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ammonium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00026" y="146304"/>
            <a:ext cx="60778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IC1-LO3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correct formula for the compound of Ca</a:t>
            </a:r>
            <a:r>
              <a:rPr lang="en-US" sz="20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PO</a:t>
            </a:r>
            <a:r>
              <a:rPr lang="en-US" sz="20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20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3−</a:t>
            </a: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45720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5836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CaPO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66344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86460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5720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5836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66344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86460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carbonat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5128" y="146304"/>
            <a:ext cx="557583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IC1-LO3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answer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correct formula for the compound of Ca</a:t>
            </a:r>
            <a:r>
              <a:rPr lang="en-US" sz="20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PO</a:t>
            </a:r>
            <a:r>
              <a:rPr lang="en-US" sz="20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20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3−</a:t>
            </a: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45720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5836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CaPO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66344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86460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5720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E3F3E9"/>
          </a:solidFill>
          <a:ln w="9525">
            <a:solidFill>
              <a:srgbClr val="2E7D4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5836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66344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86460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C.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Three Ca</a:t>
            </a:r>
            <a:r>
              <a:rPr lang="en-US" sz="14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(6+) balance two PO</a:t>
            </a:r>
            <a:r>
              <a:rPr lang="en-US" sz="14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3−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(6−); the phosphate goes in parentheses.</a:t>
            </a:r>
            <a:endParaRPr lang="en-US" sz="1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229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468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 nomenclature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461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systematic rules for naming ions and ionic compounds.</a:t>
            </a:r>
            <a:endParaRPr lang="en-US" sz="1600" dirty="0"/>
          </a:p>
        </p:txBody>
      </p:sp>
      <p:pic>
        <p:nvPicPr>
          <p:cNvPr id="9" name="Image 0" descr="/home/claude/em/mol/trim/sulf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9623" y="411480"/>
            <a:ext cx="2045473" cy="1920240"/>
          </a:xfrm>
          <a:prstGeom prst="rect">
            <a:avLst/>
          </a:prstGeom>
        </p:spPr>
      </p:pic>
      <p:pic>
        <p:nvPicPr>
          <p:cNvPr id="10" name="Image 1" descr="/home/claude/em/mol/trim/nitr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170" y="3520440"/>
            <a:ext cx="901700" cy="9144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864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DB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IC1-LO4   ·   Ball 3.4</a:t>
            </a:r>
            <a:endParaRPr lang="en-US" sz="13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itrat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4393" y="146304"/>
            <a:ext cx="559054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IC1-LO4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cations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4173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monatomic cation takes the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name + ion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Na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sodium ion, Al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aluminium ion, Ca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calcium ion.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elements form ions of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charges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(e.g. Fe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Fe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which make different compounds, so each needs its own name.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system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(modern): the charge as a Roman numeral in brackets. Fe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iron(II) ion; Fe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iron(III) ion.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Roman numerals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elements with more than one common charge: sodium ion, never 'sodium(I) ion'.</a:t>
            </a:r>
            <a:endParaRPr lang="en-US" sz="1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IC1-LO4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 system of cation names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older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system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still used in the health sciences: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-ic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the higher charge,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-ous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the lower charge, often on the Latin stem.</a:t>
            </a:r>
            <a:endParaRPr lang="en-US" sz="15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46148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2286000"/>
                <a:gridCol w="2286000"/>
              </a:tblGrid>
              <a:tr h="3359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charge (-ous)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charge (-ic)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9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</a:t>
                      </a:r>
                      <a:r>
                        <a:rPr lang="en-US" sz="12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2+</a:t>
                      </a: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ferrous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</a:t>
                      </a:r>
                      <a:r>
                        <a:rPr lang="en-US" sz="12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3+</a:t>
                      </a: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ferric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9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cupr-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</a:t>
                      </a:r>
                      <a:r>
                        <a:rPr lang="en-US" sz="12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cuprous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</a:t>
                      </a:r>
                      <a:r>
                        <a:rPr lang="en-US" sz="12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2+</a:t>
                      </a: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cupric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9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stann-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</a:t>
                      </a:r>
                      <a:r>
                        <a:rPr lang="en-US" sz="12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2+</a:t>
                      </a: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stannous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</a:t>
                      </a:r>
                      <a:r>
                        <a:rPr lang="en-US" sz="12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4+</a:t>
                      </a: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stannic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9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plumb-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</a:t>
                      </a:r>
                      <a:r>
                        <a:rPr lang="en-US" sz="12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2+</a:t>
                      </a: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plumbous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</a:t>
                      </a:r>
                      <a:r>
                        <a:rPr lang="en-US" sz="12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4+</a:t>
                      </a: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plumbic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9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</a:t>
                      </a:r>
                      <a:r>
                        <a:rPr lang="en-US" sz="12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2+</a:t>
                      </a: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chromous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</a:t>
                      </a:r>
                      <a:r>
                        <a:rPr lang="en-US" sz="12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3+</a:t>
                      </a: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chromic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9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</a:t>
                      </a:r>
                      <a:r>
                        <a:rPr lang="en-US" sz="12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aurous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</a:t>
                      </a:r>
                      <a:r>
                        <a:rPr lang="en-US" sz="12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3+</a:t>
                      </a: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auric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8"/>
          <p:cNvSpPr txBox="1"/>
          <p:nvPr/>
        </p:nvSpPr>
        <p:spPr>
          <a:xfrm>
            <a:off x="457200" y="43708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Ball Table 3.4.1. Pharmacy example: ferrous sulfate tablets are an iron supplement.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sulfat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01969" y="146304"/>
            <a:ext cx="60390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IC1-LO4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monatomic anions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Anion name =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of the element + -ide + ion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Cl</a:t>
            </a:r>
            <a:r>
              <a:rPr lang="en-US" sz="15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chlor- + -ide → chloride ion.</a:t>
            </a:r>
            <a:endParaRPr lang="en-US" sz="15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13738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651760"/>
                <a:gridCol w="1463040"/>
                <a:gridCol w="26517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r>
                        <a:rPr lang="en-US" sz="12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fluoride 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r>
                        <a:rPr lang="en-US" sz="12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oxide 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</a:t>
                      </a:r>
                      <a:r>
                        <a:rPr lang="en-US" sz="12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chloride 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r>
                        <a:rPr lang="en-US" sz="12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sulfide 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</a:t>
                      </a:r>
                      <a:r>
                        <a:rPr lang="en-US" sz="12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bromide 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r>
                        <a:rPr lang="en-US" sz="12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phosphide 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r>
                        <a:rPr lang="en-US" sz="12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iodide 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r>
                        <a:rPr lang="en-US" sz="1250" baseline="3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nitride 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8"/>
          <p:cNvSpPr txBox="1"/>
          <p:nvPr/>
        </p:nvSpPr>
        <p:spPr>
          <a:xfrm>
            <a:off x="457200" y="352425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Ball Table 3.4.2. Polyatomic ions keep their own names.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itrat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4393" y="146304"/>
            <a:ext cx="559054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IC1-LO4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4.1 · Naming ions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35608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each ion: (a) Ca</a:t>
            </a:r>
            <a:r>
              <a:rPr lang="en-US" sz="16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(b) S</a:t>
            </a:r>
            <a:r>
              <a:rPr lang="en-US" sz="16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2−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(c) SO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6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2−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(d) NH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6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(e) Cu</a:t>
            </a:r>
            <a:r>
              <a:rPr lang="en-US" sz="16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02920" y="245973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0292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960120" y="2423160"/>
            <a:ext cx="768096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calcium ion   (b) sulfide ion   (c) sulfite ion   (d) ammonium ion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02920" y="3579876"/>
            <a:ext cx="292608" cy="292608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02920" y="35798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960120" y="3543300"/>
            <a:ext cx="768096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(e)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copper(I) ion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cuprous ion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copper can be 1+ or 2+, so the charge must be shown</a:t>
            </a:r>
            <a:endParaRPr lang="en-US" sz="17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IC1-LO4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Naming ions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each ion: (a) Fe</a:t>
            </a:r>
            <a:r>
              <a:rPr lang="en-US" sz="17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(b) Fe</a:t>
            </a:r>
            <a:r>
              <a:rPr lang="en-US" sz="17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(c) SO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7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2−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(d) Ba</a:t>
            </a:r>
            <a:r>
              <a:rPr lang="en-US" sz="17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(e) HCO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7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4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sulfat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01969" y="146304"/>
            <a:ext cx="60390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IC1-LO4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Naming ions · answer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each ion: (a) Fe</a:t>
            </a:r>
            <a:r>
              <a:rPr lang="en-US" sz="17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(b) Fe</a:t>
            </a:r>
            <a:r>
              <a:rPr lang="en-US" sz="17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(c) SO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7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2−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(d) Ba</a:t>
            </a:r>
            <a:r>
              <a:rPr lang="en-US" sz="17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(e) HCO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7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457200" y="2560320"/>
            <a:ext cx="8229600" cy="2057400"/>
          </a:xfrm>
          <a:prstGeom prst="roundRect">
            <a:avLst>
              <a:gd name="adj" fmla="val 4444"/>
            </a:avLst>
          </a:prstGeom>
          <a:solidFill>
            <a:srgbClr val="FBEFD9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58368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" y="2999232"/>
            <a:ext cx="7863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iron(II) or ferrous ion   (b) iron(III) or ferric ion   (c) sulfate 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barium ion   (e) bicarbonate or hydrogen carbonate ion</a:t>
            </a:r>
            <a:endParaRPr lang="en-US" sz="18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itrat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4393" y="146304"/>
            <a:ext cx="559054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IC1-LO4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4.2 · Writing ion formulas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35608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formula for: (a) the bromide ion (b) the phosphate ion (c) the cupric ion (d) the magnesium ion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02920" y="245973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0292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960120" y="2423160"/>
            <a:ext cx="768096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</a:t>
            </a:r>
            <a:r>
              <a:rPr lang="en-US" sz="17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(b)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r>
              <a:rPr lang="en-US" sz="17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7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3−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02920" y="3579876"/>
            <a:ext cx="292608" cy="292608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02920" y="35798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960120" y="3543300"/>
            <a:ext cx="768096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cupric = the higher copper charge →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</a:t>
            </a:r>
            <a:r>
              <a:rPr lang="en-US" sz="17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(d)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</a:t>
            </a:r>
            <a:r>
              <a:rPr lang="en-US" sz="17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endParaRPr lang="en-US" sz="17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IC1-LO4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Writing ion formulas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formula for: (a) the fluoride ion (b) the carbonate ion (c) the ferrous ion (d) the potassium ion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4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sulfat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01969" y="146304"/>
            <a:ext cx="60390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IC1-LO4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Writing ion formulas · answer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formula for: (a) the fluoride ion (b) the carbonate ion (c) the ferrous ion (d) the potassium ion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457200" y="2560320"/>
            <a:ext cx="8229600" cy="2057400"/>
          </a:xfrm>
          <a:prstGeom prst="roundRect">
            <a:avLst>
              <a:gd name="adj" fmla="val 4444"/>
            </a:avLst>
          </a:prstGeom>
          <a:solidFill>
            <a:srgbClr val="FBEFD9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58368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" y="2999232"/>
            <a:ext cx="7863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18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(b)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r>
              <a:rPr lang="en-US" sz="18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8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2−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(c)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r>
              <a:rPr lang="en-US" sz="18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(d)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8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itrat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4393" y="146304"/>
            <a:ext cx="559054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IC1-LO4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ionic compounds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417320"/>
            <a:ext cx="4709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Cation name first, then anion name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drop the word 'ion' from both: Ba(NO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barium nitrate.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does </a:t>
            </a: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say how many of each ion; you work that out from charge balance.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cation can have more than one charge, find its charge first: FeCl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Fe</a:t>
            </a:r>
            <a:r>
              <a:rPr lang="en-US" sz="16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(two Cl</a:t>
            </a:r>
            <a:r>
              <a:rPr lang="en-US" sz="16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 FeCl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Fe</a:t>
            </a:r>
            <a:r>
              <a:rPr lang="en-US" sz="16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FeCl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iron(II) chloride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(ferrous chloride) and FeCl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iron(III) chloride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(ferric chloride).</a:t>
            </a:r>
            <a:endParaRPr lang="en-US" sz="1600" dirty="0"/>
          </a:p>
        </p:txBody>
      </p:sp>
      <p:pic>
        <p:nvPicPr>
          <p:cNvPr id="12" name="Image 1" descr="/home/claude/em/fig/ic1/ic1_ba_nitr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417320"/>
            <a:ext cx="3291840" cy="227057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94960" y="37336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Ball, The Basics of GOB Chemistry 3.4</a:t>
            </a:r>
            <a:endParaRPr lang="en-US" sz="9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IC1-LO4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4.3 · Naming ionic compounds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35608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each compound, using both Stock and common systems if necessary: (a) Ca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(b) (NH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(c) KCl (d) CuCl (e) SnF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02920" y="245973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0292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960120" y="2423160"/>
            <a:ext cx="768096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calcium phosphate   (b) ammonium dichromate (</a:t>
            </a:r>
            <a:r>
              <a:rPr lang="en-US" sz="170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di-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part of the anion's name)   (c) potassium chloride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02920" y="320649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02920" y="3206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960120" y="3169920"/>
            <a:ext cx="768096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copper(I) chloride or cuprous chloride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502920" y="3953256"/>
            <a:ext cx="292608" cy="292608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502920" y="3953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960120" y="3916680"/>
            <a:ext cx="768096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(e) tin(II) fluoride or stannous fluoride</a:t>
            </a:r>
            <a:endParaRPr lang="en-US" sz="17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sulfat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01969" y="146304"/>
            <a:ext cx="60390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IC1-LO4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Naming ionic compounds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each compound: (a) ZnBr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(b) Fe(NO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(c) Al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(d) CuF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(e) AgF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4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itrat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4393" y="146304"/>
            <a:ext cx="559054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IC1-LO4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Naming ionic compounds · answer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each compound: (a) ZnBr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(b) Fe(NO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(c) Al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(d) CuF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(e) AgF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457200" y="2560320"/>
            <a:ext cx="8229600" cy="2057400"/>
          </a:xfrm>
          <a:prstGeom prst="roundRect">
            <a:avLst>
              <a:gd name="adj" fmla="val 4444"/>
            </a:avLst>
          </a:prstGeom>
          <a:solidFill>
            <a:srgbClr val="FBEFD9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58368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" y="2999232"/>
            <a:ext cx="7863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zinc bromide   (b) iron(III) nitrate or ferric nitrate   (c) aluminium oxide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copper(II) fluoride or cupric fluoride   (e) silver fluoride</a:t>
            </a:r>
            <a:endParaRPr lang="en-US" sz="18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IC1-LO4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 to naming simple ionic compounds</a:t>
            </a:r>
            <a:endParaRPr lang="en-US" sz="2700" dirty="0"/>
          </a:p>
        </p:txBody>
      </p:sp>
      <p:pic>
        <p:nvPicPr>
          <p:cNvPr id="11" name="Image 1" descr="/home/claude/em/fig/ic1/ic1_naming_f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5212080" cy="268635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65760" y="419511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 to naming simple ionic compounds (Ball, The Basics of GOB Chemistry Figure 3.4.1)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5806440" y="1463040"/>
            <a:ext cx="2880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cation have more than one charge? </a:t>
            </a: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Yes: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Stock name or -ic/-ous name + anion, e.g. FeCl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iron(II) chloride, CuSO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copper(II) sulfate, Cr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chromium(III) oxide.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cation name + anion name, e.g. KBr potassium bromide, NaNO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sodium nitrate, (NH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ammonium sulfide.</a:t>
            </a:r>
            <a:endParaRPr lang="en-US" sz="16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sulfat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01969" y="146304"/>
            <a:ext cx="60390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IC1-LO4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Stock name of Fe</a:t>
            </a:r>
            <a:r>
              <a:rPr lang="en-US" sz="20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20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45720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5836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oxide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66344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86460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iron(II) oxide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5720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5836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iron(III) oxide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66344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86460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diiron trioxide</a:t>
            </a:r>
            <a:endParaRPr lang="en-US" sz="16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itrat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4393" y="146304"/>
            <a:ext cx="559054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IC1-LO4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answer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Stock name of Fe</a:t>
            </a:r>
            <a:r>
              <a:rPr lang="en-US" sz="20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20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45720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5836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oxide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66344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86460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iron(II) oxide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5720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E3F3E9"/>
          </a:solidFill>
          <a:ln w="9525">
            <a:solidFill>
              <a:srgbClr val="2E7D4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5836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iron(III) oxide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66344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86460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diiron trioxide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C.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Three O</a:t>
            </a:r>
            <a:r>
              <a:rPr lang="en-US" sz="14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2−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(6−) are balanced by two Fe, so each iron is 3+: iron(III) oxide (ferric oxide).</a:t>
            </a:r>
            <a:endParaRPr lang="en-US" sz="14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229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6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468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mass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461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up atomic masses: a skill used again in Chemical Reactions and Solution.</a:t>
            </a:r>
            <a:endParaRPr lang="en-US" sz="1600" dirty="0"/>
          </a:p>
        </p:txBody>
      </p:sp>
      <p:pic>
        <p:nvPicPr>
          <p:cNvPr id="9" name="Image 0" descr="/home/claude/em/mol/trim/phosph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2718" y="411480"/>
            <a:ext cx="2039285" cy="1920240"/>
          </a:xfrm>
          <a:prstGeom prst="rect">
            <a:avLst/>
          </a:prstGeom>
        </p:spPr>
      </p:pic>
      <p:pic>
        <p:nvPicPr>
          <p:cNvPr id="10" name="Image 1" descr="/home/claude/em/mol/trim/ammoniu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0869" y="3520440"/>
            <a:ext cx="980303" cy="9144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864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DB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IC1-LO5   ·   Ball 3.5</a:t>
            </a:r>
            <a:endParaRPr lang="en-US" sz="13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itrat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4393" y="146304"/>
            <a:ext cx="559054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IC1-LO5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formula mass?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4173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mass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an ionic compound is the sum of the masses of all the atoms in its formula.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proper formula is electrically neutral, so the ions can be treated as atoms for this calculation.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atomic masses from the periodic table (here, to two decimal places), in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amu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NaCl: Na 22.99 + Cl 35.45 =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58.44 amu</a:t>
            </a:r>
            <a:endParaRPr lang="en-US" sz="18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phosphat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02883" y="146304"/>
            <a:ext cx="602074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IC1-LO5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5.1 · Using subscripts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35608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formula mass of (a) CaF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(b) KNO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(c) Ca(NO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02920" y="245973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0292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960120" y="2423160"/>
            <a:ext cx="768096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Ca 1 × 40.08 + F 2 × 19.00 = 40.08 + 38.00 =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78.08 amu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02920" y="320649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02920" y="3206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960120" y="3169920"/>
            <a:ext cx="768096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K 39.10 + N 14.01 + O 3 × 16.00 =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101.11 amu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(KNO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in gunpowder and has been used as a diuretic)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502920" y="3953256"/>
            <a:ext cx="292608" cy="292608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502920" y="3953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960120" y="3916680"/>
            <a:ext cx="768096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The 2 outside the brackets doubles everything inside: Ca 40.08 + N 2 × 14.01 + O 6 × 16.00 = 40.08 + 28.02 + 96.00 =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164.10 amu</a:t>
            </a:r>
            <a:endParaRPr lang="en-US" sz="17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ammonium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00026" y="146304"/>
            <a:ext cx="60778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IC1-LO5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5.2 · Formula mass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35608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the formula mass of (a) FeCl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(b) (NH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r>
              <a:rPr lang="en-US" sz="16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02920" y="245973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0292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960120" y="2423160"/>
            <a:ext cx="768096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Fe 55.84 + Cl 3 × 35.45 = 55.84 + 106.35 =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162.19 amu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02920" y="3206496"/>
            <a:ext cx="292608" cy="292608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02920" y="3206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960120" y="3169920"/>
            <a:ext cx="768096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Three NH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7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3 N and 12 H: N 3 × 14.01 = 42.03; H 12 × 1.01 = 12.12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502920" y="3953256"/>
            <a:ext cx="292608" cy="292608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502920" y="3953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960120" y="3916680"/>
            <a:ext cx="768096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30.97; O 4 × 16.00 = 64.00. Total =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149.12 amu</a:t>
            </a:r>
            <a:endParaRPr lang="en-US" sz="17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itrat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4393" y="146304"/>
            <a:ext cx="559054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IC1-LO5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Formula mass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the formula mass of (a) TiO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(b) AgBr (c) Au(NO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(d) Fe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4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phosphat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02883" y="146304"/>
            <a:ext cx="602074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IC1-LO5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Formula mass · answer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the formula mass of (a) TiO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(b) AgBr (c) Au(NO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(d) Fe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457200" y="2560320"/>
            <a:ext cx="8229600" cy="2057400"/>
          </a:xfrm>
          <a:prstGeom prst="roundRect">
            <a:avLst>
              <a:gd name="adj" fmla="val 4444"/>
            </a:avLst>
          </a:prstGeom>
          <a:solidFill>
            <a:srgbClr val="FBEFD9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58368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" y="2999232"/>
            <a:ext cx="7863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47.87 + 2(16.00) =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79.87 amu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(b) 107.87 + 79.90 =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187.77 amu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196.97 + 3(14.01) + 9(16.00) =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383.00 amu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(d) 3(55.84) + 2(30.97) + 8(16.00) =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357.46 amu</a:t>
            </a:r>
            <a:endParaRPr lang="en-US" sz="18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ammonium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00026" y="146304"/>
            <a:ext cx="60778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IC1-LO5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Hydrates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417320"/>
            <a:ext cx="4709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ionic compounds include water in their formula unit: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hydrates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They are solids, not solutions.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number of water units after the formula, separated by a centred dot: CuSO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·5H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O.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copper(II) sulfate </a:t>
            </a: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pentahydrate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(penta- = five water units per formula unit).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the water in the formula mass: CuSO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·5H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adds 5 × 18.02.</a:t>
            </a:r>
            <a:endParaRPr lang="en-US" sz="1700" dirty="0"/>
          </a:p>
        </p:txBody>
      </p:sp>
      <p:pic>
        <p:nvPicPr>
          <p:cNvPr id="12" name="Image 1" descr="/home/claude/em/fig/ic1/ic1_eps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417320"/>
            <a:ext cx="3291840" cy="26822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94960" y="4145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Magnesium sulfate heptahydrate, Epsom salt (Public Domain, Chemicalinterest; as in Ball 3.5)</a:t>
            </a:r>
            <a:endParaRPr lang="en-US" sz="95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itrat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4393" y="146304"/>
            <a:ext cx="559054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IC1-LO5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your health: useful hydrates</a:t>
            </a:r>
            <a:endParaRPr lang="en-US" sz="2700" dirty="0"/>
          </a:p>
        </p:txBody>
      </p:sp>
      <p:graphicFrame>
        <p:nvGraphicFramePr>
          <p:cNvPr id="8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25603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6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AlCl</a:t>
                      </a:r>
                      <a:r>
                        <a:rPr lang="en-US" sz="115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·6H</a:t>
                      </a:r>
                      <a:r>
                        <a:rPr lang="en-US" sz="115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aluminium chloride hexahydrate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antiperspirant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</a:t>
                      </a:r>
                      <a:r>
                        <a:rPr lang="en-US" sz="115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·½H</a:t>
                      </a:r>
                      <a:r>
                        <a:rPr lang="en-US" sz="115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calcium sulfate hemihydrate (plaster of Paris)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casts for broken bones, castings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</a:t>
                      </a:r>
                      <a:r>
                        <a:rPr lang="en-US" sz="115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·2H</a:t>
                      </a:r>
                      <a:r>
                        <a:rPr lang="en-US" sz="115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calcium sulfate dihydrate (gypsum)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drywall 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CoCl</a:t>
                      </a:r>
                      <a:r>
                        <a:rPr lang="en-US" sz="115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·6H</a:t>
                      </a:r>
                      <a:r>
                        <a:rPr lang="en-US" sz="115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cobalt(II) chloride hexahydrate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drying agent, humidity indicator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CuSO</a:t>
                      </a:r>
                      <a:r>
                        <a:rPr lang="en-US" sz="115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·5H</a:t>
                      </a:r>
                      <a:r>
                        <a:rPr lang="en-US" sz="115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copper(II) sulfate pentahydrate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fungicide, algicide, herbicide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MgSO</a:t>
                      </a:r>
                      <a:r>
                        <a:rPr lang="en-US" sz="115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·7H</a:t>
                      </a:r>
                      <a:r>
                        <a:rPr lang="en-US" sz="115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magnesium sulfate heptahydrate (Epsom salts)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laxative, bathing salt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r>
                        <a:rPr lang="en-US" sz="115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</a:t>
                      </a:r>
                      <a:r>
                        <a:rPr lang="en-US" sz="115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·10H</a:t>
                      </a:r>
                      <a:r>
                        <a:rPr lang="en-US" sz="1150" baseline="-40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sodium carbonate decahydrate (washing soda)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laundry additive, cleaner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457200" y="4224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Ball Table 3.5.1 (To Your Health: Hydrates).</a:t>
            </a:r>
            <a:endParaRPr lang="en-US" sz="10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phosphat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02883" y="146304"/>
            <a:ext cx="602074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IC1-LO5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formula mass of MgCl</a:t>
            </a:r>
            <a:r>
              <a:rPr lang="en-US" sz="20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(Mg 24.31, Cl 35.45)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45720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5836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59.76 amu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66344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86460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95.21 amu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5720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5836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130.66 amu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66344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86460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84.21 amu</a:t>
            </a:r>
            <a:endParaRPr lang="en-US" sz="16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ammonium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00026" y="146304"/>
            <a:ext cx="60778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IC1-LO5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answer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formula mass of MgCl</a:t>
            </a:r>
            <a:r>
              <a:rPr lang="en-US" sz="20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(Mg 24.31, Cl 35.45)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45720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5836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59.76 amu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66344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E3F3E9"/>
          </a:solidFill>
          <a:ln w="9525">
            <a:solidFill>
              <a:srgbClr val="2E7D4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86460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95.21 amu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5720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5836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130.66 amu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66344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86460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84.21 amu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B.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24.31 + 2 × 35.45 = 95.21 amu.</a:t>
            </a:r>
            <a:endParaRPr lang="en-US" sz="14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229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6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468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 of ionic compounds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461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ionic compounds are hard, brittle, high-melting, and conduct only when melted or dissolved.</a:t>
            </a:r>
            <a:endParaRPr lang="en-US" sz="1600" dirty="0"/>
          </a:p>
        </p:txBody>
      </p:sp>
      <p:pic>
        <p:nvPicPr>
          <p:cNvPr id="9" name="Image 0" descr="/home/claude/em/mol/trim/nac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4284" y="411480"/>
            <a:ext cx="1876153" cy="1920240"/>
          </a:xfrm>
          <a:prstGeom prst="rect">
            <a:avLst/>
          </a:prstGeom>
        </p:spPr>
      </p:pic>
      <p:pic>
        <p:nvPicPr>
          <p:cNvPr id="10" name="Image 1" descr="/home/claude/em/mol/trim/nac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4317" y="3520440"/>
            <a:ext cx="893406" cy="9144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864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DB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IC1-LO6   ·   Ball 3.6</a:t>
            </a:r>
            <a:endParaRPr lang="en-US" sz="13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IC1-LO6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 crystals in nature</a:t>
            </a:r>
            <a:endParaRPr lang="en-US" sz="2700" dirty="0"/>
          </a:p>
        </p:txBody>
      </p:sp>
      <p:pic>
        <p:nvPicPr>
          <p:cNvPr id="11" name="Image 1" descr="/home/claude/em/fig/ic1/ic1_crysta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657600" cy="274856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57200" y="4165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Naturally occurring ionic crystals (Ball, The Basics of GOB Chemistry Figure 3.6.1)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4434840" y="1463040"/>
            <a:ext cx="4251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regular, orderly arrangement of ions in the lattice gives crystals their shapes; transition-metal ions give the colours.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Amethyst: quartz, SiO</a:t>
            </a:r>
            <a:r>
              <a:rPr lang="en-US" sz="15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coloured purple by iron ions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Cinnabar: mercury(II) sulfide, HgS, the main ore of mercury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Azurite: a copper mineral, Cu</a:t>
            </a:r>
            <a:r>
              <a:rPr lang="en-US" sz="15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</a:t>
            </a:r>
            <a:r>
              <a:rPr lang="en-US" sz="15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5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(OH)</a:t>
            </a:r>
            <a:r>
              <a:rPr lang="en-US" sz="15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Vanadinite: Pb</a:t>
            </a:r>
            <a:r>
              <a:rPr lang="en-US" sz="15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(VO</a:t>
            </a:r>
            <a:r>
              <a:rPr lang="en-US" sz="15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5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Cl, the main ore of vanadium</a:t>
            </a:r>
            <a:endParaRPr lang="en-US" sz="15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IC1-LO6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melting points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417320"/>
            <a:ext cx="4709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ion is attracted to many oppositely charged neighbours at once, so the crystal lattice is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Melting means breaking all those ionic attractions, which takes a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amount of energy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Sodium chloride melts at about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°C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molecular compound water melts at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°C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pic>
        <p:nvPicPr>
          <p:cNvPr id="12" name="Image 1" descr="/home/claude/em/mol/trim/nac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2699" y="1417320"/>
            <a:ext cx="2796361" cy="286207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94960" y="43251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Na⁺ (purple) is surrounded by Cl⁻ (green), and vice versa</a:t>
            </a:r>
            <a:endParaRPr lang="en-US" sz="95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IC1-LO6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but brittle</a:t>
            </a:r>
            <a:endParaRPr lang="en-US" sz="2700" dirty="0"/>
          </a:p>
        </p:txBody>
      </p:sp>
      <p:pic>
        <p:nvPicPr>
          <p:cNvPr id="11" name="Image 1" descr="/home/claude/em/fig/ic1/ic1_shat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242" y="1371600"/>
            <a:ext cx="4471516" cy="16276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57200" y="30449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NaCl in two dimensions. (B) A hammer blow forces chloride ions together (Ball, The Basics of GOB Chemistry Figure 3.6.2)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349300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 compounds are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large force is needed to shift one layer of ions against the next.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they are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brittle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shift brings </a:t>
            </a: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charges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side by side, they repel, and the crystal shatters.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Crystals break along smooth planes because the ions are regularly arranged.</a:t>
            </a:r>
            <a:endParaRPr lang="en-US" sz="13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IC1-LO6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conductivity</a:t>
            </a:r>
            <a:endParaRPr lang="en-US" sz="2700" dirty="0"/>
          </a:p>
        </p:txBody>
      </p:sp>
      <p:pic>
        <p:nvPicPr>
          <p:cNvPr id="11" name="Image 1" descr="/home/claude/em/fig/ic1/ic1_conductiv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693" y="1463040"/>
            <a:ext cx="3830215" cy="286207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65760" y="437083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(Ball, The Basics of GOB Chemistry Figure 3.6.3)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5806440" y="1463040"/>
            <a:ext cx="2880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Distilled water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does not conduct: water is a molecular compound.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NaCl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does not conduct: the ions are locked in the lattice and cannot move.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NaCl dissolved in water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conducts well: the lattice breaks up and the ions move freely.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Melting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 ionic compound also frees the ions to conduct.</a:t>
            </a:r>
            <a:endParaRPr lang="en-US" sz="15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IC1-LO6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Ions move to the electrodes: dissociation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417320"/>
            <a:ext cx="4709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solution,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cations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move to the negative electrode and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anions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the positive electrode, so current flows.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Dissolving an ionic compound separates it into ions: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dissociation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NaCl(s) → Na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(aq) + Cl</a:t>
            </a:r>
            <a:r>
              <a:rPr lang="en-US" sz="1800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(aq)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Dissolving ionic compounds is covered in Solution (Ball 9.3).</a:t>
            </a:r>
            <a:endParaRPr lang="en-US" sz="1800" dirty="0"/>
          </a:p>
        </p:txBody>
      </p:sp>
      <p:pic>
        <p:nvPicPr>
          <p:cNvPr id="12" name="Image 1" descr="/home/claude/em/fig/ic1/ic1_migr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417320"/>
            <a:ext cx="3291840" cy="24444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94960" y="39074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 migration in an ionic solution (Ball, The Basics of GOB Chemistry Figure 3.6.4)</a:t>
            </a:r>
            <a:endParaRPr lang="en-US" sz="95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IC1-LO6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Dissociation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dissociation equation of solid NH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water.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then check on the next slide.</a:t>
            </a:r>
            <a:endParaRPr lang="en-US" sz="14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IC1-LO6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Dissociation · answer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dissociation equation of solid NH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r>
              <a:rPr lang="en-US" sz="17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water.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457200" y="2560320"/>
            <a:ext cx="8229600" cy="2057400"/>
          </a:xfrm>
          <a:prstGeom prst="roundRect">
            <a:avLst>
              <a:gd name="adj" fmla="val 4444"/>
            </a:avLst>
          </a:prstGeom>
          <a:solidFill>
            <a:srgbClr val="FBEFD9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58368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" y="2999232"/>
            <a:ext cx="7863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</a:t>
            </a:r>
            <a:r>
              <a:rPr lang="en-US" sz="18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r>
              <a:rPr lang="en-US" sz="1800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(s) →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</a:t>
            </a:r>
            <a:r>
              <a:rPr lang="en-US" sz="18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8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(aq) + NO</a:t>
            </a:r>
            <a:r>
              <a:rPr lang="en-US" sz="1800" b="1" baseline="-4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800" b="1" baseline="30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(aq)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polyatomic ions stay intact.</a:t>
            </a:r>
            <a:endParaRPr lang="en-US" sz="18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IC1-LO6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takeaways: characteristics of ionic compounds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4173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 compounds have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melting points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 compounds are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and brittle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 compounds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dissociate into ions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dissolved in water.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and melts of ionic compounds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electricity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the solids do not.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ionic compound can be identified by its formula: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+ nonmetal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or </a:t>
            </a: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polyatomic ions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link:</a:t>
            </a: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many drugs are made as ionic salts (e.g. sodium or hydrochloride salts) because salts dissolve and dissociate well in water.</a:t>
            </a:r>
            <a:endParaRPr lang="en-US" sz="18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IC1-LO6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which condition does sodium chloride conduct electricity?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45720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5836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solid crystal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66344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86460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mixed with distilled water that stays pure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5720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5836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dissolved in water or melted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66344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86460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Never, because it is neutral</a:t>
            </a:r>
            <a:endParaRPr lang="en-US" sz="16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226964" y="146304"/>
            <a:ext cx="553912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3749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1EE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374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IC1-LO6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answer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which condition does sodium chloride conduct electricity?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45720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5836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solid crystal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663440" y="2148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864608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mixed with distilled water that stays pure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5720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E3F3E9"/>
          </a:solidFill>
          <a:ln w="9525">
            <a:solidFill>
              <a:srgbClr val="2E7D4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5836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dissolved in water or melted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663440" y="30632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864608" y="3063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Never, because it is neutral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C.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Ions must be free to move. That happens only when the lattice is broken up by dissolving or melting.</a:t>
            </a:r>
            <a:endParaRPr lang="en-US" sz="14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key rules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389888"/>
            <a:ext cx="8229600" cy="341757"/>
          </a:xfrm>
          <a:prstGeom prst="roundRect">
            <a:avLst>
              <a:gd name="adj" fmla="val 26756"/>
            </a:avLst>
          </a:prstGeom>
          <a:solidFill>
            <a:srgbClr val="E1EE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389888"/>
            <a:ext cx="2651760" cy="341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Octet rule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291840" y="1389888"/>
            <a:ext cx="5303520" cy="341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 are most stable with 8 valence electrons (duet for H, He, Li)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57200" y="1795653"/>
            <a:ext cx="8229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1795653"/>
            <a:ext cx="2651760" cy="341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291840" y="1795653"/>
            <a:ext cx="5303520" cy="341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metals lose electrons → cations; nonmetals gain → anions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57200" y="2201418"/>
            <a:ext cx="8229600" cy="341757"/>
          </a:xfrm>
          <a:prstGeom prst="roundRect">
            <a:avLst>
              <a:gd name="adj" fmla="val 26756"/>
            </a:avLst>
          </a:prstGeom>
          <a:solidFill>
            <a:srgbClr val="E1EEF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" y="2201418"/>
            <a:ext cx="2651760" cy="341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from group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291840" y="2201418"/>
            <a:ext cx="5303520" cy="341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 1+ · 2A 2+ · 3A 3+ · 5A 3− · 6A 2− · 7A 1−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57200" y="2607183"/>
            <a:ext cx="8229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" y="2607183"/>
            <a:ext cx="2651760" cy="341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291840" y="2607183"/>
            <a:ext cx="5303520" cy="341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cation first · no charges shown · charges balance · lowest ratio · brackets for &gt;1 polyatomic ion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57200" y="3012948"/>
            <a:ext cx="8229600" cy="341757"/>
          </a:xfrm>
          <a:prstGeom prst="roundRect">
            <a:avLst>
              <a:gd name="adj" fmla="val 26756"/>
            </a:avLst>
          </a:prstGeom>
          <a:solidFill>
            <a:srgbClr val="E1EEF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0080" y="3012948"/>
            <a:ext cx="2651760" cy="341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3291840" y="3012948"/>
            <a:ext cx="5303520" cy="341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cation + anion; Roman numeral (Stock) or -ous/-ic for variable-charge metals; anions end -ide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457200" y="3418713"/>
            <a:ext cx="8229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0080" y="3418713"/>
            <a:ext cx="2651760" cy="341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-ate vs -ite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3291840" y="3418713"/>
            <a:ext cx="5303520" cy="341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-ate has one more O than -ite (nitrate NO₃⁻, nitrite NO₂⁻)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57200" y="3824478"/>
            <a:ext cx="8229600" cy="341757"/>
          </a:xfrm>
          <a:prstGeom prst="roundRect">
            <a:avLst>
              <a:gd name="adj" fmla="val 26756"/>
            </a:avLst>
          </a:prstGeom>
          <a:solidFill>
            <a:srgbClr val="E1EEF7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40080" y="3824478"/>
            <a:ext cx="2651760" cy="341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mass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3291840" y="3824478"/>
            <a:ext cx="5303520" cy="341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all atomic masses × subscripts (include hydrate water)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457200" y="4230243"/>
            <a:ext cx="8229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40080" y="4230243"/>
            <a:ext cx="2651760" cy="341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3291840" y="4230243"/>
            <a:ext cx="5303520" cy="341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melting point · hard, brittle · conduct only when melted or dissolved</a:t>
            </a:r>
            <a:endParaRPr lang="en-US" sz="135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PHD115 · Ionic &amp; Covalent 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4828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NAM · Faculty of Pharmacy, UiTM Bertam, Penang</a:t>
            </a:r>
            <a:endParaRPr lang="en-US" sz="900" dirty="0"/>
          </a:p>
        </p:txBody>
      </p:sp>
      <p:pic>
        <p:nvPicPr>
          <p:cNvPr id="5" name="Image 0" descr="/home/claude/em/mol/trim/nac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0407" y="182880"/>
            <a:ext cx="804066" cy="8229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48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next topic</a:t>
            </a:r>
            <a:endParaRPr lang="en-US" sz="3600" dirty="0"/>
          </a:p>
        </p:txBody>
      </p:sp>
      <p:sp>
        <p:nvSpPr>
          <p:cNvPr id="7" name="Shape 3"/>
          <p:cNvSpPr/>
          <p:nvPr/>
        </p:nvSpPr>
        <p:spPr>
          <a:xfrm>
            <a:off x="548640" y="1517904"/>
            <a:ext cx="365760" cy="365760"/>
          </a:xfrm>
          <a:prstGeom prst="ellipse">
            <a:avLst/>
          </a:prstGeom>
          <a:solidFill>
            <a:srgbClr val="7DB6E3"/>
          </a:solidFill>
          <a:ln/>
        </p:spPr>
        <p:txBody>
          <a:bodyPr/>
          <a:p/>
        </p:txBody>
      </p:sp>
      <p:sp>
        <p:nvSpPr>
          <p:cNvPr id="8" name="Text 4"/>
          <p:cNvSpPr txBox="1"/>
          <p:nvPr/>
        </p:nvSpPr>
        <p:spPr>
          <a:xfrm>
            <a:off x="548640" y="1517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1097280" y="146304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post-lecture activity (25 min)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7DB6E3"/>
          </a:solidFill>
          <a:ln/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54864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097280" y="2066544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the tutorial questions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548640" y="2724912"/>
            <a:ext cx="365760" cy="365760"/>
          </a:xfrm>
          <a:prstGeom prst="ellipse">
            <a:avLst/>
          </a:prstGeom>
          <a:solidFill>
            <a:srgbClr val="7DB6E3"/>
          </a:solidFill>
          <a:ln/>
        </p:spPr>
        <p:txBody>
          <a:bodyPr/>
          <a:p/>
        </p:txBody>
      </p:sp>
      <p:sp>
        <p:nvSpPr>
          <p:cNvPr id="14" name="Text 10"/>
          <p:cNvSpPr txBox="1"/>
          <p:nvPr/>
        </p:nvSpPr>
        <p:spPr>
          <a:xfrm>
            <a:off x="548640" y="2724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097280" y="267004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ion game to find your weak outcomes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548640" y="3328416"/>
            <a:ext cx="365760" cy="365760"/>
          </a:xfrm>
          <a:prstGeom prst="ellipse">
            <a:avLst/>
          </a:prstGeom>
          <a:solidFill>
            <a:srgbClr val="F0B24A"/>
          </a:solidFill>
          <a:ln/>
        </p:spPr>
        <p:txBody>
          <a:bodyPr/>
          <a:p/>
        </p:txBody>
      </p:sp>
      <p:sp>
        <p:nvSpPr>
          <p:cNvPr id="17" name="Text 13"/>
          <p:cNvSpPr txBox="1"/>
          <p:nvPr/>
        </p:nvSpPr>
        <p:spPr>
          <a:xfrm>
            <a:off x="548640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1097280" y="327355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topic: Ionic &amp; Covalent Compounds II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</a:t>
            </a:r>
            <a:r>
              <a:rPr lang="en-US" sz="900" i="1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 of GOB Chemistry</a:t>
            </a:r>
            <a:r>
              <a:rPr lang="en-US" sz="900" dirty="0">
                <a:solidFill>
                  <a:srgbClr val="A3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(Ball, Hill &amp; Scott), LibreTexts, CC BY-NC-SA 3.0, sections 3.0–3.6. Polyatomic ion chart © Compound Interest (CC BY-NC-ND). Shared under the same licence for non-commercial teaching. Extra figures and photos from Roy et al., General Chemistry for Gee-Gees 9.1–9.2 (CC BY-NC-SA 4.0; photo credit a: 'Jurii'/Wikimedia Commons), some redrawn by Dr. NAM.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98</Slides>
  <Notes>98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0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PHD115 Ionic &amp; Covalent Compounds I: Lecture</dc:title>
  <dc:subject>PptxGenJS Presentation</dc:subject>
  <dc:creator>PptxGenJS</dc:creator>
  <cp:lastModifiedBy>PptxGenJS</cp:lastModifiedBy>
  <cp:revision>1</cp:revision>
  <dcterms:created xsi:type="dcterms:W3CDTF">2026-09-29T09:49:39Z</dcterms:created>
  <dcterms:modified xsi:type="dcterms:W3CDTF">2026-09-29T09:49:39Z</dcterms:modified>
</cp:coreProperties>
</file>