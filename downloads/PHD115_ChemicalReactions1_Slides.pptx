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lecture follows chapters 5 and 6 of the core reference: chemical equations, reaction types, redox reactions, the mole and stoichiometry.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six outcomes appear in the activities, tutorial, game and exam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Parts follow the book's order. Chemical Reactions II covers energy changes and reaction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from Ball 6.0 (chapter-opening essay). Let students discuss for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from Ball 6.0 (chapter-opening essay). Let students discuss for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= sections 5.1 and 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5.1.1.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5.2 guidelines.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5.2 worked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5.2.1.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5.2.1.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5.2.1.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5.2.2.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5.2.2 and the chapter-opening essay on yeast.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5.2.2 and the chapter-opening essay on yeast.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5.1–5.2 key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= section 5.3.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5.3 Looking Closer: Stoichiometry in Cooking.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5.3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5.3 worked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5.3.1.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5.3.1.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5.3.1.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= section 5.4.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5.4.1.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5.4 Looking Closer and Example 5.4.2.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5.4.3.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Exercises 5.4.1 and 5.4.2.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Exercises 5.4.1 and 5.4.2.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 = section 5.5.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5.5. OIL RIG is a common memory aid added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5.5.1.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5.5.1. Potassium has been used as a reducing agent to obtain metals.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5.5.1. Potassium has been used as a reducing agent to obtain metals.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5.5 To Your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5.5.2.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5.5.2.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5.5.2.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5 = section 5.6.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5.6.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6 = sections 6.1 to 6.3.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6.1.1.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6.1.2.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Exercises 6.1.1 and 6.1.2.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Exercises 6.1.1 and 6.1.2.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6.2.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6.2.2.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6.2.2 and text. The book gives 233.36 g for BaSO₄ using slightly different 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6.3, Figures 6.3.1 and 6.3.2.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Examples 6.3.1 and 6.3.2.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Exercises 6.3.1 and 6.3.2.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Exercises 6.3.1 and 6.3.2.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6.3 To Your Health. Rows selected from the book's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7 = sections 6.4 and 6.5.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6.4.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6.4.1.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6.4.1.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6.4.1.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6.5.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6.5 worked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6.5.1. The pharmacy link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6.5.1.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6.5.1.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6.5.2.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6.5.2.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6.5.2.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6.5 To Your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study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periodic table: atomic masses to 2 d.p.; electronegativity values as in Ball Figure 4.4.3. In the interactive slides, press P or tap Periodic table to show it on any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Fundamentals of Chemistry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Reactions 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Nur 'Ainun Mokhtar (Dr. NAM) · Faculty of Pharmacy, UiTM Bertam, Penang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reference: Ball, Hill &amp; Scott, The Basics of GOB Chemistry, chapters 5 (5.0–5.6) and 6 (6.0–6.5)</a:t>
            </a:r>
            <a:endParaRPr lang="en-US" sz="1100" dirty="0"/>
          </a:p>
        </p:txBody>
      </p:sp>
      <p:pic>
        <p:nvPicPr>
          <p:cNvPr id="6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468880"/>
            <a:ext cx="1737360" cy="1178650"/>
          </a:xfrm>
          <a:prstGeom prst="rect">
            <a:avLst/>
          </a:prstGeom>
        </p:spPr>
      </p:pic>
      <p:pic>
        <p:nvPicPr>
          <p:cNvPr id="7" name="Image 1" descr="/home/claude/molpng/c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097280"/>
            <a:ext cx="1280160" cy="396240"/>
          </a:xfrm>
          <a:prstGeom prst="rect">
            <a:avLst/>
          </a:prstGeom>
        </p:spPr>
      </p:pic>
      <p:pic>
        <p:nvPicPr>
          <p:cNvPr id="8" name="Image 2" descr="/home/claude/molpng/ammon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474720"/>
            <a:ext cx="822960" cy="509016"/>
          </a:xfrm>
          <a:prstGeom prst="rect">
            <a:avLst/>
          </a:prstGeom>
        </p:spPr>
      </p:pic>
      <p:pic>
        <p:nvPicPr>
          <p:cNvPr id="9" name="Image 3" descr="/home/claude/molpng/metha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743200"/>
            <a:ext cx="731520" cy="7055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1" name="Text 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400" dirty="0"/>
          </a:p>
        </p:txBody>
      </p:sp>
      <p:pic>
        <p:nvPicPr>
          <p:cNvPr id="3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8016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2763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law of conservation of matter, and write and balance chemical equations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17720" y="128016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5488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62763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coefficients of a balanced equation as ratios between reactants and products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7249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reactions as combination, decomposition or combustion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17720" y="237744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7249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oxidation and reduction (electrons, oxygen, hydrogen), write half reactions and name the oxidizing and reducing agents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82219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mole, Avogadro's number and molar mass to convert between particles, moles and mass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17720" y="347472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5488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382219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mole–mole, mole–mass and mass–mass problems from a balanced equation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map</a:t>
            </a:r>
            <a:endParaRPr lang="en-US" sz="2400" dirty="0"/>
          </a:p>
        </p:txBody>
      </p:sp>
      <p:pic>
        <p:nvPicPr>
          <p:cNvPr id="3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Chemical equations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5.1–5.2): conservation of matter, writing and balancing equations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Ratios from equations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5.3): stoichiometry with molecules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Types of reactions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5.4): combination, decomposition, combustion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Oxidation–reduction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5.5): electron transfer, half reactions, agents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Redox in organic chemistry and biochemistry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5.6): alcohols, antioxidants, respiration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The mole and molar mass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6.1–6.3): counting by weighing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Stoichiometry with moles and mass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6.4–6.5): mole–mole, mole–mass, mass–mass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once read a prescription of “2–3 mg” as “23 mg” and gave a child a dangerous dose of morphine. Why do pharmacists care so much about exact amounts in chemistry?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partner for one minute.</a:t>
            </a:r>
            <a:endParaRPr lang="en-US" sz="1300" dirty="0"/>
          </a:p>
        </p:txBody>
      </p:sp>
      <p:pic>
        <p:nvPicPr>
          <p:cNvPr id="5" name="Image 0" descr="/home/claude/molpng/ethan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84908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 · ANSWER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once read a prescription of “2–3 mg” as “23 mg” and gave a child a dangerous dose of morphine. Why do pharmacists care so much about exact amounts in chemistry?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7863840" cy="1691640"/>
          </a:xfrm>
          <a:prstGeom prst="roundRect">
            <a:avLst>
              <a:gd name="adj" fmla="val 6486"/>
            </a:avLst>
          </a:prstGeom>
          <a:solidFill>
            <a:srgbClr val="2A3A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852928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substances react in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ratios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balanced equation tells us the ratio, and the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us turn it into grams we can weigh. Getting the amount wrong changes the outcome, in a flask or in a patient. This lecture builds both tools.</a:t>
            </a:r>
            <a:endParaRPr lang="en-US" sz="1500" dirty="0"/>
          </a:p>
        </p:txBody>
      </p:sp>
      <p:pic>
        <p:nvPicPr>
          <p:cNvPr id="6" name="Image 0" descr="/home/claude/molpng/ethan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188720" cy="8490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equations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is neither created nor destroyed, so equations must balance.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  ·  Ball 5.1–5.2</a:t>
            </a:r>
            <a:endParaRPr lang="en-US" sz="12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1116615"/>
          </a:xfrm>
          <a:prstGeom prst="rect">
            <a:avLst/>
          </a:prstGeom>
        </p:spPr>
      </p:pic>
      <p:pic>
        <p:nvPicPr>
          <p:cNvPr id="8" name="Image 1" descr="/home/claude/molpng/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489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of conservation of matter</a:t>
            </a:r>
            <a:endParaRPr lang="en-US" sz="2400" dirty="0"/>
          </a:p>
        </p:txBody>
      </p:sp>
      <p:pic>
        <p:nvPicPr>
          <p:cNvPr id="7" name="Image 0" descr="/home/claude/molpng/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52819"/>
          </a:xfrm>
          <a:prstGeom prst="rect">
            <a:avLst/>
          </a:prstGeom>
        </p:spPr>
      </p:pic>
      <p:pic>
        <p:nvPicPr>
          <p:cNvPr id="8" name="Image 1" descr="/home/claude/src_cr/fig/f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13503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6670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wood leaves ashes, but the gases carry the rest of the mass away, Figure 5.1.1 (Ball, The Basics of GOB Chemistry 5.1)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scientific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general statement that explains a large number of observations, verified many times.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conservation of matter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 a system closed to matter, the amount of matter stays constant. Matter is neither created nor destroyed.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Lavoisier: in any physical or chemical change, the total mass of the products equals the total mass of the reactants.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wood seems to destroy matter, but wood + oxygen = ash + carbon dioxide + water vapour in mass.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1.1 · Checking the law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10 g of CaCO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produces 4.4 g of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5.6 g of CaO. Do these data agree with the law of conservation of mass?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of reactants: CaCO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10 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of products: 4.4 g + 5.6 g = 10 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448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 mass = product mass, so the data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law.</a:t>
            </a:r>
            <a:endParaRPr lang="en-US" sz="1300" dirty="0"/>
          </a:p>
        </p:txBody>
      </p:sp>
      <p:pic>
        <p:nvPicPr>
          <p:cNvPr id="19" name="Image 1" descr="/home/claude/src_cr/fig/caco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709" y="2148840"/>
            <a:ext cx="2529223" cy="22585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577840" y="44439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calcium carbonate (CaCO₃) (Ball, The Basics of GOB Chemistry 5.1)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reactions and equations</a:t>
            </a:r>
            <a:endParaRPr lang="en-US" sz="2400" dirty="0"/>
          </a:p>
        </p:txBody>
      </p:sp>
      <p:pic>
        <p:nvPicPr>
          <p:cNvPr id="7" name="Image 0" descr="/home/claude/molpng/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75803"/>
          </a:xfrm>
          <a:prstGeom prst="rect">
            <a:avLst/>
          </a:prstGeom>
        </p:spPr>
      </p:pic>
      <p:pic>
        <p:nvPicPr>
          <p:cNvPr id="8" name="Image 1" descr="/home/claude/src_cr/fig/hindenbu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3445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6612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in the Hindenburg reacting with oxygen to form water, Figure 5.2.1 (Ball, The Basics of GOB Chemistry 5.2)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reaction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turns substances into new substances: hydrogen and oxygen react to make water.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equation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formulas: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left,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right.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labels: (s) solid, (ℓ) liquid, (g) gas, (aq) dissolved in water.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equation is not finished yet: it does not obey the conservation of matter.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Balanced: yes or no?</a:t>
            </a:r>
            <a:endParaRPr lang="en-US" sz="2400" dirty="0"/>
          </a:p>
        </p:txBody>
      </p:sp>
      <p:pic>
        <p:nvPicPr>
          <p:cNvPr id="7" name="Image 0" descr="/home/claude/molpng/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52819"/>
          </a:xfrm>
          <a:prstGeom prst="rect">
            <a:avLst/>
          </a:prstGeom>
        </p:spPr>
      </p:pic>
      <p:pic>
        <p:nvPicPr>
          <p:cNvPr id="8" name="Image 1" descr="/home/claude/figs_cr/bal_h2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318" y="1280160"/>
            <a:ext cx="4927365" cy="1481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98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atoms on each side (Dr. NAM, after Ball Figures 5.2.2 and 5.2.3)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atoms of each element on both sides.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has 2 O on the left but 1 on the right.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front of formulas: 2H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now has 4 H and 2 O on each side.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 a subscript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balance an equation: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hydrogen peroxide, not water.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balance an equation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5577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 the correct formula of every reactant and product: the skeleton equation.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 the atoms of each element on each side. If a polyatomic ion is unchanged, count it as one unit.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 one element at a time with coefficients. Start with elements that appear in only one formula on each side. No coefficient is written for 1.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 every atom and polyatomic ion.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 sure the coefficients are in the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whole-number ratio.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FBEF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6916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coefficients change. Subscripts belong to the substance.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CH</a:t>
            </a:r>
            <a:r>
              <a:rPr lang="en-US" sz="2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Cl</a:t>
            </a:r>
            <a:r>
              <a:rPr lang="en-US" sz="2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CCl</a:t>
            </a:r>
            <a:r>
              <a:rPr lang="en-US" sz="2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HCl</a:t>
            </a:r>
            <a:endParaRPr lang="en-US" sz="2400" dirty="0"/>
          </a:p>
        </p:txBody>
      </p:sp>
      <p:pic>
        <p:nvPicPr>
          <p:cNvPr id="7" name="Image 0" descr="/home/claude/molpng/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75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H first, then Cl (Cl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diatomic).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(left : right)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Cl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CCl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HCl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: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Cl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CCl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: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: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CCl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+ 4HCl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: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: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1912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5.2. The coefficients 1 : 4 : 1 : 4 are already the lowest ratio.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1.2 · Is it balanced?</a:t>
            </a:r>
            <a:endParaRPr lang="en-US" sz="2400" dirty="0"/>
          </a:p>
        </p:txBody>
      </p:sp>
      <p:pic>
        <p:nvPicPr>
          <p:cNvPr id="7" name="Image 0" descr="/home/claude/molpng/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528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equation balanced? (a) 2Na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2Na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(b)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(c) AgNO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+ 2KCl → AgCl + KNO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Left: 2 Na, 2 O. Right: 4 Na, 2 O.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balanced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Each side: 1 C, 4 H, 4 O.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Left: 2 K and 2 Cl. Right: 1 K and 1 Cl.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balanced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Is it balanced?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2Hg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Hg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(c) Mg(NO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+ 2Li → Mg + 2LiNO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Is it balanced? · answer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2Hg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Hg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(c) Mg(NO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+ 2Li → Mg + 2LiNO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Hg, 2 O each side)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balanced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 O on the left, 6 O on the right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(count 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unit: 2 on each side)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1.3 · Writing and balancing</a:t>
            </a:r>
            <a:endParaRPr lang="en-US" sz="2400" dirty="0"/>
          </a:p>
        </p:txBody>
      </p:sp>
      <p:pic>
        <p:nvPicPr>
          <p:cNvPr id="7" name="Image 0" descr="/home/claude/molpng/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758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Aqueous lead(II) nitrate and sodium chloride are mixed. The products are aqueous sodium nitrate and a solid precipitate of lead(II) chloride. Write the balanced equation.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Skeleton: Pb(NO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(aq) + NaCl(aq) → NaNO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(aq) + PbCl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9577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795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7774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NO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: 1 and Cl 1 : 2 are unbalanced.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244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4244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4061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2 in front of NaCl and 2 in front of NaNO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5307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40530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0347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Pb(NO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(aq) + 2NaCl(aq) → 2NaNO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(aq) + PbCl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Fermentation</a:t>
            </a:r>
            <a:endParaRPr lang="en-US" sz="2400" dirty="0"/>
          </a:p>
        </p:txBody>
      </p:sp>
      <p:pic>
        <p:nvPicPr>
          <p:cNvPr id="7" name="Image 0" descr="/home/claude/molpng/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528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Yeast converts glucose (C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into ethanol (C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OH) and carbon dioxide. Write the balanced equation.</a:t>
            </a:r>
            <a:endParaRPr lang="en-US" sz="1400" dirty="0"/>
          </a:p>
        </p:txBody>
      </p:sp>
      <p:pic>
        <p:nvPicPr>
          <p:cNvPr id="10" name="Image 1" descr="/home/claude/src_cr/fig/brew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417" y="1280160"/>
            <a:ext cx="1702447" cy="1463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Fermentation · answer</a:t>
            </a:r>
            <a:endParaRPr lang="en-US" sz="2400" dirty="0"/>
          </a:p>
        </p:txBody>
      </p:sp>
      <p:pic>
        <p:nvPicPr>
          <p:cNvPr id="7" name="Image 0" descr="/home/claude/molpng/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528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Yeast converts glucose (C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into ethanol (C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OH) and carbon dioxide. Write the balanced equation.</a:t>
            </a:r>
            <a:endParaRPr lang="en-US" sz="1400" dirty="0"/>
          </a:p>
        </p:txBody>
      </p:sp>
      <p:pic>
        <p:nvPicPr>
          <p:cNvPr id="10" name="Image 1" descr="/home/claude/src_cr/fig/brew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417" y="1280160"/>
            <a:ext cx="1702447" cy="1463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2880360"/>
            <a:ext cx="8229600" cy="1783080"/>
          </a:xfrm>
          <a:prstGeom prst="roundRect">
            <a:avLst>
              <a:gd name="adj" fmla="val 5128"/>
            </a:avLst>
          </a:prstGeom>
          <a:solidFill>
            <a:srgbClr val="FBEF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2C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+ 2CO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6 C, 12 H, 6 O on each side. This reaction makes bread rise (CO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produces alcohol.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chemical equations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matter in a closed system is conserved.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reactions are shown by chemical equations listing reactants and products.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 equation is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same number of each element's atoms on each side.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with coefficients only, in the lowest whole-number ratio.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75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balanced form of Al + O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2Al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4Al + 3O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2Al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2Al + 3O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75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balanced form of Al + O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2Al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4Al + 3O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2Al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2Al + 3O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 and 6 O on each side. Option C changes a formula, which is never allowed.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from balanced equations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tell us how many of each particle react and form.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CR1-LO2  ·  Ball 5.3</a:t>
            </a:r>
            <a:endParaRPr lang="en-US" sz="12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509451"/>
          </a:xfrm>
          <a:prstGeom prst="rect">
            <a:avLst/>
          </a:prstGeom>
        </p:spPr>
      </p:pic>
      <p:pic>
        <p:nvPicPr>
          <p:cNvPr id="8" name="Image 1" descr="/home/claude/molpng/ethy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2559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Stoichiometry: a recipe for reactions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pic>
        <p:nvPicPr>
          <p:cNvPr id="8" name="Image 1" descr="/home/claude/src_cr/fig/reci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2976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61443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shows how much of each ingredient is needed (Ball, The Basics of GOB Chemistry 5.3)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Stoichiometry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(stow-ee-key-OM-eh-tree) is the study of the numerical relationships between reactants and products.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biscuit recipe: 2 cups flour + 1 egg + … → 12 biscuits. With 4 cups of flour: 4 cups × (12 biscuits / 2 cups)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biscuits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equation works the same way: its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 the ratios in which substances react and form.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or halving a recipe is stoichiometry.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from 2C</a:t>
            </a:r>
            <a:r>
              <a:rPr lang="en-US" sz="2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2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+ 5O</a:t>
            </a:r>
            <a:r>
              <a:rPr lang="en-US" sz="2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4CO</a:t>
            </a:r>
            <a:r>
              <a:rPr lang="en-US" sz="2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+ 2H</a:t>
            </a:r>
            <a:r>
              <a:rPr lang="en-US" sz="2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400" dirty="0"/>
          </a:p>
        </p:txBody>
      </p:sp>
      <p:pic>
        <p:nvPicPr>
          <p:cNvPr id="7" name="Image 0" descr="/home/claude/molpng/ethy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44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gives a ratio and its inverse. Twelve such conversion factors can be built from this one equation.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from the equation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react with five 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5 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2 C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make four CO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4 CO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2 C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make two 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2 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/ 5 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CO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form with two 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2 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/ 4 CO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5.3. Units here are molecules.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2.1 · Using a ratio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2C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+ 5O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how many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 form when 26 molecules of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what is given: 26 C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9577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795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7774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ratio with C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bottom: 4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 C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244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4244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4061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(4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 C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5307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40530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0347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only works with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equation.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2.2 · Verify and find ratios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+ 8HCl + 5FeCl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5FeCl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MnCl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+ 4H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+ KCl. (a) Verify it is balanced. (b) Give two ratios relating HCl and FeCl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K 1 : 1, Mn 1 : 1, Fe 5 : 5, H 8 : 8, O 4 : 4.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Cl: left 8 (HCl) + 10 (5FeCl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18; right 15 + 2 + 1 = 18.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HCl / 5 FeCl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FeCl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 HCl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(42 ratios are possible in all).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Ratios</a:t>
            </a:r>
            <a:endParaRPr lang="en-US" sz="2400" dirty="0"/>
          </a:p>
        </p:txBody>
      </p:sp>
      <p:pic>
        <p:nvPicPr>
          <p:cNvPr id="7" name="Image 0" descr="/home/claude/molpng/ethy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442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2KMnO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+ 4H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→ 2MnO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+ 3HOCH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+ 2KOH. (a) Verify it is balanced. (b) Give two ratios relating KMnO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Ratios · answer</a:t>
            </a:r>
            <a:endParaRPr lang="en-US" sz="2400" dirty="0"/>
          </a:p>
        </p:txBody>
      </p:sp>
      <p:pic>
        <p:nvPicPr>
          <p:cNvPr id="7" name="Image 0" descr="/home/claude/molpng/ethy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442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2KMnO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+ 4H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→ 2MnO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+ 3HOCH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+ 2KOH. (a) Verify it is balanced. (b) Give two ratios relating KMnO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K 2 : 2, Mn 2 : 2, C 6 : 6, H 20 : 20, O 12 : 12.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KMnO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3 CH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 KMnO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2NH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how many 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 react with 10 N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2NH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how many 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 react with 10 N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(3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 N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30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chemical reactions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reactions fall into a few families, which helps us predict products.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  ·  Ball 5.4</a:t>
            </a:r>
            <a:endParaRPr lang="en-US" sz="12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1587554"/>
          </a:xfrm>
          <a:prstGeom prst="rect">
            <a:avLst/>
          </a:prstGeom>
        </p:spPr>
      </p:pic>
      <p:pic>
        <p:nvPicPr>
          <p:cNvPr id="8" name="Image 1" descr="/home/claude/molpng/c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31133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reaction types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reactions shows similarities and helps predict products. A reaction can belong to more than one type.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2621280" cy="2880360"/>
          </a:xfrm>
          <a:prstGeom prst="roundRect">
            <a:avLst>
              <a:gd name="adj" fmla="val 3488"/>
            </a:avLst>
          </a:prstGeom>
          <a:solidFill>
            <a:srgbClr val="E1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892808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86000"/>
            <a:ext cx="234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reactants →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 substance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4Fe + 3O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2Fe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+ 3SO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Fe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1783080"/>
            <a:ext cx="2621280" cy="2880360"/>
          </a:xfrm>
          <a:prstGeom prst="roundRect">
            <a:avLst>
              <a:gd name="adj" fmla="val 3488"/>
            </a:avLst>
          </a:prstGeom>
          <a:solidFill>
            <a:srgbClr val="FBEFD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98520" y="1892808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398520" y="2286000"/>
            <a:ext cx="234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reactant substance → two or more products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2NaHCO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Na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2KClO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2KCl + 3O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1783080"/>
            <a:ext cx="2621280" cy="2880360"/>
          </a:xfrm>
          <a:prstGeom prst="roundRect">
            <a:avLst>
              <a:gd name="adj" fmla="val 3488"/>
            </a:avLst>
          </a:prstGeom>
          <a:solidFill>
            <a:srgbClr val="ECEFE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02680" y="1892808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02680" y="2286000"/>
            <a:ext cx="234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substance +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oxides, usually releasing heat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+ 5O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3CO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+ 4H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Hydrocarbons → CO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3.1 · Combination?</a:t>
            </a:r>
            <a:endParaRPr lang="en-US" sz="2400" dirty="0"/>
          </a:p>
        </p:txBody>
      </p:sp>
      <p:pic>
        <p:nvPicPr>
          <p:cNvPr id="7" name="Image 0" descr="/home/claude/molpng/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528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 combination reactions? (a) Co + 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CO + 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Two reactants make one product: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(COCl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phosgene, once used as a chemical weapon.)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Two products form: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combination reaction.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Decomposition: baking soda on a fire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pic>
        <p:nvPicPr>
          <p:cNvPr id="8" name="Image 1" descr="/home/claude/molpng/carbon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86" y="1280160"/>
            <a:ext cx="3054548" cy="30358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3525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carbonate ion, part of NaHCO₃ (Dr. NAM model)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2NaHCO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→ Na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+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O(ℓ)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when baking soda is poured on a small kitchen fire: the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produced help smother the flames.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2KClO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→ 2KCl(s) + 3O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was once used to make oxygen in the laboratory.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link: sodium bicarbonate is also an antacid.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and carbon dioxide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pic>
        <p:nvPicPr>
          <p:cNvPr id="8" name="Image 1" descr="/home/claude/src_cr/fig/co2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30325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34933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levels over the last three glacial cycles, from ice cores (NOAA) (Ball, The Basics of GOB Chemistry 5.4)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fossil fuels such as octane releases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+ 25O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16CO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+ 18H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octane molecules burned make 16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main greenhouse gas from human activity; today's level is far above the historical range.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3.2 · Identify the type</a:t>
            </a:r>
            <a:endParaRPr lang="en-US" sz="2400" dirty="0"/>
          </a:p>
        </p:txBody>
      </p:sp>
      <p:pic>
        <p:nvPicPr>
          <p:cNvPr id="7" name="Image 0" descr="/home/claude/molpng/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528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2K + S + 2O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(NH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Cr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+ 4H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(c)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Several reactants make one product: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One substance makes several products: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reacts to give oxides of C and H: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Identify the type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+ 3O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(b) 2Mg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2MgO (c) P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+ 6Cl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4PCl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Identify the type · answer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+ 3O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(b) 2Mg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2MgO (c) P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+ 6Cl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4PCl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(also a combustion) (c)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CaCO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→ CaO(s) + CO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is a: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reaction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reaction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reaction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CaCO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→ CaO(s) + CO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is a: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reaction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reaction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reaction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reactant breaks into two products.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Oxidation–reduction (redox)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move from one substance to another.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  ·  Ball 5.5</a:t>
            </a:r>
            <a:endParaRPr lang="en-US" sz="12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919150"/>
          </a:xfrm>
          <a:prstGeom prst="rect">
            <a:avLst/>
          </a:prstGeom>
        </p:spPr>
      </p:pic>
      <p:pic>
        <p:nvPicPr>
          <p:cNvPr id="8" name="Image 1" descr="/home/claude/molpng/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489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 in hydrochloric acid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pic>
        <p:nvPicPr>
          <p:cNvPr id="8" name="Image 1" descr="/home/claude/src_cr/fig/zi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2151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53190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 metal reacting with hydrochloric acid; the bubbles are hydrogen, Figure 5.5.1 (Ball, The Basics of GOB Chemistry 5.5)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Zn(s) + 2HCl(aq) →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ZnCl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(aq): Zn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 (a single replacement reaction).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ions: Zn + 2H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+ 2Cl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Zn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+ 2Cl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Chloride does not change.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pass from zinc atoms to hydrogen ions: an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electron-transfer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reaction.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 and reduction always go together</a:t>
            </a:r>
            <a:endParaRPr lang="en-US" sz="2400" dirty="0"/>
          </a:p>
        </p:txBody>
      </p:sp>
      <p:pic>
        <p:nvPicPr>
          <p:cNvPr id="7" name="Image 0" descr="/home/claude/molpng/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75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electrons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gain of electrons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Memory aid: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RIG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(Oxidation Is Loss, Reduction Is Gain).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4023360" cy="2880360"/>
          </a:xfrm>
          <a:prstGeom prst="roundRect">
            <a:avLst>
              <a:gd name="adj" fmla="val 3175"/>
            </a:avLst>
          </a:prstGeom>
          <a:solidFill>
            <a:srgbClr val="FBEF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892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860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electrons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substance is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oxidized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agent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(it causes the reduction)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 → Zn</a:t>
            </a:r>
            <a:r>
              <a:rPr lang="en-US" sz="12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+ 2e</a:t>
            </a:r>
            <a:r>
              <a:rPr lang="en-US" sz="12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023360" cy="2880360"/>
          </a:xfrm>
          <a:prstGeom prst="roundRect">
            <a:avLst>
              <a:gd name="adj" fmla="val 3175"/>
            </a:avLst>
          </a:prstGeom>
          <a:solidFill>
            <a:srgbClr val="E1EEF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0600" y="1892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2860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of electrons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substance is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oxidizing agent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r>
              <a:rPr lang="en-US" sz="12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+ 2e</a:t>
            </a:r>
            <a:r>
              <a:rPr lang="en-US" sz="12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</a:t>
            </a:r>
            <a:r>
              <a:rPr lang="en-US" sz="12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reactions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oxidation and reduction separately as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reactions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Electrons lost appear as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electrons gained appear as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Oxidation: Zn → Zn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+ 2e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(charge 0 = 0 on each side)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Reduction: 2H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+ 2e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(charge 0 = 0)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 + 2H</a:t>
            </a:r>
            <a:r>
              <a:rPr lang="en-US" sz="15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Zn</a:t>
            </a:r>
            <a:r>
              <a:rPr lang="en-US" sz="15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electrons cancel exactly: that is the key test of a balanced redox equation.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charge too: 2+ on each side.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4.1 · Silver ions and aluminium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the redox reaction of Ag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Al metal, giving Ag metal and Al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Identify the substance oxidized, the substance reduced, and the two agents.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Al → Ag + Al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looks balanced, but the charge is +1 on the left and +3 on the right.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9577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795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7774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Reduction: Ag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e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Ag. Oxidation: Al → Al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+ 3e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244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4244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4061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reduction by 3 so the electrons cancel: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3Ag</a:t>
            </a:r>
            <a:r>
              <a:rPr lang="en-US" sz="13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Al → 3Ag + Al</a:t>
            </a:r>
            <a:r>
              <a:rPr lang="en-US" sz="13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5307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40530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0347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Oxidized: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reducing agent). Reduced: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r>
              <a:rPr lang="en-US" sz="13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oxidizing agent).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Calcium and potassium</a:t>
            </a:r>
            <a:endParaRPr lang="en-US" sz="2400" dirty="0"/>
          </a:p>
        </p:txBody>
      </p:sp>
      <p:pic>
        <p:nvPicPr>
          <p:cNvPr id="7" name="Image 0" descr="/home/claude/molpng/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758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ions react with potassium metal to give calcium metal and potassium ions. Write the half reactions and the balanced equation, and identify the agents.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Calcium and potassium · answer</a:t>
            </a:r>
            <a:endParaRPr lang="en-US" sz="2400" dirty="0"/>
          </a:p>
        </p:txBody>
      </p:sp>
      <p:pic>
        <p:nvPicPr>
          <p:cNvPr id="7" name="Image 0" descr="/home/claude/molpng/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758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ions react with potassium metal to give calcium metal and potassium ions. Write the half reactions and the balanced equation, and identify the agents.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Reduction: Ca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+ 2e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Ca. Oxidation: 2 × (K → K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e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r>
              <a:rPr lang="en-US" sz="14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+ 2K → Ca + 2K</a:t>
            </a:r>
            <a:r>
              <a:rPr lang="en-US" sz="14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Oxidized / reducing agent: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Reduced / oxidizing agent: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r>
              <a:rPr lang="en-US" sz="14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health: pacemaker batteries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pic>
        <p:nvPicPr>
          <p:cNvPr id="8" name="Image 1" descr="/home/claude/src_cr/fig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68122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99796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batteries used in watches, pacemakers and calculators (Ball, The Basics of GOB Chemistry 5.5)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batteries run on redox reactions: electricity is a stream of electrons.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pacemakers used NiCad batteries: Cd is oxidized and nickel is reduced; rechargeable but heavy.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lithium/iodine battery,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2Li + I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2LiI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Lithium is oxidized, iodine is reduced.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recharged but lasts up to 10 years, so the unit is replaced about once a decade.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 and reduction without counting electrons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and hydrogen changes give quick clues, especially for molecules.</a:t>
            </a:r>
            <a:endParaRPr lang="en-US" sz="13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lose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 + O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2CH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lose 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 + 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2862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5.5. Acetaldehyde is oxidized to acetic acid, or reduced to ethanol.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4.2 · Oxidation or reduction?</a:t>
            </a:r>
            <a:endParaRPr lang="en-US" sz="2400" dirty="0"/>
          </a:p>
        </p:txBody>
      </p:sp>
      <p:pic>
        <p:nvPicPr>
          <p:cNvPr id="7" name="Image 0" descr="/home/claude/molpng/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2758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CH(OH)CH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HCHO → HCOOH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Hydrogen added: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Hydrogen removed: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Oxygen added: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Oxidation or reduction?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(b) 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Oxidation or reduction? · answer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(b) 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oxygen added: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oxygen removed: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hydrogen added: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</a:t>
            </a:r>
            <a:r>
              <a:rPr lang="en-US" sz="15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Zn → Cu + Zn</a:t>
            </a:r>
            <a:r>
              <a:rPr lang="en-US" sz="15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oxidizing agent is: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h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165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</a:t>
            </a:r>
            <a:r>
              <a:rPr lang="en-US" sz="15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Zn → Cu + Zn</a:t>
            </a:r>
            <a:r>
              <a:rPr lang="en-US" sz="15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oxidizing agent is: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gains electrons (it is reduced), so it is the oxidizing agent.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Redox in organic chemistry and biochemistry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Fuels, drugs, metabolism and photosynthesis all run on redox.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  ·  Ball 5.6</a:t>
            </a:r>
            <a:endParaRPr lang="en-US" sz="1200" dirty="0"/>
          </a:p>
        </p:txBody>
      </p:sp>
      <p:pic>
        <p:nvPicPr>
          <p:cNvPr id="7" name="Image 0" descr="/home/claude/molpng/ethan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1175657"/>
          </a:xfrm>
          <a:prstGeom prst="rect">
            <a:avLst/>
          </a:prstGeom>
        </p:spPr>
      </p:pic>
      <p:pic>
        <p:nvPicPr>
          <p:cNvPr id="8" name="Image 1" descr="/home/claude/molpng/acet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82917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and respiration are redox</a:t>
            </a:r>
            <a:endParaRPr lang="en-US" sz="2400" dirty="0"/>
          </a:p>
        </p:txBody>
      </p:sp>
      <p:pic>
        <p:nvPicPr>
          <p:cNvPr id="7" name="Image 0" descr="/home/claude/molpng/formaldehy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631352"/>
          </a:xfrm>
          <a:prstGeom prst="rect">
            <a:avLst/>
          </a:prstGeom>
        </p:spPr>
      </p:pic>
      <p:pic>
        <p:nvPicPr>
          <p:cNvPr id="8" name="Image 1" descr="/home/claude/src_cr/fig/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47365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790389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natural gas, Figure 5.6.1 (Ball, The Basics of GOB Chemistry 5.6)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combustion reactions are redox reactions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oxygen we breathe oxidizes food to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water, releasing energy for cells: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+ 6O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6CO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+ 6H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Oxidizing alcohols: the Breathalyzer</a:t>
            </a:r>
            <a:endParaRPr lang="en-US" sz="2400" dirty="0"/>
          </a:p>
        </p:txBody>
      </p:sp>
      <p:pic>
        <p:nvPicPr>
          <p:cNvPr id="7" name="Image 0" descr="/home/claude/molpng/ethan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404949"/>
          </a:xfrm>
          <a:prstGeom prst="rect">
            <a:avLst/>
          </a:prstGeom>
        </p:spPr>
      </p:pic>
      <p:pic>
        <p:nvPicPr>
          <p:cNvPr id="8" name="Image 1" descr="/home/claude/src_cr/fig/ethanol_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492" y="1280160"/>
            <a:ext cx="3141016" cy="99087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307613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→ ethanal → acetic acid (Ball, The Basics of GOB Chemistry 5.6)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618509"/>
            <a:ext cx="8229600" cy="2044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dichromate oxidizes ethanol to acetaldehyde (ethanal): 3CH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+ Cr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+ 8H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3CH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+ 2Cr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+ 7H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 This is the Breathalyzer reaction.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loses H (6 → 4 H atoms): the carbon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oxidized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Chromium loses O (Cr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Cr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it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acetaldehyde is not removed, it is oxidized further to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acetic acid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(gains O).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Ketones, aldehydes and lactic acid</a:t>
            </a:r>
            <a:endParaRPr lang="en-US" sz="2400" dirty="0"/>
          </a:p>
        </p:txBody>
      </p:sp>
      <p:pic>
        <p:nvPicPr>
          <p:cNvPr id="7" name="Image 0" descr="/home/claude/molpng/ace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4673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alcohol with OH on an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carbon is oxidized to a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ketone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2-propanol → acetone (nail polish remover, varnish solvent).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also happens: aldehydes and ketones can be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alcohols.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muscles during vigorous exercise (without enough O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pyruvic acid is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lactic acid: CH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COCOOH → CH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CH(OH)COOH.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Lactic acid build-up is largely responsible for the fatigue we feel.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Antioxidants are reducing agents</a:t>
            </a:r>
            <a:endParaRPr lang="en-US" sz="2400" dirty="0"/>
          </a:p>
        </p:txBody>
      </p:sp>
      <p:pic>
        <p:nvPicPr>
          <p:cNvPr id="7" name="Image 0" descr="/home/claude/molpng/formaldehy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631352"/>
          </a:xfrm>
          <a:prstGeom prst="rect">
            <a:avLst/>
          </a:prstGeom>
        </p:spPr>
      </p:pic>
      <p:pic>
        <p:nvPicPr>
          <p:cNvPr id="8" name="Image 1" descr="/home/claude/src_cr/fig/citr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600" y="1280160"/>
            <a:ext cx="2587119" cy="30358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3525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fruits are good sources of vitamin C, Figure 5.6.2 (Ball, The Basics of GOB Chemistry 5.6)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reducing agents: they are oxidized themselves and protect other molecules.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(ascorbic acid, C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is oxidized to dehydroascorbic acid. In the stomach it reduces nitrite (NO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to nitric oxide (NO).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nitrite from food could oxidize the iron in haemoglobin and stop it carrying oxygen.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E (tocopherol) scavenges free radicals in the body and stops fats in food turning rancid.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Photosynthesis: the redox that feeds the world</a:t>
            </a:r>
            <a:endParaRPr lang="en-US" sz="2400" dirty="0"/>
          </a:p>
        </p:txBody>
      </p:sp>
      <p:pic>
        <p:nvPicPr>
          <p:cNvPr id="7" name="Image 0" descr="/home/claude/molpng/ethan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404949"/>
          </a:xfrm>
          <a:prstGeom prst="rect">
            <a:avLst/>
          </a:prstGeom>
        </p:spPr>
      </p:pic>
      <p:pic>
        <p:nvPicPr>
          <p:cNvPr id="8" name="Image 1" descr="/home/claude/src_cr/fig/photosy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9825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299263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is the ultimate source of all food on Earth, Figure 5.6.3 (Ball, The Basics of GOB Chemistry 5.6)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6CO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+ 6H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→ C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+ 6O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using enzymes, chlorophyll and sunlight.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glucose; water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oxidized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oxygen gas.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reverse of respiration, and the ultimate source of almost all food on Earth.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ace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4673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Pyruvic acid (CH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COCOOH) → lactic acid (CH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CH(OH)COOH) in muscle. What happens to pyruvic acid?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oxidized: it gains 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reduced: it gains 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oxidized: it loses 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neither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ace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4673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Pyruvic acid (CH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COCOOH) → lactic acid (CH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CH(OH)COOH) in muscle. What happens to pyruvic acid?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oxidized: it gains 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reduced: it gains 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oxidized: it loses 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neither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 atoms are added to the ketone group: gaining hydrogen is reduction.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 and molar mass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count atoms by weighing them.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  ·  Ball 6.1–6.3</a:t>
            </a:r>
            <a:endParaRPr lang="en-US" sz="1200" dirty="0"/>
          </a:p>
        </p:txBody>
      </p:sp>
      <p:pic>
        <p:nvPicPr>
          <p:cNvPr id="7" name="Image 0" descr="/home/claude/molpng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1531498"/>
          </a:xfrm>
          <a:prstGeom prst="rect">
            <a:avLst/>
          </a:prstGeom>
        </p:spPr>
      </p:pic>
      <p:pic>
        <p:nvPicPr>
          <p:cNvPr id="8" name="Image 1" descr="/home/claude/molpng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6823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a counting unit</a:t>
            </a:r>
            <a:endParaRPr lang="en-US" sz="2400" dirty="0"/>
          </a:p>
        </p:txBody>
      </p:sp>
      <p:pic>
        <p:nvPicPr>
          <p:cNvPr id="7" name="Image 0" descr="/home/claude/molpng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27516"/>
          </a:xfrm>
          <a:prstGeom prst="rect">
            <a:avLst/>
          </a:prstGeom>
        </p:spPr>
      </p:pic>
      <p:pic>
        <p:nvPicPr>
          <p:cNvPr id="8" name="Image 1" descr="/home/claude/src_cr/fig/water_m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94585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262595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 : O ratio in water is always 2 : 1, Figure 6.1.1 (Ball, The Basics of GOB Chemistry 6.1)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water always needs H and O atoms in a 2 : 1 ratio, however many molecules we make.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are far too small to count one by one, so we use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 O atom (≈16 u) is ≈16 times heavier than an H atom (≈1 u).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numbers of atoms always keep the same mass ratio: 40 g of Ca has the same number of atoms as 7 g of Li.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number that represents a convenient, huge quantity of atoms.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(mol) is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6.022 × 10</a:t>
            </a:r>
            <a:r>
              <a:rPr lang="en-US" sz="15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things, just as a dozen is 12 things. This is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Avogadro's number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mol Na = 6.022 × 10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atoms. 2 mol Na = 1.2044 × 10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atoms. 0.5 mol C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3.011 × 10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mole is enormous: 1 mol of coins stacked in a column would stretch between Earth and the Sun 6.8 billion times.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say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are counting: atoms, molecules, formula units or ions.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counted?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pic>
        <p:nvPicPr>
          <p:cNvPr id="8" name="Image 1" descr="/home/claude/src_cr/fig/basic_un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60998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926717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units of elements, covalent compounds and ionic compounds, Figure 6.1.2 (Ball, The Basics of GOB Chemistry 6.1)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elements: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mol He = 6.022 × 10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 atoms).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Diatomic elements and covalent compounds: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mol N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6.022 × 10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molecules, containing 2 mol N atoms).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compounds: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units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mol NaCl = 6.022 × 10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formula units, each one Na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one Cl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6.1 · Moles of atoms in a compound</a:t>
            </a:r>
            <a:endParaRPr lang="en-US" sz="2400" dirty="0"/>
          </a:p>
        </p:txBody>
      </p:sp>
      <p:pic>
        <p:nvPicPr>
          <p:cNvPr id="7" name="Image 0" descr="/home/claude/molpng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275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has 2.5 mol of ethanol (C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O). How many moles of C, H and O atoms does it contain?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mol C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contains 2 mol C, 6 mol H and 1 mol 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9577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795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7774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2.5 × 2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mol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244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4244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40614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2.5 × 6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mol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5307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40530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034790"/>
            <a:ext cx="77724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2.5 × 1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mol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6.2 · Using Avogadro's number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formula units are in 2.34 mol of NaCl? How many ions?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6.022 × 10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formula units / 1 mol NaCl.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 mol × 6.022 × 10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 × 10</a:t>
            </a:r>
            <a:r>
              <a:rPr lang="en-US" sz="13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formula units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formula unit has 2 ions: 1.41 × 10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2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 × 10</a:t>
            </a:r>
            <a:r>
              <a:rPr lang="en-US" sz="13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ions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Counting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How many moles of Na, S and O atoms are in 6.75 mol of Na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(b) How many molecules and how many atoms are in 16.02 mol of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Counting · answer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How many moles of Na, S and O atoms are in 6.75 mol of Na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(b) How many molecules and how many atoms are in 16.02 mol of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Na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 mol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6.75 mol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 mol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16.02 × 6.022 × 10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9.647 × 10</a:t>
            </a:r>
            <a:r>
              <a:rPr lang="en-US" sz="14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molecules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× 14 atoms each =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1.351 × 10</a:t>
            </a:r>
            <a:r>
              <a:rPr lang="en-US" sz="14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atoms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Molar mass</a:t>
            </a:r>
            <a:endParaRPr lang="en-US" sz="2400" dirty="0"/>
          </a:p>
        </p:txBody>
      </p:sp>
      <p:pic>
        <p:nvPicPr>
          <p:cNvPr id="7" name="Image 0" descr="/home/claude/molpng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275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5577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 atom has a mass of about 1 u;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mol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 atoms has a mass of about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One Na atom ≈ 23 u; 1 mol Na ≈ 23 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mole of a substance has the same mass in grams that one atom or molecule has in atomic mass units.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atomic masses on the periodic table are also the masses of 1 mol in grams: 1 mol Al = 26.98 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Molar mass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(g/mol) = the sum of the atomic masses in the formula.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 × 16.00 = 32.00 g/mol.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FBEF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IC1 and IC2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6916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mass and molecular mass in u become molar mass in g/mol.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molar mass of bilirubin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Bilirubin (C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is the main pigment in bile.</a:t>
            </a:r>
            <a:endParaRPr lang="en-US" sz="13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Molar mass (g/mol)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584.73 g/mol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849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Example 6.2.2. For NaCl: 22.99 + 35.45 = 58.44 g/mol.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6.3 · Brackets in formulas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molar mass of (a) barium sulfate, BaSO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used for X-rays of the gut, and (b) Ba(OH)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(Ba 137.33, S 32.07, O 16.00, H 1.01)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137.33 + 32.07 + 4 × 16.00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233.40 g/mol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The subscript outside the brackets applies to every atom inside: 1 Ba, 2 O and 2 H.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137.33 + 2 × 16.00 + 2 × 1.01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171.35 g/mol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Mole–mass conversions</a:t>
            </a:r>
            <a:endParaRPr lang="en-US" sz="2400" dirty="0"/>
          </a:p>
        </p:txBody>
      </p:sp>
      <p:pic>
        <p:nvPicPr>
          <p:cNvPr id="7" name="Image 0" descr="/home/claude/molpng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27516"/>
          </a:xfrm>
          <a:prstGeom prst="rect">
            <a:avLst/>
          </a:prstGeom>
        </p:spPr>
      </p:pic>
      <p:pic>
        <p:nvPicPr>
          <p:cNvPr id="8" name="Image 1" descr="/home/claude/src_cr/fig/unit_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13" y="1280160"/>
            <a:ext cx="3678773" cy="741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058231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 of a unit conversion, Figure 6.3.2 (Ball, The Basics of GOB Chemistry 6.3)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369127"/>
            <a:ext cx="8229600" cy="229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Molar mass is a conversion factor: 1 mol Al = 26.98 g Al, so we can use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26.98 g / 1 mol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mol / 26.98 g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Moles → grams: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molar mass. Grams → moles: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molar mass (multiply by its inverse).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factor that cancels the unit you start with.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6.4 · Moles to grams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biochemist needs 0.00655 mol of bilirubin (584.73 g/mol). How many grams is that? And what is the mass of 3.987 mol of Al?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0.00655 mol × (584.73 g / 1 mol)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3.83 g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bilirubin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3.987 mol Al × (26.98 g / 1 mol)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107.6 g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 units cancel, leaving grams.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Grams to moles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How many moles are in 100.0 g of Al? (b) A chemist needs 457.8 g of KMnO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(158.04 g/mol). How many moles is that?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Grams to moles · answer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How many moles are in 100.0 g of Al? (b) A chemist needs 457.8 g of KMnO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(158.04 g/mol). How many moles is that?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100.0 g × (1 mol / 26.98 g) =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3.706 mol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457.8 g × (1 mol / 158.04 g) =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2.897 mol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health: minerals in moles</a:t>
            </a:r>
            <a:endParaRPr lang="en-US" sz="2400" dirty="0"/>
          </a:p>
        </p:txBody>
      </p:sp>
      <p:pic>
        <p:nvPicPr>
          <p:cNvPr id="7" name="Image 0" descr="/home/claude/molpng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275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needs vary hugely, whether measured in grams or in moles (adults 19–30 years).</a:t>
            </a:r>
            <a:endParaRPr lang="en-US" sz="13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 mg · 1.0 × 10</a:t>
                      </a: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 mg · 1.0 × 10</a:t>
                      </a: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 mg · 9.0 × 10</a:t>
                      </a: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 mg · 9.0 × 10</a:t>
                      </a: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mg · 0.025 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mg · 0.025 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mg · 1.4 × 10</a:t>
                      </a: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mg · 3.2 × 10</a:t>
                      </a: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µg · 1.2 × 10</a:t>
                      </a: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µg · 1.2 × 10</a:t>
                      </a: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849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Ball Table 6.3.1 (selected rows). Women need over twice as much iron as men.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mass of 2.00 mol of water (H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18.02 g/mol)?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9.01 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18.02 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36.04 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 × 10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mass of 2.00 mol of water (H</a:t>
            </a:r>
            <a:r>
              <a:rPr lang="en-US" sz="15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18.02 g/mol)?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9.01 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18.02 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36.04 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 × 10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 mol × 18.02 g/mol = 36.04 g.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Stoichiometry with moles and mass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mole ratios, and molar mass turns moles into grams.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  ·  Ball 6.4–6.5</a:t>
            </a:r>
            <a:endParaRPr lang="en-US" sz="12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509451"/>
          </a:xfrm>
          <a:prstGeom prst="rect">
            <a:avLst/>
          </a:prstGeom>
        </p:spPr>
      </p:pic>
      <p:pic>
        <p:nvPicPr>
          <p:cNvPr id="8" name="Image 1" descr="/home/claude/molpng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51760"/>
            <a:ext cx="1005840" cy="6823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mole ratios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pic>
        <p:nvPicPr>
          <p:cNvPr id="8" name="Image 1" descr="/home/claude/figs_cr/mole_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431" y="1280160"/>
            <a:ext cx="4987138" cy="1481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798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read 2H₂ + O₂ → 2H₂O (Dr. NAM, after Ball Figure 6.4.1)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equations are balanced in molecules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moles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“two moles of hydrogen react with one mole of oxygen to make two moles of water.”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of coefficients used to convert between substances is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stoichiometric factor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(mole ratio).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7.1 · Mole–mole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how many moles of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needed to make 27.6 mol of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want 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use the ratio with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on the bottom, 1 mol 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 mol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 mol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× (1 mol 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 mol 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O)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 mol 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Mole–mole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how many moles of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 with 3.97 mol of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Mole–mole · answer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how many moles of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 with 3.97 mol of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3.97 mol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(2 mol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 mol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7.94 mol H</a:t>
            </a:r>
            <a:r>
              <a:rPr lang="en-US" sz="14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map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pic>
        <p:nvPicPr>
          <p:cNvPr id="8" name="Image 1" descr="/home/claude/src_cr/fig/seq_mm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745" y="1280160"/>
            <a:ext cx="1690830" cy="30358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3525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Mass–mass calculation sequence (Ball, The Basics of GOB Chemistry 6.5)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Mole–mass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moles of A → (mole ratio) → moles of B → (molar mass of B) → grams of B.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Mass–mass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first convert grams of A to moles of A with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molar mass. Then, and only then, use the mole ratio.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 ratio always links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grams.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can be done one at a time or in a single line.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7.2 · Mole–mass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+ 3SO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Fe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How many grams of SO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(80.07 g/mol) react with 3.59 mol of Fe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 ratio: 3.59 mol Fe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(3 mol SO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 mol Fe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10.77 mol SO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Molar mass: 10.77 mol × 80.07 g/mol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862 g SO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3.59 × 3/1 × 80.07 = 862 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7.3 · An antacid reaction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+ 2HCl → CaCl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 How many grams of 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(44.01 g/mol) form from 2.09 mol of HCl?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2.09 mol HCl × (1 mol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 mol HCl) = 1.045 mol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05328"/>
            <a:ext cx="274320" cy="27432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005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9870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1.045 mol × 44.01 g/mol =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 g CO</a:t>
            </a:r>
            <a:r>
              <a:rPr lang="en-US" sz="13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43528"/>
            <a:ext cx="274320" cy="27432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843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825240"/>
            <a:ext cx="777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link: this is how calcium carbonate neutralizes stomach acid, which is why antacids can cause burping.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Photosynthesis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+ 6H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→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+ 6O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How many grams of glucose (180.18 g/mol) are produced from 17.3 mol of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Photosynthesis · answer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6CO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+ 6H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→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+ 6O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How many grams of glucose (180.18 g/mol) are produced from 17.3 mol of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 mol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× (1 mol C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 mol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O) × 180.18 g/mol =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g glucose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mass–mass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+ 4Cl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CCl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+ 4HCl. How many grams of HCl form from 100.0 g of CH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grams → moles (CH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g × (1 mol / 16.05 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6.231 mol 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mole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6.231 mol × (4 mol HCl / 1 mol CH</a:t>
                      </a:r>
                      <a:r>
                        <a:rPr lang="en-US" sz="12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24.92 mol HCl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moles → grams (HCl)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24.92 mol × 36.46 g/mol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908.6 g HCl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1912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Example 6.5.2. Done in one line, the answer is 908.7 g because rounding happens only at the end.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Mass–mass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+ 2K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COOH + other products. How many grams of propionic acid (74.09 g/mol) come from 135.8 g of K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(294.20 g/mol)?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Mass–mass · answer</a:t>
            </a:r>
            <a:endParaRPr lang="en-US" sz="2400" dirty="0"/>
          </a:p>
        </p:txBody>
      </p:sp>
      <p:pic>
        <p:nvPicPr>
          <p:cNvPr id="7" name="Image 0" descr="/home/claude/molpng/meth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54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5331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+ 2K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COOH + other products. How many grams of propionic acid (74.09 g/mol) come from 135.8 g of K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(294.20 g/mol)?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135.8 g × (1 mol / 294.20 g) = 0.4616 mol K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(1 mol acid / 2 mol K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0.2308 mol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74.09 g/mol =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17.10 g propionic acid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health: the synthesis of Taxol</a:t>
            </a:r>
            <a:endParaRPr lang="en-US" sz="2400" dirty="0"/>
          </a:p>
        </p:txBody>
      </p:sp>
      <p:pic>
        <p:nvPicPr>
          <p:cNvPr id="7" name="Image 0" descr="/home/claude/molpng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175478"/>
          </a:xfrm>
          <a:prstGeom prst="rect">
            <a:avLst/>
          </a:prstGeom>
        </p:spPr>
      </p:pic>
      <p:pic>
        <p:nvPicPr>
          <p:cNvPr id="8" name="Image 1" descr="/home/claude/src_cr/fig/tax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31920" cy="23889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7056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the cancer drug Taxol, Figure 6.5.1 (Ball, The Basics of GOB Chemistry 6.5)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Taxol (C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is an anticancer drug first extracted from the Pacific yew tree; about six trees are needed per patient.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laboratory syntheses (1994) needed over 30 reactions with an overall efficiency below 0.05%.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300 mg dose needed about 600 g of starting material. Better stoichiometric efficiency means cheaper drugs and less waste.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mass–mass problem, what must you do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the mole ratio?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grams of the given substance to moles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Avogadro's number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only the oxygen atoms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moles to grams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20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CR1-LO6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400" dirty="0"/>
          </a:p>
        </p:txBody>
      </p:sp>
      <p:pic>
        <p:nvPicPr>
          <p:cNvPr id="7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mass–mass problem, what must you do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the mole ratio?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3F3E9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grams of the given substance to moles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Avogadro's number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only the oxygen atoms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moles to grams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A.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 ratio links moles, so the given mass must first become moles.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key rules</a:t>
            </a:r>
            <a:endParaRPr lang="en-US" sz="2400" dirty="0"/>
          </a:p>
        </p:txBody>
      </p:sp>
      <p:pic>
        <p:nvPicPr>
          <p:cNvPr id="3" name="Image 0" descr="/home/claude/molpng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66928" cy="3846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80160"/>
            <a:ext cx="8229600" cy="437606"/>
          </a:xfrm>
          <a:prstGeom prst="rect">
            <a:avLst/>
          </a:prstGeom>
          <a:solidFill>
            <a:srgbClr val="E1EEF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280160"/>
            <a:ext cx="210312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1280160"/>
            <a:ext cx="585216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of reactants = mass of products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63486"/>
            <a:ext cx="8229600" cy="4376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763486"/>
            <a:ext cx="210312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763486"/>
            <a:ext cx="585216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coefficients, never subscripts; lowest whole-number ratio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246811"/>
            <a:ext cx="8229600" cy="437606"/>
          </a:xfrm>
          <a:prstGeom prst="rect">
            <a:avLst/>
          </a:prstGeom>
          <a:solidFill>
            <a:srgbClr val="E1EE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2246811"/>
            <a:ext cx="210312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246811"/>
            <a:ext cx="585216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= molecule ratios = mole ratios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30137"/>
            <a:ext cx="8229600" cy="4376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2730137"/>
            <a:ext cx="210312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types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730137"/>
            <a:ext cx="585216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(→ one) · decomposition (one →) · combustion (+ 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213463"/>
            <a:ext cx="8229600" cy="437606"/>
          </a:xfrm>
          <a:prstGeom prst="rect">
            <a:avLst/>
          </a:prstGeom>
          <a:solidFill>
            <a:srgbClr val="E1EE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3213463"/>
            <a:ext cx="210312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Redox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3213463"/>
            <a:ext cx="585216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RIG · oxidized = reducing agent · oxidation also = gain O / lose 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696789"/>
            <a:ext cx="8229600" cy="4376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4360" y="3696789"/>
            <a:ext cx="210312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743200" y="3696789"/>
            <a:ext cx="585216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mol = 6.022 × 10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particles; molar mass in g/mol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4180114"/>
            <a:ext cx="8229600" cy="437606"/>
          </a:xfrm>
          <a:prstGeom prst="rect">
            <a:avLst/>
          </a:prstGeom>
          <a:solidFill>
            <a:srgbClr val="E1EEF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4360" y="4180114"/>
            <a:ext cx="210312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Stoichiometry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743200" y="4180114"/>
            <a:ext cx="585216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A → mol A → (mole ratio) → mol B → g B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topic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7DB6E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post-lecture activity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7DB6E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013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the tutorial questions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368296"/>
            <a:ext cx="384048" cy="384048"/>
          </a:xfrm>
          <a:prstGeom prst="ellipse">
            <a:avLst/>
          </a:prstGeom>
          <a:solidFill>
            <a:srgbClr val="7DB6E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6829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game to find your weak outcomes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2935224"/>
            <a:ext cx="384048" cy="384048"/>
          </a:xfrm>
          <a:prstGeom prst="ellipse">
            <a:avLst/>
          </a:prstGeom>
          <a:solidFill>
            <a:srgbClr val="F0B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93522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topic: Chemical Reactions II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</a:t>
            </a:r>
            <a:r>
              <a:rPr lang="en-US" sz="900" i="1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 of GOB Chemistry</a:t>
            </a: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(Ball, Hill &amp; Scott), LibreTexts, CC BY-NC-SA 3.0, sections 5.0–5.6 and 6.0–6.5, including the photographs and figures reproduced from those sections. Balancing and mole diagrams drawn by Dr. NAM. Shared under the same licence for non-commercial teaching.</a:t>
            </a:r>
            <a:endParaRPr lang="en-US" sz="900" dirty="0"/>
          </a:p>
        </p:txBody>
      </p:sp>
      <p:pic>
        <p:nvPicPr>
          <p:cNvPr id="16" name="Image 0" descr="/home/claude/molpng/ethan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65760"/>
            <a:ext cx="1463040" cy="1045029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Periodic table</a:t>
            </a:r>
            <a:endParaRPr lang="en-US" sz="2200" dirty="0"/>
          </a:p>
        </p:txBody>
      </p:sp>
      <p:pic>
        <p:nvPicPr>
          <p:cNvPr id="3" name="Image 0" descr="/home/claude/pt/p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731520"/>
            <a:ext cx="7209130" cy="4069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Chemical Reactions I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PHD115 · Chemical Reactions I</dc:title>
  <dc:subject>PptxGenJS Presentation</dc:subject>
  <dc:creator>Dr. NAM</dc:creator>
  <cp:lastModifiedBy>Dr. NAM</cp:lastModifiedBy>
  <cp:revision>1</cp:revision>
  <dcterms:created xsi:type="dcterms:W3CDTF">2026-09-30T22:27:27Z</dcterms:created>
  <dcterms:modified xsi:type="dcterms:W3CDTF">2026-09-30T22:27:27Z</dcterms:modified>
</cp:coreProperties>
</file>