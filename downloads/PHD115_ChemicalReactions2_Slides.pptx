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Lst>
  <p:notesMasterIdLst>
    <p:notesMasterId r:id="rId8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notesMaster" Target="notesMasters/notesMaster1.xml"/><Relationship Id="rId82" Type="http://schemas.openxmlformats.org/officeDocument/2006/relationships/presProps" Target="presProps.xml"/><Relationship Id="rId83" Type="http://schemas.openxmlformats.org/officeDocument/2006/relationships/viewProps" Target="viewProps.xml"/><Relationship Id="rId84" Type="http://schemas.openxmlformats.org/officeDocument/2006/relationships/theme" Target="theme/theme1.xml"/><Relationship Id="rId8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lecture covers energy changes in reactions and reaction rates. It builds on Energy &amp; Matters (bond energies, Ball 7.4) and Chemical Reactions I (moles and stoichiometry).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six outcomes appear in the before-class activity, the after-class activity, the tutorial and the exam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reference summary (Ball 6.S) introduces collision theory, enthalpy, activation energy, catalysts and equilibrium. Rates and equilibrium are expanded here to match the course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discuss for one minute. Collect ideas: 'heat makes things go bad', 'the match needs a spark'. Both are the core of today's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discuss for one minute. Collect ideas: 'heat makes things go bad', 'the match needs a spark'. Both are the core of today's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is a short recap of Energy &amp; Matters Part 4, then extends it to calculations with moles.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from EM Part 4 (Ball 7.4). The kcal example is the EM try-it; from here on we use kJ.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Ball 5.6 figure reused from CR1 (combustion is redox). Methane value matches EM (890.4 kJ).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Photosynthesis figure from Ball 5.6. CaCO3 value matches 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idea: ΔH is a stoichiometric quantity.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road map as mole–mass problems in CR1, with ΔH as the last conversion factor.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1.4953 × 890 = 1331 kJ; 3 s.f. from 24.0 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Reverse = change sign; scale = scale ΔH.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 kJ ÷ 4.184 = 33.5 kcal.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 kJ ÷ 4.184 = 33.5 kcal.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Dissolving is a physical change but the same sign rules apply. Values are standard enthalpies of 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0.49963 × 25.7 = 12.84 kJ.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0.49963 × 25.7 = 12.84 kJ.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of Part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extends the uphill/downhill diagrams from EM by adding the activation energy barrier.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Hindenburg photo from Ball 5.2 (reused from CR1). This is the 'match in the drawer' idea from the hook.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this on the board with students. The hill is the barrier; the drop is ΔH.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E_a(reverse) = peak −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reference summary: 'The larger the activation energy, the slower the reaction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Encourage students to sketch the diagram before calculating.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Uphill diagram with a peak at 120.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Uphill diagram with a peak at 120.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reference: 'Collision theory can be used to describe the energetic aspects of chemical reactions.'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if collisions are so frequent, why are many reactions slow? Answer: most collisions are ineffective.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reaction occurs in polluted air and destroys ozone.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Maxwell–Boltzmann idea, qualitative only. Students do not need the name for the exam unless you choose to 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idea for striking a match: friction supplies E_a.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Orientation matters more for big molecules: important for enzymes and receptors.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Orientation matters more for big molecules: important for enzymes and receptors.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Course plan: 'Reaction rates'. Factors follow directly from collision theory.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Square brackets mean concentration in mol/L.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Links rates to the stoichiometry of CR1.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nature of the reactants also matters (ions in solution react almost instantly; covalent bonds react more slowly).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Qualitative only; rate laws are beyond this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curves have the same area (same number of particles).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that some tablets must not be crushed (modified-release) precisely because crushing changes the release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Always name the factor AND the collision-theory reason; that is where exam marks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place to connect to the pharmacy profession: correct storage protects patients.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names the factor and gives the collision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names the factor and gives the collision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of Part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reference: 'Catalysts can be added to reactions to lower the activation energy and increase the reaction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Catalysts are written over the arrow, for example MnO2 or 'catalase'.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Easy classroom demonstration with a piece of potato or liver.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Induced fit is a refinement: the active site changes shape slightly as the substrate binds.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with an ordinary reaction, where rate keeps rising with temperature.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Pharmacology will cover these mechanisms in detail; here we only connect them to rates.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misconception.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misconception.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reference summary: forward and reverse reactions, equilibrium, Le Chatelier's principle. Leads into Acids and Bases.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Haber process for ammonia is the classic industrial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reference: 'When the forward and reverse reaction rates are equal, the reaction is described as being at equilibrium'; concentrations remain constant.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reference: 'Le Chatelier's principle states that the direction of an equilibrium reaction will shift to reduce the stress.'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should be able to give the direction AND the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industrial compromise: moderate temperature (for rate) with a catalyst and high pressure.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Carbon monoxide poisoning: CO binds haemoglobin much more strongly than O2, so oxygen cannot be loaded.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explains why carbonated drinks are bottled under pressure and served cold.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explains why carbonated drinks are bottled under pressure and served cold.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of Part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rules are the basis of the tutorial and exam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students to the Study 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slideLayout" Target="../slideLayouts/slideLayout1.xml"/><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slideLayout" Target="../slideLayouts/slideLayout1.xml"/><Relationship Id="rId5"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slideLayout" Target="../slideLayouts/slideLayout1.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image" Target="../media/image-55-3.png"/><Relationship Id="rId4" Type="http://schemas.openxmlformats.org/officeDocument/2006/relationships/slideLayout" Target="../slideLayouts/slideLayout1.xml"/><Relationship Id="rId5"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slideLayout" Target="../slideLayouts/slideLayout1.xml"/><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slideLayout" Target="../slideLayouts/slideLayout1.xml"/><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png"/><Relationship Id="rId3" Type="http://schemas.openxmlformats.org/officeDocument/2006/relationships/slideLayout" Target="../slideLayouts/slideLayout1.xml"/><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png"/><Relationship Id="rId3" Type="http://schemas.openxmlformats.org/officeDocument/2006/relationships/slideLayout" Target="../slideLayouts/slideLayout1.xml"/><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image" Target="../media/image-65-2.png"/><Relationship Id="rId3" Type="http://schemas.openxmlformats.org/officeDocument/2006/relationships/image" Target="../media/image-65-3.png"/><Relationship Id="rId4" Type="http://schemas.openxmlformats.org/officeDocument/2006/relationships/slideLayout" Target="../slideLayouts/slideLayout1.xml"/><Relationship Id="rId5"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image" Target="../media/image-67-2.png"/><Relationship Id="rId3" Type="http://schemas.openxmlformats.org/officeDocument/2006/relationships/slideLayout" Target="../slideLayouts/slideLayout1.xml"/><Relationship Id="rId4"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1.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slideLayout" Target="../slideLayouts/slideLayout1.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slideLayout" Target="../slideLayouts/slideLayout1.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slideLayout" Target="../slideLayouts/slideLayout1.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slideLayout" Target="../slideLayouts/slideLayout1.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slideLayout" Target="../slideLayouts/slideLayout1.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slideLayout" Target="../slideLayouts/slideLayout1.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slideLayout" Target="../slideLayouts/slideLayout1.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slideLayout" Target="../slideLayouts/slideLayout1.xml"/><Relationship Id="rId3" Type="http://schemas.openxmlformats.org/officeDocument/2006/relationships/notesSlide" Target="../notesSlides/notesSlide7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1"/>
        </a:solidFill>
      </p:bgPr>
    </p:bg>
    <p:spTree>
      <p:nvGrpSpPr>
        <p:cNvPr id="1" name=""/>
        <p:cNvGrpSpPr/>
        <p:nvPr/>
      </p:nvGrpSpPr>
      <p:grpSpPr>
        <a:xfrm>
          <a:off x="0" y="0"/>
          <a:ext cx="0" cy="0"/>
          <a:chOff x="0" y="0"/>
          <a:chExt cx="0" cy="0"/>
        </a:xfrm>
      </p:grpSpPr>
      <p:sp>
        <p:nvSpPr>
          <p:cNvPr id="2" name="Text 0"/>
          <p:cNvSpPr txBox="1"/>
          <p:nvPr/>
        </p:nvSpPr>
        <p:spPr>
          <a:xfrm>
            <a:off x="548640" y="548640"/>
            <a:ext cx="6400800" cy="320040"/>
          </a:xfrm>
          <a:prstGeom prst="rect">
            <a:avLst/>
          </a:prstGeom>
          <a:noFill/>
          <a:ln/>
        </p:spPr>
        <p:txBody>
          <a:bodyPr wrap="square" lIns="0" tIns="0" rIns="0" bIns="0" rtlCol="0" anchor="ctr"/>
          <a:lstStyle/>
          <a:p>
            <a:pPr indent="0" marL="0">
              <a:buNone/>
            </a:pPr>
            <a:r>
              <a:rPr lang="en-US" sz="1200" dirty="0">
                <a:solidFill>
                  <a:srgbClr val="A3B1C2"/>
                </a:solidFill>
                <a:latin typeface="Calibri" pitchFamily="34" charset="0"/>
                <a:ea typeface="Calibri" pitchFamily="34" charset="-122"/>
                <a:cs typeface="Calibri" pitchFamily="34" charset="-120"/>
              </a:rPr>
              <a:t>PHD115 Fundamentals of Chemistry</a:t>
            </a:r>
            <a:endParaRPr lang="en-US" sz="1200" dirty="0"/>
          </a:p>
        </p:txBody>
      </p:sp>
      <p:sp>
        <p:nvSpPr>
          <p:cNvPr id="3" name="Text 1"/>
          <p:cNvSpPr txBox="1"/>
          <p:nvPr/>
        </p:nvSpPr>
        <p:spPr>
          <a:xfrm>
            <a:off x="548640" y="914400"/>
            <a:ext cx="7772400" cy="82296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Chemical Reactions II</a:t>
            </a:r>
            <a:endParaRPr lang="en-US" sz="3600" dirty="0"/>
          </a:p>
        </p:txBody>
      </p:sp>
      <p:sp>
        <p:nvSpPr>
          <p:cNvPr id="4" name="Text 2"/>
          <p:cNvSpPr txBox="1"/>
          <p:nvPr/>
        </p:nvSpPr>
        <p:spPr>
          <a:xfrm>
            <a:off x="548640" y="1874520"/>
            <a:ext cx="7315200" cy="32004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Dr. Nur 'Ainun Mokhtar (Dr. NAM) · Faculty of Pharmacy, UiTM Bertam, Penang</a:t>
            </a:r>
            <a:endParaRPr lang="en-US" sz="1100" dirty="0"/>
          </a:p>
        </p:txBody>
      </p:sp>
      <p:sp>
        <p:nvSpPr>
          <p:cNvPr id="5" name="Text 3"/>
          <p:cNvSpPr txBox="1"/>
          <p:nvPr/>
        </p:nvSpPr>
        <p:spPr>
          <a:xfrm>
            <a:off x="548640" y="2240280"/>
            <a:ext cx="4754880" cy="548640"/>
          </a:xfrm>
          <a:prstGeom prst="rect">
            <a:avLst/>
          </a:prstGeom>
          <a:noFill/>
          <a:ln/>
        </p:spPr>
        <p:txBody>
          <a:bodyPr wrap="square" lIns="0" tIns="0" rIns="0" bIns="0" rtlCol="0" anchor="t"/>
          <a:lstStyle/>
          <a:p>
            <a:pPr indent="0" marL="0">
              <a:buNone/>
            </a:pPr>
            <a:r>
              <a:rPr lang="en-US" sz="900" dirty="0">
                <a:solidFill>
                  <a:srgbClr val="A3B1C2"/>
                </a:solidFill>
                <a:latin typeface="Calibri" pitchFamily="34" charset="0"/>
                <a:ea typeface="Calibri" pitchFamily="34" charset="-122"/>
                <a:cs typeface="Calibri" pitchFamily="34" charset="-120"/>
              </a:rPr>
              <a:t>Core reference: Ball, Hill &amp; Scott, The Basics of GOB Chemistry, 6.S and 7.4; rates and equilibrium expanded from Introductory Chemistry (LibreTexts), chapter 15</a:t>
            </a:r>
            <a:endParaRPr lang="en-US" sz="900" dirty="0"/>
          </a:p>
        </p:txBody>
      </p:sp>
      <p:pic>
        <p:nvPicPr>
          <p:cNvPr id="6" name="Image 0" descr="/home/claude/build/mol/h2o2.png">    </p:cNvPr>
          <p:cNvPicPr>
            <a:picLocks noChangeAspect="1"/>
          </p:cNvPicPr>
          <p:nvPr/>
        </p:nvPicPr>
        <p:blipFill>
          <a:blip r:embed="rId1"/>
          <a:stretch>
            <a:fillRect/>
          </a:stretch>
        </p:blipFill>
        <p:spPr>
          <a:xfrm>
            <a:off x="6064594" y="2423160"/>
            <a:ext cx="1038172" cy="1371600"/>
          </a:xfrm>
          <a:prstGeom prst="rect">
            <a:avLst/>
          </a:prstGeom>
        </p:spPr>
      </p:pic>
      <p:pic>
        <p:nvPicPr>
          <p:cNvPr id="7" name="Image 1" descr="/home/claude/build/mol/co2.png">    </p:cNvPr>
          <p:cNvPicPr>
            <a:picLocks noChangeAspect="1"/>
          </p:cNvPicPr>
          <p:nvPr/>
        </p:nvPicPr>
        <p:blipFill>
          <a:blip r:embed="rId2"/>
          <a:stretch>
            <a:fillRect/>
          </a:stretch>
        </p:blipFill>
        <p:spPr>
          <a:xfrm>
            <a:off x="7243302" y="1120140"/>
            <a:ext cx="1241077" cy="411480"/>
          </a:xfrm>
          <a:prstGeom prst="rect">
            <a:avLst/>
          </a:prstGeom>
        </p:spPr>
      </p:pic>
      <p:pic>
        <p:nvPicPr>
          <p:cNvPr id="8" name="Image 2" descr="/home/claude/build/mol/ammonia.png">    </p:cNvPr>
          <p:cNvPicPr>
            <a:picLocks noChangeAspect="1"/>
          </p:cNvPicPr>
          <p:nvPr/>
        </p:nvPicPr>
        <p:blipFill>
          <a:blip r:embed="rId3"/>
          <a:stretch>
            <a:fillRect/>
          </a:stretch>
        </p:blipFill>
        <p:spPr>
          <a:xfrm>
            <a:off x="4483623" y="3474720"/>
            <a:ext cx="1274035" cy="731520"/>
          </a:xfrm>
          <a:prstGeom prst="rect">
            <a:avLst/>
          </a:prstGeom>
        </p:spPr>
      </p:pic>
      <p:pic>
        <p:nvPicPr>
          <p:cNvPr id="9" name="Image 3" descr="/home/claude/build/mol/o3.png">    </p:cNvPr>
          <p:cNvPicPr>
            <a:picLocks noChangeAspect="1"/>
          </p:cNvPicPr>
          <p:nvPr/>
        </p:nvPicPr>
        <p:blipFill>
          <a:blip r:embed="rId4"/>
          <a:stretch>
            <a:fillRect/>
          </a:stretch>
        </p:blipFill>
        <p:spPr>
          <a:xfrm>
            <a:off x="3891579" y="2743200"/>
            <a:ext cx="995082" cy="548640"/>
          </a:xfrm>
          <a:prstGeom prst="rect">
            <a:avLst/>
          </a:prstGeom>
        </p:spPr>
      </p:pic>
      <p:sp>
        <p:nvSpPr>
          <p:cNvPr id="10" name="Text 4"/>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A3B1C2"/>
                </a:solidFill>
                <a:latin typeface="Calibri" pitchFamily="34" charset="0"/>
                <a:ea typeface="Calibri" pitchFamily="34" charset="-122"/>
                <a:cs typeface="Calibri" pitchFamily="34" charset="-120"/>
              </a:rPr>
              <a:t>PHD115 · Chemical Reactions II</a:t>
            </a:r>
            <a:endParaRPr lang="en-US" sz="800" dirty="0"/>
          </a:p>
        </p:txBody>
      </p:sp>
      <p:sp>
        <p:nvSpPr>
          <p:cNvPr id="11" name="Text 5"/>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F0B24A"/>
                </a:solidFill>
                <a:latin typeface="Calibri" pitchFamily="34" charset="0"/>
                <a:ea typeface="Calibri" pitchFamily="34" charset="-122"/>
                <a:cs typeface="Calibri" pitchFamily="34" charset="-120"/>
              </a:rPr>
              <a:t>Dr. NAM · Faculty of Pharmacy, UiTM Bertam, Penang</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6F9"/>
        </a:solidFill>
      </p:bgPr>
    </p:bg>
    <p:spTree>
      <p:nvGrpSpPr>
        <p:cNvPr id="1" name=""/>
        <p:cNvGrpSpPr/>
        <p:nvPr/>
      </p:nvGrpSpPr>
      <p:grpSpPr>
        <a:xfrm>
          <a:off x="0" y="0"/>
          <a:ext cx="0" cy="0"/>
          <a:chOff x="0" y="0"/>
          <a:chExt cx="0" cy="0"/>
        </a:xfrm>
      </p:grpSpPr>
      <p:sp>
        <p:nvSpPr>
          <p:cNvPr id="2" name="Text 0"/>
          <p:cNvSpPr txBox="1"/>
          <p:nvPr/>
        </p:nvSpPr>
        <p:spPr>
          <a:xfrm>
            <a:off x="457200" y="41148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Learning outcomes</a:t>
            </a:r>
            <a:endParaRPr lang="en-US" sz="2000" dirty="0"/>
          </a:p>
        </p:txBody>
      </p:sp>
      <p:pic>
        <p:nvPicPr>
          <p:cNvPr id="3" name="Image 0" descr="/home/claude/build/mol/h2o2.png">    </p:cNvPr>
          <p:cNvPicPr>
            <a:picLocks noChangeAspect="1"/>
          </p:cNvPicPr>
          <p:nvPr/>
        </p:nvPicPr>
        <p:blipFill>
          <a:blip r:embed="rId1"/>
          <a:stretch>
            <a:fillRect/>
          </a:stretch>
        </p:blipFill>
        <p:spPr>
          <a:xfrm>
            <a:off x="8221416" y="192024"/>
            <a:ext cx="290688" cy="384048"/>
          </a:xfrm>
          <a:prstGeom prst="rect">
            <a:avLst/>
          </a:prstGeom>
        </p:spPr>
      </p:pic>
      <p:sp>
        <p:nvSpPr>
          <p:cNvPr id="4" name="Text 1"/>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Chemical Reactions II</a:t>
            </a:r>
            <a:endParaRPr lang="en-US" sz="800" dirty="0"/>
          </a:p>
        </p:txBody>
      </p:sp>
      <p:sp>
        <p:nvSpPr>
          <p:cNvPr id="5" name="Text 2"/>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6" name="Shape 3"/>
          <p:cNvSpPr/>
          <p:nvPr/>
        </p:nvSpPr>
        <p:spPr>
          <a:xfrm>
            <a:off x="457200" y="1280160"/>
            <a:ext cx="4023360" cy="960120"/>
          </a:xfrm>
          <a:prstGeom prst="roundRect">
            <a:avLst>
              <a:gd name="adj" fmla="val 7619"/>
            </a:avLst>
          </a:prstGeom>
          <a:solidFill>
            <a:srgbClr val="FFFFFF"/>
          </a:solidFill>
          <a:ln w="9525">
            <a:solidFill>
              <a:srgbClr val="D7E0E8"/>
            </a:solidFill>
            <a:prstDash val="solid"/>
          </a:ln>
        </p:spPr>
      </p:sp>
      <p:sp>
        <p:nvSpPr>
          <p:cNvPr id="7" name="Text 4"/>
          <p:cNvSpPr txBox="1"/>
          <p:nvPr/>
        </p:nvSpPr>
        <p:spPr>
          <a:xfrm>
            <a:off x="566928" y="1335024"/>
            <a:ext cx="3803904" cy="850392"/>
          </a:xfrm>
          <a:prstGeom prst="rect">
            <a:avLst/>
          </a:prstGeom>
          <a:noFill/>
          <a:ln/>
        </p:spPr>
        <p:txBody>
          <a:bodyPr wrap="square" lIns="0" tIns="0" rIns="0" bIns="0" rtlCol="0" anchor="t"/>
          <a:lstStyle/>
          <a:p>
            <a:pPr indent="0" marL="0">
              <a:buNone/>
            </a:pPr>
            <a:r>
              <a:rPr lang="en-US" sz="900" b="1" dirty="0">
                <a:solidFill>
                  <a:srgbClr val="2F6F9F"/>
                </a:solidFill>
                <a:latin typeface="Calibri" pitchFamily="34" charset="0"/>
                <a:ea typeface="Calibri" pitchFamily="34" charset="-122"/>
                <a:cs typeface="Calibri" pitchFamily="34" charset="-120"/>
              </a:rPr>
              <a:t>CR2-LO1</a:t>
            </a:r>
            <a:endParaRPr lang="en-US" sz="900" dirty="0"/>
          </a:p>
          <a:p>
            <a:pPr indent="0" marL="0">
              <a:buNone/>
            </a:pPr>
            <a:r>
              <a:rPr lang="en-US" sz="1050" dirty="0">
                <a:solidFill>
                  <a:srgbClr val="1B2A41"/>
                </a:solidFill>
                <a:latin typeface="Calibri" pitchFamily="34" charset="0"/>
                <a:ea typeface="Calibri" pitchFamily="34" charset="-122"/>
                <a:cs typeface="Calibri" pitchFamily="34" charset="-120"/>
              </a:rPr>
              <a:t>Explain the energy changes in a reaction (bonds broken and formed), classify reactions as exothermic or endothermic, and use a thermochemical equation to calculate the heat involved</a:t>
            </a:r>
            <a:endParaRPr lang="en-US" sz="900" dirty="0"/>
          </a:p>
        </p:txBody>
      </p:sp>
      <p:sp>
        <p:nvSpPr>
          <p:cNvPr id="8" name="Shape 5"/>
          <p:cNvSpPr/>
          <p:nvPr/>
        </p:nvSpPr>
        <p:spPr>
          <a:xfrm>
            <a:off x="4617720" y="1280160"/>
            <a:ext cx="4023360" cy="960120"/>
          </a:xfrm>
          <a:prstGeom prst="roundRect">
            <a:avLst>
              <a:gd name="adj" fmla="val 7619"/>
            </a:avLst>
          </a:prstGeom>
          <a:solidFill>
            <a:srgbClr val="FFFFFF"/>
          </a:solidFill>
          <a:ln w="9525">
            <a:solidFill>
              <a:srgbClr val="D7E0E8"/>
            </a:solidFill>
            <a:prstDash val="solid"/>
          </a:ln>
        </p:spPr>
      </p:sp>
      <p:sp>
        <p:nvSpPr>
          <p:cNvPr id="9" name="Text 6"/>
          <p:cNvSpPr txBox="1"/>
          <p:nvPr/>
        </p:nvSpPr>
        <p:spPr>
          <a:xfrm>
            <a:off x="4727448" y="1335024"/>
            <a:ext cx="3803904" cy="850392"/>
          </a:xfrm>
          <a:prstGeom prst="rect">
            <a:avLst/>
          </a:prstGeom>
          <a:noFill/>
          <a:ln/>
        </p:spPr>
        <p:txBody>
          <a:bodyPr wrap="square" lIns="0" tIns="0" rIns="0" bIns="0" rtlCol="0" anchor="t"/>
          <a:lstStyle/>
          <a:p>
            <a:pPr indent="0" marL="0">
              <a:buNone/>
            </a:pPr>
            <a:r>
              <a:rPr lang="en-US" sz="900" b="1" dirty="0">
                <a:solidFill>
                  <a:srgbClr val="2F6F9F"/>
                </a:solidFill>
                <a:latin typeface="Calibri" pitchFamily="34" charset="0"/>
                <a:ea typeface="Calibri" pitchFamily="34" charset="-122"/>
                <a:cs typeface="Calibri" pitchFamily="34" charset="-120"/>
              </a:rPr>
              <a:t>CR2-LO2</a:t>
            </a:r>
            <a:endParaRPr lang="en-US" sz="900" dirty="0"/>
          </a:p>
          <a:p>
            <a:pPr indent="0" marL="0">
              <a:buNone/>
            </a:pPr>
            <a:r>
              <a:rPr lang="en-US" sz="1050" dirty="0">
                <a:solidFill>
                  <a:srgbClr val="1B2A41"/>
                </a:solidFill>
                <a:latin typeface="Calibri" pitchFamily="34" charset="0"/>
                <a:ea typeface="Calibri" pitchFamily="34" charset="-122"/>
                <a:cs typeface="Calibri" pitchFamily="34" charset="-120"/>
              </a:rPr>
              <a:t>Draw and interpret energy diagrams: reactants, products, transition state, activation energy (E</a:t>
            </a:r>
            <a:pPr indent="0" marL="0">
              <a:buNone/>
            </a:pPr>
            <a:r>
              <a:rPr lang="en-US" sz="1050" baseline="-40000" dirty="0">
                <a:solidFill>
                  <a:srgbClr val="1B2A41"/>
                </a:solidFill>
                <a:latin typeface="Calibri" pitchFamily="34" charset="0"/>
                <a:ea typeface="Calibri" pitchFamily="34" charset="-122"/>
                <a:cs typeface="Calibri" pitchFamily="34" charset="-120"/>
              </a:rPr>
              <a:t>a</a:t>
            </a:r>
            <a:pPr indent="0" marL="0">
              <a:buNone/>
            </a:pPr>
            <a:r>
              <a:rPr lang="en-US" sz="1050" dirty="0">
                <a:solidFill>
                  <a:srgbClr val="1B2A41"/>
                </a:solidFill>
                <a:latin typeface="Calibri" pitchFamily="34" charset="0"/>
                <a:ea typeface="Calibri" pitchFamily="34" charset="-122"/>
                <a:cs typeface="Calibri" pitchFamily="34" charset="-120"/>
              </a:rPr>
              <a:t>) and ΔH</a:t>
            </a:r>
            <a:endParaRPr lang="en-US" sz="900" dirty="0"/>
          </a:p>
        </p:txBody>
      </p:sp>
      <p:sp>
        <p:nvSpPr>
          <p:cNvPr id="10" name="Shape 7"/>
          <p:cNvSpPr/>
          <p:nvPr/>
        </p:nvSpPr>
        <p:spPr>
          <a:xfrm>
            <a:off x="457200" y="2359152"/>
            <a:ext cx="4023360" cy="960120"/>
          </a:xfrm>
          <a:prstGeom prst="roundRect">
            <a:avLst>
              <a:gd name="adj" fmla="val 7619"/>
            </a:avLst>
          </a:prstGeom>
          <a:solidFill>
            <a:srgbClr val="FFFFFF"/>
          </a:solidFill>
          <a:ln w="9525">
            <a:solidFill>
              <a:srgbClr val="D7E0E8"/>
            </a:solidFill>
            <a:prstDash val="solid"/>
          </a:ln>
        </p:spPr>
      </p:sp>
      <p:sp>
        <p:nvSpPr>
          <p:cNvPr id="11" name="Text 8"/>
          <p:cNvSpPr txBox="1"/>
          <p:nvPr/>
        </p:nvSpPr>
        <p:spPr>
          <a:xfrm>
            <a:off x="566928" y="2414016"/>
            <a:ext cx="3803904" cy="850392"/>
          </a:xfrm>
          <a:prstGeom prst="rect">
            <a:avLst/>
          </a:prstGeom>
          <a:noFill/>
          <a:ln/>
        </p:spPr>
        <p:txBody>
          <a:bodyPr wrap="square" lIns="0" tIns="0" rIns="0" bIns="0" rtlCol="0" anchor="t"/>
          <a:lstStyle/>
          <a:p>
            <a:pPr indent="0" marL="0">
              <a:buNone/>
            </a:pPr>
            <a:r>
              <a:rPr lang="en-US" sz="900" b="1" dirty="0">
                <a:solidFill>
                  <a:srgbClr val="2F6F9F"/>
                </a:solidFill>
                <a:latin typeface="Calibri" pitchFamily="34" charset="0"/>
                <a:ea typeface="Calibri" pitchFamily="34" charset="-122"/>
                <a:cs typeface="Calibri" pitchFamily="34" charset="-120"/>
              </a:rPr>
              <a:t>CR2-LO3</a:t>
            </a:r>
            <a:endParaRPr lang="en-US" sz="900" dirty="0"/>
          </a:p>
          <a:p>
            <a:pPr indent="0" marL="0">
              <a:buNone/>
            </a:pPr>
            <a:r>
              <a:rPr lang="en-US" sz="1050" dirty="0">
                <a:solidFill>
                  <a:srgbClr val="1B2A41"/>
                </a:solidFill>
                <a:latin typeface="Calibri" pitchFamily="34" charset="0"/>
                <a:ea typeface="Calibri" pitchFamily="34" charset="-122"/>
                <a:cs typeface="Calibri" pitchFamily="34" charset="-120"/>
              </a:rPr>
              <a:t>Use collision theory (collision, energy and orientation) to explain why some collisions lead to reaction and others do not</a:t>
            </a:r>
            <a:endParaRPr lang="en-US" sz="900" dirty="0"/>
          </a:p>
        </p:txBody>
      </p:sp>
      <p:sp>
        <p:nvSpPr>
          <p:cNvPr id="12" name="Shape 9"/>
          <p:cNvSpPr/>
          <p:nvPr/>
        </p:nvSpPr>
        <p:spPr>
          <a:xfrm>
            <a:off x="4617720" y="2359152"/>
            <a:ext cx="4023360" cy="960120"/>
          </a:xfrm>
          <a:prstGeom prst="roundRect">
            <a:avLst>
              <a:gd name="adj" fmla="val 7619"/>
            </a:avLst>
          </a:prstGeom>
          <a:solidFill>
            <a:srgbClr val="FFFFFF"/>
          </a:solidFill>
          <a:ln w="9525">
            <a:solidFill>
              <a:srgbClr val="D7E0E8"/>
            </a:solidFill>
            <a:prstDash val="solid"/>
          </a:ln>
        </p:spPr>
      </p:sp>
      <p:sp>
        <p:nvSpPr>
          <p:cNvPr id="13" name="Text 10"/>
          <p:cNvSpPr txBox="1"/>
          <p:nvPr/>
        </p:nvSpPr>
        <p:spPr>
          <a:xfrm>
            <a:off x="4727448" y="2414016"/>
            <a:ext cx="3803904" cy="850392"/>
          </a:xfrm>
          <a:prstGeom prst="rect">
            <a:avLst/>
          </a:prstGeom>
          <a:noFill/>
          <a:ln/>
        </p:spPr>
        <p:txBody>
          <a:bodyPr wrap="square" lIns="0" tIns="0" rIns="0" bIns="0" rtlCol="0" anchor="t"/>
          <a:lstStyle/>
          <a:p>
            <a:pPr indent="0" marL="0">
              <a:buNone/>
            </a:pPr>
            <a:r>
              <a:rPr lang="en-US" sz="900" b="1" dirty="0">
                <a:solidFill>
                  <a:srgbClr val="2F6F9F"/>
                </a:solidFill>
                <a:latin typeface="Calibri" pitchFamily="34" charset="0"/>
                <a:ea typeface="Calibri" pitchFamily="34" charset="-122"/>
                <a:cs typeface="Calibri" pitchFamily="34" charset="-120"/>
              </a:rPr>
              <a:t>CR2-LO4</a:t>
            </a:r>
            <a:endParaRPr lang="en-US" sz="900" dirty="0"/>
          </a:p>
          <a:p>
            <a:pPr indent="0" marL="0">
              <a:buNone/>
            </a:pPr>
            <a:r>
              <a:rPr lang="en-US" sz="1050" dirty="0">
                <a:solidFill>
                  <a:srgbClr val="1B2A41"/>
                </a:solidFill>
                <a:latin typeface="Calibri" pitchFamily="34" charset="0"/>
                <a:ea typeface="Calibri" pitchFamily="34" charset="-122"/>
                <a:cs typeface="Calibri" pitchFamily="34" charset="-120"/>
              </a:rPr>
              <a:t>Define reaction rate and explain how concentration, temperature, surface area and catalysts change it, including drug stability and storage</a:t>
            </a:r>
            <a:endParaRPr lang="en-US" sz="900" dirty="0"/>
          </a:p>
        </p:txBody>
      </p:sp>
      <p:sp>
        <p:nvSpPr>
          <p:cNvPr id="14" name="Shape 11"/>
          <p:cNvSpPr/>
          <p:nvPr/>
        </p:nvSpPr>
        <p:spPr>
          <a:xfrm>
            <a:off x="457200" y="3438144"/>
            <a:ext cx="4023360" cy="960120"/>
          </a:xfrm>
          <a:prstGeom prst="roundRect">
            <a:avLst>
              <a:gd name="adj" fmla="val 7619"/>
            </a:avLst>
          </a:prstGeom>
          <a:solidFill>
            <a:srgbClr val="FFFFFF"/>
          </a:solidFill>
          <a:ln w="9525">
            <a:solidFill>
              <a:srgbClr val="D7E0E8"/>
            </a:solidFill>
            <a:prstDash val="solid"/>
          </a:ln>
        </p:spPr>
      </p:sp>
      <p:sp>
        <p:nvSpPr>
          <p:cNvPr id="15" name="Text 12"/>
          <p:cNvSpPr txBox="1"/>
          <p:nvPr/>
        </p:nvSpPr>
        <p:spPr>
          <a:xfrm>
            <a:off x="566928" y="3493008"/>
            <a:ext cx="3803904" cy="850392"/>
          </a:xfrm>
          <a:prstGeom prst="rect">
            <a:avLst/>
          </a:prstGeom>
          <a:noFill/>
          <a:ln/>
        </p:spPr>
        <p:txBody>
          <a:bodyPr wrap="square" lIns="0" tIns="0" rIns="0" bIns="0" rtlCol="0" anchor="t"/>
          <a:lstStyle/>
          <a:p>
            <a:pPr indent="0" marL="0">
              <a:buNone/>
            </a:pPr>
            <a:r>
              <a:rPr lang="en-US" sz="900" b="1" dirty="0">
                <a:solidFill>
                  <a:srgbClr val="2F6F9F"/>
                </a:solidFill>
                <a:latin typeface="Calibri" pitchFamily="34" charset="0"/>
                <a:ea typeface="Calibri" pitchFamily="34" charset="-122"/>
                <a:cs typeface="Calibri" pitchFamily="34" charset="-120"/>
              </a:rPr>
              <a:t>CR2-LO5</a:t>
            </a:r>
            <a:endParaRPr lang="en-US" sz="900" dirty="0"/>
          </a:p>
          <a:p>
            <a:pPr indent="0" marL="0">
              <a:buNone/>
            </a:pPr>
            <a:r>
              <a:rPr lang="en-US" sz="1050" dirty="0">
                <a:solidFill>
                  <a:srgbClr val="1B2A41"/>
                </a:solidFill>
                <a:latin typeface="Calibri" pitchFamily="34" charset="0"/>
                <a:ea typeface="Calibri" pitchFamily="34" charset="-122"/>
                <a:cs typeface="Calibri" pitchFamily="34" charset="-120"/>
              </a:rPr>
              <a:t>Describe how catalysts and enzymes speed up reactions without being used up, and relate enzymes and enzyme inhibitors to pharmacy</a:t>
            </a:r>
            <a:endParaRPr lang="en-US" sz="900" dirty="0"/>
          </a:p>
        </p:txBody>
      </p:sp>
      <p:sp>
        <p:nvSpPr>
          <p:cNvPr id="16" name="Shape 13"/>
          <p:cNvSpPr/>
          <p:nvPr/>
        </p:nvSpPr>
        <p:spPr>
          <a:xfrm>
            <a:off x="4617720" y="3438144"/>
            <a:ext cx="4023360" cy="960120"/>
          </a:xfrm>
          <a:prstGeom prst="roundRect">
            <a:avLst>
              <a:gd name="adj" fmla="val 7619"/>
            </a:avLst>
          </a:prstGeom>
          <a:solidFill>
            <a:srgbClr val="FFFFFF"/>
          </a:solidFill>
          <a:ln w="9525">
            <a:solidFill>
              <a:srgbClr val="D7E0E8"/>
            </a:solidFill>
            <a:prstDash val="solid"/>
          </a:ln>
        </p:spPr>
      </p:sp>
      <p:sp>
        <p:nvSpPr>
          <p:cNvPr id="17" name="Text 14"/>
          <p:cNvSpPr txBox="1"/>
          <p:nvPr/>
        </p:nvSpPr>
        <p:spPr>
          <a:xfrm>
            <a:off x="4727448" y="3493008"/>
            <a:ext cx="3803904" cy="850392"/>
          </a:xfrm>
          <a:prstGeom prst="rect">
            <a:avLst/>
          </a:prstGeom>
          <a:noFill/>
          <a:ln/>
        </p:spPr>
        <p:txBody>
          <a:bodyPr wrap="square" lIns="0" tIns="0" rIns="0" bIns="0" rtlCol="0" anchor="t"/>
          <a:lstStyle/>
          <a:p>
            <a:pPr indent="0" marL="0">
              <a:buNone/>
            </a:pPr>
            <a:r>
              <a:rPr lang="en-US" sz="900" b="1" dirty="0">
                <a:solidFill>
                  <a:srgbClr val="2F6F9F"/>
                </a:solidFill>
                <a:latin typeface="Calibri" pitchFamily="34" charset="0"/>
                <a:ea typeface="Calibri" pitchFamily="34" charset="-122"/>
                <a:cs typeface="Calibri" pitchFamily="34" charset="-120"/>
              </a:rPr>
              <a:t>CR2-LO6</a:t>
            </a:r>
            <a:endParaRPr lang="en-US" sz="900" dirty="0"/>
          </a:p>
          <a:p>
            <a:pPr indent="0" marL="0">
              <a:buNone/>
            </a:pPr>
            <a:r>
              <a:rPr lang="en-US" sz="1050" dirty="0">
                <a:solidFill>
                  <a:srgbClr val="1B2A41"/>
                </a:solidFill>
                <a:latin typeface="Calibri" pitchFamily="34" charset="0"/>
                <a:ea typeface="Calibri" pitchFamily="34" charset="-122"/>
                <a:cs typeface="Calibri" pitchFamily="34" charset="-120"/>
              </a:rPr>
              <a:t>Describe reversible reactions and dynamic equilibrium, and use Le Châtelier's principle to predict how an equilibrium shifts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6F9"/>
        </a:solidFill>
      </p:bgPr>
    </p:bg>
    <p:spTree>
      <p:nvGrpSpPr>
        <p:cNvPr id="1" name=""/>
        <p:cNvGrpSpPr/>
        <p:nvPr/>
      </p:nvGrpSpPr>
      <p:grpSpPr>
        <a:xfrm>
          <a:off x="0" y="0"/>
          <a:ext cx="0" cy="0"/>
          <a:chOff x="0" y="0"/>
          <a:chExt cx="0" cy="0"/>
        </a:xfrm>
      </p:grpSpPr>
      <p:sp>
        <p:nvSpPr>
          <p:cNvPr id="2" name="Text 0"/>
          <p:cNvSpPr txBox="1"/>
          <p:nvPr/>
        </p:nvSpPr>
        <p:spPr>
          <a:xfrm>
            <a:off x="457200" y="41148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Lecture map</a:t>
            </a:r>
            <a:endParaRPr lang="en-US" sz="2000" dirty="0"/>
          </a:p>
        </p:txBody>
      </p:sp>
      <p:pic>
        <p:nvPicPr>
          <p:cNvPr id="3" name="Image 0" descr="/home/claude/build/mol/h2o2.png">    </p:cNvPr>
          <p:cNvPicPr>
            <a:picLocks noChangeAspect="1"/>
          </p:cNvPicPr>
          <p:nvPr/>
        </p:nvPicPr>
        <p:blipFill>
          <a:blip r:embed="rId1"/>
          <a:stretch>
            <a:fillRect/>
          </a:stretch>
        </p:blipFill>
        <p:spPr>
          <a:xfrm>
            <a:off x="8221416" y="192024"/>
            <a:ext cx="290688" cy="384048"/>
          </a:xfrm>
          <a:prstGeom prst="rect">
            <a:avLst/>
          </a:prstGeom>
        </p:spPr>
      </p:pic>
      <p:sp>
        <p:nvSpPr>
          <p:cNvPr id="4" name="Text 1"/>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Chemical Reactions II</a:t>
            </a:r>
            <a:endParaRPr lang="en-US" sz="800" dirty="0"/>
          </a:p>
        </p:txBody>
      </p:sp>
      <p:sp>
        <p:nvSpPr>
          <p:cNvPr id="5" name="Text 2"/>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6" name="Text 3"/>
          <p:cNvSpPr txBox="1"/>
          <p:nvPr/>
        </p:nvSpPr>
        <p:spPr>
          <a:xfrm>
            <a:off x="457200" y="1280160"/>
            <a:ext cx="5486400" cy="3383280"/>
          </a:xfrm>
          <a:prstGeom prst="rect">
            <a:avLst/>
          </a:prstGeom>
          <a:noFill/>
          <a:ln/>
        </p:spPr>
        <p:txBody>
          <a:bodyPr wrap="square" lIns="0" tIns="0" rIns="0" bIns="0" rtlCol="0" anchor="t"/>
          <a:lstStyle/>
          <a:p>
            <a:pPr marL="177800" indent="-177800">
              <a:spcAft>
                <a:spcPts val="600"/>
              </a:spcAft>
              <a:buSzPct val="100000"/>
              <a:buChar char="•"/>
            </a:pPr>
            <a:r>
              <a:rPr lang="en-US" sz="1300" b="1" dirty="0">
                <a:solidFill>
                  <a:srgbClr val="1B2A41"/>
                </a:solidFill>
                <a:latin typeface="Calibri" pitchFamily="34" charset="0"/>
                <a:ea typeface="Calibri" pitchFamily="34" charset="-122"/>
                <a:cs typeface="Calibri" pitchFamily="34" charset="-120"/>
              </a:rPr>
              <a:t>Part 1 · Energy changes in reactions</a:t>
            </a:r>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 (Ball 7.4 recap, 6.S): exothermic, endothermic, thermochemical equations</a:t>
            </a:r>
            <a:endParaRPr lang="en-US" sz="1300" dirty="0"/>
          </a:p>
          <a:p>
            <a:pPr marL="177800" indent="-177800">
              <a:spcAft>
                <a:spcPts val="600"/>
              </a:spcAft>
              <a:buSzPct val="100000"/>
              <a:buChar char="•"/>
            </a:pPr>
            <a:r>
              <a:rPr lang="en-US" sz="1300" b="1" dirty="0">
                <a:solidFill>
                  <a:srgbClr val="1B2A41"/>
                </a:solidFill>
                <a:latin typeface="Calibri" pitchFamily="34" charset="0"/>
                <a:ea typeface="Calibri" pitchFamily="34" charset="-122"/>
                <a:cs typeface="Calibri" pitchFamily="34" charset="-120"/>
              </a:rPr>
              <a:t>Part 2 · Energy diagrams and activation energy</a:t>
            </a:r>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 (Ball 6.S): the energy hill every reaction must climb</a:t>
            </a:r>
            <a:endParaRPr lang="en-US" sz="1300" dirty="0"/>
          </a:p>
          <a:p>
            <a:pPr marL="177800" indent="-177800">
              <a:spcAft>
                <a:spcPts val="600"/>
              </a:spcAft>
              <a:buSzPct val="100000"/>
              <a:buChar char="•"/>
            </a:pPr>
            <a:r>
              <a:rPr lang="en-US" sz="1300" b="1" dirty="0">
                <a:solidFill>
                  <a:srgbClr val="1B2A41"/>
                </a:solidFill>
                <a:latin typeface="Calibri" pitchFamily="34" charset="0"/>
                <a:ea typeface="Calibri" pitchFamily="34" charset="-122"/>
                <a:cs typeface="Calibri" pitchFamily="34" charset="-120"/>
              </a:rPr>
              <a:t>Part 3 · Collision theory</a:t>
            </a:r>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 (Ball 6.S): collision, energy and orientation</a:t>
            </a:r>
            <a:endParaRPr lang="en-US" sz="1300" dirty="0"/>
          </a:p>
          <a:p>
            <a:pPr marL="177800" indent="-177800">
              <a:spcAft>
                <a:spcPts val="600"/>
              </a:spcAft>
              <a:buSzPct val="100000"/>
              <a:buChar char="•"/>
            </a:pPr>
            <a:r>
              <a:rPr lang="en-US" sz="1300" b="1" dirty="0">
                <a:solidFill>
                  <a:srgbClr val="1B2A41"/>
                </a:solidFill>
                <a:latin typeface="Calibri" pitchFamily="34" charset="0"/>
                <a:ea typeface="Calibri" pitchFamily="34" charset="-122"/>
                <a:cs typeface="Calibri" pitchFamily="34" charset="-120"/>
              </a:rPr>
              <a:t>Part 4 · Reaction rates</a:t>
            </a:r>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 concentration, temperature, surface area, and why medicines expire</a:t>
            </a:r>
            <a:endParaRPr lang="en-US" sz="1300" dirty="0"/>
          </a:p>
          <a:p>
            <a:pPr marL="177800" indent="-177800">
              <a:spcAft>
                <a:spcPts val="600"/>
              </a:spcAft>
              <a:buSzPct val="100000"/>
              <a:buChar char="•"/>
            </a:pPr>
            <a:r>
              <a:rPr lang="en-US" sz="1300" b="1" dirty="0">
                <a:solidFill>
                  <a:srgbClr val="1B2A41"/>
                </a:solidFill>
                <a:latin typeface="Calibri" pitchFamily="34" charset="0"/>
                <a:ea typeface="Calibri" pitchFamily="34" charset="-122"/>
                <a:cs typeface="Calibri" pitchFamily="34" charset="-120"/>
              </a:rPr>
              <a:t>Part 5 · Catalysts and enzymes</a:t>
            </a:r>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 (Ball 6.S): lowering the barrier, in the flask and in the body</a:t>
            </a:r>
            <a:endParaRPr lang="en-US" sz="1300" dirty="0"/>
          </a:p>
          <a:p>
            <a:pPr marL="177800" indent="-177800">
              <a:spcAft>
                <a:spcPts val="600"/>
              </a:spcAft>
              <a:buSzPct val="100000"/>
              <a:buChar char="•"/>
            </a:pPr>
            <a:r>
              <a:rPr lang="en-US" sz="1300" b="1" dirty="0">
                <a:solidFill>
                  <a:srgbClr val="1B2A41"/>
                </a:solidFill>
                <a:latin typeface="Calibri" pitchFamily="34" charset="0"/>
                <a:ea typeface="Calibri" pitchFamily="34" charset="-122"/>
                <a:cs typeface="Calibri" pitchFamily="34" charset="-120"/>
              </a:rPr>
              <a:t>Part 6 · Equilibrium and Le Châtelier's principle</a:t>
            </a:r>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 (Ball 6.S): reactions that go both ways</a:t>
            </a:r>
            <a:endParaRPr lang="en-US" sz="1300" dirty="0"/>
          </a:p>
        </p:txBody>
      </p:sp>
      <p:sp>
        <p:nvSpPr>
          <p:cNvPr id="7" name="Shape 4"/>
          <p:cNvSpPr/>
          <p:nvPr/>
        </p:nvSpPr>
        <p:spPr>
          <a:xfrm>
            <a:off x="6172200" y="1280160"/>
            <a:ext cx="2514600" cy="2103120"/>
          </a:xfrm>
          <a:prstGeom prst="roundRect">
            <a:avLst>
              <a:gd name="adj" fmla="val 3478"/>
            </a:avLst>
          </a:prstGeom>
          <a:solidFill>
            <a:srgbClr val="FBEFD9"/>
          </a:solidFill>
          <a:ln w="9525">
            <a:solidFill>
              <a:srgbClr val="FBEFD9"/>
            </a:solidFill>
            <a:prstDash val="solid"/>
          </a:ln>
        </p:spPr>
      </p:sp>
      <p:sp>
        <p:nvSpPr>
          <p:cNvPr id="8" name="Text 5"/>
          <p:cNvSpPr txBox="1"/>
          <p:nvPr/>
        </p:nvSpPr>
        <p:spPr>
          <a:xfrm>
            <a:off x="6309360" y="1371600"/>
            <a:ext cx="2240280" cy="1920240"/>
          </a:xfrm>
          <a:prstGeom prst="rect">
            <a:avLst/>
          </a:prstGeom>
          <a:noFill/>
          <a:ln/>
        </p:spPr>
        <p:txBody>
          <a:bodyPr wrap="square" lIns="0" tIns="0" rIns="0" bIns="0" rtlCol="0" anchor="t"/>
          <a:lstStyle/>
          <a:p>
            <a:pPr indent="0" marL="0">
              <a:buNone/>
            </a:pPr>
            <a:r>
              <a:rPr lang="en-US" sz="1100" b="1" dirty="0">
                <a:solidFill>
                  <a:srgbClr val="B86E00"/>
                </a:solidFill>
                <a:latin typeface="Calibri" pitchFamily="34" charset="0"/>
                <a:ea typeface="Calibri" pitchFamily="34" charset="-122"/>
                <a:cs typeface="Calibri" pitchFamily="34" charset="-120"/>
              </a:rPr>
              <a:t>Links</a:t>
            </a:r>
            <a:endParaRPr lang="en-US" sz="1100" dirty="0"/>
          </a:p>
          <a:p>
            <a:pPr indent="0" marL="0">
              <a:buNone/>
            </a:pPr>
            <a:r>
              <a:rPr lang="en-US" sz="1050" dirty="0">
                <a:solidFill>
                  <a:srgbClr val="1B2A41"/>
                </a:solidFill>
                <a:latin typeface="Calibri" pitchFamily="34" charset="0"/>
                <a:ea typeface="Calibri" pitchFamily="34" charset="-122"/>
                <a:cs typeface="Calibri" pitchFamily="34" charset="-120"/>
              </a:rPr>
              <a:t>Part 1 builds on bond energies (Energy &amp; Matters, Part 4). The calculations reuse moles and molar mass (Chemical Reactions I, Parts 6–7).</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2A41"/>
        </a:solidFill>
      </p:bgPr>
    </p:bg>
    <p:spTree>
      <p:nvGrpSpPr>
        <p:cNvPr id="1" name=""/>
        <p:cNvGrpSpPr/>
        <p:nvPr/>
      </p:nvGrpSpPr>
      <p:grpSpPr>
        <a:xfrm>
          <a:off x="0" y="0"/>
          <a:ext cx="0" cy="0"/>
          <a:chOff x="0" y="0"/>
          <a:chExt cx="0" cy="0"/>
        </a:xfrm>
      </p:grpSpPr>
      <p:sp>
        <p:nvSpPr>
          <p:cNvPr id="2" name="Text 0"/>
          <p:cNvSpPr txBox="1"/>
          <p:nvPr/>
        </p:nvSpPr>
        <p:spPr>
          <a:xfrm>
            <a:off x="548640" y="548640"/>
            <a:ext cx="5486400" cy="274320"/>
          </a:xfrm>
          <a:prstGeom prst="rect">
            <a:avLst/>
          </a:prstGeom>
          <a:noFill/>
          <a:ln/>
        </p:spPr>
        <p:txBody>
          <a:bodyPr wrap="square" lIns="0" tIns="0" rIns="0" bIns="0" rtlCol="0" anchor="ctr"/>
          <a:lstStyle/>
          <a:p>
            <a:pPr indent="0" marL="0">
              <a:buNone/>
            </a:pPr>
            <a:r>
              <a:rPr lang="en-US" sz="1000" b="1" spc="200" kern="0" dirty="0">
                <a:solidFill>
                  <a:srgbClr val="F0B24A"/>
                </a:solidFill>
                <a:latin typeface="Calibri" pitchFamily="34" charset="0"/>
                <a:ea typeface="Calibri" pitchFamily="34" charset="-122"/>
                <a:cs typeface="Calibri" pitchFamily="34" charset="-120"/>
              </a:rPr>
              <a:t>THINK FIRST</a:t>
            </a:r>
            <a:endParaRPr lang="en-US" sz="1000" dirty="0"/>
          </a:p>
        </p:txBody>
      </p:sp>
      <p:sp>
        <p:nvSpPr>
          <p:cNvPr id="3" name="Text 1"/>
          <p:cNvSpPr txBox="1"/>
          <p:nvPr/>
        </p:nvSpPr>
        <p:spPr>
          <a:xfrm>
            <a:off x="548640" y="914400"/>
            <a:ext cx="6949440" cy="137160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Insulin is kept in the fridge, yet a box of matches can sit in a drawer for years without catching fire. What does this tell us about chemical reactions?</a:t>
            </a:r>
            <a:endParaRPr lang="en-US" sz="2000" dirty="0"/>
          </a:p>
        </p:txBody>
      </p:sp>
      <p:pic>
        <p:nvPicPr>
          <p:cNvPr id="4" name="Image 0" descr="/home/claude/build/mol/h2o2.png">    </p:cNvPr>
          <p:cNvPicPr>
            <a:picLocks noChangeAspect="1"/>
          </p:cNvPicPr>
          <p:nvPr/>
        </p:nvPicPr>
        <p:blipFill>
          <a:blip r:embed="rId1"/>
          <a:stretch>
            <a:fillRect/>
          </a:stretch>
        </p:blipFill>
        <p:spPr>
          <a:xfrm>
            <a:off x="7861314" y="365760"/>
            <a:ext cx="553692" cy="731520"/>
          </a:xfrm>
          <a:prstGeom prst="rect">
            <a:avLst/>
          </a:prstGeom>
        </p:spPr>
      </p:pic>
      <p:sp>
        <p:nvSpPr>
          <p:cNvPr id="5" name="Text 2"/>
          <p:cNvSpPr txBox="1"/>
          <p:nvPr/>
        </p:nvSpPr>
        <p:spPr>
          <a:xfrm>
            <a:off x="548640" y="3291840"/>
            <a:ext cx="5486400" cy="274320"/>
          </a:xfrm>
          <a:prstGeom prst="rect">
            <a:avLst/>
          </a:prstGeom>
          <a:noFill/>
          <a:ln/>
        </p:spPr>
        <p:txBody>
          <a:bodyPr wrap="square" lIns="0" tIns="0" rIns="0" bIns="0" rtlCol="0" anchor="ctr"/>
          <a:lstStyle/>
          <a:p>
            <a:pPr indent="0" marL="0">
              <a:buNone/>
            </a:pPr>
            <a:r>
              <a:rPr lang="en-US" sz="1100" dirty="0">
                <a:solidFill>
                  <a:srgbClr val="A3B1C2"/>
                </a:solidFill>
                <a:latin typeface="Calibri" pitchFamily="34" charset="0"/>
                <a:ea typeface="Calibri" pitchFamily="34" charset="-122"/>
                <a:cs typeface="Calibri" pitchFamily="34" charset="-120"/>
              </a:rPr>
              <a:t>Discuss with a partner for one minute.</a:t>
            </a:r>
            <a:endParaRPr lang="en-US" sz="1100" dirty="0"/>
          </a:p>
        </p:txBody>
      </p:sp>
      <p:sp>
        <p:nvSpPr>
          <p:cNvPr id="6" name="Text 3"/>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A3B1C2"/>
                </a:solidFill>
                <a:latin typeface="Calibri" pitchFamily="34" charset="0"/>
                <a:ea typeface="Calibri" pitchFamily="34" charset="-122"/>
                <a:cs typeface="Calibri" pitchFamily="34" charset="-120"/>
              </a:rPr>
              <a:t>PHD115 · Chemical Reactions II</a:t>
            </a:r>
            <a:endParaRPr lang="en-US" sz="800" dirty="0"/>
          </a:p>
        </p:txBody>
      </p:sp>
      <p:sp>
        <p:nvSpPr>
          <p:cNvPr id="7" name="Text 4"/>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F0B24A"/>
                </a:solidFill>
                <a:latin typeface="Calibri" pitchFamily="34" charset="0"/>
                <a:ea typeface="Calibri" pitchFamily="34" charset="-122"/>
                <a:cs typeface="Calibri" pitchFamily="34" charset="-120"/>
              </a:rPr>
              <a:t>Dr. NAM · Faculty of Pharmacy, UiTM Bertam, Penang</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2A41"/>
        </a:solidFill>
      </p:bgPr>
    </p:bg>
    <p:spTree>
      <p:nvGrpSpPr>
        <p:cNvPr id="1" name=""/>
        <p:cNvGrpSpPr/>
        <p:nvPr/>
      </p:nvGrpSpPr>
      <p:grpSpPr>
        <a:xfrm>
          <a:off x="0" y="0"/>
          <a:ext cx="0" cy="0"/>
          <a:chOff x="0" y="0"/>
          <a:chExt cx="0" cy="0"/>
        </a:xfrm>
      </p:grpSpPr>
      <p:sp>
        <p:nvSpPr>
          <p:cNvPr id="2" name="Text 0"/>
          <p:cNvSpPr txBox="1"/>
          <p:nvPr/>
        </p:nvSpPr>
        <p:spPr>
          <a:xfrm>
            <a:off x="548640" y="548640"/>
            <a:ext cx="5486400" cy="274320"/>
          </a:xfrm>
          <a:prstGeom prst="rect">
            <a:avLst/>
          </a:prstGeom>
          <a:noFill/>
          <a:ln/>
        </p:spPr>
        <p:txBody>
          <a:bodyPr wrap="square" lIns="0" tIns="0" rIns="0" bIns="0" rtlCol="0" anchor="ctr"/>
          <a:lstStyle/>
          <a:p>
            <a:pPr indent="0" marL="0">
              <a:buNone/>
            </a:pPr>
            <a:r>
              <a:rPr lang="en-US" sz="1000" b="1" spc="200" kern="0" dirty="0">
                <a:solidFill>
                  <a:srgbClr val="F0B24A"/>
                </a:solidFill>
                <a:latin typeface="Calibri" pitchFamily="34" charset="0"/>
                <a:ea typeface="Calibri" pitchFamily="34" charset="-122"/>
                <a:cs typeface="Calibri" pitchFamily="34" charset="-120"/>
              </a:rPr>
              <a:t>THINK FIRST · ANSWER</a:t>
            </a:r>
            <a:endParaRPr lang="en-US" sz="1000" dirty="0"/>
          </a:p>
        </p:txBody>
      </p:sp>
      <p:sp>
        <p:nvSpPr>
          <p:cNvPr id="3" name="Text 1"/>
          <p:cNvSpPr txBox="1"/>
          <p:nvPr/>
        </p:nvSpPr>
        <p:spPr>
          <a:xfrm>
            <a:off x="548640" y="914400"/>
            <a:ext cx="6949440" cy="137160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Insulin is kept in the fridge, yet a box of matches can sit in a drawer for years without catching fire. What does this tell us about chemical reactions?</a:t>
            </a:r>
            <a:endParaRPr lang="en-US" sz="2000" dirty="0"/>
          </a:p>
        </p:txBody>
      </p:sp>
      <p:pic>
        <p:nvPicPr>
          <p:cNvPr id="4" name="Image 0" descr="/home/claude/build/mol/h2o2.png">    </p:cNvPr>
          <p:cNvPicPr>
            <a:picLocks noChangeAspect="1"/>
          </p:cNvPicPr>
          <p:nvPr/>
        </p:nvPicPr>
        <p:blipFill>
          <a:blip r:embed="rId1"/>
          <a:stretch>
            <a:fillRect/>
          </a:stretch>
        </p:blipFill>
        <p:spPr>
          <a:xfrm>
            <a:off x="7861314" y="365760"/>
            <a:ext cx="553692" cy="731520"/>
          </a:xfrm>
          <a:prstGeom prst="rect">
            <a:avLst/>
          </a:prstGeom>
        </p:spPr>
      </p:pic>
      <p:sp>
        <p:nvSpPr>
          <p:cNvPr id="5" name="Shape 2"/>
          <p:cNvSpPr/>
          <p:nvPr/>
        </p:nvSpPr>
        <p:spPr>
          <a:xfrm>
            <a:off x="548640" y="2514600"/>
            <a:ext cx="7680960" cy="1463040"/>
          </a:xfrm>
          <a:prstGeom prst="roundRect">
            <a:avLst>
              <a:gd name="adj" fmla="val 5000"/>
            </a:avLst>
          </a:prstGeom>
          <a:solidFill>
            <a:srgbClr val="2B3A52"/>
          </a:solidFill>
          <a:ln w="9525">
            <a:solidFill>
              <a:srgbClr val="2B3A52"/>
            </a:solidFill>
            <a:prstDash val="solid"/>
          </a:ln>
        </p:spPr>
      </p:sp>
      <p:sp>
        <p:nvSpPr>
          <p:cNvPr id="6" name="Text 3"/>
          <p:cNvSpPr txBox="1"/>
          <p:nvPr/>
        </p:nvSpPr>
        <p:spPr>
          <a:xfrm>
            <a:off x="731520" y="2606040"/>
            <a:ext cx="7315200" cy="12801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Whether a reaction </a:t>
            </a:r>
            <a:pPr indent="0" marL="0">
              <a:buNone/>
            </a:pPr>
            <a:r>
              <a:rPr lang="en-US" sz="1300" b="1" dirty="0">
                <a:solidFill>
                  <a:srgbClr val="FFFFFF"/>
                </a:solidFill>
                <a:latin typeface="Calibri" pitchFamily="34" charset="0"/>
                <a:ea typeface="Calibri" pitchFamily="34" charset="-122"/>
                <a:cs typeface="Calibri" pitchFamily="34" charset="-120"/>
              </a:rPr>
              <a:t>can</a:t>
            </a:r>
            <a:pPr indent="0" marL="0">
              <a:buNone/>
            </a:pPr>
            <a:r>
              <a:rPr lang="en-US" sz="1300" dirty="0">
                <a:solidFill>
                  <a:srgbClr val="FFFFFF"/>
                </a:solidFill>
                <a:latin typeface="Calibri" pitchFamily="34" charset="0"/>
                <a:ea typeface="Calibri" pitchFamily="34" charset="-122"/>
                <a:cs typeface="Calibri" pitchFamily="34" charset="-120"/>
              </a:rPr>
              <a:t> happen (energy) is a different question from how </a:t>
            </a:r>
            <a:pPr indent="0" marL="0">
              <a:buNone/>
            </a:pPr>
            <a:r>
              <a:rPr lang="en-US" sz="1300" b="1" dirty="0">
                <a:solidFill>
                  <a:srgbClr val="FFFFFF"/>
                </a:solidFill>
                <a:latin typeface="Calibri" pitchFamily="34" charset="0"/>
                <a:ea typeface="Calibri" pitchFamily="34" charset="-122"/>
                <a:cs typeface="Calibri" pitchFamily="34" charset="-120"/>
              </a:rPr>
              <a:t>fast</a:t>
            </a:r>
            <a:pPr indent="0" marL="0">
              <a:buNone/>
            </a:pPr>
            <a:r>
              <a:rPr lang="en-US" sz="1300" dirty="0">
                <a:solidFill>
                  <a:srgbClr val="FFFFFF"/>
                </a:solidFill>
                <a:latin typeface="Calibri" pitchFamily="34" charset="0"/>
                <a:ea typeface="Calibri" pitchFamily="34" charset="-122"/>
                <a:cs typeface="Calibri" pitchFamily="34" charset="-120"/>
              </a:rPr>
              <a:t> it happens (rate). A match needs a strike to get over an energy barrier; cold slows the breakdown of medicines. This lecture explains both.</a:t>
            </a:r>
            <a:endParaRPr lang="en-US" sz="1300" dirty="0"/>
          </a:p>
        </p:txBody>
      </p:sp>
      <p:sp>
        <p:nvSpPr>
          <p:cNvPr id="7" name="Text 4"/>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A3B1C2"/>
                </a:solidFill>
                <a:latin typeface="Calibri" pitchFamily="34" charset="0"/>
                <a:ea typeface="Calibri" pitchFamily="34" charset="-122"/>
                <a:cs typeface="Calibri" pitchFamily="34" charset="-120"/>
              </a:rPr>
              <a:t>PHD115 · Chemical Reactions II</a:t>
            </a:r>
            <a:endParaRPr lang="en-US" sz="800" dirty="0"/>
          </a:p>
        </p:txBody>
      </p:sp>
      <p:sp>
        <p:nvSpPr>
          <p:cNvPr id="8" name="Text 5"/>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F0B24A"/>
                </a:solidFill>
                <a:latin typeface="Calibri" pitchFamily="34" charset="0"/>
                <a:ea typeface="Calibri" pitchFamily="34" charset="-122"/>
                <a:cs typeface="Calibri" pitchFamily="34" charset="-120"/>
              </a:rPr>
              <a:t>Dr. NAM · Faculty of Pharmacy, UiTM Bertam, Penang</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2A41"/>
        </a:solidFill>
      </p:bgPr>
    </p:bg>
    <p:spTree>
      <p:nvGrpSpPr>
        <p:cNvPr id="1" name=""/>
        <p:cNvGrpSpPr/>
        <p:nvPr/>
      </p:nvGrpSpPr>
      <p:grpSpPr>
        <a:xfrm>
          <a:off x="0" y="0"/>
          <a:ext cx="0" cy="0"/>
          <a:chOff x="0" y="0"/>
          <a:chExt cx="0" cy="0"/>
        </a:xfrm>
      </p:grpSpPr>
      <p:sp>
        <p:nvSpPr>
          <p:cNvPr id="2" name="Text 0"/>
          <p:cNvSpPr txBox="1"/>
          <p:nvPr/>
        </p:nvSpPr>
        <p:spPr>
          <a:xfrm>
            <a:off x="548640" y="640080"/>
            <a:ext cx="1371600" cy="1005840"/>
          </a:xfrm>
          <a:prstGeom prst="rect">
            <a:avLst/>
          </a:prstGeom>
          <a:noFill/>
          <a:ln/>
        </p:spPr>
        <p:txBody>
          <a:bodyPr wrap="square" lIns="0" tIns="0" rIns="0" bIns="0" rtlCol="0" anchor="ctr"/>
          <a:lstStyle/>
          <a:p>
            <a:pPr indent="0" marL="0">
              <a:buNone/>
            </a:pPr>
            <a:r>
              <a:rPr lang="en-US" sz="6600" b="1" dirty="0">
                <a:solidFill>
                  <a:srgbClr val="F0B24A"/>
                </a:solidFill>
                <a:latin typeface="Calibri" pitchFamily="34" charset="0"/>
                <a:ea typeface="Calibri" pitchFamily="34" charset="-122"/>
                <a:cs typeface="Calibri" pitchFamily="34" charset="-120"/>
              </a:rPr>
              <a:t>1</a:t>
            </a:r>
            <a:endParaRPr lang="en-US" sz="6600" dirty="0"/>
          </a:p>
        </p:txBody>
      </p:sp>
      <p:sp>
        <p:nvSpPr>
          <p:cNvPr id="3" name="Text 1"/>
          <p:cNvSpPr txBox="1"/>
          <p:nvPr/>
        </p:nvSpPr>
        <p:spPr>
          <a:xfrm>
            <a:off x="548640" y="1691640"/>
            <a:ext cx="2743200" cy="228600"/>
          </a:xfrm>
          <a:prstGeom prst="rect">
            <a:avLst/>
          </a:prstGeom>
          <a:noFill/>
          <a:ln/>
        </p:spPr>
        <p:txBody>
          <a:bodyPr wrap="square" lIns="0" tIns="0" rIns="0" bIns="0" rtlCol="0" anchor="ctr"/>
          <a:lstStyle/>
          <a:p>
            <a:pPr indent="0" marL="0">
              <a:buNone/>
            </a:pPr>
            <a:r>
              <a:rPr lang="en-US" sz="900" b="1" spc="200" kern="0" dirty="0">
                <a:solidFill>
                  <a:srgbClr val="A3B1C2"/>
                </a:solidFill>
                <a:latin typeface="Calibri" pitchFamily="34" charset="0"/>
                <a:ea typeface="Calibri" pitchFamily="34" charset="-122"/>
                <a:cs typeface="Calibri" pitchFamily="34" charset="-120"/>
              </a:rPr>
              <a:t>PART 1</a:t>
            </a:r>
            <a:endParaRPr lang="en-US" sz="900" dirty="0"/>
          </a:p>
        </p:txBody>
      </p:sp>
      <p:sp>
        <p:nvSpPr>
          <p:cNvPr id="4" name="Text 2"/>
          <p:cNvSpPr txBox="1"/>
          <p:nvPr/>
        </p:nvSpPr>
        <p:spPr>
          <a:xfrm>
            <a:off x="548640" y="1920240"/>
            <a:ext cx="6400800" cy="822960"/>
          </a:xfrm>
          <a:prstGeom prst="rect">
            <a:avLst/>
          </a:prstGeom>
          <a:noFill/>
          <a:ln/>
        </p:spPr>
        <p:txBody>
          <a:bodyPr wrap="square" lIns="0" tIns="0" rIns="0" bIns="0" rtlCol="0" anchor="t"/>
          <a:lstStyle/>
          <a:p>
            <a:pPr indent="0" marL="0">
              <a:buNone/>
            </a:pPr>
            <a:r>
              <a:rPr lang="en-US" sz="2600" b="1" dirty="0">
                <a:solidFill>
                  <a:srgbClr val="FFFFFF"/>
                </a:solidFill>
                <a:latin typeface="Calibri" pitchFamily="34" charset="0"/>
                <a:ea typeface="Calibri" pitchFamily="34" charset="-122"/>
                <a:cs typeface="Calibri" pitchFamily="34" charset="-120"/>
              </a:rPr>
              <a:t>Energy changes in reactions</a:t>
            </a:r>
            <a:endParaRPr lang="en-US" sz="2600" dirty="0"/>
          </a:p>
        </p:txBody>
      </p:sp>
      <p:sp>
        <p:nvSpPr>
          <p:cNvPr id="5" name="Text 3"/>
          <p:cNvSpPr txBox="1"/>
          <p:nvPr/>
        </p:nvSpPr>
        <p:spPr>
          <a:xfrm>
            <a:off x="548640" y="2788920"/>
            <a:ext cx="6400800" cy="548640"/>
          </a:xfrm>
          <a:prstGeom prst="rect">
            <a:avLst/>
          </a:prstGeom>
          <a:noFill/>
          <a:ln/>
        </p:spPr>
        <p:txBody>
          <a:bodyPr wrap="square" lIns="0" tIns="0" rIns="0" bIns="0" rtlCol="0" anchor="t"/>
          <a:lstStyle/>
          <a:p>
            <a:pPr indent="0" marL="0">
              <a:buNone/>
            </a:pPr>
            <a:r>
              <a:rPr lang="en-US" sz="1200" dirty="0">
                <a:solidFill>
                  <a:srgbClr val="A3B1C2"/>
                </a:solidFill>
                <a:latin typeface="Calibri" pitchFamily="34" charset="0"/>
                <a:ea typeface="Calibri" pitchFamily="34" charset="-122"/>
                <a:cs typeface="Calibri" pitchFamily="34" charset="-120"/>
              </a:rPr>
              <a:t>Every reaction breaks bonds and makes new ones, so every reaction either releases or absorbs energy.</a:t>
            </a:r>
            <a:endParaRPr lang="en-US" sz="1200" dirty="0"/>
          </a:p>
        </p:txBody>
      </p:sp>
      <p:sp>
        <p:nvSpPr>
          <p:cNvPr id="6" name="Text 4"/>
          <p:cNvSpPr txBox="1"/>
          <p:nvPr/>
        </p:nvSpPr>
        <p:spPr>
          <a:xfrm>
            <a:off x="548640" y="3520440"/>
            <a:ext cx="5486400" cy="274320"/>
          </a:xfrm>
          <a:prstGeom prst="rect">
            <a:avLst/>
          </a:prstGeom>
          <a:noFill/>
          <a:ln/>
        </p:spPr>
        <p:txBody>
          <a:bodyPr wrap="square" lIns="0" tIns="0" rIns="0" bIns="0" rtlCol="0" anchor="ctr"/>
          <a:lstStyle/>
          <a:p>
            <a:pPr indent="0" marL="0">
              <a:buNone/>
            </a:pPr>
            <a:r>
              <a:rPr lang="en-US" sz="900" b="1" dirty="0">
                <a:solidFill>
                  <a:srgbClr val="7DB6E3"/>
                </a:solidFill>
                <a:latin typeface="Calibri" pitchFamily="34" charset="0"/>
                <a:ea typeface="Calibri" pitchFamily="34" charset="-122"/>
                <a:cs typeface="Calibri" pitchFamily="34" charset="-120"/>
              </a:rPr>
              <a:t>CR2-LO1 · Ball 7.4 (recap) · 6.S</a:t>
            </a:r>
            <a:endParaRPr lang="en-US" sz="900" dirty="0"/>
          </a:p>
        </p:txBody>
      </p:sp>
      <p:pic>
        <p:nvPicPr>
          <p:cNvPr id="7" name="Image 0" descr="/home/claude/build/mol/methane.png">    </p:cNvPr>
          <p:cNvPicPr>
            <a:picLocks noChangeAspect="1"/>
          </p:cNvPicPr>
          <p:nvPr/>
        </p:nvPicPr>
        <p:blipFill>
          <a:blip r:embed="rId1"/>
          <a:stretch>
            <a:fillRect/>
          </a:stretch>
        </p:blipFill>
        <p:spPr>
          <a:xfrm>
            <a:off x="6740132" y="640080"/>
            <a:ext cx="967255" cy="914400"/>
          </a:xfrm>
          <a:prstGeom prst="rect">
            <a:avLst/>
          </a:prstGeom>
        </p:spPr>
      </p:pic>
      <p:pic>
        <p:nvPicPr>
          <p:cNvPr id="8" name="Image 1" descr="/home/claude/build/mol/o2.png">    </p:cNvPr>
          <p:cNvPicPr>
            <a:picLocks noChangeAspect="1"/>
          </p:cNvPicPr>
          <p:nvPr/>
        </p:nvPicPr>
        <p:blipFill>
          <a:blip r:embed="rId2"/>
          <a:stretch>
            <a:fillRect/>
          </a:stretch>
        </p:blipFill>
        <p:spPr>
          <a:xfrm>
            <a:off x="7276514" y="2834640"/>
            <a:ext cx="1174652" cy="548640"/>
          </a:xfrm>
          <a:prstGeom prst="rect">
            <a:avLst/>
          </a:prstGeom>
        </p:spPr>
      </p:pic>
      <p:pic>
        <p:nvPicPr>
          <p:cNvPr id="9" name="Image 2" descr="/home/claude/build/mol/co2.png">    </p:cNvPr>
          <p:cNvPicPr>
            <a:picLocks noChangeAspect="1"/>
          </p:cNvPicPr>
          <p:nvPr/>
        </p:nvPicPr>
        <p:blipFill>
          <a:blip r:embed="rId3"/>
          <a:stretch>
            <a:fillRect/>
          </a:stretch>
        </p:blipFill>
        <p:spPr>
          <a:xfrm>
            <a:off x="5345553" y="3794760"/>
            <a:ext cx="1378974" cy="457200"/>
          </a:xfrm>
          <a:prstGeom prst="rect">
            <a:avLst/>
          </a:prstGeom>
        </p:spPr>
      </p:pic>
      <p:sp>
        <p:nvSpPr>
          <p:cNvPr id="10"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A3B1C2"/>
                </a:solidFill>
                <a:latin typeface="Calibri" pitchFamily="34" charset="0"/>
                <a:ea typeface="Calibri" pitchFamily="34" charset="-122"/>
                <a:cs typeface="Calibri" pitchFamily="34" charset="-120"/>
              </a:rPr>
              <a:t>PHD115 · Chemical Reactions II</a:t>
            </a:r>
            <a:endParaRPr lang="en-US" sz="800" dirty="0"/>
          </a:p>
        </p:txBody>
      </p:sp>
      <p:sp>
        <p:nvSpPr>
          <p:cNvPr id="11"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F0B24A"/>
                </a:solidFill>
                <a:latin typeface="Calibri" pitchFamily="34" charset="0"/>
                <a:ea typeface="Calibri" pitchFamily="34" charset="-122"/>
                <a:cs typeface="Calibri" pitchFamily="34" charset="-120"/>
              </a:rPr>
              <a:t>Dr. NAM · Faculty of Pharmacy, UiTM Bertam, Penang</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CR2-LO1</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Recap: where the energy comes from</a:t>
            </a:r>
            <a:endParaRPr lang="en-US" sz="2000" dirty="0"/>
          </a:p>
        </p:txBody>
      </p:sp>
      <p:pic>
        <p:nvPicPr>
          <p:cNvPr id="7" name="Image 0" descr="/home/claude/build/mol/methane.png">    </p:cNvPr>
          <p:cNvPicPr>
            <a:picLocks noChangeAspect="1"/>
          </p:cNvPicPr>
          <p:nvPr/>
        </p:nvPicPr>
        <p:blipFill>
          <a:blip r:embed="rId1"/>
          <a:stretch>
            <a:fillRect/>
          </a:stretch>
        </p:blipFill>
        <p:spPr>
          <a:xfrm>
            <a:off x="8163636" y="192024"/>
            <a:ext cx="406247"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Chemical Reactions II</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Text 7"/>
          <p:cNvSpPr txBox="1"/>
          <p:nvPr/>
        </p:nvSpPr>
        <p:spPr>
          <a:xfrm>
            <a:off x="457200" y="1280160"/>
            <a:ext cx="5486400" cy="33832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Breaking a bond </a:t>
            </a:r>
            <a:pPr marL="177800" indent="-177800">
              <a:spcAft>
                <a:spcPts val="600"/>
              </a:spcAft>
              <a:buSzPct val="100000"/>
              <a:buChar char="•"/>
            </a:pPr>
            <a:r>
              <a:rPr lang="en-US" sz="1300" b="1" dirty="0">
                <a:solidFill>
                  <a:srgbClr val="1B2A41"/>
                </a:solidFill>
                <a:latin typeface="Calibri" pitchFamily="34" charset="0"/>
                <a:ea typeface="Calibri" pitchFamily="34" charset="-122"/>
                <a:cs typeface="Calibri" pitchFamily="34" charset="-120"/>
              </a:rPr>
              <a:t>absorbs</a:t>
            </a:r>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 energy. Forming a bond </a:t>
            </a:r>
            <a:pPr marL="177800" indent="-177800">
              <a:spcAft>
                <a:spcPts val="600"/>
              </a:spcAft>
              <a:buSzPct val="100000"/>
              <a:buChar char="•"/>
            </a:pPr>
            <a:r>
              <a:rPr lang="en-US" sz="1300" b="1" dirty="0">
                <a:solidFill>
                  <a:srgbClr val="1B2A41"/>
                </a:solidFill>
                <a:latin typeface="Calibri" pitchFamily="34" charset="0"/>
                <a:ea typeface="Calibri" pitchFamily="34" charset="-122"/>
                <a:cs typeface="Calibri" pitchFamily="34" charset="-120"/>
              </a:rPr>
              <a:t>releases</a:t>
            </a:r>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 energy.</a:t>
            </a:r>
            <a:endParaRPr lang="en-US" sz="1300" dirty="0"/>
          </a:p>
          <a:p>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Energy is neither created nor destroyed (</a:t>
            </a:r>
            <a:pPr marL="177800" indent="-177800">
              <a:spcAft>
                <a:spcPts val="600"/>
              </a:spcAft>
              <a:buSzPct val="100000"/>
              <a:buChar char="•"/>
            </a:pPr>
            <a:r>
              <a:rPr lang="en-US" sz="1300" b="1" dirty="0">
                <a:solidFill>
                  <a:srgbClr val="1B2A41"/>
                </a:solidFill>
                <a:latin typeface="Calibri" pitchFamily="34" charset="0"/>
                <a:ea typeface="Calibri" pitchFamily="34" charset="-122"/>
                <a:cs typeface="Calibri" pitchFamily="34" charset="-120"/>
              </a:rPr>
              <a:t>law of conservation of energy</a:t>
            </a:r>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 it moves between the reaction (the </a:t>
            </a:r>
            <a:pPr marL="177800" indent="-177800">
              <a:spcAft>
                <a:spcPts val="600"/>
              </a:spcAft>
              <a:buSzPct val="100000"/>
              <a:buChar char="•"/>
            </a:pPr>
            <a:r>
              <a:rPr lang="en-US" sz="1300" b="1" dirty="0">
                <a:solidFill>
                  <a:srgbClr val="1B2A41"/>
                </a:solidFill>
                <a:latin typeface="Calibri" pitchFamily="34" charset="0"/>
                <a:ea typeface="Calibri" pitchFamily="34" charset="-122"/>
                <a:cs typeface="Calibri" pitchFamily="34" charset="-120"/>
              </a:rPr>
              <a:t>system</a:t>
            </a:r>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 and its </a:t>
            </a:r>
            <a:pPr marL="177800" indent="-177800">
              <a:spcAft>
                <a:spcPts val="600"/>
              </a:spcAft>
              <a:buSzPct val="100000"/>
              <a:buChar char="•"/>
            </a:pPr>
            <a:r>
              <a:rPr lang="en-US" sz="1300" b="1" dirty="0">
                <a:solidFill>
                  <a:srgbClr val="1B2A41"/>
                </a:solidFill>
                <a:latin typeface="Calibri" pitchFamily="34" charset="0"/>
                <a:ea typeface="Calibri" pitchFamily="34" charset="-122"/>
                <a:cs typeface="Calibri" pitchFamily="34" charset="-120"/>
              </a:rPr>
              <a:t>surroundings</a:t>
            </a:r>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a:t>
            </a:r>
            <a:endParaRPr lang="en-US" sz="1300" dirty="0"/>
          </a:p>
          <a:p>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The energy difference between products and reactants is the </a:t>
            </a:r>
            <a:pPr marL="177800" indent="-177800">
              <a:spcAft>
                <a:spcPts val="600"/>
              </a:spcAft>
              <a:buSzPct val="100000"/>
              <a:buChar char="•"/>
            </a:pPr>
            <a:r>
              <a:rPr lang="en-US" sz="1300" b="1" dirty="0">
                <a:solidFill>
                  <a:srgbClr val="1B2A41"/>
                </a:solidFill>
                <a:latin typeface="Calibri" pitchFamily="34" charset="0"/>
                <a:ea typeface="Calibri" pitchFamily="34" charset="-122"/>
                <a:cs typeface="Calibri" pitchFamily="34" charset="-120"/>
              </a:rPr>
              <a:t>enthalpy change</a:t>
            </a:r>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 ΔH: ΔH ≈ Σ(bonds broken) − Σ(bonds formed).</a:t>
            </a:r>
            <a:endParaRPr lang="en-US" sz="1300" dirty="0"/>
          </a:p>
          <a:p>
            <a:pPr marL="177800" indent="-177800">
              <a:spcAft>
                <a:spcPts val="600"/>
              </a:spcAft>
              <a:buSzPct val="100000"/>
              <a:buChar char="•"/>
            </a:pPr>
            <a:r>
              <a:rPr lang="en-US" sz="1300" b="1" dirty="0">
                <a:solidFill>
                  <a:srgbClr val="1B2A41"/>
                </a:solidFill>
                <a:latin typeface="Calibri" pitchFamily="34" charset="0"/>
                <a:ea typeface="Calibri" pitchFamily="34" charset="-122"/>
                <a:cs typeface="Calibri" pitchFamily="34" charset="-120"/>
              </a:rPr>
              <a:t>Exothermic</a:t>
            </a:r>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 heat is released, ΔH is negative. </a:t>
            </a:r>
            <a:pPr marL="177800" indent="-177800">
              <a:spcAft>
                <a:spcPts val="600"/>
              </a:spcAft>
              <a:buSzPct val="100000"/>
              <a:buChar char="•"/>
            </a:pPr>
            <a:r>
              <a:rPr lang="en-US" sz="1300" b="1" dirty="0">
                <a:solidFill>
                  <a:srgbClr val="1B2A41"/>
                </a:solidFill>
                <a:latin typeface="Calibri" pitchFamily="34" charset="0"/>
                <a:ea typeface="Calibri" pitchFamily="34" charset="-122"/>
                <a:cs typeface="Calibri" pitchFamily="34" charset="-120"/>
              </a:rPr>
              <a:t>Endothermic</a:t>
            </a:r>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 heat is absorbed, ΔH is positive.</a:t>
            </a:r>
            <a:endParaRPr lang="en-US" sz="1300" dirty="0"/>
          </a:p>
        </p:txBody>
      </p:sp>
      <p:sp>
        <p:nvSpPr>
          <p:cNvPr id="11" name="Shape 8"/>
          <p:cNvSpPr/>
          <p:nvPr/>
        </p:nvSpPr>
        <p:spPr>
          <a:xfrm>
            <a:off x="6172200" y="1280160"/>
            <a:ext cx="2514600" cy="2103120"/>
          </a:xfrm>
          <a:prstGeom prst="roundRect">
            <a:avLst>
              <a:gd name="adj" fmla="val 3478"/>
            </a:avLst>
          </a:prstGeom>
          <a:solidFill>
            <a:srgbClr val="FBEFD9"/>
          </a:solidFill>
          <a:ln w="9525">
            <a:solidFill>
              <a:srgbClr val="FBEFD9"/>
            </a:solidFill>
            <a:prstDash val="solid"/>
          </a:ln>
        </p:spPr>
      </p:sp>
      <p:sp>
        <p:nvSpPr>
          <p:cNvPr id="12" name="Text 9"/>
          <p:cNvSpPr txBox="1"/>
          <p:nvPr/>
        </p:nvSpPr>
        <p:spPr>
          <a:xfrm>
            <a:off x="6309360" y="1371600"/>
            <a:ext cx="2240280" cy="1920240"/>
          </a:xfrm>
          <a:prstGeom prst="rect">
            <a:avLst/>
          </a:prstGeom>
          <a:noFill/>
          <a:ln/>
        </p:spPr>
        <p:txBody>
          <a:bodyPr wrap="square" lIns="0" tIns="0" rIns="0" bIns="0" rtlCol="0" anchor="t"/>
          <a:lstStyle/>
          <a:p>
            <a:pPr indent="0" marL="0">
              <a:buNone/>
            </a:pPr>
            <a:r>
              <a:rPr lang="en-US" sz="1100" b="1" dirty="0">
                <a:solidFill>
                  <a:srgbClr val="B86E00"/>
                </a:solidFill>
                <a:latin typeface="Calibri" pitchFamily="34" charset="0"/>
                <a:ea typeface="Calibri" pitchFamily="34" charset="-122"/>
                <a:cs typeface="Calibri" pitchFamily="34" charset="-120"/>
              </a:rPr>
              <a:t>From Energy &amp; Matters</a:t>
            </a:r>
            <a:endParaRPr lang="en-US" sz="1100" dirty="0"/>
          </a:p>
          <a:p>
            <a:pPr indent="0" marL="0">
              <a:buNone/>
            </a:pPr>
            <a:r>
              <a:rPr lang="en-US" sz="1050" dirty="0">
                <a:solidFill>
                  <a:srgbClr val="1B2A41"/>
                </a:solidFill>
                <a:latin typeface="Calibri" pitchFamily="34" charset="0"/>
                <a:ea typeface="Calibri" pitchFamily="34" charset="-122"/>
                <a:cs typeface="Calibri" pitchFamily="34" charset="-120"/>
              </a:rPr>
              <a:t>H</a:t>
            </a:r>
            <a:pPr indent="0" marL="0">
              <a:buNone/>
            </a:pPr>
            <a:r>
              <a:rPr lang="en-US" sz="1050" baseline="-40000" dirty="0">
                <a:solidFill>
                  <a:srgbClr val="1B2A41"/>
                </a:solidFill>
                <a:latin typeface="Calibri" pitchFamily="34" charset="0"/>
                <a:ea typeface="Calibri" pitchFamily="34" charset="-122"/>
                <a:cs typeface="Calibri" pitchFamily="34" charset="-120"/>
              </a:rPr>
              <a:t>2</a:t>
            </a:r>
            <a:pPr indent="0" marL="0">
              <a:buNone/>
            </a:pPr>
            <a:r>
              <a:rPr lang="en-US" sz="1050" dirty="0">
                <a:solidFill>
                  <a:srgbClr val="1B2A41"/>
                </a:solidFill>
                <a:latin typeface="Calibri" pitchFamily="34" charset="0"/>
                <a:ea typeface="Calibri" pitchFamily="34" charset="-122"/>
                <a:cs typeface="Calibri" pitchFamily="34" charset="-120"/>
              </a:rPr>
              <a:t> + Cl</a:t>
            </a:r>
            <a:pPr indent="0" marL="0">
              <a:buNone/>
            </a:pPr>
            <a:r>
              <a:rPr lang="en-US" sz="1050" baseline="-40000" dirty="0">
                <a:solidFill>
                  <a:srgbClr val="1B2A41"/>
                </a:solidFill>
                <a:latin typeface="Calibri" pitchFamily="34" charset="0"/>
                <a:ea typeface="Calibri" pitchFamily="34" charset="-122"/>
                <a:cs typeface="Calibri" pitchFamily="34" charset="-120"/>
              </a:rPr>
              <a:t>2</a:t>
            </a:r>
            <a:pPr indent="0" marL="0">
              <a:buNone/>
            </a:pPr>
            <a:r>
              <a:rPr lang="en-US" sz="1050" dirty="0">
                <a:solidFill>
                  <a:srgbClr val="1B2A41"/>
                </a:solidFill>
                <a:latin typeface="Calibri" pitchFamily="34" charset="0"/>
                <a:ea typeface="Calibri" pitchFamily="34" charset="-122"/>
                <a:cs typeface="Calibri" pitchFamily="34" charset="-120"/>
              </a:rPr>
              <a:t> → 2HCl: bonds broken 163 kcal, bonds formed 206 kcal, ΔH ≈ −43 kcal. Exothermic.</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CR2-LO1</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Exothermic: heat is a product</a:t>
            </a:r>
            <a:endParaRPr lang="en-US" sz="2000" dirty="0"/>
          </a:p>
        </p:txBody>
      </p:sp>
      <p:pic>
        <p:nvPicPr>
          <p:cNvPr id="7" name="Image 0" descr="/home/claude/build/mol/methane.png">    </p:cNvPr>
          <p:cNvPicPr>
            <a:picLocks noChangeAspect="1"/>
          </p:cNvPicPr>
          <p:nvPr/>
        </p:nvPicPr>
        <p:blipFill>
          <a:blip r:embed="rId1"/>
          <a:stretch>
            <a:fillRect/>
          </a:stretch>
        </p:blipFill>
        <p:spPr>
          <a:xfrm>
            <a:off x="8163636" y="192024"/>
            <a:ext cx="406247"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Chemical Reactions II</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pic>
        <p:nvPicPr>
          <p:cNvPr id="10" name="Image 1" descr="/tmp/cr1img/flame.png">    </p:cNvPr>
          <p:cNvPicPr>
            <a:picLocks noChangeAspect="1"/>
          </p:cNvPicPr>
          <p:nvPr/>
        </p:nvPicPr>
        <p:blipFill>
          <a:blip r:embed="rId2"/>
          <a:stretch>
            <a:fillRect/>
          </a:stretch>
        </p:blipFill>
        <p:spPr>
          <a:xfrm>
            <a:off x="457200" y="1280160"/>
            <a:ext cx="3931920" cy="2473653"/>
          </a:xfrm>
          <a:prstGeom prst="rect">
            <a:avLst/>
          </a:prstGeom>
        </p:spPr>
      </p:pic>
      <p:sp>
        <p:nvSpPr>
          <p:cNvPr id="11" name="Text 7"/>
          <p:cNvSpPr txBox="1"/>
          <p:nvPr/>
        </p:nvSpPr>
        <p:spPr>
          <a:xfrm>
            <a:off x="457200" y="3790389"/>
            <a:ext cx="3931920" cy="292608"/>
          </a:xfrm>
          <a:prstGeom prst="rect">
            <a:avLst/>
          </a:prstGeom>
          <a:noFill/>
          <a:ln/>
        </p:spPr>
        <p:txBody>
          <a:bodyPr wrap="square" lIns="0" tIns="0" rIns="0" bIns="0" rtlCol="0" anchor="t"/>
          <a:lstStyle/>
          <a:p>
            <a:pPr algn="ctr" indent="0" marL="0">
              <a:buNone/>
            </a:pPr>
            <a:r>
              <a:rPr lang="en-US" sz="750" i="1" dirty="0">
                <a:solidFill>
                  <a:srgbClr val="56657A"/>
                </a:solidFill>
                <a:latin typeface="Calibri" pitchFamily="34" charset="0"/>
                <a:ea typeface="Calibri" pitchFamily="34" charset="-122"/>
                <a:cs typeface="Calibri" pitchFamily="34" charset="-120"/>
              </a:rPr>
              <a:t>Burning natural gas, Figure 5.6.1 (Ball, The Basics of GOB Chemistry 5.6)</a:t>
            </a:r>
            <a:endParaRPr lang="en-US" sz="750" dirty="0"/>
          </a:p>
        </p:txBody>
      </p:sp>
      <p:sp>
        <p:nvSpPr>
          <p:cNvPr id="12" name="Text 8"/>
          <p:cNvSpPr txBox="1"/>
          <p:nvPr/>
        </p:nvSpPr>
        <p:spPr>
          <a:xfrm>
            <a:off x="4663440" y="1280160"/>
            <a:ext cx="4023360" cy="338328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Burning methane: CH</a:t>
            </a:r>
            <a:pPr marL="177800" indent="-177800">
              <a:spcAft>
                <a:spcPts val="600"/>
              </a:spcAft>
              <a:buSzPct val="100000"/>
              <a:buChar char="•"/>
            </a:pPr>
            <a:r>
              <a:rPr lang="en-US" sz="1250" baseline="-40000" dirty="0">
                <a:solidFill>
                  <a:srgbClr val="1B2A41"/>
                </a:solidFill>
                <a:latin typeface="Calibri" pitchFamily="34" charset="0"/>
                <a:ea typeface="Calibri" pitchFamily="34" charset="-122"/>
                <a:cs typeface="Calibri" pitchFamily="34" charset="-120"/>
              </a:rPr>
              <a:t>4</a:t>
            </a:r>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(g) + 2O</a:t>
            </a:r>
            <a:pPr marL="177800" indent="-177800">
              <a:spcAft>
                <a:spcPts val="600"/>
              </a:spcAft>
              <a:buSzPct val="100000"/>
              <a:buChar char="•"/>
            </a:pPr>
            <a:r>
              <a:rPr lang="en-US" sz="1250" baseline="-40000" dirty="0">
                <a:solidFill>
                  <a:srgbClr val="1B2A41"/>
                </a:solidFill>
                <a:latin typeface="Calibri" pitchFamily="34" charset="0"/>
                <a:ea typeface="Calibri" pitchFamily="34" charset="-122"/>
                <a:cs typeface="Calibri" pitchFamily="34" charset="-120"/>
              </a:rPr>
              <a:t>2</a:t>
            </a:r>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(g) → CO</a:t>
            </a:r>
            <a:pPr marL="177800" indent="-177800">
              <a:spcAft>
                <a:spcPts val="600"/>
              </a:spcAft>
              <a:buSzPct val="100000"/>
              <a:buChar char="•"/>
            </a:pPr>
            <a:r>
              <a:rPr lang="en-US" sz="1250" baseline="-40000" dirty="0">
                <a:solidFill>
                  <a:srgbClr val="1B2A41"/>
                </a:solidFill>
                <a:latin typeface="Calibri" pitchFamily="34" charset="0"/>
                <a:ea typeface="Calibri" pitchFamily="34" charset="-122"/>
                <a:cs typeface="Calibri" pitchFamily="34" charset="-120"/>
              </a:rPr>
              <a:t>2</a:t>
            </a:r>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(g) + 2H</a:t>
            </a:r>
            <a:pPr marL="177800" indent="-177800">
              <a:spcAft>
                <a:spcPts val="600"/>
              </a:spcAft>
              <a:buSzPct val="100000"/>
              <a:buChar char="•"/>
            </a:pPr>
            <a:r>
              <a:rPr lang="en-US" sz="1250" baseline="-40000" dirty="0">
                <a:solidFill>
                  <a:srgbClr val="1B2A41"/>
                </a:solidFill>
                <a:latin typeface="Calibri" pitchFamily="34" charset="0"/>
                <a:ea typeface="Calibri" pitchFamily="34" charset="-122"/>
                <a:cs typeface="Calibri" pitchFamily="34" charset="-120"/>
              </a:rPr>
              <a:t>2</a:t>
            </a:r>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O(ℓ), ΔH = −890 kJ.</a:t>
            </a:r>
            <a:endParaRPr lang="en-US" sz="1250" dirty="0"/>
          </a:p>
          <a:p>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The bonds formed in CO</a:t>
            </a:r>
            <a:pPr marL="177800" indent="-177800">
              <a:spcAft>
                <a:spcPts val="600"/>
              </a:spcAft>
              <a:buSzPct val="100000"/>
              <a:buChar char="•"/>
            </a:pPr>
            <a:r>
              <a:rPr lang="en-US" sz="1250" baseline="-40000" dirty="0">
                <a:solidFill>
                  <a:srgbClr val="1B2A41"/>
                </a:solidFill>
                <a:latin typeface="Calibri" pitchFamily="34" charset="0"/>
                <a:ea typeface="Calibri" pitchFamily="34" charset="-122"/>
                <a:cs typeface="Calibri" pitchFamily="34" charset="-120"/>
              </a:rPr>
              <a:t>2</a:t>
            </a:r>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 and H</a:t>
            </a:r>
            <a:pPr marL="177800" indent="-177800">
              <a:spcAft>
                <a:spcPts val="600"/>
              </a:spcAft>
              <a:buSzPct val="100000"/>
              <a:buChar char="•"/>
            </a:pPr>
            <a:r>
              <a:rPr lang="en-US" sz="1250" baseline="-40000" dirty="0">
                <a:solidFill>
                  <a:srgbClr val="1B2A41"/>
                </a:solidFill>
                <a:latin typeface="Calibri" pitchFamily="34" charset="0"/>
                <a:ea typeface="Calibri" pitchFamily="34" charset="-122"/>
                <a:cs typeface="Calibri" pitchFamily="34" charset="-120"/>
              </a:rPr>
              <a:t>2</a:t>
            </a:r>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O are stronger than the bonds broken in CH</a:t>
            </a:r>
            <a:pPr marL="177800" indent="-177800">
              <a:spcAft>
                <a:spcPts val="600"/>
              </a:spcAft>
              <a:buSzPct val="100000"/>
              <a:buChar char="•"/>
            </a:pPr>
            <a:r>
              <a:rPr lang="en-US" sz="1250" baseline="-40000" dirty="0">
                <a:solidFill>
                  <a:srgbClr val="1B2A41"/>
                </a:solidFill>
                <a:latin typeface="Calibri" pitchFamily="34" charset="0"/>
                <a:ea typeface="Calibri" pitchFamily="34" charset="-122"/>
                <a:cs typeface="Calibri" pitchFamily="34" charset="-120"/>
              </a:rPr>
              <a:t>4</a:t>
            </a:r>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 and O</a:t>
            </a:r>
            <a:pPr marL="177800" indent="-177800">
              <a:spcAft>
                <a:spcPts val="600"/>
              </a:spcAft>
              <a:buSzPct val="100000"/>
              <a:buChar char="•"/>
            </a:pPr>
            <a:r>
              <a:rPr lang="en-US" sz="1250" baseline="-40000" dirty="0">
                <a:solidFill>
                  <a:srgbClr val="1B2A41"/>
                </a:solidFill>
                <a:latin typeface="Calibri" pitchFamily="34" charset="0"/>
                <a:ea typeface="Calibri" pitchFamily="34" charset="-122"/>
                <a:cs typeface="Calibri" pitchFamily="34" charset="-120"/>
              </a:rPr>
              <a:t>2</a:t>
            </a:r>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 so energy is left over.</a:t>
            </a:r>
            <a:endParaRPr lang="en-US" sz="1250" dirty="0"/>
          </a:p>
          <a:p>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The extra energy flows to the surroundings: the flame and the pot get hot.</a:t>
            </a:r>
            <a:endParaRPr lang="en-US" sz="1250" dirty="0"/>
          </a:p>
          <a:p>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In the body, oxidising glucose is exothermic too: about 2800 kJ per mole of glucose.</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CR2-LO1</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Endothermic: energy is a reactant</a:t>
            </a:r>
            <a:endParaRPr lang="en-US" sz="2000" dirty="0"/>
          </a:p>
        </p:txBody>
      </p:sp>
      <p:pic>
        <p:nvPicPr>
          <p:cNvPr id="7" name="Image 0" descr="/home/claude/build/mol/methane.png">    </p:cNvPr>
          <p:cNvPicPr>
            <a:picLocks noChangeAspect="1"/>
          </p:cNvPicPr>
          <p:nvPr/>
        </p:nvPicPr>
        <p:blipFill>
          <a:blip r:embed="rId1"/>
          <a:stretch>
            <a:fillRect/>
          </a:stretch>
        </p:blipFill>
        <p:spPr>
          <a:xfrm>
            <a:off x="8163636" y="192024"/>
            <a:ext cx="406247"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Chemical Reactions II</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pic>
        <p:nvPicPr>
          <p:cNvPr id="10" name="Image 1" descr="/tmp/cr1img/photosyn.png">    </p:cNvPr>
          <p:cNvPicPr>
            <a:picLocks noChangeAspect="1"/>
          </p:cNvPicPr>
          <p:nvPr/>
        </p:nvPicPr>
        <p:blipFill>
          <a:blip r:embed="rId2"/>
          <a:stretch>
            <a:fillRect/>
          </a:stretch>
        </p:blipFill>
        <p:spPr>
          <a:xfrm>
            <a:off x="457200" y="1280160"/>
            <a:ext cx="3931920" cy="2982527"/>
          </a:xfrm>
          <a:prstGeom prst="rect">
            <a:avLst/>
          </a:prstGeom>
        </p:spPr>
      </p:pic>
      <p:sp>
        <p:nvSpPr>
          <p:cNvPr id="11" name="Text 7"/>
          <p:cNvSpPr txBox="1"/>
          <p:nvPr/>
        </p:nvSpPr>
        <p:spPr>
          <a:xfrm>
            <a:off x="457200" y="4299263"/>
            <a:ext cx="3931920" cy="292608"/>
          </a:xfrm>
          <a:prstGeom prst="rect">
            <a:avLst/>
          </a:prstGeom>
          <a:noFill/>
          <a:ln/>
        </p:spPr>
        <p:txBody>
          <a:bodyPr wrap="square" lIns="0" tIns="0" rIns="0" bIns="0" rtlCol="0" anchor="t"/>
          <a:lstStyle/>
          <a:p>
            <a:pPr algn="ctr" indent="0" marL="0">
              <a:buNone/>
            </a:pPr>
            <a:r>
              <a:rPr lang="en-US" sz="750" i="1" dirty="0">
                <a:solidFill>
                  <a:srgbClr val="56657A"/>
                </a:solidFill>
                <a:latin typeface="Calibri" pitchFamily="34" charset="0"/>
                <a:ea typeface="Calibri" pitchFamily="34" charset="-122"/>
                <a:cs typeface="Calibri" pitchFamily="34" charset="-120"/>
              </a:rPr>
              <a:t>Photosynthesis is the ultimate source of all food on Earth, Figure 5.6.3 (Ball, The Basics of GOB Chemistry 5.6)</a:t>
            </a:r>
            <a:endParaRPr lang="en-US" sz="750" dirty="0"/>
          </a:p>
        </p:txBody>
      </p:sp>
      <p:sp>
        <p:nvSpPr>
          <p:cNvPr id="12" name="Text 8"/>
          <p:cNvSpPr txBox="1"/>
          <p:nvPr/>
        </p:nvSpPr>
        <p:spPr>
          <a:xfrm>
            <a:off x="4663440" y="1280160"/>
            <a:ext cx="4023360" cy="338328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Photosynthesis: 6CO</a:t>
            </a:r>
            <a:pPr marL="177800" indent="-177800">
              <a:spcAft>
                <a:spcPts val="600"/>
              </a:spcAft>
              <a:buSzPct val="100000"/>
              <a:buChar char="•"/>
            </a:pPr>
            <a:r>
              <a:rPr lang="en-US" sz="1250" baseline="-40000" dirty="0">
                <a:solidFill>
                  <a:srgbClr val="1B2A41"/>
                </a:solidFill>
                <a:latin typeface="Calibri" pitchFamily="34" charset="0"/>
                <a:ea typeface="Calibri" pitchFamily="34" charset="-122"/>
                <a:cs typeface="Calibri" pitchFamily="34" charset="-120"/>
              </a:rPr>
              <a:t>2</a:t>
            </a:r>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 + 6H</a:t>
            </a:r>
            <a:pPr marL="177800" indent="-177800">
              <a:spcAft>
                <a:spcPts val="600"/>
              </a:spcAft>
              <a:buSzPct val="100000"/>
              <a:buChar char="•"/>
            </a:pPr>
            <a:r>
              <a:rPr lang="en-US" sz="1250" baseline="-40000" dirty="0">
                <a:solidFill>
                  <a:srgbClr val="1B2A41"/>
                </a:solidFill>
                <a:latin typeface="Calibri" pitchFamily="34" charset="0"/>
                <a:ea typeface="Calibri" pitchFamily="34" charset="-122"/>
                <a:cs typeface="Calibri" pitchFamily="34" charset="-120"/>
              </a:rPr>
              <a:t>2</a:t>
            </a:r>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O + energy → C</a:t>
            </a:r>
            <a:pPr marL="177800" indent="-177800">
              <a:spcAft>
                <a:spcPts val="600"/>
              </a:spcAft>
              <a:buSzPct val="100000"/>
              <a:buChar char="•"/>
            </a:pPr>
            <a:r>
              <a:rPr lang="en-US" sz="1250" baseline="-40000" dirty="0">
                <a:solidFill>
                  <a:srgbClr val="1B2A41"/>
                </a:solidFill>
                <a:latin typeface="Calibri" pitchFamily="34" charset="0"/>
                <a:ea typeface="Calibri" pitchFamily="34" charset="-122"/>
                <a:cs typeface="Calibri" pitchFamily="34" charset="-120"/>
              </a:rPr>
              <a:t>6</a:t>
            </a:r>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H</a:t>
            </a:r>
            <a:pPr marL="177800" indent="-177800">
              <a:spcAft>
                <a:spcPts val="600"/>
              </a:spcAft>
              <a:buSzPct val="100000"/>
              <a:buChar char="•"/>
            </a:pPr>
            <a:r>
              <a:rPr lang="en-US" sz="1250" baseline="-40000" dirty="0">
                <a:solidFill>
                  <a:srgbClr val="1B2A41"/>
                </a:solidFill>
                <a:latin typeface="Calibri" pitchFamily="34" charset="0"/>
                <a:ea typeface="Calibri" pitchFamily="34" charset="-122"/>
                <a:cs typeface="Calibri" pitchFamily="34" charset="-120"/>
              </a:rPr>
              <a:t>12</a:t>
            </a:r>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O</a:t>
            </a:r>
            <a:pPr marL="177800" indent="-177800">
              <a:spcAft>
                <a:spcPts val="600"/>
              </a:spcAft>
              <a:buSzPct val="100000"/>
              <a:buChar char="•"/>
            </a:pPr>
            <a:r>
              <a:rPr lang="en-US" sz="1250" baseline="-40000" dirty="0">
                <a:solidFill>
                  <a:srgbClr val="1B2A41"/>
                </a:solidFill>
                <a:latin typeface="Calibri" pitchFamily="34" charset="0"/>
                <a:ea typeface="Calibri" pitchFamily="34" charset="-122"/>
                <a:cs typeface="Calibri" pitchFamily="34" charset="-120"/>
              </a:rPr>
              <a:t>6</a:t>
            </a:r>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 + 6O</a:t>
            </a:r>
            <a:pPr marL="177800" indent="-177800">
              <a:spcAft>
                <a:spcPts val="600"/>
              </a:spcAft>
              <a:buSzPct val="100000"/>
              <a:buChar char="•"/>
            </a:pPr>
            <a:r>
              <a:rPr lang="en-US" sz="1250" baseline="-40000" dirty="0">
                <a:solidFill>
                  <a:srgbClr val="1B2A41"/>
                </a:solidFill>
                <a:latin typeface="Calibri" pitchFamily="34" charset="0"/>
                <a:ea typeface="Calibri" pitchFamily="34" charset="-122"/>
                <a:cs typeface="Calibri" pitchFamily="34" charset="-120"/>
              </a:rPr>
              <a:t>2</a:t>
            </a:r>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 ΔH ≈ +2800 kJ.</a:t>
            </a:r>
            <a:endParaRPr lang="en-US" sz="1250" dirty="0"/>
          </a:p>
          <a:p>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Sunlight supplies the energy; it is stored in the bonds of glucose.</a:t>
            </a:r>
            <a:endParaRPr lang="en-US" sz="1250" dirty="0"/>
          </a:p>
          <a:p>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It is exactly the reverse of respiration, so ΔH has the same size and the opposite sign.</a:t>
            </a:r>
            <a:endParaRPr lang="en-US" sz="1250" dirty="0"/>
          </a:p>
          <a:p>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Decomposing CaCO</a:t>
            </a:r>
            <a:pPr marL="177800" indent="-177800">
              <a:spcAft>
                <a:spcPts val="600"/>
              </a:spcAft>
              <a:buSzPct val="100000"/>
              <a:buChar char="•"/>
            </a:pPr>
            <a:r>
              <a:rPr lang="en-US" sz="1250" baseline="-40000" dirty="0">
                <a:solidFill>
                  <a:srgbClr val="1B2A41"/>
                </a:solidFill>
                <a:latin typeface="Calibri" pitchFamily="34" charset="0"/>
                <a:ea typeface="Calibri" pitchFamily="34" charset="-122"/>
                <a:cs typeface="Calibri" pitchFamily="34" charset="-120"/>
              </a:rPr>
              <a:t>3</a:t>
            </a:r>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 into CaO and CO</a:t>
            </a:r>
            <a:pPr marL="177800" indent="-177800">
              <a:spcAft>
                <a:spcPts val="600"/>
              </a:spcAft>
              <a:buSzPct val="100000"/>
              <a:buChar char="•"/>
            </a:pPr>
            <a:r>
              <a:rPr lang="en-US" sz="1250" baseline="-40000" dirty="0">
                <a:solidFill>
                  <a:srgbClr val="1B2A41"/>
                </a:solidFill>
                <a:latin typeface="Calibri" pitchFamily="34" charset="0"/>
                <a:ea typeface="Calibri" pitchFamily="34" charset="-122"/>
                <a:cs typeface="Calibri" pitchFamily="34" charset="-120"/>
              </a:rPr>
              <a:t>2</a:t>
            </a:r>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 also absorbs heat: ΔH = +177.8 kJ.</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CR2-LO1</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Thermochemical equations</a:t>
            </a:r>
            <a:endParaRPr lang="en-US" sz="2000" dirty="0"/>
          </a:p>
        </p:txBody>
      </p:sp>
      <p:pic>
        <p:nvPicPr>
          <p:cNvPr id="7" name="Image 0" descr="/home/claude/build/mol/methane.png">    </p:cNvPr>
          <p:cNvPicPr>
            <a:picLocks noChangeAspect="1"/>
          </p:cNvPicPr>
          <p:nvPr/>
        </p:nvPicPr>
        <p:blipFill>
          <a:blip r:embed="rId1"/>
          <a:stretch>
            <a:fillRect/>
          </a:stretch>
        </p:blipFill>
        <p:spPr>
          <a:xfrm>
            <a:off x="8163636" y="192024"/>
            <a:ext cx="406247"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Chemical Reactions II</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Shape 7"/>
          <p:cNvSpPr/>
          <p:nvPr/>
        </p:nvSpPr>
        <p:spPr>
          <a:xfrm>
            <a:off x="457200" y="1234440"/>
            <a:ext cx="8229600" cy="640080"/>
          </a:xfrm>
          <a:prstGeom prst="roundRect">
            <a:avLst>
              <a:gd name="adj" fmla="val 11429"/>
            </a:avLst>
          </a:prstGeom>
          <a:solidFill>
            <a:srgbClr val="E1EEF7"/>
          </a:solidFill>
          <a:ln w="9525">
            <a:solidFill>
              <a:srgbClr val="E1EEF7"/>
            </a:solidFill>
            <a:prstDash val="solid"/>
          </a:ln>
        </p:spPr>
      </p:sp>
      <p:sp>
        <p:nvSpPr>
          <p:cNvPr id="11" name="Text 8"/>
          <p:cNvSpPr txBox="1"/>
          <p:nvPr/>
        </p:nvSpPr>
        <p:spPr>
          <a:xfrm>
            <a:off x="548640" y="1234440"/>
            <a:ext cx="8046720" cy="640080"/>
          </a:xfrm>
          <a:prstGeom prst="rect">
            <a:avLst/>
          </a:prstGeom>
          <a:noFill/>
          <a:ln/>
        </p:spPr>
        <p:txBody>
          <a:bodyPr wrap="square" lIns="0" tIns="0" rIns="0" bIns="0" rtlCol="0" anchor="ctr"/>
          <a:lstStyle/>
          <a:p>
            <a:pPr algn="ctr" indent="0" marL="0">
              <a:buNone/>
            </a:pPr>
            <a:r>
              <a:rPr lang="en-US" sz="2000" b="1" dirty="0">
                <a:solidFill>
                  <a:srgbClr val="1B2A41"/>
                </a:solidFill>
                <a:latin typeface="Calibri" pitchFamily="34" charset="0"/>
                <a:ea typeface="Calibri" pitchFamily="34" charset="-122"/>
                <a:cs typeface="Calibri" pitchFamily="34" charset="-120"/>
              </a:rPr>
              <a:t>2H</a:t>
            </a:r>
            <a:pPr algn="ctr" indent="0" marL="0">
              <a:buNone/>
            </a:pPr>
            <a:r>
              <a:rPr lang="en-US" sz="2000" b="1" baseline="-40000" dirty="0">
                <a:solidFill>
                  <a:srgbClr val="1B2A41"/>
                </a:solidFill>
                <a:latin typeface="Calibri" pitchFamily="34" charset="0"/>
                <a:ea typeface="Calibri" pitchFamily="34" charset="-122"/>
                <a:cs typeface="Calibri" pitchFamily="34" charset="-120"/>
              </a:rPr>
              <a:t>2</a:t>
            </a:r>
            <a:pPr algn="ctr" indent="0" marL="0">
              <a:buNone/>
            </a:pPr>
            <a:r>
              <a:rPr lang="en-US" sz="2000" b="1" dirty="0">
                <a:solidFill>
                  <a:srgbClr val="1B2A41"/>
                </a:solidFill>
                <a:latin typeface="Calibri" pitchFamily="34" charset="0"/>
                <a:ea typeface="Calibri" pitchFamily="34" charset="-122"/>
                <a:cs typeface="Calibri" pitchFamily="34" charset="-120"/>
              </a:rPr>
              <a:t>(g) + O</a:t>
            </a:r>
            <a:pPr algn="ctr" indent="0" marL="0">
              <a:buNone/>
            </a:pPr>
            <a:r>
              <a:rPr lang="en-US" sz="2000" b="1" baseline="-40000" dirty="0">
                <a:solidFill>
                  <a:srgbClr val="1B2A41"/>
                </a:solidFill>
                <a:latin typeface="Calibri" pitchFamily="34" charset="0"/>
                <a:ea typeface="Calibri" pitchFamily="34" charset="-122"/>
                <a:cs typeface="Calibri" pitchFamily="34" charset="-120"/>
              </a:rPr>
              <a:t>2</a:t>
            </a:r>
            <a:pPr algn="ctr" indent="0" marL="0">
              <a:buNone/>
            </a:pPr>
            <a:r>
              <a:rPr lang="en-US" sz="2000" b="1" dirty="0">
                <a:solidFill>
                  <a:srgbClr val="1B2A41"/>
                </a:solidFill>
                <a:latin typeface="Calibri" pitchFamily="34" charset="0"/>
                <a:ea typeface="Calibri" pitchFamily="34" charset="-122"/>
                <a:cs typeface="Calibri" pitchFamily="34" charset="-120"/>
              </a:rPr>
              <a:t>(g) → 2H</a:t>
            </a:r>
            <a:pPr algn="ctr" indent="0" marL="0">
              <a:buNone/>
            </a:pPr>
            <a:r>
              <a:rPr lang="en-US" sz="2000" b="1" baseline="-40000" dirty="0">
                <a:solidFill>
                  <a:srgbClr val="1B2A41"/>
                </a:solidFill>
                <a:latin typeface="Calibri" pitchFamily="34" charset="0"/>
                <a:ea typeface="Calibri" pitchFamily="34" charset="-122"/>
                <a:cs typeface="Calibri" pitchFamily="34" charset="-120"/>
              </a:rPr>
              <a:t>2</a:t>
            </a:r>
            <a:pPr algn="ctr" indent="0" marL="0">
              <a:buNone/>
            </a:pPr>
            <a:r>
              <a:rPr lang="en-US" sz="2000" b="1" dirty="0">
                <a:solidFill>
                  <a:srgbClr val="1B2A41"/>
                </a:solidFill>
                <a:latin typeface="Calibri" pitchFamily="34" charset="0"/>
                <a:ea typeface="Calibri" pitchFamily="34" charset="-122"/>
                <a:cs typeface="Calibri" pitchFamily="34" charset="-120"/>
              </a:rPr>
              <a:t>O(ℓ)   ΔH = −572 kJ</a:t>
            </a:r>
            <a:endParaRPr lang="en-US" sz="2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2057400"/>
          <a:ext cx="8229600" cy="914400"/>
        </p:xfrm>
        <a:graphic>
          <a:graphicData uri="http://schemas.openxmlformats.org/drawingml/2006/table">
            <a:tbl>
              <a:tblPr/>
              <a:tblGrid>
                <a:gridCol w="1371600"/>
                <a:gridCol w="6858000"/>
              </a:tblGrid>
              <a:tr h="0">
                <a:tc>
                  <a:txBody>
                    <a:bodyPr/>
                    <a:lstStyle/>
                    <a:p>
                      <a:pPr indent="0" marL="0">
                        <a:buNone/>
                      </a:pPr>
                      <a:r>
                        <a:rPr lang="en-US" sz="1100" b="1" dirty="0">
                          <a:solidFill>
                            <a:srgbClr val="2F6F9F"/>
                          </a:solidFill>
                          <a:latin typeface="Calibri" pitchFamily="34" charset="0"/>
                          <a:ea typeface="Calibri" pitchFamily="34" charset="-122"/>
                          <a:cs typeface="Calibri" pitchFamily="34" charset="-120"/>
                        </a:rPr>
                        <a:t>as written</a:t>
                      </a:r>
                      <a:endParaRPr lang="en-US" sz="1100" dirty="0">
                        <a:latin typeface="Calibri" charset="0"/>
                        <a:ea typeface="Calibri" charset="0"/>
                        <a:cs typeface="Calibri" charset="0"/>
                      </a:endParaRPr>
                    </a:p>
                  </a:txBody>
                  <a:tcPr marL="54864" marR="54864" marT="54864" marB="54864">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100" dirty="0">
                          <a:solidFill>
                            <a:srgbClr val="1B2A41"/>
                          </a:solidFill>
                          <a:latin typeface="Calibri" pitchFamily="34" charset="0"/>
                          <a:ea typeface="Calibri" pitchFamily="34" charset="-122"/>
                          <a:cs typeface="Calibri" pitchFamily="34" charset="-120"/>
                        </a:rPr>
                        <a:t>ΔH belongs to the equation as written: 2 mol H</a:t>
                      </a:r>
                      <a:pPr indent="0" marL="0">
                        <a:buNone/>
                      </a:pPr>
                      <a:r>
                        <a:rPr lang="en-US" sz="1100" baseline="-40000" dirty="0">
                          <a:solidFill>
                            <a:srgbClr val="1B2A41"/>
                          </a:solidFill>
                          <a:latin typeface="Calibri" pitchFamily="34" charset="0"/>
                          <a:ea typeface="Calibri" pitchFamily="34" charset="-122"/>
                          <a:cs typeface="Calibri" pitchFamily="34" charset="-120"/>
                        </a:rPr>
                        <a:t>2</a:t>
                      </a:r>
                      <a:pPr indent="0" marL="0">
                        <a:buNone/>
                      </a:pPr>
                      <a:r>
                        <a:rPr lang="en-US" sz="1100" dirty="0">
                          <a:solidFill>
                            <a:srgbClr val="1B2A41"/>
                          </a:solidFill>
                          <a:latin typeface="Calibri" pitchFamily="34" charset="0"/>
                          <a:ea typeface="Calibri" pitchFamily="34" charset="-122"/>
                          <a:cs typeface="Calibri" pitchFamily="34" charset="-120"/>
                        </a:rPr>
                        <a:t> react with 1 mol O</a:t>
                      </a:r>
                      <a:pPr indent="0" marL="0">
                        <a:buNone/>
                      </a:pPr>
                      <a:r>
                        <a:rPr lang="en-US" sz="1100" baseline="-40000" dirty="0">
                          <a:solidFill>
                            <a:srgbClr val="1B2A41"/>
                          </a:solidFill>
                          <a:latin typeface="Calibri" pitchFamily="34" charset="0"/>
                          <a:ea typeface="Calibri" pitchFamily="34" charset="-122"/>
                          <a:cs typeface="Calibri" pitchFamily="34" charset="-120"/>
                        </a:rPr>
                        <a:t>2</a:t>
                      </a:r>
                      <a:pPr indent="0" marL="0">
                        <a:buNone/>
                      </a:pPr>
                      <a:r>
                        <a:rPr lang="en-US" sz="1100" dirty="0">
                          <a:solidFill>
                            <a:srgbClr val="1B2A41"/>
                          </a:solidFill>
                          <a:latin typeface="Calibri" pitchFamily="34" charset="0"/>
                          <a:ea typeface="Calibri" pitchFamily="34" charset="-122"/>
                          <a:cs typeface="Calibri" pitchFamily="34" charset="-120"/>
                        </a:rPr>
                        <a:t> to give 2 mol H</a:t>
                      </a:r>
                      <a:pPr indent="0" marL="0">
                        <a:buNone/>
                      </a:pPr>
                      <a:r>
                        <a:rPr lang="en-US" sz="1100" baseline="-40000" dirty="0">
                          <a:solidFill>
                            <a:srgbClr val="1B2A41"/>
                          </a:solidFill>
                          <a:latin typeface="Calibri" pitchFamily="34" charset="0"/>
                          <a:ea typeface="Calibri" pitchFamily="34" charset="-122"/>
                          <a:cs typeface="Calibri" pitchFamily="34" charset="-120"/>
                        </a:rPr>
                        <a:t>2</a:t>
                      </a:r>
                      <a:pPr indent="0" marL="0">
                        <a:buNone/>
                      </a:pPr>
                      <a:r>
                        <a:rPr lang="en-US" sz="1100" dirty="0">
                          <a:solidFill>
                            <a:srgbClr val="1B2A41"/>
                          </a:solidFill>
                          <a:latin typeface="Calibri" pitchFamily="34" charset="0"/>
                          <a:ea typeface="Calibri" pitchFamily="34" charset="-122"/>
                          <a:cs typeface="Calibri" pitchFamily="34" charset="-120"/>
                        </a:rPr>
                        <a:t>O and release 572 kJ</a:t>
                      </a:r>
                      <a:endParaRPr lang="en-US" sz="1100" dirty="0">
                        <a:latin typeface="Calibri" charset="0"/>
                        <a:ea typeface="Calibri" charset="0"/>
                        <a:cs typeface="Calibri" charset="0"/>
                      </a:endParaRPr>
                    </a:p>
                  </a:txBody>
                  <a:tcPr marL="54864" marR="54864" marT="54864" marB="54864">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2F6F9F"/>
                          </a:solidFill>
                          <a:latin typeface="Calibri" pitchFamily="34" charset="0"/>
                          <a:ea typeface="Calibri" pitchFamily="34" charset="-122"/>
                          <a:cs typeface="Calibri" pitchFamily="34" charset="-120"/>
                        </a:rPr>
                        <a:t>states</a:t>
                      </a:r>
                      <a:endParaRPr lang="en-US" sz="1100" dirty="0">
                        <a:latin typeface="Calibri" charset="0"/>
                        <a:ea typeface="Calibri" charset="0"/>
                        <a:cs typeface="Calibri" charset="0"/>
                      </a:endParaRPr>
                    </a:p>
                  </a:txBody>
                  <a:tcPr marL="54864" marR="54864" marT="54864" marB="54864">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100" dirty="0">
                          <a:solidFill>
                            <a:srgbClr val="1B2A41"/>
                          </a:solidFill>
                          <a:latin typeface="Calibri" pitchFamily="34" charset="0"/>
                          <a:ea typeface="Calibri" pitchFamily="34" charset="-122"/>
                          <a:cs typeface="Calibri" pitchFamily="34" charset="-120"/>
                        </a:rPr>
                        <a:t>states matter: making H</a:t>
                      </a:r>
                      <a:pPr indent="0" marL="0">
                        <a:buNone/>
                      </a:pPr>
                      <a:r>
                        <a:rPr lang="en-US" sz="1100" baseline="-40000" dirty="0">
                          <a:solidFill>
                            <a:srgbClr val="1B2A41"/>
                          </a:solidFill>
                          <a:latin typeface="Calibri" pitchFamily="34" charset="0"/>
                          <a:ea typeface="Calibri" pitchFamily="34" charset="-122"/>
                          <a:cs typeface="Calibri" pitchFamily="34" charset="-120"/>
                        </a:rPr>
                        <a:t>2</a:t>
                      </a:r>
                      <a:pPr indent="0" marL="0">
                        <a:buNone/>
                      </a:pPr>
                      <a:r>
                        <a:rPr lang="en-US" sz="1100" dirty="0">
                          <a:solidFill>
                            <a:srgbClr val="1B2A41"/>
                          </a:solidFill>
                          <a:latin typeface="Calibri" pitchFamily="34" charset="0"/>
                          <a:ea typeface="Calibri" pitchFamily="34" charset="-122"/>
                          <a:cs typeface="Calibri" pitchFamily="34" charset="-120"/>
                        </a:rPr>
                        <a:t>O(g) instead of H</a:t>
                      </a:r>
                      <a:pPr indent="0" marL="0">
                        <a:buNone/>
                      </a:pPr>
                      <a:r>
                        <a:rPr lang="en-US" sz="1100" baseline="-40000" dirty="0">
                          <a:solidFill>
                            <a:srgbClr val="1B2A41"/>
                          </a:solidFill>
                          <a:latin typeface="Calibri" pitchFamily="34" charset="0"/>
                          <a:ea typeface="Calibri" pitchFamily="34" charset="-122"/>
                          <a:cs typeface="Calibri" pitchFamily="34" charset="-120"/>
                        </a:rPr>
                        <a:t>2</a:t>
                      </a:r>
                      <a:pPr indent="0" marL="0">
                        <a:buNone/>
                      </a:pPr>
                      <a:r>
                        <a:rPr lang="en-US" sz="1100" dirty="0">
                          <a:solidFill>
                            <a:srgbClr val="1B2A41"/>
                          </a:solidFill>
                          <a:latin typeface="Calibri" pitchFamily="34" charset="0"/>
                          <a:ea typeface="Calibri" pitchFamily="34" charset="-122"/>
                          <a:cs typeface="Calibri" pitchFamily="34" charset="-120"/>
                        </a:rPr>
                        <a:t>O(ℓ) releases less heat</a:t>
                      </a:r>
                      <a:endParaRPr lang="en-US" sz="1100" dirty="0">
                        <a:latin typeface="Calibri" charset="0"/>
                        <a:ea typeface="Calibri" charset="0"/>
                        <a:cs typeface="Calibri" charset="0"/>
                      </a:endParaRPr>
                    </a:p>
                  </a:txBody>
                  <a:tcPr marL="54864" marR="54864" marT="54864" marB="54864">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2F6F9F"/>
                          </a:solidFill>
                          <a:latin typeface="Calibri" pitchFamily="34" charset="0"/>
                          <a:ea typeface="Calibri" pitchFamily="34" charset="-122"/>
                          <a:cs typeface="Calibri" pitchFamily="34" charset="-120"/>
                        </a:rPr>
                        <a:t>scale</a:t>
                      </a:r>
                      <a:endParaRPr lang="en-US" sz="1100" dirty="0">
                        <a:latin typeface="Calibri" charset="0"/>
                        <a:ea typeface="Calibri" charset="0"/>
                        <a:cs typeface="Calibri" charset="0"/>
                      </a:endParaRPr>
                    </a:p>
                  </a:txBody>
                  <a:tcPr marL="54864" marR="54864" marT="54864" marB="54864">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100" dirty="0">
                          <a:solidFill>
                            <a:srgbClr val="1B2A41"/>
                          </a:solidFill>
                          <a:latin typeface="Calibri" pitchFamily="34" charset="0"/>
                          <a:ea typeface="Calibri" pitchFamily="34" charset="-122"/>
                          <a:cs typeface="Calibri" pitchFamily="34" charset="-120"/>
                        </a:rPr>
                        <a:t>halve the coefficients, halve ΔH: H</a:t>
                      </a:r>
                      <a:pPr indent="0" marL="0">
                        <a:buNone/>
                      </a:pPr>
                      <a:r>
                        <a:rPr lang="en-US" sz="1100" baseline="-40000" dirty="0">
                          <a:solidFill>
                            <a:srgbClr val="1B2A41"/>
                          </a:solidFill>
                          <a:latin typeface="Calibri" pitchFamily="34" charset="0"/>
                          <a:ea typeface="Calibri" pitchFamily="34" charset="-122"/>
                          <a:cs typeface="Calibri" pitchFamily="34" charset="-120"/>
                        </a:rPr>
                        <a:t>2</a:t>
                      </a:r>
                      <a:pPr indent="0" marL="0">
                        <a:buNone/>
                      </a:pPr>
                      <a:r>
                        <a:rPr lang="en-US" sz="1100" dirty="0">
                          <a:solidFill>
                            <a:srgbClr val="1B2A41"/>
                          </a:solidFill>
                          <a:latin typeface="Calibri" pitchFamily="34" charset="0"/>
                          <a:ea typeface="Calibri" pitchFamily="34" charset="-122"/>
                          <a:cs typeface="Calibri" pitchFamily="34" charset="-120"/>
                        </a:rPr>
                        <a:t> + ½O</a:t>
                      </a:r>
                      <a:pPr indent="0" marL="0">
                        <a:buNone/>
                      </a:pPr>
                      <a:r>
                        <a:rPr lang="en-US" sz="1100" baseline="-40000" dirty="0">
                          <a:solidFill>
                            <a:srgbClr val="1B2A41"/>
                          </a:solidFill>
                          <a:latin typeface="Calibri" pitchFamily="34" charset="0"/>
                          <a:ea typeface="Calibri" pitchFamily="34" charset="-122"/>
                          <a:cs typeface="Calibri" pitchFamily="34" charset="-120"/>
                        </a:rPr>
                        <a:t>2</a:t>
                      </a:r>
                      <a:pPr indent="0" marL="0">
                        <a:buNone/>
                      </a:pPr>
                      <a:r>
                        <a:rPr lang="en-US" sz="1100" dirty="0">
                          <a:solidFill>
                            <a:srgbClr val="1B2A41"/>
                          </a:solidFill>
                          <a:latin typeface="Calibri" pitchFamily="34" charset="0"/>
                          <a:ea typeface="Calibri" pitchFamily="34" charset="-122"/>
                          <a:cs typeface="Calibri" pitchFamily="34" charset="-120"/>
                        </a:rPr>
                        <a:t> → H</a:t>
                      </a:r>
                      <a:pPr indent="0" marL="0">
                        <a:buNone/>
                      </a:pPr>
                      <a:r>
                        <a:rPr lang="en-US" sz="1100" baseline="-40000" dirty="0">
                          <a:solidFill>
                            <a:srgbClr val="1B2A41"/>
                          </a:solidFill>
                          <a:latin typeface="Calibri" pitchFamily="34" charset="0"/>
                          <a:ea typeface="Calibri" pitchFamily="34" charset="-122"/>
                          <a:cs typeface="Calibri" pitchFamily="34" charset="-120"/>
                        </a:rPr>
                        <a:t>2</a:t>
                      </a:r>
                      <a:pPr indent="0" marL="0">
                        <a:buNone/>
                      </a:pPr>
                      <a:r>
                        <a:rPr lang="en-US" sz="1100" dirty="0">
                          <a:solidFill>
                            <a:srgbClr val="1B2A41"/>
                          </a:solidFill>
                          <a:latin typeface="Calibri" pitchFamily="34" charset="0"/>
                          <a:ea typeface="Calibri" pitchFamily="34" charset="-122"/>
                          <a:cs typeface="Calibri" pitchFamily="34" charset="-120"/>
                        </a:rPr>
                        <a:t>O(ℓ), ΔH = −286 kJ</a:t>
                      </a:r>
                      <a:endParaRPr lang="en-US" sz="1100" dirty="0">
                        <a:latin typeface="Calibri" charset="0"/>
                        <a:ea typeface="Calibri" charset="0"/>
                        <a:cs typeface="Calibri" charset="0"/>
                      </a:endParaRPr>
                    </a:p>
                  </a:txBody>
                  <a:tcPr marL="54864" marR="54864" marT="54864" marB="54864">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2F6F9F"/>
                          </a:solidFill>
                          <a:latin typeface="Calibri" pitchFamily="34" charset="0"/>
                          <a:ea typeface="Calibri" pitchFamily="34" charset="-122"/>
                          <a:cs typeface="Calibri" pitchFamily="34" charset="-120"/>
                        </a:rPr>
                        <a:t>reverse</a:t>
                      </a:r>
                      <a:endParaRPr lang="en-US" sz="1100" dirty="0">
                        <a:latin typeface="Calibri" charset="0"/>
                        <a:ea typeface="Calibri" charset="0"/>
                        <a:cs typeface="Calibri" charset="0"/>
                      </a:endParaRPr>
                    </a:p>
                  </a:txBody>
                  <a:tcPr marL="54864" marR="54864" marT="54864" marB="54864">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100" dirty="0">
                          <a:solidFill>
                            <a:srgbClr val="1B2A41"/>
                          </a:solidFill>
                          <a:latin typeface="Calibri" pitchFamily="34" charset="0"/>
                          <a:ea typeface="Calibri" pitchFamily="34" charset="-122"/>
                          <a:cs typeface="Calibri" pitchFamily="34" charset="-120"/>
                        </a:rPr>
                        <a:t>reverse the equation, change the sign: 2H</a:t>
                      </a:r>
                      <a:pPr indent="0" marL="0">
                        <a:buNone/>
                      </a:pPr>
                      <a:r>
                        <a:rPr lang="en-US" sz="1100" baseline="-40000" dirty="0">
                          <a:solidFill>
                            <a:srgbClr val="1B2A41"/>
                          </a:solidFill>
                          <a:latin typeface="Calibri" pitchFamily="34" charset="0"/>
                          <a:ea typeface="Calibri" pitchFamily="34" charset="-122"/>
                          <a:cs typeface="Calibri" pitchFamily="34" charset="-120"/>
                        </a:rPr>
                        <a:t>2</a:t>
                      </a:r>
                      <a:pPr indent="0" marL="0">
                        <a:buNone/>
                      </a:pPr>
                      <a:r>
                        <a:rPr lang="en-US" sz="1100" dirty="0">
                          <a:solidFill>
                            <a:srgbClr val="1B2A41"/>
                          </a:solidFill>
                          <a:latin typeface="Calibri" pitchFamily="34" charset="0"/>
                          <a:ea typeface="Calibri" pitchFamily="34" charset="-122"/>
                          <a:cs typeface="Calibri" pitchFamily="34" charset="-120"/>
                        </a:rPr>
                        <a:t>O(ℓ) → 2H</a:t>
                      </a:r>
                      <a:pPr indent="0" marL="0">
                        <a:buNone/>
                      </a:pPr>
                      <a:r>
                        <a:rPr lang="en-US" sz="1100" baseline="-40000" dirty="0">
                          <a:solidFill>
                            <a:srgbClr val="1B2A41"/>
                          </a:solidFill>
                          <a:latin typeface="Calibri" pitchFamily="34" charset="0"/>
                          <a:ea typeface="Calibri" pitchFamily="34" charset="-122"/>
                          <a:cs typeface="Calibri" pitchFamily="34" charset="-120"/>
                        </a:rPr>
                        <a:t>2</a:t>
                      </a:r>
                      <a:pPr indent="0" marL="0">
                        <a:buNone/>
                      </a:pPr>
                      <a:r>
                        <a:rPr lang="en-US" sz="1100" dirty="0">
                          <a:solidFill>
                            <a:srgbClr val="1B2A41"/>
                          </a:solidFill>
                          <a:latin typeface="Calibri" pitchFamily="34" charset="0"/>
                          <a:ea typeface="Calibri" pitchFamily="34" charset="-122"/>
                          <a:cs typeface="Calibri" pitchFamily="34" charset="-120"/>
                        </a:rPr>
                        <a:t>(g) + O</a:t>
                      </a:r>
                      <a:pPr indent="0" marL="0">
                        <a:buNone/>
                      </a:pPr>
                      <a:r>
                        <a:rPr lang="en-US" sz="1100" baseline="-40000" dirty="0">
                          <a:solidFill>
                            <a:srgbClr val="1B2A41"/>
                          </a:solidFill>
                          <a:latin typeface="Calibri" pitchFamily="34" charset="0"/>
                          <a:ea typeface="Calibri" pitchFamily="34" charset="-122"/>
                          <a:cs typeface="Calibri" pitchFamily="34" charset="-120"/>
                        </a:rPr>
                        <a:t>2</a:t>
                      </a:r>
                      <a:pPr indent="0" marL="0">
                        <a:buNone/>
                      </a:pPr>
                      <a:r>
                        <a:rPr lang="en-US" sz="1100" dirty="0">
                          <a:solidFill>
                            <a:srgbClr val="1B2A41"/>
                          </a:solidFill>
                          <a:latin typeface="Calibri" pitchFamily="34" charset="0"/>
                          <a:ea typeface="Calibri" pitchFamily="34" charset="-122"/>
                          <a:cs typeface="Calibri" pitchFamily="34" charset="-120"/>
                        </a:rPr>
                        <a:t>(g), ΔH = +572 kJ</a:t>
                      </a:r>
                      <a:endParaRPr lang="en-US" sz="1100" dirty="0">
                        <a:latin typeface="Calibri" charset="0"/>
                        <a:ea typeface="Calibri" charset="0"/>
                        <a:cs typeface="Calibri" charset="0"/>
                      </a:endParaRPr>
                    </a:p>
                  </a:txBody>
                  <a:tcPr marL="54864" marR="54864" marT="54864" marB="54864">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r>
            </a:tbl>
          </a:graphicData>
        </a:graphic>
      </p:graphicFrame>
      <p:sp>
        <p:nvSpPr>
          <p:cNvPr id="13" name="Text 9"/>
          <p:cNvSpPr txBox="1"/>
          <p:nvPr/>
        </p:nvSpPr>
        <p:spPr>
          <a:xfrm>
            <a:off x="457200" y="4206240"/>
            <a:ext cx="8229600" cy="457200"/>
          </a:xfrm>
          <a:prstGeom prst="rect">
            <a:avLst/>
          </a:prstGeom>
          <a:noFill/>
          <a:ln/>
        </p:spPr>
        <p:txBody>
          <a:bodyPr wrap="square" lIns="0" tIns="0" rIns="0" bIns="0" rtlCol="0" anchor="t"/>
          <a:lstStyle/>
          <a:p>
            <a:pPr indent="0" marL="0">
              <a:buNone/>
            </a:pPr>
            <a:r>
              <a:rPr lang="en-US" sz="1000" i="1" dirty="0">
                <a:solidFill>
                  <a:srgbClr val="56657A"/>
                </a:solidFill>
                <a:latin typeface="Calibri" pitchFamily="34" charset="0"/>
                <a:ea typeface="Calibri" pitchFamily="34" charset="-122"/>
                <a:cs typeface="Calibri" pitchFamily="34" charset="-120"/>
              </a:rPr>
              <a:t>ΔH can be read as 'kJ per the moles shown in the equation', so it works like a mole ratio from Chemical Reactions I.</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CR2-LO1</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Heat from a thermochemical equation</a:t>
            </a:r>
            <a:endParaRPr lang="en-US" sz="2000" dirty="0"/>
          </a:p>
        </p:txBody>
      </p:sp>
      <p:pic>
        <p:nvPicPr>
          <p:cNvPr id="7" name="Image 0" descr="/home/claude/build/mol/methane.png">    </p:cNvPr>
          <p:cNvPicPr>
            <a:picLocks noChangeAspect="1"/>
          </p:cNvPicPr>
          <p:nvPr/>
        </p:nvPicPr>
        <p:blipFill>
          <a:blip r:embed="rId1"/>
          <a:stretch>
            <a:fillRect/>
          </a:stretch>
        </p:blipFill>
        <p:spPr>
          <a:xfrm>
            <a:off x="8163636" y="192024"/>
            <a:ext cx="406247"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Chemical Reactions II</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Text 7"/>
          <p:cNvSpPr txBox="1"/>
          <p:nvPr/>
        </p:nvSpPr>
        <p:spPr>
          <a:xfrm>
            <a:off x="457200" y="1280160"/>
            <a:ext cx="5486400" cy="3383280"/>
          </a:xfrm>
          <a:prstGeom prst="rect">
            <a:avLst/>
          </a:prstGeom>
          <a:noFill/>
          <a:ln/>
        </p:spPr>
        <p:txBody>
          <a:bodyPr wrap="square" lIns="0" tIns="0" rIns="0" bIns="0" rtlCol="0" anchor="t"/>
          <a:lstStyle/>
          <a:p>
            <a:pPr marL="177800" indent="-177800">
              <a:spcAft>
                <a:spcPts val="600"/>
              </a:spcAft>
              <a:buSzPct val="100000"/>
              <a:buChar char="•"/>
            </a:pPr>
            <a:r>
              <a:rPr lang="en-US" sz="1300" b="1" dirty="0">
                <a:solidFill>
                  <a:srgbClr val="1B2A41"/>
                </a:solidFill>
                <a:latin typeface="Calibri" pitchFamily="34" charset="0"/>
                <a:ea typeface="Calibri" pitchFamily="34" charset="-122"/>
                <a:cs typeface="Calibri" pitchFamily="34" charset="-120"/>
              </a:rPr>
              <a:t>1.</a:t>
            </a:r>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 Convert the given mass to moles (divide by the molar mass).</a:t>
            </a:r>
            <a:endParaRPr lang="en-US" sz="1300" dirty="0"/>
          </a:p>
          <a:p>
            <a:pPr marL="177800" indent="-177800">
              <a:spcAft>
                <a:spcPts val="600"/>
              </a:spcAft>
              <a:buSzPct val="100000"/>
              <a:buChar char="•"/>
            </a:pPr>
            <a:r>
              <a:rPr lang="en-US" sz="1300" b="1" dirty="0">
                <a:solidFill>
                  <a:srgbClr val="1B2A41"/>
                </a:solidFill>
                <a:latin typeface="Calibri" pitchFamily="34" charset="0"/>
                <a:ea typeface="Calibri" pitchFamily="34" charset="-122"/>
                <a:cs typeface="Calibri" pitchFamily="34" charset="-120"/>
              </a:rPr>
              <a:t>2.</a:t>
            </a:r>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 Use the equation: ΔH is the heat for the number of moles shown by the coefficient.</a:t>
            </a:r>
            <a:endParaRPr lang="en-US" sz="1300" dirty="0"/>
          </a:p>
          <a:p>
            <a:pPr marL="177800" indent="-177800">
              <a:spcAft>
                <a:spcPts val="600"/>
              </a:spcAft>
              <a:buSzPct val="100000"/>
              <a:buChar char="•"/>
            </a:pPr>
            <a:r>
              <a:rPr lang="en-US" sz="1300" b="1" dirty="0">
                <a:solidFill>
                  <a:srgbClr val="1B2A41"/>
                </a:solidFill>
                <a:latin typeface="Calibri" pitchFamily="34" charset="0"/>
                <a:ea typeface="Calibri" pitchFamily="34" charset="-122"/>
                <a:cs typeface="Calibri" pitchFamily="34" charset="-120"/>
              </a:rPr>
              <a:t>3.</a:t>
            </a:r>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 Heat = moles × (ΔH ÷ coefficient). Keep the sign: negative = released, positive = absorbed.</a:t>
            </a:r>
            <a:endParaRPr lang="en-US" sz="1300" dirty="0"/>
          </a:p>
          <a:p>
            <a:pPr marL="177800" indent="-177800">
              <a:spcAft>
                <a:spcPts val="600"/>
              </a:spcAft>
              <a:buSzPct val="100000"/>
              <a:buChar char="•"/>
            </a:pPr>
            <a:r>
              <a:rPr lang="en-US" sz="1300" b="1" dirty="0">
                <a:solidFill>
                  <a:srgbClr val="1B2A41"/>
                </a:solidFill>
                <a:latin typeface="Calibri" pitchFamily="34" charset="0"/>
                <a:ea typeface="Calibri" pitchFamily="34" charset="-122"/>
                <a:cs typeface="Calibri" pitchFamily="34" charset="-120"/>
              </a:rPr>
              <a:t>4.</a:t>
            </a:r>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 State the answer in words: '... kJ of heat is released' or '... is absorbed'.</a:t>
            </a:r>
            <a:endParaRPr lang="en-US" sz="1300" dirty="0"/>
          </a:p>
        </p:txBody>
      </p:sp>
      <p:sp>
        <p:nvSpPr>
          <p:cNvPr id="11" name="Shape 8"/>
          <p:cNvSpPr/>
          <p:nvPr/>
        </p:nvSpPr>
        <p:spPr>
          <a:xfrm>
            <a:off x="6172200" y="1280160"/>
            <a:ext cx="2514600" cy="2103120"/>
          </a:xfrm>
          <a:prstGeom prst="roundRect">
            <a:avLst>
              <a:gd name="adj" fmla="val 3478"/>
            </a:avLst>
          </a:prstGeom>
          <a:solidFill>
            <a:srgbClr val="FBEFD9"/>
          </a:solidFill>
          <a:ln w="9525">
            <a:solidFill>
              <a:srgbClr val="FBEFD9"/>
            </a:solidFill>
            <a:prstDash val="solid"/>
          </a:ln>
        </p:spPr>
      </p:sp>
      <p:sp>
        <p:nvSpPr>
          <p:cNvPr id="12" name="Text 9"/>
          <p:cNvSpPr txBox="1"/>
          <p:nvPr/>
        </p:nvSpPr>
        <p:spPr>
          <a:xfrm>
            <a:off x="6309360" y="1371600"/>
            <a:ext cx="2240280" cy="1920240"/>
          </a:xfrm>
          <a:prstGeom prst="rect">
            <a:avLst/>
          </a:prstGeom>
          <a:noFill/>
          <a:ln/>
        </p:spPr>
        <p:txBody>
          <a:bodyPr wrap="square" lIns="0" tIns="0" rIns="0" bIns="0" rtlCol="0" anchor="t"/>
          <a:lstStyle/>
          <a:p>
            <a:pPr indent="0" marL="0">
              <a:buNone/>
            </a:pPr>
            <a:r>
              <a:rPr lang="en-US" sz="1100" b="1" dirty="0">
                <a:solidFill>
                  <a:srgbClr val="B86E00"/>
                </a:solidFill>
                <a:latin typeface="Calibri" pitchFamily="34" charset="0"/>
                <a:ea typeface="Calibri" pitchFamily="34" charset="-122"/>
                <a:cs typeface="Calibri" pitchFamily="34" charset="-120"/>
              </a:rPr>
              <a:t>Road map</a:t>
            </a:r>
            <a:endParaRPr lang="en-US" sz="1100" dirty="0"/>
          </a:p>
          <a:p>
            <a:pPr indent="0" marL="0">
              <a:buNone/>
            </a:pPr>
            <a:r>
              <a:rPr lang="en-US" sz="1050" dirty="0">
                <a:solidFill>
                  <a:srgbClr val="1B2A41"/>
                </a:solidFill>
                <a:latin typeface="Calibri" pitchFamily="34" charset="0"/>
                <a:ea typeface="Calibri" pitchFamily="34" charset="-122"/>
                <a:cs typeface="Calibri" pitchFamily="34" charset="-120"/>
              </a:rPr>
              <a:t>mass → moles → heat</a:t>
            </a:r>
            <a:endParaRPr lang="en-US" sz="1100" dirty="0"/>
          </a:p>
          <a:p>
            <a:pPr indent="0" marL="0">
              <a:buNone/>
            </a:pPr>
            <a:r>
              <a:rPr lang="en-US" sz="1050" dirty="0">
                <a:solidFill>
                  <a:srgbClr val="1B2A41"/>
                </a:solidFill>
                <a:latin typeface="Calibri" pitchFamily="34" charset="0"/>
                <a:ea typeface="Calibri" pitchFamily="34" charset="-122"/>
                <a:cs typeface="Calibri" pitchFamily="34" charset="-120"/>
              </a:rPr>
              <a:t>g ÷ (g/mol) → mol × (kJ/mol) → kJ</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CR2-LO1</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Example 1.1 · Burning methane</a:t>
            </a:r>
            <a:endParaRPr lang="en-US" sz="2000" dirty="0"/>
          </a:p>
        </p:txBody>
      </p:sp>
      <p:pic>
        <p:nvPicPr>
          <p:cNvPr id="7" name="Image 0" descr="/home/claude/build/mol/methane.png">    </p:cNvPr>
          <p:cNvPicPr>
            <a:picLocks noChangeAspect="1"/>
          </p:cNvPicPr>
          <p:nvPr/>
        </p:nvPicPr>
        <p:blipFill>
          <a:blip r:embed="rId1"/>
          <a:stretch>
            <a:fillRect/>
          </a:stretch>
        </p:blipFill>
        <p:spPr>
          <a:xfrm>
            <a:off x="8163636" y="192024"/>
            <a:ext cx="406247"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Chemical Reactions II</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Shape 7"/>
          <p:cNvSpPr/>
          <p:nvPr/>
        </p:nvSpPr>
        <p:spPr>
          <a:xfrm>
            <a:off x="457200" y="1234440"/>
            <a:ext cx="8229600" cy="777240"/>
          </a:xfrm>
          <a:prstGeom prst="roundRect">
            <a:avLst>
              <a:gd name="adj" fmla="val 9412"/>
            </a:avLst>
          </a:prstGeom>
          <a:solidFill>
            <a:srgbClr val="FFFFFF"/>
          </a:solidFill>
          <a:ln w="9525">
            <a:solidFill>
              <a:srgbClr val="D7E0E8"/>
            </a:solidFill>
            <a:prstDash val="solid"/>
          </a:ln>
        </p:spPr>
      </p:sp>
      <p:sp>
        <p:nvSpPr>
          <p:cNvPr id="11" name="Text 8"/>
          <p:cNvSpPr txBox="1"/>
          <p:nvPr/>
        </p:nvSpPr>
        <p:spPr>
          <a:xfrm>
            <a:off x="594360" y="1280160"/>
            <a:ext cx="7955280" cy="685800"/>
          </a:xfrm>
          <a:prstGeom prst="rect">
            <a:avLst/>
          </a:prstGeom>
          <a:noFill/>
          <a:ln/>
        </p:spPr>
        <p:txBody>
          <a:bodyPr wrap="square" lIns="0" tIns="0" rIns="0" bIns="0" rtlCol="0" anchor="ctr"/>
          <a:lstStyle/>
          <a:p>
            <a:pPr indent="0" marL="0">
              <a:buNone/>
            </a:pPr>
            <a:r>
              <a:rPr lang="en-US" sz="1200" dirty="0">
                <a:solidFill>
                  <a:srgbClr val="1B2A41"/>
                </a:solidFill>
                <a:latin typeface="Calibri" pitchFamily="34" charset="0"/>
                <a:ea typeface="Calibri" pitchFamily="34" charset="-122"/>
                <a:cs typeface="Calibri" pitchFamily="34" charset="-120"/>
              </a:rPr>
              <a:t>CH</a:t>
            </a:r>
            <a:pPr indent="0" marL="0">
              <a:buNone/>
            </a:pPr>
            <a:r>
              <a:rPr lang="en-US" sz="1200" baseline="-40000" dirty="0">
                <a:solidFill>
                  <a:srgbClr val="1B2A41"/>
                </a:solidFill>
                <a:latin typeface="Calibri" pitchFamily="34" charset="0"/>
                <a:ea typeface="Calibri" pitchFamily="34" charset="-122"/>
                <a:cs typeface="Calibri" pitchFamily="34" charset="-120"/>
              </a:rPr>
              <a:t>4</a:t>
            </a:r>
            <a:pPr indent="0" marL="0">
              <a:buNone/>
            </a:pPr>
            <a:r>
              <a:rPr lang="en-US" sz="1200" dirty="0">
                <a:solidFill>
                  <a:srgbClr val="1B2A41"/>
                </a:solidFill>
                <a:latin typeface="Calibri" pitchFamily="34" charset="0"/>
                <a:ea typeface="Calibri" pitchFamily="34" charset="-122"/>
                <a:cs typeface="Calibri" pitchFamily="34" charset="-120"/>
              </a:rPr>
              <a:t>(g) + 2O</a:t>
            </a:r>
            <a:pPr indent="0" marL="0">
              <a:buNone/>
            </a:pPr>
            <a:r>
              <a:rPr lang="en-US" sz="1200" baseline="-40000" dirty="0">
                <a:solidFill>
                  <a:srgbClr val="1B2A41"/>
                </a:solidFill>
                <a:latin typeface="Calibri" pitchFamily="34" charset="0"/>
                <a:ea typeface="Calibri" pitchFamily="34" charset="-122"/>
                <a:cs typeface="Calibri" pitchFamily="34" charset="-120"/>
              </a:rPr>
              <a:t>2</a:t>
            </a:r>
            <a:pPr indent="0" marL="0">
              <a:buNone/>
            </a:pPr>
            <a:r>
              <a:rPr lang="en-US" sz="1200" dirty="0">
                <a:solidFill>
                  <a:srgbClr val="1B2A41"/>
                </a:solidFill>
                <a:latin typeface="Calibri" pitchFamily="34" charset="0"/>
                <a:ea typeface="Calibri" pitchFamily="34" charset="-122"/>
                <a:cs typeface="Calibri" pitchFamily="34" charset="-120"/>
              </a:rPr>
              <a:t>(g) → CO</a:t>
            </a:r>
            <a:pPr indent="0" marL="0">
              <a:buNone/>
            </a:pPr>
            <a:r>
              <a:rPr lang="en-US" sz="1200" baseline="-40000" dirty="0">
                <a:solidFill>
                  <a:srgbClr val="1B2A41"/>
                </a:solidFill>
                <a:latin typeface="Calibri" pitchFamily="34" charset="0"/>
                <a:ea typeface="Calibri" pitchFamily="34" charset="-122"/>
                <a:cs typeface="Calibri" pitchFamily="34" charset="-120"/>
              </a:rPr>
              <a:t>2</a:t>
            </a:r>
            <a:pPr indent="0" marL="0">
              <a:buNone/>
            </a:pPr>
            <a:r>
              <a:rPr lang="en-US" sz="1200" dirty="0">
                <a:solidFill>
                  <a:srgbClr val="1B2A41"/>
                </a:solidFill>
                <a:latin typeface="Calibri" pitchFamily="34" charset="0"/>
                <a:ea typeface="Calibri" pitchFamily="34" charset="-122"/>
                <a:cs typeface="Calibri" pitchFamily="34" charset="-120"/>
              </a:rPr>
              <a:t>(g) + 2H</a:t>
            </a:r>
            <a:pPr indent="0" marL="0">
              <a:buNone/>
            </a:pPr>
            <a:r>
              <a:rPr lang="en-US" sz="1200" baseline="-40000" dirty="0">
                <a:solidFill>
                  <a:srgbClr val="1B2A41"/>
                </a:solidFill>
                <a:latin typeface="Calibri" pitchFamily="34" charset="0"/>
                <a:ea typeface="Calibri" pitchFamily="34" charset="-122"/>
                <a:cs typeface="Calibri" pitchFamily="34" charset="-120"/>
              </a:rPr>
              <a:t>2</a:t>
            </a:r>
            <a:pPr indent="0" marL="0">
              <a:buNone/>
            </a:pPr>
            <a:r>
              <a:rPr lang="en-US" sz="1200" dirty="0">
                <a:solidFill>
                  <a:srgbClr val="1B2A41"/>
                </a:solidFill>
                <a:latin typeface="Calibri" pitchFamily="34" charset="0"/>
                <a:ea typeface="Calibri" pitchFamily="34" charset="-122"/>
                <a:cs typeface="Calibri" pitchFamily="34" charset="-120"/>
              </a:rPr>
              <a:t>O(ℓ), ΔH = −890 kJ. How much heat is released when 24.0 g of CH</a:t>
            </a:r>
            <a:pPr indent="0" marL="0">
              <a:buNone/>
            </a:pPr>
            <a:r>
              <a:rPr lang="en-US" sz="1200" baseline="-40000" dirty="0">
                <a:solidFill>
                  <a:srgbClr val="1B2A41"/>
                </a:solidFill>
                <a:latin typeface="Calibri" pitchFamily="34" charset="0"/>
                <a:ea typeface="Calibri" pitchFamily="34" charset="-122"/>
                <a:cs typeface="Calibri" pitchFamily="34" charset="-120"/>
              </a:rPr>
              <a:t>4</a:t>
            </a:r>
            <a:pPr indent="0" marL="0">
              <a:buNone/>
            </a:pPr>
            <a:r>
              <a:rPr lang="en-US" sz="1200" dirty="0">
                <a:solidFill>
                  <a:srgbClr val="1B2A41"/>
                </a:solidFill>
                <a:latin typeface="Calibri" pitchFamily="34" charset="0"/>
                <a:ea typeface="Calibri" pitchFamily="34" charset="-122"/>
                <a:cs typeface="Calibri" pitchFamily="34" charset="-120"/>
              </a:rPr>
              <a:t> burns? (C = 12.01, H = 1.01)</a:t>
            </a:r>
            <a:endParaRPr lang="en-US" sz="1200" dirty="0"/>
          </a:p>
        </p:txBody>
      </p:sp>
      <p:sp>
        <p:nvSpPr>
          <p:cNvPr id="12" name="Shape 9"/>
          <p:cNvSpPr/>
          <p:nvPr/>
        </p:nvSpPr>
        <p:spPr>
          <a:xfrm>
            <a:off x="457200" y="2212848"/>
            <a:ext cx="274320" cy="274320"/>
          </a:xfrm>
          <a:prstGeom prst="ellipse">
            <a:avLst/>
          </a:prstGeom>
          <a:solidFill>
            <a:srgbClr val="2F6F9F"/>
          </a:solidFill>
          <a:ln w="12700">
            <a:solidFill>
              <a:srgbClr val="2F6F9F"/>
            </a:solidFill>
            <a:prstDash val="solid"/>
          </a:ln>
        </p:spPr>
      </p:sp>
      <p:sp>
        <p:nvSpPr>
          <p:cNvPr id="13" name="Text 10"/>
          <p:cNvSpPr txBox="1"/>
          <p:nvPr/>
        </p:nvSpPr>
        <p:spPr>
          <a:xfrm>
            <a:off x="457200" y="221284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4" name="Text 11"/>
          <p:cNvSpPr txBox="1"/>
          <p:nvPr/>
        </p:nvSpPr>
        <p:spPr>
          <a:xfrm>
            <a:off x="868680" y="2194560"/>
            <a:ext cx="7772400" cy="566928"/>
          </a:xfrm>
          <a:prstGeom prst="rect">
            <a:avLst/>
          </a:prstGeom>
          <a:noFill/>
          <a:ln/>
        </p:spPr>
        <p:txBody>
          <a:bodyPr wrap="square" lIns="0" tIns="0" rIns="0" bIns="0" rtlCol="0" anchor="t"/>
          <a:lstStyle/>
          <a:p>
            <a:pPr indent="0" marL="0">
              <a:buNone/>
            </a:pPr>
            <a:r>
              <a:rPr lang="en-US" sz="1200" dirty="0">
                <a:solidFill>
                  <a:srgbClr val="1B2A41"/>
                </a:solidFill>
                <a:latin typeface="Calibri" pitchFamily="34" charset="0"/>
                <a:ea typeface="Calibri" pitchFamily="34" charset="-122"/>
                <a:cs typeface="Calibri" pitchFamily="34" charset="-120"/>
              </a:rPr>
              <a:t>Molar mass of CH</a:t>
            </a:r>
            <a:pPr indent="0" marL="0">
              <a:buNone/>
            </a:pPr>
            <a:r>
              <a:rPr lang="en-US" sz="1200" baseline="-40000" dirty="0">
                <a:solidFill>
                  <a:srgbClr val="1B2A41"/>
                </a:solidFill>
                <a:latin typeface="Calibri" pitchFamily="34" charset="0"/>
                <a:ea typeface="Calibri" pitchFamily="34" charset="-122"/>
                <a:cs typeface="Calibri" pitchFamily="34" charset="-120"/>
              </a:rPr>
              <a:t>4</a:t>
            </a:r>
            <a:pPr indent="0" marL="0">
              <a:buNone/>
            </a:pPr>
            <a:r>
              <a:rPr lang="en-US" sz="1200" dirty="0">
                <a:solidFill>
                  <a:srgbClr val="1B2A41"/>
                </a:solidFill>
                <a:latin typeface="Calibri" pitchFamily="34" charset="0"/>
                <a:ea typeface="Calibri" pitchFamily="34" charset="-122"/>
                <a:cs typeface="Calibri" pitchFamily="34" charset="-120"/>
              </a:rPr>
              <a:t> = 12.01 + 4(1.01) = 16.05 g/mol</a:t>
            </a:r>
            <a:endParaRPr lang="en-US" sz="1200" dirty="0"/>
          </a:p>
        </p:txBody>
      </p:sp>
      <p:sp>
        <p:nvSpPr>
          <p:cNvPr id="15" name="Shape 12"/>
          <p:cNvSpPr/>
          <p:nvPr/>
        </p:nvSpPr>
        <p:spPr>
          <a:xfrm>
            <a:off x="457200" y="2779776"/>
            <a:ext cx="274320" cy="274320"/>
          </a:xfrm>
          <a:prstGeom prst="ellipse">
            <a:avLst/>
          </a:prstGeom>
          <a:solidFill>
            <a:srgbClr val="2F6F9F"/>
          </a:solidFill>
          <a:ln w="12700">
            <a:solidFill>
              <a:srgbClr val="2F6F9F"/>
            </a:solidFill>
            <a:prstDash val="solid"/>
          </a:ln>
        </p:spPr>
      </p:sp>
      <p:sp>
        <p:nvSpPr>
          <p:cNvPr id="16" name="Text 13"/>
          <p:cNvSpPr txBox="1"/>
          <p:nvPr/>
        </p:nvSpPr>
        <p:spPr>
          <a:xfrm>
            <a:off x="457200" y="2779776"/>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7" name="Text 14"/>
          <p:cNvSpPr txBox="1"/>
          <p:nvPr/>
        </p:nvSpPr>
        <p:spPr>
          <a:xfrm>
            <a:off x="868680" y="2761488"/>
            <a:ext cx="7772400" cy="566928"/>
          </a:xfrm>
          <a:prstGeom prst="rect">
            <a:avLst/>
          </a:prstGeom>
          <a:noFill/>
          <a:ln/>
        </p:spPr>
        <p:txBody>
          <a:bodyPr wrap="square" lIns="0" tIns="0" rIns="0" bIns="0" rtlCol="0" anchor="t"/>
          <a:lstStyle/>
          <a:p>
            <a:pPr indent="0" marL="0">
              <a:buNone/>
            </a:pPr>
            <a:r>
              <a:rPr lang="en-US" sz="1200" dirty="0">
                <a:solidFill>
                  <a:srgbClr val="1B2A41"/>
                </a:solidFill>
                <a:latin typeface="Calibri" pitchFamily="34" charset="0"/>
                <a:ea typeface="Calibri" pitchFamily="34" charset="-122"/>
                <a:cs typeface="Calibri" pitchFamily="34" charset="-120"/>
              </a:rPr>
              <a:t>Moles of CH</a:t>
            </a:r>
            <a:pPr indent="0" marL="0">
              <a:buNone/>
            </a:pPr>
            <a:r>
              <a:rPr lang="en-US" sz="1200" baseline="-40000" dirty="0">
                <a:solidFill>
                  <a:srgbClr val="1B2A41"/>
                </a:solidFill>
                <a:latin typeface="Calibri" pitchFamily="34" charset="0"/>
                <a:ea typeface="Calibri" pitchFamily="34" charset="-122"/>
                <a:cs typeface="Calibri" pitchFamily="34" charset="-120"/>
              </a:rPr>
              <a:t>4</a:t>
            </a:r>
            <a:pPr indent="0" marL="0">
              <a:buNone/>
            </a:pPr>
            <a:r>
              <a:rPr lang="en-US" sz="1200" dirty="0">
                <a:solidFill>
                  <a:srgbClr val="1B2A41"/>
                </a:solidFill>
                <a:latin typeface="Calibri" pitchFamily="34" charset="0"/>
                <a:ea typeface="Calibri" pitchFamily="34" charset="-122"/>
                <a:cs typeface="Calibri" pitchFamily="34" charset="-120"/>
              </a:rPr>
              <a:t> = 24.0 g ÷ 16.05 g/mol = 1.50 mol</a:t>
            </a:r>
            <a:endParaRPr lang="en-US" sz="1200" dirty="0"/>
          </a:p>
        </p:txBody>
      </p:sp>
      <p:sp>
        <p:nvSpPr>
          <p:cNvPr id="18" name="Shape 15"/>
          <p:cNvSpPr/>
          <p:nvPr/>
        </p:nvSpPr>
        <p:spPr>
          <a:xfrm>
            <a:off x="457200" y="3346704"/>
            <a:ext cx="274320" cy="274320"/>
          </a:xfrm>
          <a:prstGeom prst="ellipse">
            <a:avLst/>
          </a:prstGeom>
          <a:solidFill>
            <a:srgbClr val="2F6F9F"/>
          </a:solidFill>
          <a:ln w="12700">
            <a:solidFill>
              <a:srgbClr val="2F6F9F"/>
            </a:solidFill>
            <a:prstDash val="solid"/>
          </a:ln>
        </p:spPr>
      </p:sp>
      <p:sp>
        <p:nvSpPr>
          <p:cNvPr id="19" name="Text 16"/>
          <p:cNvSpPr txBox="1"/>
          <p:nvPr/>
        </p:nvSpPr>
        <p:spPr>
          <a:xfrm>
            <a:off x="457200" y="334670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0" name="Text 17"/>
          <p:cNvSpPr txBox="1"/>
          <p:nvPr/>
        </p:nvSpPr>
        <p:spPr>
          <a:xfrm>
            <a:off x="868680" y="3328416"/>
            <a:ext cx="7772400" cy="566928"/>
          </a:xfrm>
          <a:prstGeom prst="rect">
            <a:avLst/>
          </a:prstGeom>
          <a:noFill/>
          <a:ln/>
        </p:spPr>
        <p:txBody>
          <a:bodyPr wrap="square" lIns="0" tIns="0" rIns="0" bIns="0" rtlCol="0" anchor="t"/>
          <a:lstStyle/>
          <a:p>
            <a:pPr indent="0" marL="0">
              <a:buNone/>
            </a:pPr>
            <a:r>
              <a:rPr lang="en-US" sz="1200" dirty="0">
                <a:solidFill>
                  <a:srgbClr val="1B2A41"/>
                </a:solidFill>
                <a:latin typeface="Calibri" pitchFamily="34" charset="0"/>
                <a:ea typeface="Calibri" pitchFamily="34" charset="-122"/>
                <a:cs typeface="Calibri" pitchFamily="34" charset="-120"/>
              </a:rPr>
              <a:t>The equation releases 890 kJ per 1 mol CH</a:t>
            </a:r>
            <a:pPr indent="0" marL="0">
              <a:buNone/>
            </a:pPr>
            <a:r>
              <a:rPr lang="en-US" sz="1200" baseline="-40000" dirty="0">
                <a:solidFill>
                  <a:srgbClr val="1B2A41"/>
                </a:solidFill>
                <a:latin typeface="Calibri" pitchFamily="34" charset="0"/>
                <a:ea typeface="Calibri" pitchFamily="34" charset="-122"/>
                <a:cs typeface="Calibri" pitchFamily="34" charset="-120"/>
              </a:rPr>
              <a:t>4</a:t>
            </a:r>
            <a:pPr indent="0" marL="0">
              <a:buNone/>
            </a:pPr>
            <a:r>
              <a:rPr lang="en-US" sz="1200" dirty="0">
                <a:solidFill>
                  <a:srgbClr val="1B2A41"/>
                </a:solidFill>
                <a:latin typeface="Calibri" pitchFamily="34" charset="0"/>
                <a:ea typeface="Calibri" pitchFamily="34" charset="-122"/>
                <a:cs typeface="Calibri" pitchFamily="34" charset="-120"/>
              </a:rPr>
              <a:t>: 1.50 mol × 890 kJ/mol = 1.33 × 10</a:t>
            </a:r>
            <a:pPr indent="0" marL="0">
              <a:buNone/>
            </a:pPr>
            <a:r>
              <a:rPr lang="en-US" sz="1200" baseline="30000" dirty="0">
                <a:solidFill>
                  <a:srgbClr val="1B2A41"/>
                </a:solidFill>
                <a:latin typeface="Calibri" pitchFamily="34" charset="0"/>
                <a:ea typeface="Calibri" pitchFamily="34" charset="-122"/>
                <a:cs typeface="Calibri" pitchFamily="34" charset="-120"/>
              </a:rPr>
              <a:t>3</a:t>
            </a:r>
            <a:pPr indent="0" marL="0">
              <a:buNone/>
            </a:pPr>
            <a:r>
              <a:rPr lang="en-US" sz="1200" dirty="0">
                <a:solidFill>
                  <a:srgbClr val="1B2A41"/>
                </a:solidFill>
                <a:latin typeface="Calibri" pitchFamily="34" charset="0"/>
                <a:ea typeface="Calibri" pitchFamily="34" charset="-122"/>
                <a:cs typeface="Calibri" pitchFamily="34" charset="-120"/>
              </a:rPr>
              <a:t> kJ</a:t>
            </a:r>
            <a:endParaRPr lang="en-US" sz="1200" dirty="0"/>
          </a:p>
        </p:txBody>
      </p:sp>
      <p:sp>
        <p:nvSpPr>
          <p:cNvPr id="21" name="Shape 18"/>
          <p:cNvSpPr/>
          <p:nvPr/>
        </p:nvSpPr>
        <p:spPr>
          <a:xfrm>
            <a:off x="457200" y="3913632"/>
            <a:ext cx="274320" cy="274320"/>
          </a:xfrm>
          <a:prstGeom prst="ellipse">
            <a:avLst/>
          </a:prstGeom>
          <a:solidFill>
            <a:srgbClr val="B86E00"/>
          </a:solidFill>
          <a:ln w="12700">
            <a:solidFill>
              <a:srgbClr val="B86E00"/>
            </a:solidFill>
            <a:prstDash val="solid"/>
          </a:ln>
        </p:spPr>
      </p:sp>
      <p:sp>
        <p:nvSpPr>
          <p:cNvPr id="22" name="Text 19"/>
          <p:cNvSpPr txBox="1"/>
          <p:nvPr/>
        </p:nvSpPr>
        <p:spPr>
          <a:xfrm>
            <a:off x="457200" y="391363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3" name="Text 20"/>
          <p:cNvSpPr txBox="1"/>
          <p:nvPr/>
        </p:nvSpPr>
        <p:spPr>
          <a:xfrm>
            <a:off x="868680" y="3895344"/>
            <a:ext cx="7772400" cy="566928"/>
          </a:xfrm>
          <a:prstGeom prst="rect">
            <a:avLst/>
          </a:prstGeom>
          <a:noFill/>
          <a:ln/>
        </p:spPr>
        <p:txBody>
          <a:bodyPr wrap="square" lIns="0" tIns="0" rIns="0" bIns="0" rtlCol="0" anchor="t"/>
          <a:lstStyle/>
          <a:p>
            <a:pPr indent="0" marL="0">
              <a:buNone/>
            </a:pPr>
            <a:r>
              <a:rPr lang="en-US" sz="1200" b="1" dirty="0">
                <a:solidFill>
                  <a:srgbClr val="1B2A41"/>
                </a:solidFill>
                <a:latin typeface="Calibri" pitchFamily="34" charset="0"/>
                <a:ea typeface="Calibri" pitchFamily="34" charset="-122"/>
                <a:cs typeface="Calibri" pitchFamily="34" charset="-120"/>
              </a:rPr>
              <a:t>1.33 × 10</a:t>
            </a:r>
            <a:pPr indent="0" marL="0">
              <a:buNone/>
            </a:pPr>
            <a:r>
              <a:rPr lang="en-US" sz="1200" b="1" baseline="30000" dirty="0">
                <a:solidFill>
                  <a:srgbClr val="1B2A41"/>
                </a:solidFill>
                <a:latin typeface="Calibri" pitchFamily="34" charset="0"/>
                <a:ea typeface="Calibri" pitchFamily="34" charset="-122"/>
                <a:cs typeface="Calibri" pitchFamily="34" charset="-120"/>
              </a:rPr>
              <a:t>3</a:t>
            </a:r>
            <a:pPr indent="0" marL="0">
              <a:buNone/>
            </a:pPr>
            <a:r>
              <a:rPr lang="en-US" sz="1200" b="1" dirty="0">
                <a:solidFill>
                  <a:srgbClr val="1B2A41"/>
                </a:solidFill>
                <a:latin typeface="Calibri" pitchFamily="34" charset="0"/>
                <a:ea typeface="Calibri" pitchFamily="34" charset="-122"/>
                <a:cs typeface="Calibri" pitchFamily="34" charset="-120"/>
              </a:rPr>
              <a:t> kJ of heat is released</a:t>
            </a:r>
            <a:pPr indent="0" marL="0">
              <a:buNone/>
            </a:pPr>
            <a:r>
              <a:rPr lang="en-US" sz="1200" b="1" dirty="0">
                <a:solidFill>
                  <a:srgbClr val="1B2A41"/>
                </a:solidFill>
                <a:latin typeface="Calibri" pitchFamily="34" charset="0"/>
                <a:ea typeface="Calibri" pitchFamily="34" charset="-122"/>
                <a:cs typeface="Calibri" pitchFamily="34" charset="-120"/>
              </a:rPr>
              <a:t> (ΔH negative, exothermic).</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CR2-LO1</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Example 1.2 · Reversing and scaling</a:t>
            </a:r>
            <a:endParaRPr lang="en-US" sz="2000" dirty="0"/>
          </a:p>
        </p:txBody>
      </p:sp>
      <p:pic>
        <p:nvPicPr>
          <p:cNvPr id="7" name="Image 0" descr="/home/claude/build/mol/methane.png">    </p:cNvPr>
          <p:cNvPicPr>
            <a:picLocks noChangeAspect="1"/>
          </p:cNvPicPr>
          <p:nvPr/>
        </p:nvPicPr>
        <p:blipFill>
          <a:blip r:embed="rId1"/>
          <a:stretch>
            <a:fillRect/>
          </a:stretch>
        </p:blipFill>
        <p:spPr>
          <a:xfrm>
            <a:off x="8163636" y="192024"/>
            <a:ext cx="406247"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Chemical Reactions II</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Shape 7"/>
          <p:cNvSpPr/>
          <p:nvPr/>
        </p:nvSpPr>
        <p:spPr>
          <a:xfrm>
            <a:off x="457200" y="1234440"/>
            <a:ext cx="8229600" cy="777240"/>
          </a:xfrm>
          <a:prstGeom prst="roundRect">
            <a:avLst>
              <a:gd name="adj" fmla="val 9412"/>
            </a:avLst>
          </a:prstGeom>
          <a:solidFill>
            <a:srgbClr val="FFFFFF"/>
          </a:solidFill>
          <a:ln w="9525">
            <a:solidFill>
              <a:srgbClr val="D7E0E8"/>
            </a:solidFill>
            <a:prstDash val="solid"/>
          </a:ln>
        </p:spPr>
      </p:sp>
      <p:sp>
        <p:nvSpPr>
          <p:cNvPr id="11" name="Text 8"/>
          <p:cNvSpPr txBox="1"/>
          <p:nvPr/>
        </p:nvSpPr>
        <p:spPr>
          <a:xfrm>
            <a:off x="594360" y="1280160"/>
            <a:ext cx="7955280" cy="685800"/>
          </a:xfrm>
          <a:prstGeom prst="rect">
            <a:avLst/>
          </a:prstGeom>
          <a:noFill/>
          <a:ln/>
        </p:spPr>
        <p:txBody>
          <a:bodyPr wrap="square" lIns="0" tIns="0" rIns="0" bIns="0" rtlCol="0" anchor="ctr"/>
          <a:lstStyle/>
          <a:p>
            <a:pPr indent="0" marL="0">
              <a:buNone/>
            </a:pPr>
            <a:r>
              <a:rPr lang="en-US" sz="1200" dirty="0">
                <a:solidFill>
                  <a:srgbClr val="1B2A41"/>
                </a:solidFill>
                <a:latin typeface="Calibri" pitchFamily="34" charset="0"/>
                <a:ea typeface="Calibri" pitchFamily="34" charset="-122"/>
                <a:cs typeface="Calibri" pitchFamily="34" charset="-120"/>
              </a:rPr>
              <a:t>N</a:t>
            </a:r>
            <a:pPr indent="0" marL="0">
              <a:buNone/>
            </a:pPr>
            <a:r>
              <a:rPr lang="en-US" sz="1200" baseline="-40000" dirty="0">
                <a:solidFill>
                  <a:srgbClr val="1B2A41"/>
                </a:solidFill>
                <a:latin typeface="Calibri" pitchFamily="34" charset="0"/>
                <a:ea typeface="Calibri" pitchFamily="34" charset="-122"/>
                <a:cs typeface="Calibri" pitchFamily="34" charset="-120"/>
              </a:rPr>
              <a:t>2</a:t>
            </a:r>
            <a:pPr indent="0" marL="0">
              <a:buNone/>
            </a:pPr>
            <a:r>
              <a:rPr lang="en-US" sz="1200" dirty="0">
                <a:solidFill>
                  <a:srgbClr val="1B2A41"/>
                </a:solidFill>
                <a:latin typeface="Calibri" pitchFamily="34" charset="0"/>
                <a:ea typeface="Calibri" pitchFamily="34" charset="-122"/>
                <a:cs typeface="Calibri" pitchFamily="34" charset="-120"/>
              </a:rPr>
              <a:t>(g) + O</a:t>
            </a:r>
            <a:pPr indent="0" marL="0">
              <a:buNone/>
            </a:pPr>
            <a:r>
              <a:rPr lang="en-US" sz="1200" baseline="-40000" dirty="0">
                <a:solidFill>
                  <a:srgbClr val="1B2A41"/>
                </a:solidFill>
                <a:latin typeface="Calibri" pitchFamily="34" charset="0"/>
                <a:ea typeface="Calibri" pitchFamily="34" charset="-122"/>
                <a:cs typeface="Calibri" pitchFamily="34" charset="-120"/>
              </a:rPr>
              <a:t>2</a:t>
            </a:r>
            <a:pPr indent="0" marL="0">
              <a:buNone/>
            </a:pPr>
            <a:r>
              <a:rPr lang="en-US" sz="1200" dirty="0">
                <a:solidFill>
                  <a:srgbClr val="1B2A41"/>
                </a:solidFill>
                <a:latin typeface="Calibri" pitchFamily="34" charset="0"/>
                <a:ea typeface="Calibri" pitchFamily="34" charset="-122"/>
                <a:cs typeface="Calibri" pitchFamily="34" charset="-120"/>
              </a:rPr>
              <a:t>(g) → 2NO(g), ΔH = +180.6 kJ. (a) What is ΔH for 2NO(g) → N</a:t>
            </a:r>
            <a:pPr indent="0" marL="0">
              <a:buNone/>
            </a:pPr>
            <a:r>
              <a:rPr lang="en-US" sz="1200" baseline="-40000" dirty="0">
                <a:solidFill>
                  <a:srgbClr val="1B2A41"/>
                </a:solidFill>
                <a:latin typeface="Calibri" pitchFamily="34" charset="0"/>
                <a:ea typeface="Calibri" pitchFamily="34" charset="-122"/>
                <a:cs typeface="Calibri" pitchFamily="34" charset="-120"/>
              </a:rPr>
              <a:t>2</a:t>
            </a:r>
            <a:pPr indent="0" marL="0">
              <a:buNone/>
            </a:pPr>
            <a:r>
              <a:rPr lang="en-US" sz="1200" dirty="0">
                <a:solidFill>
                  <a:srgbClr val="1B2A41"/>
                </a:solidFill>
                <a:latin typeface="Calibri" pitchFamily="34" charset="0"/>
                <a:ea typeface="Calibri" pitchFamily="34" charset="-122"/>
                <a:cs typeface="Calibri" pitchFamily="34" charset="-120"/>
              </a:rPr>
              <a:t>(g) + O</a:t>
            </a:r>
            <a:pPr indent="0" marL="0">
              <a:buNone/>
            </a:pPr>
            <a:r>
              <a:rPr lang="en-US" sz="1200" baseline="-40000" dirty="0">
                <a:solidFill>
                  <a:srgbClr val="1B2A41"/>
                </a:solidFill>
                <a:latin typeface="Calibri" pitchFamily="34" charset="0"/>
                <a:ea typeface="Calibri" pitchFamily="34" charset="-122"/>
                <a:cs typeface="Calibri" pitchFamily="34" charset="-120"/>
              </a:rPr>
              <a:t>2</a:t>
            </a:r>
            <a:pPr indent="0" marL="0">
              <a:buNone/>
            </a:pPr>
            <a:r>
              <a:rPr lang="en-US" sz="1200" dirty="0">
                <a:solidFill>
                  <a:srgbClr val="1B2A41"/>
                </a:solidFill>
                <a:latin typeface="Calibri" pitchFamily="34" charset="0"/>
                <a:ea typeface="Calibri" pitchFamily="34" charset="-122"/>
                <a:cs typeface="Calibri" pitchFamily="34" charset="-120"/>
              </a:rPr>
              <a:t>(g)? (b) How much heat is needed to make 1 mol of NO?</a:t>
            </a:r>
            <a:endParaRPr lang="en-US" sz="1200" dirty="0"/>
          </a:p>
        </p:txBody>
      </p:sp>
      <p:sp>
        <p:nvSpPr>
          <p:cNvPr id="12" name="Shape 9"/>
          <p:cNvSpPr/>
          <p:nvPr/>
        </p:nvSpPr>
        <p:spPr>
          <a:xfrm>
            <a:off x="457200" y="2212848"/>
            <a:ext cx="274320" cy="274320"/>
          </a:xfrm>
          <a:prstGeom prst="ellipse">
            <a:avLst/>
          </a:prstGeom>
          <a:solidFill>
            <a:srgbClr val="2F6F9F"/>
          </a:solidFill>
          <a:ln w="12700">
            <a:solidFill>
              <a:srgbClr val="2F6F9F"/>
            </a:solidFill>
            <a:prstDash val="solid"/>
          </a:ln>
        </p:spPr>
      </p:sp>
      <p:sp>
        <p:nvSpPr>
          <p:cNvPr id="13" name="Text 10"/>
          <p:cNvSpPr txBox="1"/>
          <p:nvPr/>
        </p:nvSpPr>
        <p:spPr>
          <a:xfrm>
            <a:off x="457200" y="221284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4" name="Text 11"/>
          <p:cNvSpPr txBox="1"/>
          <p:nvPr/>
        </p:nvSpPr>
        <p:spPr>
          <a:xfrm>
            <a:off x="868680" y="2194560"/>
            <a:ext cx="7772400" cy="566928"/>
          </a:xfrm>
          <a:prstGeom prst="rect">
            <a:avLst/>
          </a:prstGeom>
          <a:noFill/>
          <a:ln/>
        </p:spPr>
        <p:txBody>
          <a:bodyPr wrap="square" lIns="0" tIns="0" rIns="0" bIns="0" rtlCol="0" anchor="t"/>
          <a:lstStyle/>
          <a:p>
            <a:pPr indent="0" marL="0">
              <a:buNone/>
            </a:pPr>
            <a:r>
              <a:rPr lang="en-US" sz="1200" dirty="0">
                <a:solidFill>
                  <a:srgbClr val="1B2A41"/>
                </a:solidFill>
                <a:latin typeface="Calibri" pitchFamily="34" charset="0"/>
                <a:ea typeface="Calibri" pitchFamily="34" charset="-122"/>
                <a:cs typeface="Calibri" pitchFamily="34" charset="-120"/>
              </a:rPr>
              <a:t>(a) Reversing the equation changes the sign: ΔH = </a:t>
            </a:r>
            <a:pPr indent="0" marL="0">
              <a:buNone/>
            </a:pPr>
            <a:r>
              <a:rPr lang="en-US" sz="1200" b="1" dirty="0">
                <a:solidFill>
                  <a:srgbClr val="1B2A41"/>
                </a:solidFill>
                <a:latin typeface="Calibri" pitchFamily="34" charset="0"/>
                <a:ea typeface="Calibri" pitchFamily="34" charset="-122"/>
                <a:cs typeface="Calibri" pitchFamily="34" charset="-120"/>
              </a:rPr>
              <a:t>−180.6 kJ</a:t>
            </a:r>
            <a:pPr indent="0" marL="0">
              <a:buNone/>
            </a:pPr>
            <a:r>
              <a:rPr lang="en-US" sz="1200" dirty="0">
                <a:solidFill>
                  <a:srgbClr val="1B2A41"/>
                </a:solidFill>
                <a:latin typeface="Calibri" pitchFamily="34" charset="0"/>
                <a:ea typeface="Calibri" pitchFamily="34" charset="-122"/>
                <a:cs typeface="Calibri" pitchFamily="34" charset="-120"/>
              </a:rPr>
              <a:t> (exothermic).</a:t>
            </a:r>
            <a:endParaRPr lang="en-US" sz="1200" dirty="0"/>
          </a:p>
        </p:txBody>
      </p:sp>
      <p:sp>
        <p:nvSpPr>
          <p:cNvPr id="15" name="Shape 12"/>
          <p:cNvSpPr/>
          <p:nvPr/>
        </p:nvSpPr>
        <p:spPr>
          <a:xfrm>
            <a:off x="457200" y="2779776"/>
            <a:ext cx="274320" cy="274320"/>
          </a:xfrm>
          <a:prstGeom prst="ellipse">
            <a:avLst/>
          </a:prstGeom>
          <a:solidFill>
            <a:srgbClr val="2F6F9F"/>
          </a:solidFill>
          <a:ln w="12700">
            <a:solidFill>
              <a:srgbClr val="2F6F9F"/>
            </a:solidFill>
            <a:prstDash val="solid"/>
          </a:ln>
        </p:spPr>
      </p:sp>
      <p:sp>
        <p:nvSpPr>
          <p:cNvPr id="16" name="Text 13"/>
          <p:cNvSpPr txBox="1"/>
          <p:nvPr/>
        </p:nvSpPr>
        <p:spPr>
          <a:xfrm>
            <a:off x="457200" y="2779776"/>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7" name="Text 14"/>
          <p:cNvSpPr txBox="1"/>
          <p:nvPr/>
        </p:nvSpPr>
        <p:spPr>
          <a:xfrm>
            <a:off x="868680" y="2761488"/>
            <a:ext cx="7772400" cy="566928"/>
          </a:xfrm>
          <a:prstGeom prst="rect">
            <a:avLst/>
          </a:prstGeom>
          <a:noFill/>
          <a:ln/>
        </p:spPr>
        <p:txBody>
          <a:bodyPr wrap="square" lIns="0" tIns="0" rIns="0" bIns="0" rtlCol="0" anchor="t"/>
          <a:lstStyle/>
          <a:p>
            <a:pPr indent="0" marL="0">
              <a:buNone/>
            </a:pPr>
            <a:r>
              <a:rPr lang="en-US" sz="1200" dirty="0">
                <a:solidFill>
                  <a:srgbClr val="1B2A41"/>
                </a:solidFill>
                <a:latin typeface="Calibri" pitchFamily="34" charset="0"/>
                <a:ea typeface="Calibri" pitchFamily="34" charset="-122"/>
                <a:cs typeface="Calibri" pitchFamily="34" charset="-120"/>
              </a:rPr>
              <a:t>(b) 180.6 kJ makes 2 mol NO, so 1 mol needs 180.6 ÷ 2 = </a:t>
            </a:r>
            <a:pPr indent="0" marL="0">
              <a:buNone/>
            </a:pPr>
            <a:r>
              <a:rPr lang="en-US" sz="1200" b="1" dirty="0">
                <a:solidFill>
                  <a:srgbClr val="1B2A41"/>
                </a:solidFill>
                <a:latin typeface="Calibri" pitchFamily="34" charset="0"/>
                <a:ea typeface="Calibri" pitchFamily="34" charset="-122"/>
                <a:cs typeface="Calibri" pitchFamily="34" charset="-120"/>
              </a:rPr>
              <a:t>90.3 kJ</a:t>
            </a:r>
            <a:pPr indent="0" marL="0">
              <a:buNone/>
            </a:pPr>
            <a:r>
              <a:rPr lang="en-US" sz="1200" dirty="0">
                <a:solidFill>
                  <a:srgbClr val="1B2A41"/>
                </a:solidFill>
                <a:latin typeface="Calibri" pitchFamily="34" charset="0"/>
                <a:ea typeface="Calibri" pitchFamily="34" charset="-122"/>
                <a:cs typeface="Calibri" pitchFamily="34" charset="-120"/>
              </a:rPr>
              <a:t>, absorbed.</a:t>
            </a:r>
            <a:endParaRPr lang="en-US" sz="1200" dirty="0"/>
          </a:p>
        </p:txBody>
      </p:sp>
      <p:sp>
        <p:nvSpPr>
          <p:cNvPr id="18" name="Shape 15"/>
          <p:cNvSpPr/>
          <p:nvPr/>
        </p:nvSpPr>
        <p:spPr>
          <a:xfrm>
            <a:off x="457200" y="3346704"/>
            <a:ext cx="274320" cy="274320"/>
          </a:xfrm>
          <a:prstGeom prst="ellipse">
            <a:avLst/>
          </a:prstGeom>
          <a:solidFill>
            <a:srgbClr val="B86E00"/>
          </a:solidFill>
          <a:ln w="12700">
            <a:solidFill>
              <a:srgbClr val="B86E00"/>
            </a:solidFill>
            <a:prstDash val="solid"/>
          </a:ln>
        </p:spPr>
      </p:sp>
      <p:sp>
        <p:nvSpPr>
          <p:cNvPr id="19" name="Text 16"/>
          <p:cNvSpPr txBox="1"/>
          <p:nvPr/>
        </p:nvSpPr>
        <p:spPr>
          <a:xfrm>
            <a:off x="457200" y="334670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0" name="Text 17"/>
          <p:cNvSpPr txBox="1"/>
          <p:nvPr/>
        </p:nvSpPr>
        <p:spPr>
          <a:xfrm>
            <a:off x="868680" y="3328416"/>
            <a:ext cx="7772400" cy="566928"/>
          </a:xfrm>
          <a:prstGeom prst="rect">
            <a:avLst/>
          </a:prstGeom>
          <a:noFill/>
          <a:ln/>
        </p:spPr>
        <p:txBody>
          <a:bodyPr wrap="square" lIns="0" tIns="0" rIns="0" bIns="0" rtlCol="0" anchor="t"/>
          <a:lstStyle/>
          <a:p>
            <a:pPr indent="0" marL="0">
              <a:buNone/>
            </a:pPr>
            <a:r>
              <a:rPr lang="en-US" sz="1200" b="1" dirty="0">
                <a:solidFill>
                  <a:srgbClr val="1B2A41"/>
                </a:solidFill>
                <a:latin typeface="Calibri" pitchFamily="34" charset="0"/>
                <a:ea typeface="Calibri" pitchFamily="34" charset="-122"/>
                <a:cs typeface="Calibri" pitchFamily="34" charset="-120"/>
              </a:rPr>
              <a:t>This endothermic reaction happens in hot car engines and lightning; NO contributes to air pollution.</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CR2-LO1</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Try it · Energy from glucose</a:t>
            </a:r>
            <a:endParaRPr lang="en-US" sz="2000" dirty="0"/>
          </a:p>
        </p:txBody>
      </p:sp>
      <p:pic>
        <p:nvPicPr>
          <p:cNvPr id="7" name="Image 0" descr="/home/claude/build/mol/methane.png">    </p:cNvPr>
          <p:cNvPicPr>
            <a:picLocks noChangeAspect="1"/>
          </p:cNvPicPr>
          <p:nvPr/>
        </p:nvPicPr>
        <p:blipFill>
          <a:blip r:embed="rId1"/>
          <a:stretch>
            <a:fillRect/>
          </a:stretch>
        </p:blipFill>
        <p:spPr>
          <a:xfrm>
            <a:off x="8163636" y="192024"/>
            <a:ext cx="406247"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Chemical Reactions II</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Shape 7"/>
          <p:cNvSpPr/>
          <p:nvPr/>
        </p:nvSpPr>
        <p:spPr>
          <a:xfrm>
            <a:off x="457200" y="1234440"/>
            <a:ext cx="8229600" cy="914400"/>
          </a:xfrm>
          <a:prstGeom prst="roundRect">
            <a:avLst>
              <a:gd name="adj" fmla="val 8000"/>
            </a:avLst>
          </a:prstGeom>
          <a:solidFill>
            <a:srgbClr val="FFFFFF"/>
          </a:solidFill>
          <a:ln w="9525">
            <a:solidFill>
              <a:srgbClr val="D7E0E8"/>
            </a:solidFill>
            <a:prstDash val="solid"/>
          </a:ln>
        </p:spPr>
      </p:sp>
      <p:sp>
        <p:nvSpPr>
          <p:cNvPr id="11" name="Text 8"/>
          <p:cNvSpPr txBox="1"/>
          <p:nvPr/>
        </p:nvSpPr>
        <p:spPr>
          <a:xfrm>
            <a:off x="594360" y="1280160"/>
            <a:ext cx="7955280" cy="822960"/>
          </a:xfrm>
          <a:prstGeom prst="rect">
            <a:avLst/>
          </a:prstGeom>
          <a:noFill/>
          <a:ln/>
        </p:spPr>
        <p:txBody>
          <a:bodyPr wrap="square" lIns="0" tIns="0" rIns="0" bIns="0" rtlCol="0" anchor="ctr"/>
          <a:lstStyle/>
          <a:p>
            <a:pPr indent="0" marL="0">
              <a:buNone/>
            </a:pPr>
            <a:r>
              <a:rPr lang="en-US" sz="1250" dirty="0">
                <a:solidFill>
                  <a:srgbClr val="1B2A41"/>
                </a:solidFill>
                <a:latin typeface="Calibri" pitchFamily="34" charset="0"/>
                <a:ea typeface="Calibri" pitchFamily="34" charset="-122"/>
                <a:cs typeface="Calibri" pitchFamily="34" charset="-120"/>
              </a:rPr>
              <a:t>C</a:t>
            </a:r>
            <a:pPr indent="0" marL="0">
              <a:buNone/>
            </a:pPr>
            <a:r>
              <a:rPr lang="en-US" sz="1250" baseline="-40000" dirty="0">
                <a:solidFill>
                  <a:srgbClr val="1B2A41"/>
                </a:solidFill>
                <a:latin typeface="Calibri" pitchFamily="34" charset="0"/>
                <a:ea typeface="Calibri" pitchFamily="34" charset="-122"/>
                <a:cs typeface="Calibri" pitchFamily="34" charset="-120"/>
              </a:rPr>
              <a:t>6</a:t>
            </a:r>
            <a:pPr indent="0" marL="0">
              <a:buNone/>
            </a:pPr>
            <a:r>
              <a:rPr lang="en-US" sz="1250" dirty="0">
                <a:solidFill>
                  <a:srgbClr val="1B2A41"/>
                </a:solidFill>
                <a:latin typeface="Calibri" pitchFamily="34" charset="0"/>
                <a:ea typeface="Calibri" pitchFamily="34" charset="-122"/>
                <a:cs typeface="Calibri" pitchFamily="34" charset="-120"/>
              </a:rPr>
              <a:t>H</a:t>
            </a:r>
            <a:pPr indent="0" marL="0">
              <a:buNone/>
            </a:pPr>
            <a:r>
              <a:rPr lang="en-US" sz="1250" baseline="-40000" dirty="0">
                <a:solidFill>
                  <a:srgbClr val="1B2A41"/>
                </a:solidFill>
                <a:latin typeface="Calibri" pitchFamily="34" charset="0"/>
                <a:ea typeface="Calibri" pitchFamily="34" charset="-122"/>
                <a:cs typeface="Calibri" pitchFamily="34" charset="-120"/>
              </a:rPr>
              <a:t>12</a:t>
            </a:r>
            <a:pPr indent="0" marL="0">
              <a:buNone/>
            </a:pPr>
            <a:r>
              <a:rPr lang="en-US" sz="1250" dirty="0">
                <a:solidFill>
                  <a:srgbClr val="1B2A41"/>
                </a:solidFill>
                <a:latin typeface="Calibri" pitchFamily="34" charset="0"/>
                <a:ea typeface="Calibri" pitchFamily="34" charset="-122"/>
                <a:cs typeface="Calibri" pitchFamily="34" charset="-120"/>
              </a:rPr>
              <a:t>O</a:t>
            </a:r>
            <a:pPr indent="0" marL="0">
              <a:buNone/>
            </a:pPr>
            <a:r>
              <a:rPr lang="en-US" sz="1250" baseline="-40000" dirty="0">
                <a:solidFill>
                  <a:srgbClr val="1B2A41"/>
                </a:solidFill>
                <a:latin typeface="Calibri" pitchFamily="34" charset="0"/>
                <a:ea typeface="Calibri" pitchFamily="34" charset="-122"/>
                <a:cs typeface="Calibri" pitchFamily="34" charset="-120"/>
              </a:rPr>
              <a:t>6</a:t>
            </a:r>
            <a:pPr indent="0" marL="0">
              <a:buNone/>
            </a:pPr>
            <a:r>
              <a:rPr lang="en-US" sz="1250" dirty="0">
                <a:solidFill>
                  <a:srgbClr val="1B2A41"/>
                </a:solidFill>
                <a:latin typeface="Calibri" pitchFamily="34" charset="0"/>
                <a:ea typeface="Calibri" pitchFamily="34" charset="-122"/>
                <a:cs typeface="Calibri" pitchFamily="34" charset="-120"/>
              </a:rPr>
              <a:t> + 6O</a:t>
            </a:r>
            <a:pPr indent="0" marL="0">
              <a:buNone/>
            </a:pPr>
            <a:r>
              <a:rPr lang="en-US" sz="1250" baseline="-40000" dirty="0">
                <a:solidFill>
                  <a:srgbClr val="1B2A41"/>
                </a:solidFill>
                <a:latin typeface="Calibri" pitchFamily="34" charset="0"/>
                <a:ea typeface="Calibri" pitchFamily="34" charset="-122"/>
                <a:cs typeface="Calibri" pitchFamily="34" charset="-120"/>
              </a:rPr>
              <a:t>2</a:t>
            </a:r>
            <a:pPr indent="0" marL="0">
              <a:buNone/>
            </a:pPr>
            <a:r>
              <a:rPr lang="en-US" sz="1250" dirty="0">
                <a:solidFill>
                  <a:srgbClr val="1B2A41"/>
                </a:solidFill>
                <a:latin typeface="Calibri" pitchFamily="34" charset="0"/>
                <a:ea typeface="Calibri" pitchFamily="34" charset="-122"/>
                <a:cs typeface="Calibri" pitchFamily="34" charset="-120"/>
              </a:rPr>
              <a:t> → 6CO</a:t>
            </a:r>
            <a:pPr indent="0" marL="0">
              <a:buNone/>
            </a:pPr>
            <a:r>
              <a:rPr lang="en-US" sz="1250" baseline="-40000" dirty="0">
                <a:solidFill>
                  <a:srgbClr val="1B2A41"/>
                </a:solidFill>
                <a:latin typeface="Calibri" pitchFamily="34" charset="0"/>
                <a:ea typeface="Calibri" pitchFamily="34" charset="-122"/>
                <a:cs typeface="Calibri" pitchFamily="34" charset="-120"/>
              </a:rPr>
              <a:t>2</a:t>
            </a:r>
            <a:pPr indent="0" marL="0">
              <a:buNone/>
            </a:pPr>
            <a:r>
              <a:rPr lang="en-US" sz="1250" dirty="0">
                <a:solidFill>
                  <a:srgbClr val="1B2A41"/>
                </a:solidFill>
                <a:latin typeface="Calibri" pitchFamily="34" charset="0"/>
                <a:ea typeface="Calibri" pitchFamily="34" charset="-122"/>
                <a:cs typeface="Calibri" pitchFamily="34" charset="-120"/>
              </a:rPr>
              <a:t> + 6H</a:t>
            </a:r>
            <a:pPr indent="0" marL="0">
              <a:buNone/>
            </a:pPr>
            <a:r>
              <a:rPr lang="en-US" sz="1250" baseline="-40000" dirty="0">
                <a:solidFill>
                  <a:srgbClr val="1B2A41"/>
                </a:solidFill>
                <a:latin typeface="Calibri" pitchFamily="34" charset="0"/>
                <a:ea typeface="Calibri" pitchFamily="34" charset="-122"/>
                <a:cs typeface="Calibri" pitchFamily="34" charset="-120"/>
              </a:rPr>
              <a:t>2</a:t>
            </a:r>
            <a:pPr indent="0" marL="0">
              <a:buNone/>
            </a:pPr>
            <a:r>
              <a:rPr lang="en-US" sz="1250" dirty="0">
                <a:solidFill>
                  <a:srgbClr val="1B2A41"/>
                </a:solidFill>
                <a:latin typeface="Calibri" pitchFamily="34" charset="0"/>
                <a:ea typeface="Calibri" pitchFamily="34" charset="-122"/>
                <a:cs typeface="Calibri" pitchFamily="34" charset="-120"/>
              </a:rPr>
              <a:t>O, ΔH = −2803 kJ. How much heat is released when the body oxidises 9.00 g of glucose? (C = 12.01, H = 1.01, O = 16.00)</a:t>
            </a:r>
            <a:endParaRPr lang="en-US" sz="1250" dirty="0"/>
          </a:p>
        </p:txBody>
      </p:sp>
      <p:sp>
        <p:nvSpPr>
          <p:cNvPr id="12" name="Text 9"/>
          <p:cNvSpPr txBox="1"/>
          <p:nvPr/>
        </p:nvSpPr>
        <p:spPr>
          <a:xfrm>
            <a:off x="457200" y="2377440"/>
            <a:ext cx="5486400" cy="274320"/>
          </a:xfrm>
          <a:prstGeom prst="rect">
            <a:avLst/>
          </a:prstGeom>
          <a:noFill/>
          <a:ln/>
        </p:spPr>
        <p:txBody>
          <a:bodyPr wrap="square" lIns="0" tIns="0" rIns="0" bIns="0" rtlCol="0" anchor="ctr"/>
          <a:lstStyle/>
          <a:p>
            <a:pPr indent="0" marL="0">
              <a:buNone/>
            </a:pPr>
            <a:r>
              <a:rPr lang="en-US" sz="1000" i="1" dirty="0">
                <a:solidFill>
                  <a:srgbClr val="56657A"/>
                </a:solidFill>
                <a:latin typeface="Calibri" pitchFamily="34" charset="0"/>
                <a:ea typeface="Calibri" pitchFamily="34" charset="-122"/>
                <a:cs typeface="Calibri" pitchFamily="34" charset="-120"/>
              </a:rPr>
              <a:t>Work it out, then check on the next slide.</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CR2-LO1</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Try it · Energy from glucose · answer</a:t>
            </a:r>
            <a:endParaRPr lang="en-US" sz="2000" dirty="0"/>
          </a:p>
        </p:txBody>
      </p:sp>
      <p:pic>
        <p:nvPicPr>
          <p:cNvPr id="7" name="Image 0" descr="/home/claude/build/mol/methane.png">    </p:cNvPr>
          <p:cNvPicPr>
            <a:picLocks noChangeAspect="1"/>
          </p:cNvPicPr>
          <p:nvPr/>
        </p:nvPicPr>
        <p:blipFill>
          <a:blip r:embed="rId1"/>
          <a:stretch>
            <a:fillRect/>
          </a:stretch>
        </p:blipFill>
        <p:spPr>
          <a:xfrm>
            <a:off x="8163636" y="192024"/>
            <a:ext cx="406247"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Chemical Reactions II</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Shape 7"/>
          <p:cNvSpPr/>
          <p:nvPr/>
        </p:nvSpPr>
        <p:spPr>
          <a:xfrm>
            <a:off x="457200" y="1234440"/>
            <a:ext cx="8229600" cy="914400"/>
          </a:xfrm>
          <a:prstGeom prst="roundRect">
            <a:avLst>
              <a:gd name="adj" fmla="val 8000"/>
            </a:avLst>
          </a:prstGeom>
          <a:solidFill>
            <a:srgbClr val="FFFFFF"/>
          </a:solidFill>
          <a:ln w="9525">
            <a:solidFill>
              <a:srgbClr val="D7E0E8"/>
            </a:solidFill>
            <a:prstDash val="solid"/>
          </a:ln>
        </p:spPr>
      </p:sp>
      <p:sp>
        <p:nvSpPr>
          <p:cNvPr id="11" name="Text 8"/>
          <p:cNvSpPr txBox="1"/>
          <p:nvPr/>
        </p:nvSpPr>
        <p:spPr>
          <a:xfrm>
            <a:off x="594360" y="1280160"/>
            <a:ext cx="7955280" cy="822960"/>
          </a:xfrm>
          <a:prstGeom prst="rect">
            <a:avLst/>
          </a:prstGeom>
          <a:noFill/>
          <a:ln/>
        </p:spPr>
        <p:txBody>
          <a:bodyPr wrap="square" lIns="0" tIns="0" rIns="0" bIns="0" rtlCol="0" anchor="ctr"/>
          <a:lstStyle/>
          <a:p>
            <a:pPr indent="0" marL="0">
              <a:buNone/>
            </a:pPr>
            <a:r>
              <a:rPr lang="en-US" sz="1250" dirty="0">
                <a:solidFill>
                  <a:srgbClr val="1B2A41"/>
                </a:solidFill>
                <a:latin typeface="Calibri" pitchFamily="34" charset="0"/>
                <a:ea typeface="Calibri" pitchFamily="34" charset="-122"/>
                <a:cs typeface="Calibri" pitchFamily="34" charset="-120"/>
              </a:rPr>
              <a:t>C</a:t>
            </a:r>
            <a:pPr indent="0" marL="0">
              <a:buNone/>
            </a:pPr>
            <a:r>
              <a:rPr lang="en-US" sz="1250" baseline="-40000" dirty="0">
                <a:solidFill>
                  <a:srgbClr val="1B2A41"/>
                </a:solidFill>
                <a:latin typeface="Calibri" pitchFamily="34" charset="0"/>
                <a:ea typeface="Calibri" pitchFamily="34" charset="-122"/>
                <a:cs typeface="Calibri" pitchFamily="34" charset="-120"/>
              </a:rPr>
              <a:t>6</a:t>
            </a:r>
            <a:pPr indent="0" marL="0">
              <a:buNone/>
            </a:pPr>
            <a:r>
              <a:rPr lang="en-US" sz="1250" dirty="0">
                <a:solidFill>
                  <a:srgbClr val="1B2A41"/>
                </a:solidFill>
                <a:latin typeface="Calibri" pitchFamily="34" charset="0"/>
                <a:ea typeface="Calibri" pitchFamily="34" charset="-122"/>
                <a:cs typeface="Calibri" pitchFamily="34" charset="-120"/>
              </a:rPr>
              <a:t>H</a:t>
            </a:r>
            <a:pPr indent="0" marL="0">
              <a:buNone/>
            </a:pPr>
            <a:r>
              <a:rPr lang="en-US" sz="1250" baseline="-40000" dirty="0">
                <a:solidFill>
                  <a:srgbClr val="1B2A41"/>
                </a:solidFill>
                <a:latin typeface="Calibri" pitchFamily="34" charset="0"/>
                <a:ea typeface="Calibri" pitchFamily="34" charset="-122"/>
                <a:cs typeface="Calibri" pitchFamily="34" charset="-120"/>
              </a:rPr>
              <a:t>12</a:t>
            </a:r>
            <a:pPr indent="0" marL="0">
              <a:buNone/>
            </a:pPr>
            <a:r>
              <a:rPr lang="en-US" sz="1250" dirty="0">
                <a:solidFill>
                  <a:srgbClr val="1B2A41"/>
                </a:solidFill>
                <a:latin typeface="Calibri" pitchFamily="34" charset="0"/>
                <a:ea typeface="Calibri" pitchFamily="34" charset="-122"/>
                <a:cs typeface="Calibri" pitchFamily="34" charset="-120"/>
              </a:rPr>
              <a:t>O</a:t>
            </a:r>
            <a:pPr indent="0" marL="0">
              <a:buNone/>
            </a:pPr>
            <a:r>
              <a:rPr lang="en-US" sz="1250" baseline="-40000" dirty="0">
                <a:solidFill>
                  <a:srgbClr val="1B2A41"/>
                </a:solidFill>
                <a:latin typeface="Calibri" pitchFamily="34" charset="0"/>
                <a:ea typeface="Calibri" pitchFamily="34" charset="-122"/>
                <a:cs typeface="Calibri" pitchFamily="34" charset="-120"/>
              </a:rPr>
              <a:t>6</a:t>
            </a:r>
            <a:pPr indent="0" marL="0">
              <a:buNone/>
            </a:pPr>
            <a:r>
              <a:rPr lang="en-US" sz="1250" dirty="0">
                <a:solidFill>
                  <a:srgbClr val="1B2A41"/>
                </a:solidFill>
                <a:latin typeface="Calibri" pitchFamily="34" charset="0"/>
                <a:ea typeface="Calibri" pitchFamily="34" charset="-122"/>
                <a:cs typeface="Calibri" pitchFamily="34" charset="-120"/>
              </a:rPr>
              <a:t> + 6O</a:t>
            </a:r>
            <a:pPr indent="0" marL="0">
              <a:buNone/>
            </a:pPr>
            <a:r>
              <a:rPr lang="en-US" sz="1250" baseline="-40000" dirty="0">
                <a:solidFill>
                  <a:srgbClr val="1B2A41"/>
                </a:solidFill>
                <a:latin typeface="Calibri" pitchFamily="34" charset="0"/>
                <a:ea typeface="Calibri" pitchFamily="34" charset="-122"/>
                <a:cs typeface="Calibri" pitchFamily="34" charset="-120"/>
              </a:rPr>
              <a:t>2</a:t>
            </a:r>
            <a:pPr indent="0" marL="0">
              <a:buNone/>
            </a:pPr>
            <a:r>
              <a:rPr lang="en-US" sz="1250" dirty="0">
                <a:solidFill>
                  <a:srgbClr val="1B2A41"/>
                </a:solidFill>
                <a:latin typeface="Calibri" pitchFamily="34" charset="0"/>
                <a:ea typeface="Calibri" pitchFamily="34" charset="-122"/>
                <a:cs typeface="Calibri" pitchFamily="34" charset="-120"/>
              </a:rPr>
              <a:t> → 6CO</a:t>
            </a:r>
            <a:pPr indent="0" marL="0">
              <a:buNone/>
            </a:pPr>
            <a:r>
              <a:rPr lang="en-US" sz="1250" baseline="-40000" dirty="0">
                <a:solidFill>
                  <a:srgbClr val="1B2A41"/>
                </a:solidFill>
                <a:latin typeface="Calibri" pitchFamily="34" charset="0"/>
                <a:ea typeface="Calibri" pitchFamily="34" charset="-122"/>
                <a:cs typeface="Calibri" pitchFamily="34" charset="-120"/>
              </a:rPr>
              <a:t>2</a:t>
            </a:r>
            <a:pPr indent="0" marL="0">
              <a:buNone/>
            </a:pPr>
            <a:r>
              <a:rPr lang="en-US" sz="1250" dirty="0">
                <a:solidFill>
                  <a:srgbClr val="1B2A41"/>
                </a:solidFill>
                <a:latin typeface="Calibri" pitchFamily="34" charset="0"/>
                <a:ea typeface="Calibri" pitchFamily="34" charset="-122"/>
                <a:cs typeface="Calibri" pitchFamily="34" charset="-120"/>
              </a:rPr>
              <a:t> + 6H</a:t>
            </a:r>
            <a:pPr indent="0" marL="0">
              <a:buNone/>
            </a:pPr>
            <a:r>
              <a:rPr lang="en-US" sz="1250" baseline="-40000" dirty="0">
                <a:solidFill>
                  <a:srgbClr val="1B2A41"/>
                </a:solidFill>
                <a:latin typeface="Calibri" pitchFamily="34" charset="0"/>
                <a:ea typeface="Calibri" pitchFamily="34" charset="-122"/>
                <a:cs typeface="Calibri" pitchFamily="34" charset="-120"/>
              </a:rPr>
              <a:t>2</a:t>
            </a:r>
            <a:pPr indent="0" marL="0">
              <a:buNone/>
            </a:pPr>
            <a:r>
              <a:rPr lang="en-US" sz="1250" dirty="0">
                <a:solidFill>
                  <a:srgbClr val="1B2A41"/>
                </a:solidFill>
                <a:latin typeface="Calibri" pitchFamily="34" charset="0"/>
                <a:ea typeface="Calibri" pitchFamily="34" charset="-122"/>
                <a:cs typeface="Calibri" pitchFamily="34" charset="-120"/>
              </a:rPr>
              <a:t>O, ΔH = −2803 kJ. How much heat is released when the body oxidises 9.00 g of glucose? (C = 12.01, H = 1.01, O = 16.00)</a:t>
            </a:r>
            <a:endParaRPr lang="en-US" sz="1250" dirty="0"/>
          </a:p>
        </p:txBody>
      </p:sp>
      <p:sp>
        <p:nvSpPr>
          <p:cNvPr id="12" name="Shape 9"/>
          <p:cNvSpPr/>
          <p:nvPr/>
        </p:nvSpPr>
        <p:spPr>
          <a:xfrm>
            <a:off x="457200" y="2331720"/>
            <a:ext cx="8229600" cy="2240280"/>
          </a:xfrm>
          <a:prstGeom prst="roundRect">
            <a:avLst>
              <a:gd name="adj" fmla="val 3265"/>
            </a:avLst>
          </a:prstGeom>
          <a:solidFill>
            <a:srgbClr val="FBEFD9"/>
          </a:solidFill>
          <a:ln w="9525">
            <a:solidFill>
              <a:srgbClr val="FBEFD9"/>
            </a:solidFill>
            <a:prstDash val="solid"/>
          </a:ln>
        </p:spPr>
      </p:sp>
      <p:sp>
        <p:nvSpPr>
          <p:cNvPr id="13" name="Text 10"/>
          <p:cNvSpPr txBox="1"/>
          <p:nvPr/>
        </p:nvSpPr>
        <p:spPr>
          <a:xfrm>
            <a:off x="640080" y="2423160"/>
            <a:ext cx="7863840" cy="2057400"/>
          </a:xfrm>
          <a:prstGeom prst="rect">
            <a:avLst/>
          </a:prstGeom>
          <a:noFill/>
          <a:ln/>
        </p:spPr>
        <p:txBody>
          <a:bodyPr wrap="square" lIns="0" tIns="0" rIns="0" bIns="0" rtlCol="0" anchor="t"/>
          <a:lstStyle/>
          <a:p>
            <a:pPr indent="0" marL="0">
              <a:buNone/>
            </a:pPr>
            <a:r>
              <a:rPr lang="en-US" sz="1100" b="1" dirty="0">
                <a:solidFill>
                  <a:srgbClr val="B86E00"/>
                </a:solidFill>
                <a:latin typeface="Calibri" pitchFamily="34" charset="0"/>
                <a:ea typeface="Calibri" pitchFamily="34" charset="-122"/>
                <a:cs typeface="Calibri" pitchFamily="34" charset="-120"/>
              </a:rPr>
              <a:t>Answer</a:t>
            </a:r>
            <a:endParaRPr lang="en-US" sz="1100" dirty="0"/>
          </a:p>
          <a:p>
            <a:pPr indent="0" marL="0">
              <a:buNone/>
            </a:pPr>
            <a:r>
              <a:rPr lang="en-US" sz="1200" dirty="0">
                <a:solidFill>
                  <a:srgbClr val="1B2A41"/>
                </a:solidFill>
                <a:latin typeface="Calibri" pitchFamily="34" charset="0"/>
                <a:ea typeface="Calibri" pitchFamily="34" charset="-122"/>
                <a:cs typeface="Calibri" pitchFamily="34" charset="-120"/>
              </a:rPr>
              <a:t>Molar mass = 6(12.01) + 12(1.01) + 6(16.00) = 180.18 g/mol</a:t>
            </a:r>
            <a:endParaRPr lang="en-US" sz="1100" dirty="0"/>
          </a:p>
          <a:p>
            <a:pPr indent="0" marL="0">
              <a:buNone/>
            </a:pPr>
            <a:r>
              <a:rPr lang="en-US" sz="1200" dirty="0">
                <a:solidFill>
                  <a:srgbClr val="1B2A41"/>
                </a:solidFill>
                <a:latin typeface="Calibri" pitchFamily="34" charset="0"/>
                <a:ea typeface="Calibri" pitchFamily="34" charset="-122"/>
                <a:cs typeface="Calibri" pitchFamily="34" charset="-120"/>
              </a:rPr>
              <a:t>Moles = 9.00 ÷ 180.18 = 0.0500 mol</a:t>
            </a:r>
            <a:endParaRPr lang="en-US" sz="1100" dirty="0"/>
          </a:p>
          <a:p>
            <a:pPr indent="0" marL="0">
              <a:buNone/>
            </a:pPr>
            <a:r>
              <a:rPr lang="en-US" sz="1200" dirty="0">
                <a:solidFill>
                  <a:srgbClr val="1B2A41"/>
                </a:solidFill>
                <a:latin typeface="Calibri" pitchFamily="34" charset="0"/>
                <a:ea typeface="Calibri" pitchFamily="34" charset="-122"/>
                <a:cs typeface="Calibri" pitchFamily="34" charset="-120"/>
              </a:rPr>
              <a:t>Heat = 0.0500 × 2803 = </a:t>
            </a:r>
            <a:pPr indent="0" marL="0">
              <a:buNone/>
            </a:pPr>
            <a:r>
              <a:rPr lang="en-US" sz="1200" b="1" dirty="0">
                <a:solidFill>
                  <a:srgbClr val="1B2A41"/>
                </a:solidFill>
                <a:latin typeface="Calibri" pitchFamily="34" charset="0"/>
                <a:ea typeface="Calibri" pitchFamily="34" charset="-122"/>
                <a:cs typeface="Calibri" pitchFamily="34" charset="-120"/>
              </a:rPr>
              <a:t>140 kJ released</a:t>
            </a:r>
            <a:pPr indent="0" marL="0">
              <a:buNone/>
            </a:pPr>
            <a:r>
              <a:rPr lang="en-US" sz="1200" dirty="0">
                <a:solidFill>
                  <a:srgbClr val="1B2A41"/>
                </a:solidFill>
                <a:latin typeface="Calibri" pitchFamily="34" charset="0"/>
                <a:ea typeface="Calibri" pitchFamily="34" charset="-122"/>
                <a:cs typeface="Calibri" pitchFamily="34" charset="-120"/>
              </a:rPr>
              <a:t> (about 33 kcal, a few sweets' worth).</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CR2-LO1</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Pharmacy in your hand: cold packs and hot packs</a:t>
            </a:r>
            <a:endParaRPr lang="en-US" sz="2000" dirty="0"/>
          </a:p>
        </p:txBody>
      </p:sp>
      <p:pic>
        <p:nvPicPr>
          <p:cNvPr id="7" name="Image 0" descr="/home/claude/build/mol/methane.png">    </p:cNvPr>
          <p:cNvPicPr>
            <a:picLocks noChangeAspect="1"/>
          </p:cNvPicPr>
          <p:nvPr/>
        </p:nvPicPr>
        <p:blipFill>
          <a:blip r:embed="rId1"/>
          <a:stretch>
            <a:fillRect/>
          </a:stretch>
        </p:blipFill>
        <p:spPr>
          <a:xfrm>
            <a:off x="8163636" y="192024"/>
            <a:ext cx="406247"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Chemical Reactions II</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Text 7"/>
          <p:cNvSpPr txBox="1"/>
          <p:nvPr/>
        </p:nvSpPr>
        <p:spPr>
          <a:xfrm>
            <a:off x="457200" y="1188720"/>
            <a:ext cx="8229600" cy="502920"/>
          </a:xfrm>
          <a:prstGeom prst="rect">
            <a:avLst/>
          </a:prstGeom>
          <a:noFill/>
          <a:ln/>
        </p:spPr>
        <p:txBody>
          <a:bodyPr wrap="square" lIns="0" tIns="0" rIns="0" bIns="0" rtlCol="0" anchor="t"/>
          <a:lstStyle/>
          <a:p>
            <a:pPr indent="0" marL="0">
              <a:buNone/>
            </a:pPr>
            <a:r>
              <a:rPr lang="en-US" sz="1200" dirty="0">
                <a:solidFill>
                  <a:srgbClr val="1B2A41"/>
                </a:solidFill>
                <a:latin typeface="Calibri" pitchFamily="34" charset="0"/>
                <a:ea typeface="Calibri" pitchFamily="34" charset="-122"/>
                <a:cs typeface="Calibri" pitchFamily="34" charset="-120"/>
              </a:rPr>
              <a:t>Instant packs used for sprains and muscle aches contain a solid and a pouch of water. Squeezing the pack lets them mix.</a:t>
            </a:r>
            <a:endParaRPr lang="en-US" sz="1200" dirty="0"/>
          </a:p>
        </p:txBody>
      </p:sp>
      <p:sp>
        <p:nvSpPr>
          <p:cNvPr id="11" name="Shape 8"/>
          <p:cNvSpPr/>
          <p:nvPr/>
        </p:nvSpPr>
        <p:spPr>
          <a:xfrm>
            <a:off x="457200" y="1783080"/>
            <a:ext cx="4023360" cy="2880360"/>
          </a:xfrm>
          <a:prstGeom prst="roundRect">
            <a:avLst>
              <a:gd name="adj" fmla="val 2540"/>
            </a:avLst>
          </a:prstGeom>
          <a:solidFill>
            <a:srgbClr val="E1EEF7"/>
          </a:solidFill>
          <a:ln w="9525">
            <a:solidFill>
              <a:srgbClr val="E1EEF7"/>
            </a:solidFill>
            <a:prstDash val="solid"/>
          </a:ln>
        </p:spPr>
      </p:sp>
      <p:sp>
        <p:nvSpPr>
          <p:cNvPr id="12" name="Text 9"/>
          <p:cNvSpPr txBox="1"/>
          <p:nvPr/>
        </p:nvSpPr>
        <p:spPr>
          <a:xfrm>
            <a:off x="594360" y="1874520"/>
            <a:ext cx="3749040" cy="320040"/>
          </a:xfrm>
          <a:prstGeom prst="rect">
            <a:avLst/>
          </a:prstGeom>
          <a:noFill/>
          <a:ln/>
        </p:spPr>
        <p:txBody>
          <a:bodyPr wrap="square" lIns="0" tIns="0" rIns="0" bIns="0" rtlCol="0" anchor="ctr"/>
          <a:lstStyle/>
          <a:p>
            <a:pPr indent="0" marL="0">
              <a:buNone/>
            </a:pPr>
            <a:r>
              <a:rPr lang="en-US" sz="1200" b="1" dirty="0">
                <a:solidFill>
                  <a:srgbClr val="2F6F9F"/>
                </a:solidFill>
                <a:latin typeface="Calibri" pitchFamily="34" charset="0"/>
                <a:ea typeface="Calibri" pitchFamily="34" charset="-122"/>
                <a:cs typeface="Calibri" pitchFamily="34" charset="-120"/>
              </a:rPr>
              <a:t>Cold pack · endothermic</a:t>
            </a:r>
            <a:endParaRPr lang="en-US" sz="1200" dirty="0"/>
          </a:p>
        </p:txBody>
      </p:sp>
      <p:sp>
        <p:nvSpPr>
          <p:cNvPr id="13" name="Text 10"/>
          <p:cNvSpPr txBox="1"/>
          <p:nvPr/>
        </p:nvSpPr>
        <p:spPr>
          <a:xfrm>
            <a:off x="594360" y="2240280"/>
            <a:ext cx="3749040" cy="2331720"/>
          </a:xfrm>
          <a:prstGeom prst="rect">
            <a:avLst/>
          </a:prstGeom>
          <a:noFill/>
          <a:ln/>
        </p:spPr>
        <p:txBody>
          <a:bodyPr wrap="square" lIns="0" tIns="0" rIns="0" bIns="0" rtlCol="0" anchor="t"/>
          <a:lstStyle/>
          <a:p>
            <a:pPr marL="177800" indent="-177800">
              <a:spcAft>
                <a:spcPts val="400"/>
              </a:spcAft>
              <a:buSzPct val="100000"/>
              <a:buChar char="•"/>
            </a:pPr>
            <a:r>
              <a:rPr lang="en-US" sz="1100" dirty="0">
                <a:solidFill>
                  <a:srgbClr val="1B2A41"/>
                </a:solidFill>
                <a:latin typeface="Calibri" pitchFamily="34" charset="0"/>
                <a:ea typeface="Calibri" pitchFamily="34" charset="-122"/>
                <a:cs typeface="Calibri" pitchFamily="34" charset="-120"/>
              </a:rPr>
              <a:t>Ammonium nitrate dissolves: NH</a:t>
            </a:r>
            <a:pPr marL="177800" indent="-177800">
              <a:spcAft>
                <a:spcPts val="400"/>
              </a:spcAft>
              <a:buSzPct val="100000"/>
              <a:buChar char="•"/>
            </a:pPr>
            <a:r>
              <a:rPr lang="en-US" sz="1100" baseline="-40000" dirty="0">
                <a:solidFill>
                  <a:srgbClr val="1B2A41"/>
                </a:solidFill>
                <a:latin typeface="Calibri" pitchFamily="34" charset="0"/>
                <a:ea typeface="Calibri" pitchFamily="34" charset="-122"/>
                <a:cs typeface="Calibri" pitchFamily="34" charset="-120"/>
              </a:rPr>
              <a:t>4</a:t>
            </a:r>
            <a:pPr marL="177800" indent="-177800">
              <a:spcAft>
                <a:spcPts val="400"/>
              </a:spcAft>
              <a:buSzPct val="100000"/>
              <a:buChar char="•"/>
            </a:pPr>
            <a:r>
              <a:rPr lang="en-US" sz="1100" dirty="0">
                <a:solidFill>
                  <a:srgbClr val="1B2A41"/>
                </a:solidFill>
                <a:latin typeface="Calibri" pitchFamily="34" charset="0"/>
                <a:ea typeface="Calibri" pitchFamily="34" charset="-122"/>
                <a:cs typeface="Calibri" pitchFamily="34" charset="-120"/>
              </a:rPr>
              <a:t>NO</a:t>
            </a:r>
            <a:pPr marL="177800" indent="-177800">
              <a:spcAft>
                <a:spcPts val="400"/>
              </a:spcAft>
              <a:buSzPct val="100000"/>
              <a:buChar char="•"/>
            </a:pPr>
            <a:r>
              <a:rPr lang="en-US" sz="1100" baseline="-40000" dirty="0">
                <a:solidFill>
                  <a:srgbClr val="1B2A41"/>
                </a:solidFill>
                <a:latin typeface="Calibri" pitchFamily="34" charset="0"/>
                <a:ea typeface="Calibri" pitchFamily="34" charset="-122"/>
                <a:cs typeface="Calibri" pitchFamily="34" charset="-120"/>
              </a:rPr>
              <a:t>3</a:t>
            </a:r>
            <a:pPr marL="177800" indent="-177800">
              <a:spcAft>
                <a:spcPts val="400"/>
              </a:spcAft>
              <a:buSzPct val="100000"/>
              <a:buChar char="•"/>
            </a:pPr>
            <a:r>
              <a:rPr lang="en-US" sz="1100" dirty="0">
                <a:solidFill>
                  <a:srgbClr val="1B2A41"/>
                </a:solidFill>
                <a:latin typeface="Calibri" pitchFamily="34" charset="0"/>
                <a:ea typeface="Calibri" pitchFamily="34" charset="-122"/>
                <a:cs typeface="Calibri" pitchFamily="34" charset="-120"/>
              </a:rPr>
              <a:t>(s) → NH</a:t>
            </a:r>
            <a:pPr marL="177800" indent="-177800">
              <a:spcAft>
                <a:spcPts val="400"/>
              </a:spcAft>
              <a:buSzPct val="100000"/>
              <a:buChar char="•"/>
            </a:pPr>
            <a:r>
              <a:rPr lang="en-US" sz="1100" baseline="-40000" dirty="0">
                <a:solidFill>
                  <a:srgbClr val="1B2A41"/>
                </a:solidFill>
                <a:latin typeface="Calibri" pitchFamily="34" charset="0"/>
                <a:ea typeface="Calibri" pitchFamily="34" charset="-122"/>
                <a:cs typeface="Calibri" pitchFamily="34" charset="-120"/>
              </a:rPr>
              <a:t>4</a:t>
            </a:r>
            <a:pPr marL="177800" indent="-177800">
              <a:spcAft>
                <a:spcPts val="400"/>
              </a:spcAft>
              <a:buSzPct val="100000"/>
              <a:buChar char="•"/>
            </a:pPr>
            <a:r>
              <a:rPr lang="en-US" sz="1100" baseline="30000" dirty="0">
                <a:solidFill>
                  <a:srgbClr val="1B2A41"/>
                </a:solidFill>
                <a:latin typeface="Calibri" pitchFamily="34" charset="0"/>
                <a:ea typeface="Calibri" pitchFamily="34" charset="-122"/>
                <a:cs typeface="Calibri" pitchFamily="34" charset="-120"/>
              </a:rPr>
              <a:t>+</a:t>
            </a:r>
            <a:pPr marL="177800" indent="-177800">
              <a:spcAft>
                <a:spcPts val="400"/>
              </a:spcAft>
              <a:buSzPct val="100000"/>
              <a:buChar char="•"/>
            </a:pPr>
            <a:r>
              <a:rPr lang="en-US" sz="1100" dirty="0">
                <a:solidFill>
                  <a:srgbClr val="1B2A41"/>
                </a:solidFill>
                <a:latin typeface="Calibri" pitchFamily="34" charset="0"/>
                <a:ea typeface="Calibri" pitchFamily="34" charset="-122"/>
                <a:cs typeface="Calibri" pitchFamily="34" charset="-120"/>
              </a:rPr>
              <a:t>(aq) + NO</a:t>
            </a:r>
            <a:pPr marL="177800" indent="-177800">
              <a:spcAft>
                <a:spcPts val="400"/>
              </a:spcAft>
              <a:buSzPct val="100000"/>
              <a:buChar char="•"/>
            </a:pPr>
            <a:r>
              <a:rPr lang="en-US" sz="1100" baseline="-40000" dirty="0">
                <a:solidFill>
                  <a:srgbClr val="1B2A41"/>
                </a:solidFill>
                <a:latin typeface="Calibri" pitchFamily="34" charset="0"/>
                <a:ea typeface="Calibri" pitchFamily="34" charset="-122"/>
                <a:cs typeface="Calibri" pitchFamily="34" charset="-120"/>
              </a:rPr>
              <a:t>3</a:t>
            </a:r>
            <a:pPr marL="177800" indent="-177800">
              <a:spcAft>
                <a:spcPts val="400"/>
              </a:spcAft>
              <a:buSzPct val="100000"/>
              <a:buChar char="•"/>
            </a:pPr>
            <a:r>
              <a:rPr lang="en-US" sz="1100" baseline="30000" dirty="0">
                <a:solidFill>
                  <a:srgbClr val="1B2A41"/>
                </a:solidFill>
                <a:latin typeface="Calibri" pitchFamily="34" charset="0"/>
                <a:ea typeface="Calibri" pitchFamily="34" charset="-122"/>
                <a:cs typeface="Calibri" pitchFamily="34" charset="-120"/>
              </a:rPr>
              <a:t>−</a:t>
            </a:r>
            <a:pPr marL="177800" indent="-177800">
              <a:spcAft>
                <a:spcPts val="400"/>
              </a:spcAft>
              <a:buSzPct val="100000"/>
              <a:buChar char="•"/>
            </a:pPr>
            <a:r>
              <a:rPr lang="en-US" sz="1100" dirty="0">
                <a:solidFill>
                  <a:srgbClr val="1B2A41"/>
                </a:solidFill>
                <a:latin typeface="Calibri" pitchFamily="34" charset="0"/>
                <a:ea typeface="Calibri" pitchFamily="34" charset="-122"/>
                <a:cs typeface="Calibri" pitchFamily="34" charset="-120"/>
              </a:rPr>
              <a:t>(aq)</a:t>
            </a:r>
            <a:endParaRPr lang="en-US" sz="1100" dirty="0"/>
          </a:p>
          <a:p>
            <a:pPr marL="177800" indent="-177800">
              <a:spcAft>
                <a:spcPts val="400"/>
              </a:spcAft>
              <a:buSzPct val="100000"/>
              <a:buChar char="•"/>
            </a:pPr>
            <a:r>
              <a:rPr lang="en-US" sz="1100" dirty="0">
                <a:solidFill>
                  <a:srgbClr val="1B2A41"/>
                </a:solidFill>
                <a:latin typeface="Calibri" pitchFamily="34" charset="0"/>
                <a:ea typeface="Calibri" pitchFamily="34" charset="-122"/>
                <a:cs typeface="Calibri" pitchFamily="34" charset="-120"/>
              </a:rPr>
              <a:t>ΔH = +25.7 kJ/mol: heat is taken from the surroundings</a:t>
            </a:r>
            <a:endParaRPr lang="en-US" sz="1100" dirty="0"/>
          </a:p>
          <a:p>
            <a:pPr marL="177800" indent="-177800">
              <a:spcAft>
                <a:spcPts val="400"/>
              </a:spcAft>
              <a:buSzPct val="100000"/>
              <a:buChar char="•"/>
            </a:pPr>
            <a:r>
              <a:rPr lang="en-US" sz="1100" dirty="0">
                <a:solidFill>
                  <a:srgbClr val="1B2A41"/>
                </a:solidFill>
                <a:latin typeface="Calibri" pitchFamily="34" charset="0"/>
                <a:ea typeface="Calibri" pitchFamily="34" charset="-122"/>
                <a:cs typeface="Calibri" pitchFamily="34" charset="-120"/>
              </a:rPr>
              <a:t>The pack (and the injury) cools down: reduces swelling</a:t>
            </a:r>
            <a:endParaRPr lang="en-US" sz="1100" dirty="0"/>
          </a:p>
        </p:txBody>
      </p:sp>
      <p:sp>
        <p:nvSpPr>
          <p:cNvPr id="14" name="Shape 11"/>
          <p:cNvSpPr/>
          <p:nvPr/>
        </p:nvSpPr>
        <p:spPr>
          <a:xfrm>
            <a:off x="4663440" y="1783080"/>
            <a:ext cx="4023360" cy="2880360"/>
          </a:xfrm>
          <a:prstGeom prst="roundRect">
            <a:avLst>
              <a:gd name="adj" fmla="val 2540"/>
            </a:avLst>
          </a:prstGeom>
          <a:solidFill>
            <a:srgbClr val="FBEFD9"/>
          </a:solidFill>
          <a:ln w="9525">
            <a:solidFill>
              <a:srgbClr val="FBEFD9"/>
            </a:solidFill>
            <a:prstDash val="solid"/>
          </a:ln>
        </p:spPr>
      </p:sp>
      <p:sp>
        <p:nvSpPr>
          <p:cNvPr id="15" name="Text 12"/>
          <p:cNvSpPr txBox="1"/>
          <p:nvPr/>
        </p:nvSpPr>
        <p:spPr>
          <a:xfrm>
            <a:off x="4800600" y="1874520"/>
            <a:ext cx="3749040" cy="320040"/>
          </a:xfrm>
          <a:prstGeom prst="rect">
            <a:avLst/>
          </a:prstGeom>
          <a:noFill/>
          <a:ln/>
        </p:spPr>
        <p:txBody>
          <a:bodyPr wrap="square" lIns="0" tIns="0" rIns="0" bIns="0" rtlCol="0" anchor="ctr"/>
          <a:lstStyle/>
          <a:p>
            <a:pPr indent="0" marL="0">
              <a:buNone/>
            </a:pPr>
            <a:r>
              <a:rPr lang="en-US" sz="1200" b="1" dirty="0">
                <a:solidFill>
                  <a:srgbClr val="B86E00"/>
                </a:solidFill>
                <a:latin typeface="Calibri" pitchFamily="34" charset="0"/>
                <a:ea typeface="Calibri" pitchFamily="34" charset="-122"/>
                <a:cs typeface="Calibri" pitchFamily="34" charset="-120"/>
              </a:rPr>
              <a:t>Hot pack · exothermic</a:t>
            </a:r>
            <a:endParaRPr lang="en-US" sz="1200" dirty="0"/>
          </a:p>
        </p:txBody>
      </p:sp>
      <p:sp>
        <p:nvSpPr>
          <p:cNvPr id="16" name="Text 13"/>
          <p:cNvSpPr txBox="1"/>
          <p:nvPr/>
        </p:nvSpPr>
        <p:spPr>
          <a:xfrm>
            <a:off x="4800600" y="2240280"/>
            <a:ext cx="3749040" cy="2331720"/>
          </a:xfrm>
          <a:prstGeom prst="rect">
            <a:avLst/>
          </a:prstGeom>
          <a:noFill/>
          <a:ln/>
        </p:spPr>
        <p:txBody>
          <a:bodyPr wrap="square" lIns="0" tIns="0" rIns="0" bIns="0" rtlCol="0" anchor="t"/>
          <a:lstStyle/>
          <a:p>
            <a:pPr marL="177800" indent="-177800">
              <a:spcAft>
                <a:spcPts val="400"/>
              </a:spcAft>
              <a:buSzPct val="100000"/>
              <a:buChar char="•"/>
            </a:pPr>
            <a:r>
              <a:rPr lang="en-US" sz="1100" dirty="0">
                <a:solidFill>
                  <a:srgbClr val="1B2A41"/>
                </a:solidFill>
                <a:latin typeface="Calibri" pitchFamily="34" charset="0"/>
                <a:ea typeface="Calibri" pitchFamily="34" charset="-122"/>
                <a:cs typeface="Calibri" pitchFamily="34" charset="-120"/>
              </a:rPr>
              <a:t>Calcium chloride dissolves: CaCl</a:t>
            </a:r>
            <a:pPr marL="177800" indent="-177800">
              <a:spcAft>
                <a:spcPts val="400"/>
              </a:spcAft>
              <a:buSzPct val="100000"/>
              <a:buChar char="•"/>
            </a:pPr>
            <a:r>
              <a:rPr lang="en-US" sz="1100" baseline="-40000" dirty="0">
                <a:solidFill>
                  <a:srgbClr val="1B2A41"/>
                </a:solidFill>
                <a:latin typeface="Calibri" pitchFamily="34" charset="0"/>
                <a:ea typeface="Calibri" pitchFamily="34" charset="-122"/>
                <a:cs typeface="Calibri" pitchFamily="34" charset="-120"/>
              </a:rPr>
              <a:t>2</a:t>
            </a:r>
            <a:pPr marL="177800" indent="-177800">
              <a:spcAft>
                <a:spcPts val="400"/>
              </a:spcAft>
              <a:buSzPct val="100000"/>
              <a:buChar char="•"/>
            </a:pPr>
            <a:r>
              <a:rPr lang="en-US" sz="1100" dirty="0">
                <a:solidFill>
                  <a:srgbClr val="1B2A41"/>
                </a:solidFill>
                <a:latin typeface="Calibri" pitchFamily="34" charset="0"/>
                <a:ea typeface="Calibri" pitchFamily="34" charset="-122"/>
                <a:cs typeface="Calibri" pitchFamily="34" charset="-120"/>
              </a:rPr>
              <a:t>(s) → Ca</a:t>
            </a:r>
            <a:pPr marL="177800" indent="-177800">
              <a:spcAft>
                <a:spcPts val="400"/>
              </a:spcAft>
              <a:buSzPct val="100000"/>
              <a:buChar char="•"/>
            </a:pPr>
            <a:r>
              <a:rPr lang="en-US" sz="1100" baseline="30000" dirty="0">
                <a:solidFill>
                  <a:srgbClr val="1B2A41"/>
                </a:solidFill>
                <a:latin typeface="Calibri" pitchFamily="34" charset="0"/>
                <a:ea typeface="Calibri" pitchFamily="34" charset="-122"/>
                <a:cs typeface="Calibri" pitchFamily="34" charset="-120"/>
              </a:rPr>
              <a:t>2+</a:t>
            </a:r>
            <a:pPr marL="177800" indent="-177800">
              <a:spcAft>
                <a:spcPts val="400"/>
              </a:spcAft>
              <a:buSzPct val="100000"/>
              <a:buChar char="•"/>
            </a:pPr>
            <a:r>
              <a:rPr lang="en-US" sz="1100" dirty="0">
                <a:solidFill>
                  <a:srgbClr val="1B2A41"/>
                </a:solidFill>
                <a:latin typeface="Calibri" pitchFamily="34" charset="0"/>
                <a:ea typeface="Calibri" pitchFamily="34" charset="-122"/>
                <a:cs typeface="Calibri" pitchFamily="34" charset="-120"/>
              </a:rPr>
              <a:t>(aq) + 2Cl</a:t>
            </a:r>
            <a:pPr marL="177800" indent="-177800">
              <a:spcAft>
                <a:spcPts val="400"/>
              </a:spcAft>
              <a:buSzPct val="100000"/>
              <a:buChar char="•"/>
            </a:pPr>
            <a:r>
              <a:rPr lang="en-US" sz="1100" baseline="30000" dirty="0">
                <a:solidFill>
                  <a:srgbClr val="1B2A41"/>
                </a:solidFill>
                <a:latin typeface="Calibri" pitchFamily="34" charset="0"/>
                <a:ea typeface="Calibri" pitchFamily="34" charset="-122"/>
                <a:cs typeface="Calibri" pitchFamily="34" charset="-120"/>
              </a:rPr>
              <a:t>−</a:t>
            </a:r>
            <a:pPr marL="177800" indent="-177800">
              <a:spcAft>
                <a:spcPts val="400"/>
              </a:spcAft>
              <a:buSzPct val="100000"/>
              <a:buChar char="•"/>
            </a:pPr>
            <a:r>
              <a:rPr lang="en-US" sz="1100" dirty="0">
                <a:solidFill>
                  <a:srgbClr val="1B2A41"/>
                </a:solidFill>
                <a:latin typeface="Calibri" pitchFamily="34" charset="0"/>
                <a:ea typeface="Calibri" pitchFamily="34" charset="-122"/>
                <a:cs typeface="Calibri" pitchFamily="34" charset="-120"/>
              </a:rPr>
              <a:t>(aq)</a:t>
            </a:r>
            <a:endParaRPr lang="en-US" sz="1100" dirty="0"/>
          </a:p>
          <a:p>
            <a:pPr marL="177800" indent="-177800">
              <a:spcAft>
                <a:spcPts val="400"/>
              </a:spcAft>
              <a:buSzPct val="100000"/>
              <a:buChar char="•"/>
            </a:pPr>
            <a:r>
              <a:rPr lang="en-US" sz="1100" dirty="0">
                <a:solidFill>
                  <a:srgbClr val="1B2A41"/>
                </a:solidFill>
                <a:latin typeface="Calibri" pitchFamily="34" charset="0"/>
                <a:ea typeface="Calibri" pitchFamily="34" charset="-122"/>
                <a:cs typeface="Calibri" pitchFamily="34" charset="-120"/>
              </a:rPr>
              <a:t>ΔH = −82.8 kJ/mol: heat is released to the surroundings</a:t>
            </a:r>
            <a:endParaRPr lang="en-US" sz="1100" dirty="0"/>
          </a:p>
          <a:p>
            <a:pPr marL="177800" indent="-177800">
              <a:spcAft>
                <a:spcPts val="400"/>
              </a:spcAft>
              <a:buSzPct val="100000"/>
              <a:buChar char="•"/>
            </a:pPr>
            <a:r>
              <a:rPr lang="en-US" sz="1100" dirty="0">
                <a:solidFill>
                  <a:srgbClr val="1B2A41"/>
                </a:solidFill>
                <a:latin typeface="Calibri" pitchFamily="34" charset="0"/>
                <a:ea typeface="Calibri" pitchFamily="34" charset="-122"/>
                <a:cs typeface="Calibri" pitchFamily="34" charset="-120"/>
              </a:rPr>
              <a:t>Air-activated warmers use iron rusting: 4Fe + 3O</a:t>
            </a:r>
            <a:pPr marL="177800" indent="-177800">
              <a:spcAft>
                <a:spcPts val="400"/>
              </a:spcAft>
              <a:buSzPct val="100000"/>
              <a:buChar char="•"/>
            </a:pPr>
            <a:r>
              <a:rPr lang="en-US" sz="1100" baseline="-40000" dirty="0">
                <a:solidFill>
                  <a:srgbClr val="1B2A41"/>
                </a:solidFill>
                <a:latin typeface="Calibri" pitchFamily="34" charset="0"/>
                <a:ea typeface="Calibri" pitchFamily="34" charset="-122"/>
                <a:cs typeface="Calibri" pitchFamily="34" charset="-120"/>
              </a:rPr>
              <a:t>2</a:t>
            </a:r>
            <a:pPr marL="177800" indent="-177800">
              <a:spcAft>
                <a:spcPts val="400"/>
              </a:spcAft>
              <a:buSzPct val="100000"/>
              <a:buChar char="•"/>
            </a:pPr>
            <a:r>
              <a:rPr lang="en-US" sz="1100" dirty="0">
                <a:solidFill>
                  <a:srgbClr val="1B2A41"/>
                </a:solidFill>
                <a:latin typeface="Calibri" pitchFamily="34" charset="0"/>
                <a:ea typeface="Calibri" pitchFamily="34" charset="-122"/>
                <a:cs typeface="Calibri" pitchFamily="34" charset="-120"/>
              </a:rPr>
              <a:t> → 2Fe</a:t>
            </a:r>
            <a:pPr marL="177800" indent="-177800">
              <a:spcAft>
                <a:spcPts val="400"/>
              </a:spcAft>
              <a:buSzPct val="100000"/>
              <a:buChar char="•"/>
            </a:pPr>
            <a:r>
              <a:rPr lang="en-US" sz="1100" baseline="-40000" dirty="0">
                <a:solidFill>
                  <a:srgbClr val="1B2A41"/>
                </a:solidFill>
                <a:latin typeface="Calibri" pitchFamily="34" charset="0"/>
                <a:ea typeface="Calibri" pitchFamily="34" charset="-122"/>
                <a:cs typeface="Calibri" pitchFamily="34" charset="-120"/>
              </a:rPr>
              <a:t>2</a:t>
            </a:r>
            <a:pPr marL="177800" indent="-177800">
              <a:spcAft>
                <a:spcPts val="400"/>
              </a:spcAft>
              <a:buSzPct val="100000"/>
              <a:buChar char="•"/>
            </a:pPr>
            <a:r>
              <a:rPr lang="en-US" sz="1100" dirty="0">
                <a:solidFill>
                  <a:srgbClr val="1B2A41"/>
                </a:solidFill>
                <a:latin typeface="Calibri" pitchFamily="34" charset="0"/>
                <a:ea typeface="Calibri" pitchFamily="34" charset="-122"/>
                <a:cs typeface="Calibri" pitchFamily="34" charset="-120"/>
              </a:rPr>
              <a:t>O</a:t>
            </a:r>
            <a:pPr marL="177800" indent="-177800">
              <a:spcAft>
                <a:spcPts val="400"/>
              </a:spcAft>
              <a:buSzPct val="100000"/>
              <a:buChar char="•"/>
            </a:pPr>
            <a:r>
              <a:rPr lang="en-US" sz="1100" baseline="-40000" dirty="0">
                <a:solidFill>
                  <a:srgbClr val="1B2A41"/>
                </a:solidFill>
                <a:latin typeface="Calibri" pitchFamily="34" charset="0"/>
                <a:ea typeface="Calibri" pitchFamily="34" charset="-122"/>
                <a:cs typeface="Calibri" pitchFamily="34" charset="-120"/>
              </a:rPr>
              <a:t>3</a:t>
            </a:r>
            <a:pPr marL="177800" indent="-177800">
              <a:spcAft>
                <a:spcPts val="400"/>
              </a:spcAft>
              <a:buSzPct val="100000"/>
              <a:buChar char="•"/>
            </a:pPr>
            <a:r>
              <a:rPr lang="en-US" sz="1100" dirty="0">
                <a:solidFill>
                  <a:srgbClr val="1B2A41"/>
                </a:solidFill>
                <a:latin typeface="Calibri" pitchFamily="34" charset="0"/>
                <a:ea typeface="Calibri" pitchFamily="34" charset="-122"/>
                <a:cs typeface="Calibri" pitchFamily="34" charset="-120"/>
              </a:rPr>
              <a:t>, ΔH = −1648 kJ</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CR2-LO1</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Try it · Inside a cold pack</a:t>
            </a:r>
            <a:endParaRPr lang="en-US" sz="2000" dirty="0"/>
          </a:p>
        </p:txBody>
      </p:sp>
      <p:pic>
        <p:nvPicPr>
          <p:cNvPr id="7" name="Image 0" descr="/home/claude/build/mol/methane.png">    </p:cNvPr>
          <p:cNvPicPr>
            <a:picLocks noChangeAspect="1"/>
          </p:cNvPicPr>
          <p:nvPr/>
        </p:nvPicPr>
        <p:blipFill>
          <a:blip r:embed="rId1"/>
          <a:stretch>
            <a:fillRect/>
          </a:stretch>
        </p:blipFill>
        <p:spPr>
          <a:xfrm>
            <a:off x="8163636" y="192024"/>
            <a:ext cx="406247"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Chemical Reactions II</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Shape 7"/>
          <p:cNvSpPr/>
          <p:nvPr/>
        </p:nvSpPr>
        <p:spPr>
          <a:xfrm>
            <a:off x="457200" y="1234440"/>
            <a:ext cx="8229600" cy="914400"/>
          </a:xfrm>
          <a:prstGeom prst="roundRect">
            <a:avLst>
              <a:gd name="adj" fmla="val 8000"/>
            </a:avLst>
          </a:prstGeom>
          <a:solidFill>
            <a:srgbClr val="FFFFFF"/>
          </a:solidFill>
          <a:ln w="9525">
            <a:solidFill>
              <a:srgbClr val="D7E0E8"/>
            </a:solidFill>
            <a:prstDash val="solid"/>
          </a:ln>
        </p:spPr>
      </p:sp>
      <p:sp>
        <p:nvSpPr>
          <p:cNvPr id="11" name="Text 8"/>
          <p:cNvSpPr txBox="1"/>
          <p:nvPr/>
        </p:nvSpPr>
        <p:spPr>
          <a:xfrm>
            <a:off x="594360" y="1280160"/>
            <a:ext cx="7955280" cy="822960"/>
          </a:xfrm>
          <a:prstGeom prst="rect">
            <a:avLst/>
          </a:prstGeom>
          <a:noFill/>
          <a:ln/>
        </p:spPr>
        <p:txBody>
          <a:bodyPr wrap="square" lIns="0" tIns="0" rIns="0" bIns="0" rtlCol="0" anchor="ctr"/>
          <a:lstStyle/>
          <a:p>
            <a:pPr indent="0" marL="0">
              <a:buNone/>
            </a:pPr>
            <a:r>
              <a:rPr lang="en-US" sz="1250" dirty="0">
                <a:solidFill>
                  <a:srgbClr val="1B2A41"/>
                </a:solidFill>
                <a:latin typeface="Calibri" pitchFamily="34" charset="0"/>
                <a:ea typeface="Calibri" pitchFamily="34" charset="-122"/>
                <a:cs typeface="Calibri" pitchFamily="34" charset="-120"/>
              </a:rPr>
              <a:t>A cold pack contains 40.0 g of NH</a:t>
            </a:r>
            <a:pPr indent="0" marL="0">
              <a:buNone/>
            </a:pPr>
            <a:r>
              <a:rPr lang="en-US" sz="1250" baseline="-40000" dirty="0">
                <a:solidFill>
                  <a:srgbClr val="1B2A41"/>
                </a:solidFill>
                <a:latin typeface="Calibri" pitchFamily="34" charset="0"/>
                <a:ea typeface="Calibri" pitchFamily="34" charset="-122"/>
                <a:cs typeface="Calibri" pitchFamily="34" charset="-120"/>
              </a:rPr>
              <a:t>4</a:t>
            </a:r>
            <a:pPr indent="0" marL="0">
              <a:buNone/>
            </a:pPr>
            <a:r>
              <a:rPr lang="en-US" sz="1250" dirty="0">
                <a:solidFill>
                  <a:srgbClr val="1B2A41"/>
                </a:solidFill>
                <a:latin typeface="Calibri" pitchFamily="34" charset="0"/>
                <a:ea typeface="Calibri" pitchFamily="34" charset="-122"/>
                <a:cs typeface="Calibri" pitchFamily="34" charset="-120"/>
              </a:rPr>
              <a:t>NO</a:t>
            </a:r>
            <a:pPr indent="0" marL="0">
              <a:buNone/>
            </a:pPr>
            <a:r>
              <a:rPr lang="en-US" sz="1250" baseline="-40000" dirty="0">
                <a:solidFill>
                  <a:srgbClr val="1B2A41"/>
                </a:solidFill>
                <a:latin typeface="Calibri" pitchFamily="34" charset="0"/>
                <a:ea typeface="Calibri" pitchFamily="34" charset="-122"/>
                <a:cs typeface="Calibri" pitchFamily="34" charset="-120"/>
              </a:rPr>
              <a:t>3</a:t>
            </a:r>
            <a:pPr indent="0" marL="0">
              <a:buNone/>
            </a:pPr>
            <a:r>
              <a:rPr lang="en-US" sz="1250" dirty="0">
                <a:solidFill>
                  <a:srgbClr val="1B2A41"/>
                </a:solidFill>
                <a:latin typeface="Calibri" pitchFamily="34" charset="0"/>
                <a:ea typeface="Calibri" pitchFamily="34" charset="-122"/>
                <a:cs typeface="Calibri" pitchFamily="34" charset="-120"/>
              </a:rPr>
              <a:t>. Dissolving it has ΔH = +25.7 kJ/mol. How much heat does the pack absorb? Is the process endothermic or exothermic? (N = 14.01, H = 1.01, O = 16.00)</a:t>
            </a:r>
            <a:endParaRPr lang="en-US" sz="1250" dirty="0"/>
          </a:p>
        </p:txBody>
      </p:sp>
      <p:sp>
        <p:nvSpPr>
          <p:cNvPr id="12" name="Text 9"/>
          <p:cNvSpPr txBox="1"/>
          <p:nvPr/>
        </p:nvSpPr>
        <p:spPr>
          <a:xfrm>
            <a:off x="457200" y="2377440"/>
            <a:ext cx="5486400" cy="274320"/>
          </a:xfrm>
          <a:prstGeom prst="rect">
            <a:avLst/>
          </a:prstGeom>
          <a:noFill/>
          <a:ln/>
        </p:spPr>
        <p:txBody>
          <a:bodyPr wrap="square" lIns="0" tIns="0" rIns="0" bIns="0" rtlCol="0" anchor="ctr"/>
          <a:lstStyle/>
          <a:p>
            <a:pPr indent="0" marL="0">
              <a:buNone/>
            </a:pPr>
            <a:r>
              <a:rPr lang="en-US" sz="1000" i="1" dirty="0">
                <a:solidFill>
                  <a:srgbClr val="56657A"/>
                </a:solidFill>
                <a:latin typeface="Calibri" pitchFamily="34" charset="0"/>
                <a:ea typeface="Calibri" pitchFamily="34" charset="-122"/>
                <a:cs typeface="Calibri" pitchFamily="34" charset="-120"/>
              </a:rPr>
              <a:t>Work it out, then check on the next slide.</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CR2-LO1</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Try it · Inside a cold pack · answer</a:t>
            </a:r>
            <a:endParaRPr lang="en-US" sz="2000" dirty="0"/>
          </a:p>
        </p:txBody>
      </p:sp>
      <p:pic>
        <p:nvPicPr>
          <p:cNvPr id="7" name="Image 0" descr="/home/claude/build/mol/methane.png">    </p:cNvPr>
          <p:cNvPicPr>
            <a:picLocks noChangeAspect="1"/>
          </p:cNvPicPr>
          <p:nvPr/>
        </p:nvPicPr>
        <p:blipFill>
          <a:blip r:embed="rId1"/>
          <a:stretch>
            <a:fillRect/>
          </a:stretch>
        </p:blipFill>
        <p:spPr>
          <a:xfrm>
            <a:off x="8163636" y="192024"/>
            <a:ext cx="406247"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Chemical Reactions II</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Shape 7"/>
          <p:cNvSpPr/>
          <p:nvPr/>
        </p:nvSpPr>
        <p:spPr>
          <a:xfrm>
            <a:off x="457200" y="1234440"/>
            <a:ext cx="8229600" cy="914400"/>
          </a:xfrm>
          <a:prstGeom prst="roundRect">
            <a:avLst>
              <a:gd name="adj" fmla="val 8000"/>
            </a:avLst>
          </a:prstGeom>
          <a:solidFill>
            <a:srgbClr val="FFFFFF"/>
          </a:solidFill>
          <a:ln w="9525">
            <a:solidFill>
              <a:srgbClr val="D7E0E8"/>
            </a:solidFill>
            <a:prstDash val="solid"/>
          </a:ln>
        </p:spPr>
      </p:sp>
      <p:sp>
        <p:nvSpPr>
          <p:cNvPr id="11" name="Text 8"/>
          <p:cNvSpPr txBox="1"/>
          <p:nvPr/>
        </p:nvSpPr>
        <p:spPr>
          <a:xfrm>
            <a:off x="594360" y="1280160"/>
            <a:ext cx="7955280" cy="822960"/>
          </a:xfrm>
          <a:prstGeom prst="rect">
            <a:avLst/>
          </a:prstGeom>
          <a:noFill/>
          <a:ln/>
        </p:spPr>
        <p:txBody>
          <a:bodyPr wrap="square" lIns="0" tIns="0" rIns="0" bIns="0" rtlCol="0" anchor="ctr"/>
          <a:lstStyle/>
          <a:p>
            <a:pPr indent="0" marL="0">
              <a:buNone/>
            </a:pPr>
            <a:r>
              <a:rPr lang="en-US" sz="1250" dirty="0">
                <a:solidFill>
                  <a:srgbClr val="1B2A41"/>
                </a:solidFill>
                <a:latin typeface="Calibri" pitchFamily="34" charset="0"/>
                <a:ea typeface="Calibri" pitchFamily="34" charset="-122"/>
                <a:cs typeface="Calibri" pitchFamily="34" charset="-120"/>
              </a:rPr>
              <a:t>A cold pack contains 40.0 g of NH</a:t>
            </a:r>
            <a:pPr indent="0" marL="0">
              <a:buNone/>
            </a:pPr>
            <a:r>
              <a:rPr lang="en-US" sz="1250" baseline="-40000" dirty="0">
                <a:solidFill>
                  <a:srgbClr val="1B2A41"/>
                </a:solidFill>
                <a:latin typeface="Calibri" pitchFamily="34" charset="0"/>
                <a:ea typeface="Calibri" pitchFamily="34" charset="-122"/>
                <a:cs typeface="Calibri" pitchFamily="34" charset="-120"/>
              </a:rPr>
              <a:t>4</a:t>
            </a:r>
            <a:pPr indent="0" marL="0">
              <a:buNone/>
            </a:pPr>
            <a:r>
              <a:rPr lang="en-US" sz="1250" dirty="0">
                <a:solidFill>
                  <a:srgbClr val="1B2A41"/>
                </a:solidFill>
                <a:latin typeface="Calibri" pitchFamily="34" charset="0"/>
                <a:ea typeface="Calibri" pitchFamily="34" charset="-122"/>
                <a:cs typeface="Calibri" pitchFamily="34" charset="-120"/>
              </a:rPr>
              <a:t>NO</a:t>
            </a:r>
            <a:pPr indent="0" marL="0">
              <a:buNone/>
            </a:pPr>
            <a:r>
              <a:rPr lang="en-US" sz="1250" baseline="-40000" dirty="0">
                <a:solidFill>
                  <a:srgbClr val="1B2A41"/>
                </a:solidFill>
                <a:latin typeface="Calibri" pitchFamily="34" charset="0"/>
                <a:ea typeface="Calibri" pitchFamily="34" charset="-122"/>
                <a:cs typeface="Calibri" pitchFamily="34" charset="-120"/>
              </a:rPr>
              <a:t>3</a:t>
            </a:r>
            <a:pPr indent="0" marL="0">
              <a:buNone/>
            </a:pPr>
            <a:r>
              <a:rPr lang="en-US" sz="1250" dirty="0">
                <a:solidFill>
                  <a:srgbClr val="1B2A41"/>
                </a:solidFill>
                <a:latin typeface="Calibri" pitchFamily="34" charset="0"/>
                <a:ea typeface="Calibri" pitchFamily="34" charset="-122"/>
                <a:cs typeface="Calibri" pitchFamily="34" charset="-120"/>
              </a:rPr>
              <a:t>. Dissolving it has ΔH = +25.7 kJ/mol. How much heat does the pack absorb? Is the process endothermic or exothermic? (N = 14.01, H = 1.01, O = 16.00)</a:t>
            </a:r>
            <a:endParaRPr lang="en-US" sz="1250" dirty="0"/>
          </a:p>
        </p:txBody>
      </p:sp>
      <p:sp>
        <p:nvSpPr>
          <p:cNvPr id="12" name="Shape 9"/>
          <p:cNvSpPr/>
          <p:nvPr/>
        </p:nvSpPr>
        <p:spPr>
          <a:xfrm>
            <a:off x="457200" y="2331720"/>
            <a:ext cx="8229600" cy="2240280"/>
          </a:xfrm>
          <a:prstGeom prst="roundRect">
            <a:avLst>
              <a:gd name="adj" fmla="val 3265"/>
            </a:avLst>
          </a:prstGeom>
          <a:solidFill>
            <a:srgbClr val="FBEFD9"/>
          </a:solidFill>
          <a:ln w="9525">
            <a:solidFill>
              <a:srgbClr val="FBEFD9"/>
            </a:solidFill>
            <a:prstDash val="solid"/>
          </a:ln>
        </p:spPr>
      </p:sp>
      <p:sp>
        <p:nvSpPr>
          <p:cNvPr id="13" name="Text 10"/>
          <p:cNvSpPr txBox="1"/>
          <p:nvPr/>
        </p:nvSpPr>
        <p:spPr>
          <a:xfrm>
            <a:off x="640080" y="2423160"/>
            <a:ext cx="7863840" cy="2057400"/>
          </a:xfrm>
          <a:prstGeom prst="rect">
            <a:avLst/>
          </a:prstGeom>
          <a:noFill/>
          <a:ln/>
        </p:spPr>
        <p:txBody>
          <a:bodyPr wrap="square" lIns="0" tIns="0" rIns="0" bIns="0" rtlCol="0" anchor="t"/>
          <a:lstStyle/>
          <a:p>
            <a:pPr indent="0" marL="0">
              <a:buNone/>
            </a:pPr>
            <a:r>
              <a:rPr lang="en-US" sz="1100" b="1" dirty="0">
                <a:solidFill>
                  <a:srgbClr val="B86E00"/>
                </a:solidFill>
                <a:latin typeface="Calibri" pitchFamily="34" charset="0"/>
                <a:ea typeface="Calibri" pitchFamily="34" charset="-122"/>
                <a:cs typeface="Calibri" pitchFamily="34" charset="-120"/>
              </a:rPr>
              <a:t>Answer</a:t>
            </a:r>
            <a:endParaRPr lang="en-US" sz="1100" dirty="0"/>
          </a:p>
          <a:p>
            <a:pPr indent="0" marL="0">
              <a:buNone/>
            </a:pPr>
            <a:r>
              <a:rPr lang="en-US" sz="1200" dirty="0">
                <a:solidFill>
                  <a:srgbClr val="1B2A41"/>
                </a:solidFill>
                <a:latin typeface="Calibri" pitchFamily="34" charset="0"/>
                <a:ea typeface="Calibri" pitchFamily="34" charset="-122"/>
                <a:cs typeface="Calibri" pitchFamily="34" charset="-120"/>
              </a:rPr>
              <a:t>Molar mass = 2(14.01) + 4(1.01) + 3(16.00) = 80.06 g/mol</a:t>
            </a:r>
            <a:endParaRPr lang="en-US" sz="1100" dirty="0"/>
          </a:p>
          <a:p>
            <a:pPr indent="0" marL="0">
              <a:buNone/>
            </a:pPr>
            <a:r>
              <a:rPr lang="en-US" sz="1200" dirty="0">
                <a:solidFill>
                  <a:srgbClr val="1B2A41"/>
                </a:solidFill>
                <a:latin typeface="Calibri" pitchFamily="34" charset="0"/>
                <a:ea typeface="Calibri" pitchFamily="34" charset="-122"/>
                <a:cs typeface="Calibri" pitchFamily="34" charset="-120"/>
              </a:rPr>
              <a:t>Moles = 40.0 ÷ 80.06 = 0.500 mol</a:t>
            </a:r>
            <a:endParaRPr lang="en-US" sz="1100" dirty="0"/>
          </a:p>
          <a:p>
            <a:pPr indent="0" marL="0">
              <a:buNone/>
            </a:pPr>
            <a:r>
              <a:rPr lang="en-US" sz="1200" dirty="0">
                <a:solidFill>
                  <a:srgbClr val="1B2A41"/>
                </a:solidFill>
                <a:latin typeface="Calibri" pitchFamily="34" charset="0"/>
                <a:ea typeface="Calibri" pitchFamily="34" charset="-122"/>
                <a:cs typeface="Calibri" pitchFamily="34" charset="-120"/>
              </a:rPr>
              <a:t>Heat = 0.500 × 25.7 = </a:t>
            </a:r>
            <a:pPr indent="0" marL="0">
              <a:buNone/>
            </a:pPr>
            <a:r>
              <a:rPr lang="en-US" sz="1200" b="1" dirty="0">
                <a:solidFill>
                  <a:srgbClr val="1B2A41"/>
                </a:solidFill>
                <a:latin typeface="Calibri" pitchFamily="34" charset="0"/>
                <a:ea typeface="Calibri" pitchFamily="34" charset="-122"/>
                <a:cs typeface="Calibri" pitchFamily="34" charset="-120"/>
              </a:rPr>
              <a:t>12.8 kJ absorbed</a:t>
            </a:r>
            <a:pPr indent="0" marL="0">
              <a:buNone/>
            </a:pPr>
            <a:r>
              <a:rPr lang="en-US" sz="1200" dirty="0">
                <a:solidFill>
                  <a:srgbClr val="1B2A41"/>
                </a:solidFill>
                <a:latin typeface="Calibri" pitchFamily="34" charset="0"/>
                <a:ea typeface="Calibri" pitchFamily="34" charset="-122"/>
                <a:cs typeface="Calibri" pitchFamily="34" charset="-120"/>
              </a:rPr>
              <a:t>. ΔH is positive, so it is </a:t>
            </a:r>
            <a:pPr indent="0" marL="0">
              <a:buNone/>
            </a:pPr>
            <a:r>
              <a:rPr lang="en-US" sz="1200" b="1" dirty="0">
                <a:solidFill>
                  <a:srgbClr val="1B2A41"/>
                </a:solidFill>
                <a:latin typeface="Calibri" pitchFamily="34" charset="0"/>
                <a:ea typeface="Calibri" pitchFamily="34" charset="-122"/>
                <a:cs typeface="Calibri" pitchFamily="34" charset="-120"/>
              </a:rPr>
              <a:t>endothermic</a:t>
            </a:r>
            <a:pPr indent="0" marL="0">
              <a:buNone/>
            </a:pPr>
            <a:r>
              <a:rPr lang="en-US" sz="1200" dirty="0">
                <a:solidFill>
                  <a:srgbClr val="1B2A41"/>
                </a:solidFill>
                <a:latin typeface="Calibri" pitchFamily="34" charset="0"/>
                <a:ea typeface="Calibri" pitchFamily="34" charset="-122"/>
                <a:cs typeface="Calibri" pitchFamily="34" charset="-120"/>
              </a:rPr>
              <a:t>.</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CR2-LO1</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Key takeaways: energy changes</a:t>
            </a:r>
            <a:endParaRPr lang="en-US" sz="2000" dirty="0"/>
          </a:p>
        </p:txBody>
      </p:sp>
      <p:pic>
        <p:nvPicPr>
          <p:cNvPr id="7" name="Image 0" descr="/home/claude/build/mol/methane.png">    </p:cNvPr>
          <p:cNvPicPr>
            <a:picLocks noChangeAspect="1"/>
          </p:cNvPicPr>
          <p:nvPr/>
        </p:nvPicPr>
        <p:blipFill>
          <a:blip r:embed="rId1"/>
          <a:stretch>
            <a:fillRect/>
          </a:stretch>
        </p:blipFill>
        <p:spPr>
          <a:xfrm>
            <a:off x="8163636" y="192024"/>
            <a:ext cx="406247"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Chemical Reactions II</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Text 7"/>
          <p:cNvSpPr txBox="1"/>
          <p:nvPr/>
        </p:nvSpPr>
        <p:spPr>
          <a:xfrm>
            <a:off x="457200" y="1280160"/>
            <a:ext cx="8229600" cy="33832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Bond breaking absorbs energy; bond forming releases energy. The balance decides the sign of ΔH.</a:t>
            </a:r>
            <a:endParaRPr lang="en-US" sz="1300" dirty="0"/>
          </a:p>
          <a:p>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Exothermic: ΔH &lt; 0, heat released, surroundings warm. Endothermic: ΔH &gt; 0, heat absorbed, surroundings cool.</a:t>
            </a:r>
            <a:endParaRPr lang="en-US" sz="1300" dirty="0"/>
          </a:p>
          <a:p>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ΔH in a thermochemical equation refers to the moles shown. Reverse the equation: change the sign. Scale the equation: scale ΔH.</a:t>
            </a:r>
            <a:endParaRPr lang="en-US" sz="1300" dirty="0"/>
          </a:p>
          <a:p>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Heat = moles × (ΔH per mole): the same road map as stoichiometry.</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CR2-LO1</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Quick check</a:t>
            </a:r>
            <a:endParaRPr lang="en-US" sz="2000" dirty="0"/>
          </a:p>
        </p:txBody>
      </p:sp>
      <p:pic>
        <p:nvPicPr>
          <p:cNvPr id="7" name="Image 0" descr="/home/claude/build/mol/methane.png">    </p:cNvPr>
          <p:cNvPicPr>
            <a:picLocks noChangeAspect="1"/>
          </p:cNvPicPr>
          <p:nvPr/>
        </p:nvPicPr>
        <p:blipFill>
          <a:blip r:embed="rId1"/>
          <a:stretch>
            <a:fillRect/>
          </a:stretch>
        </p:blipFill>
        <p:spPr>
          <a:xfrm>
            <a:off x="8163636" y="192024"/>
            <a:ext cx="406247"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Chemical Reactions II</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Text 7"/>
          <p:cNvSpPr txBox="1"/>
          <p:nvPr/>
        </p:nvSpPr>
        <p:spPr>
          <a:xfrm>
            <a:off x="457200" y="1188720"/>
            <a:ext cx="8229600" cy="640080"/>
          </a:xfrm>
          <a:prstGeom prst="rect">
            <a:avLst/>
          </a:prstGeom>
          <a:noFill/>
          <a:ln/>
        </p:spPr>
        <p:txBody>
          <a:bodyPr wrap="square" lIns="0" tIns="0" rIns="0" bIns="0" rtlCol="0" anchor="t"/>
          <a:lstStyle/>
          <a:p>
            <a:pPr indent="0" marL="0">
              <a:buNone/>
            </a:pPr>
            <a:r>
              <a:rPr lang="en-US" sz="1300" b="1" dirty="0">
                <a:solidFill>
                  <a:srgbClr val="1B2A41"/>
                </a:solidFill>
                <a:latin typeface="Calibri" pitchFamily="34" charset="0"/>
                <a:ea typeface="Calibri" pitchFamily="34" charset="-122"/>
                <a:cs typeface="Calibri" pitchFamily="34" charset="-120"/>
              </a:rPr>
              <a:t>2H</a:t>
            </a:r>
            <a:pPr indent="0" marL="0">
              <a:buNone/>
            </a:pPr>
            <a:r>
              <a:rPr lang="en-US" sz="1300" b="1" baseline="-40000" dirty="0">
                <a:solidFill>
                  <a:srgbClr val="1B2A41"/>
                </a:solidFill>
                <a:latin typeface="Calibri" pitchFamily="34" charset="0"/>
                <a:ea typeface="Calibri" pitchFamily="34" charset="-122"/>
                <a:cs typeface="Calibri" pitchFamily="34" charset="-120"/>
              </a:rPr>
              <a:t>2</a:t>
            </a:r>
            <a:pPr indent="0" marL="0">
              <a:buNone/>
            </a:pPr>
            <a:r>
              <a:rPr lang="en-US" sz="1300" b="1" dirty="0">
                <a:solidFill>
                  <a:srgbClr val="1B2A41"/>
                </a:solidFill>
                <a:latin typeface="Calibri" pitchFamily="34" charset="0"/>
                <a:ea typeface="Calibri" pitchFamily="34" charset="-122"/>
                <a:cs typeface="Calibri" pitchFamily="34" charset="-120"/>
              </a:rPr>
              <a:t>(g) + O</a:t>
            </a:r>
            <a:pPr indent="0" marL="0">
              <a:buNone/>
            </a:pPr>
            <a:r>
              <a:rPr lang="en-US" sz="1300" b="1" baseline="-40000" dirty="0">
                <a:solidFill>
                  <a:srgbClr val="1B2A41"/>
                </a:solidFill>
                <a:latin typeface="Calibri" pitchFamily="34" charset="0"/>
                <a:ea typeface="Calibri" pitchFamily="34" charset="-122"/>
                <a:cs typeface="Calibri" pitchFamily="34" charset="-120"/>
              </a:rPr>
              <a:t>2</a:t>
            </a:r>
            <a:pPr indent="0" marL="0">
              <a:buNone/>
            </a:pPr>
            <a:r>
              <a:rPr lang="en-US" sz="1300" b="1" dirty="0">
                <a:solidFill>
                  <a:srgbClr val="1B2A41"/>
                </a:solidFill>
                <a:latin typeface="Calibri" pitchFamily="34" charset="0"/>
                <a:ea typeface="Calibri" pitchFamily="34" charset="-122"/>
                <a:cs typeface="Calibri" pitchFamily="34" charset="-120"/>
              </a:rPr>
              <a:t>(g) → 2H</a:t>
            </a:r>
            <a:pPr indent="0" marL="0">
              <a:buNone/>
            </a:pPr>
            <a:r>
              <a:rPr lang="en-US" sz="1300" b="1" baseline="-40000" dirty="0">
                <a:solidFill>
                  <a:srgbClr val="1B2A41"/>
                </a:solidFill>
                <a:latin typeface="Calibri" pitchFamily="34" charset="0"/>
                <a:ea typeface="Calibri" pitchFamily="34" charset="-122"/>
                <a:cs typeface="Calibri" pitchFamily="34" charset="-120"/>
              </a:rPr>
              <a:t>2</a:t>
            </a:r>
            <a:pPr indent="0" marL="0">
              <a:buNone/>
            </a:pPr>
            <a:r>
              <a:rPr lang="en-US" sz="1300" b="1" dirty="0">
                <a:solidFill>
                  <a:srgbClr val="1B2A41"/>
                </a:solidFill>
                <a:latin typeface="Calibri" pitchFamily="34" charset="0"/>
                <a:ea typeface="Calibri" pitchFamily="34" charset="-122"/>
                <a:cs typeface="Calibri" pitchFamily="34" charset="-120"/>
              </a:rPr>
              <a:t>O(ℓ), ΔH = −572 kJ. What is ΔH for 4H</a:t>
            </a:r>
            <a:pPr indent="0" marL="0">
              <a:buNone/>
            </a:pPr>
            <a:r>
              <a:rPr lang="en-US" sz="1300" b="1" baseline="-40000" dirty="0">
                <a:solidFill>
                  <a:srgbClr val="1B2A41"/>
                </a:solidFill>
                <a:latin typeface="Calibri" pitchFamily="34" charset="0"/>
                <a:ea typeface="Calibri" pitchFamily="34" charset="-122"/>
                <a:cs typeface="Calibri" pitchFamily="34" charset="-120"/>
              </a:rPr>
              <a:t>2</a:t>
            </a:r>
            <a:pPr indent="0" marL="0">
              <a:buNone/>
            </a:pPr>
            <a:r>
              <a:rPr lang="en-US" sz="1300" b="1" dirty="0">
                <a:solidFill>
                  <a:srgbClr val="1B2A41"/>
                </a:solidFill>
                <a:latin typeface="Calibri" pitchFamily="34" charset="0"/>
                <a:ea typeface="Calibri" pitchFamily="34" charset="-122"/>
                <a:cs typeface="Calibri" pitchFamily="34" charset="-120"/>
              </a:rPr>
              <a:t>O(ℓ) → 4H</a:t>
            </a:r>
            <a:pPr indent="0" marL="0">
              <a:buNone/>
            </a:pPr>
            <a:r>
              <a:rPr lang="en-US" sz="1300" b="1" baseline="-40000" dirty="0">
                <a:solidFill>
                  <a:srgbClr val="1B2A41"/>
                </a:solidFill>
                <a:latin typeface="Calibri" pitchFamily="34" charset="0"/>
                <a:ea typeface="Calibri" pitchFamily="34" charset="-122"/>
                <a:cs typeface="Calibri" pitchFamily="34" charset="-120"/>
              </a:rPr>
              <a:t>2</a:t>
            </a:r>
            <a:pPr indent="0" marL="0">
              <a:buNone/>
            </a:pPr>
            <a:r>
              <a:rPr lang="en-US" sz="1300" b="1" dirty="0">
                <a:solidFill>
                  <a:srgbClr val="1B2A41"/>
                </a:solidFill>
                <a:latin typeface="Calibri" pitchFamily="34" charset="0"/>
                <a:ea typeface="Calibri" pitchFamily="34" charset="-122"/>
                <a:cs typeface="Calibri" pitchFamily="34" charset="-120"/>
              </a:rPr>
              <a:t>(g) + 2O</a:t>
            </a:r>
            <a:pPr indent="0" marL="0">
              <a:buNone/>
            </a:pPr>
            <a:r>
              <a:rPr lang="en-US" sz="1300" b="1" baseline="-40000" dirty="0">
                <a:solidFill>
                  <a:srgbClr val="1B2A41"/>
                </a:solidFill>
                <a:latin typeface="Calibri" pitchFamily="34" charset="0"/>
                <a:ea typeface="Calibri" pitchFamily="34" charset="-122"/>
                <a:cs typeface="Calibri" pitchFamily="34" charset="-120"/>
              </a:rPr>
              <a:t>2</a:t>
            </a:r>
            <a:pPr indent="0" marL="0">
              <a:buNone/>
            </a:pPr>
            <a:r>
              <a:rPr lang="en-US" sz="1300" b="1" dirty="0">
                <a:solidFill>
                  <a:srgbClr val="1B2A41"/>
                </a:solidFill>
                <a:latin typeface="Calibri" pitchFamily="34" charset="0"/>
                <a:ea typeface="Calibri" pitchFamily="34" charset="-122"/>
                <a:cs typeface="Calibri" pitchFamily="34" charset="-120"/>
              </a:rPr>
              <a:t>(g)?</a:t>
            </a:r>
            <a:endParaRPr lang="en-US" sz="1300" dirty="0"/>
          </a:p>
        </p:txBody>
      </p:sp>
      <p:sp>
        <p:nvSpPr>
          <p:cNvPr id="11" name="Shape 8"/>
          <p:cNvSpPr/>
          <p:nvPr/>
        </p:nvSpPr>
        <p:spPr>
          <a:xfrm>
            <a:off x="457200" y="1965960"/>
            <a:ext cx="4023360" cy="594360"/>
          </a:xfrm>
          <a:prstGeom prst="roundRect">
            <a:avLst>
              <a:gd name="adj" fmla="val 12308"/>
            </a:avLst>
          </a:prstGeom>
          <a:solidFill>
            <a:srgbClr val="FFFFFF"/>
          </a:solidFill>
          <a:ln w="9525">
            <a:solidFill>
              <a:srgbClr val="D7E0E8"/>
            </a:solidFill>
            <a:prstDash val="solid"/>
          </a:ln>
        </p:spPr>
      </p:sp>
      <p:sp>
        <p:nvSpPr>
          <p:cNvPr id="12" name="Text 9"/>
          <p:cNvSpPr txBox="1"/>
          <p:nvPr/>
        </p:nvSpPr>
        <p:spPr>
          <a:xfrm>
            <a:off x="594360" y="196596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A   </a:t>
            </a:r>
            <a:pPr indent="0" marL="0">
              <a:buNone/>
            </a:pPr>
            <a:r>
              <a:rPr lang="en-US" sz="1150" dirty="0">
                <a:solidFill>
                  <a:srgbClr val="1B2A41"/>
                </a:solidFill>
                <a:latin typeface="Calibri" pitchFamily="34" charset="0"/>
                <a:ea typeface="Calibri" pitchFamily="34" charset="-122"/>
                <a:cs typeface="Calibri" pitchFamily="34" charset="-120"/>
              </a:rPr>
              <a:t>−1144 kJ</a:t>
            </a:r>
            <a:endParaRPr lang="en-US" sz="1100" dirty="0"/>
          </a:p>
        </p:txBody>
      </p:sp>
      <p:sp>
        <p:nvSpPr>
          <p:cNvPr id="13" name="Shape 10"/>
          <p:cNvSpPr/>
          <p:nvPr/>
        </p:nvSpPr>
        <p:spPr>
          <a:xfrm>
            <a:off x="4663440" y="1965960"/>
            <a:ext cx="4023360" cy="594360"/>
          </a:xfrm>
          <a:prstGeom prst="roundRect">
            <a:avLst>
              <a:gd name="adj" fmla="val 12308"/>
            </a:avLst>
          </a:prstGeom>
          <a:solidFill>
            <a:srgbClr val="FFFFFF"/>
          </a:solidFill>
          <a:ln w="9525">
            <a:solidFill>
              <a:srgbClr val="D7E0E8"/>
            </a:solidFill>
            <a:prstDash val="solid"/>
          </a:ln>
        </p:spPr>
      </p:sp>
      <p:sp>
        <p:nvSpPr>
          <p:cNvPr id="14" name="Text 11"/>
          <p:cNvSpPr txBox="1"/>
          <p:nvPr/>
        </p:nvSpPr>
        <p:spPr>
          <a:xfrm>
            <a:off x="4800600" y="196596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B   </a:t>
            </a:r>
            <a:pPr indent="0" marL="0">
              <a:buNone/>
            </a:pPr>
            <a:r>
              <a:rPr lang="en-US" sz="1150" dirty="0">
                <a:solidFill>
                  <a:srgbClr val="1B2A41"/>
                </a:solidFill>
                <a:latin typeface="Calibri" pitchFamily="34" charset="0"/>
                <a:ea typeface="Calibri" pitchFamily="34" charset="-122"/>
                <a:cs typeface="Calibri" pitchFamily="34" charset="-120"/>
              </a:rPr>
              <a:t>+572 kJ</a:t>
            </a:r>
            <a:endParaRPr lang="en-US" sz="1100" dirty="0"/>
          </a:p>
        </p:txBody>
      </p:sp>
      <p:sp>
        <p:nvSpPr>
          <p:cNvPr id="15" name="Shape 12"/>
          <p:cNvSpPr/>
          <p:nvPr/>
        </p:nvSpPr>
        <p:spPr>
          <a:xfrm>
            <a:off x="457200" y="2697480"/>
            <a:ext cx="4023360" cy="594360"/>
          </a:xfrm>
          <a:prstGeom prst="roundRect">
            <a:avLst>
              <a:gd name="adj" fmla="val 12308"/>
            </a:avLst>
          </a:prstGeom>
          <a:solidFill>
            <a:srgbClr val="FFFFFF"/>
          </a:solidFill>
          <a:ln w="9525">
            <a:solidFill>
              <a:srgbClr val="D7E0E8"/>
            </a:solidFill>
            <a:prstDash val="solid"/>
          </a:ln>
        </p:spPr>
      </p:sp>
      <p:sp>
        <p:nvSpPr>
          <p:cNvPr id="16" name="Text 13"/>
          <p:cNvSpPr txBox="1"/>
          <p:nvPr/>
        </p:nvSpPr>
        <p:spPr>
          <a:xfrm>
            <a:off x="594360" y="269748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C   </a:t>
            </a:r>
            <a:pPr indent="0" marL="0">
              <a:buNone/>
            </a:pPr>
            <a:r>
              <a:rPr lang="en-US" sz="1150" dirty="0">
                <a:solidFill>
                  <a:srgbClr val="1B2A41"/>
                </a:solidFill>
                <a:latin typeface="Calibri" pitchFamily="34" charset="0"/>
                <a:ea typeface="Calibri" pitchFamily="34" charset="-122"/>
                <a:cs typeface="Calibri" pitchFamily="34" charset="-120"/>
              </a:rPr>
              <a:t>+1144 kJ</a:t>
            </a:r>
            <a:endParaRPr lang="en-US" sz="1100" dirty="0"/>
          </a:p>
        </p:txBody>
      </p:sp>
      <p:sp>
        <p:nvSpPr>
          <p:cNvPr id="17" name="Shape 14"/>
          <p:cNvSpPr/>
          <p:nvPr/>
        </p:nvSpPr>
        <p:spPr>
          <a:xfrm>
            <a:off x="4663440" y="2697480"/>
            <a:ext cx="4023360" cy="594360"/>
          </a:xfrm>
          <a:prstGeom prst="roundRect">
            <a:avLst>
              <a:gd name="adj" fmla="val 12308"/>
            </a:avLst>
          </a:prstGeom>
          <a:solidFill>
            <a:srgbClr val="FFFFFF"/>
          </a:solidFill>
          <a:ln w="9525">
            <a:solidFill>
              <a:srgbClr val="D7E0E8"/>
            </a:solidFill>
            <a:prstDash val="solid"/>
          </a:ln>
        </p:spPr>
      </p:sp>
      <p:sp>
        <p:nvSpPr>
          <p:cNvPr id="18" name="Text 15"/>
          <p:cNvSpPr txBox="1"/>
          <p:nvPr/>
        </p:nvSpPr>
        <p:spPr>
          <a:xfrm>
            <a:off x="4800600" y="269748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D   </a:t>
            </a:r>
            <a:pPr indent="0" marL="0">
              <a:buNone/>
            </a:pPr>
            <a:r>
              <a:rPr lang="en-US" sz="1150" dirty="0">
                <a:solidFill>
                  <a:srgbClr val="1B2A41"/>
                </a:solidFill>
                <a:latin typeface="Calibri" pitchFamily="34" charset="0"/>
                <a:ea typeface="Calibri" pitchFamily="34" charset="-122"/>
                <a:cs typeface="Calibri" pitchFamily="34" charset="-120"/>
              </a:rPr>
              <a:t>−286 kJ</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CR2-LO1</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Quick check · answer</a:t>
            </a:r>
            <a:endParaRPr lang="en-US" sz="2000" dirty="0"/>
          </a:p>
        </p:txBody>
      </p:sp>
      <p:pic>
        <p:nvPicPr>
          <p:cNvPr id="7" name="Image 0" descr="/home/claude/build/mol/methane.png">    </p:cNvPr>
          <p:cNvPicPr>
            <a:picLocks noChangeAspect="1"/>
          </p:cNvPicPr>
          <p:nvPr/>
        </p:nvPicPr>
        <p:blipFill>
          <a:blip r:embed="rId1"/>
          <a:stretch>
            <a:fillRect/>
          </a:stretch>
        </p:blipFill>
        <p:spPr>
          <a:xfrm>
            <a:off x="8163636" y="192024"/>
            <a:ext cx="406247"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Chemical Reactions II</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Text 7"/>
          <p:cNvSpPr txBox="1"/>
          <p:nvPr/>
        </p:nvSpPr>
        <p:spPr>
          <a:xfrm>
            <a:off x="457200" y="1188720"/>
            <a:ext cx="8229600" cy="640080"/>
          </a:xfrm>
          <a:prstGeom prst="rect">
            <a:avLst/>
          </a:prstGeom>
          <a:noFill/>
          <a:ln/>
        </p:spPr>
        <p:txBody>
          <a:bodyPr wrap="square" lIns="0" tIns="0" rIns="0" bIns="0" rtlCol="0" anchor="t"/>
          <a:lstStyle/>
          <a:p>
            <a:pPr indent="0" marL="0">
              <a:buNone/>
            </a:pPr>
            <a:r>
              <a:rPr lang="en-US" sz="1300" b="1" dirty="0">
                <a:solidFill>
                  <a:srgbClr val="1B2A41"/>
                </a:solidFill>
                <a:latin typeface="Calibri" pitchFamily="34" charset="0"/>
                <a:ea typeface="Calibri" pitchFamily="34" charset="-122"/>
                <a:cs typeface="Calibri" pitchFamily="34" charset="-120"/>
              </a:rPr>
              <a:t>2H</a:t>
            </a:r>
            <a:pPr indent="0" marL="0">
              <a:buNone/>
            </a:pPr>
            <a:r>
              <a:rPr lang="en-US" sz="1300" b="1" baseline="-40000" dirty="0">
                <a:solidFill>
                  <a:srgbClr val="1B2A41"/>
                </a:solidFill>
                <a:latin typeface="Calibri" pitchFamily="34" charset="0"/>
                <a:ea typeface="Calibri" pitchFamily="34" charset="-122"/>
                <a:cs typeface="Calibri" pitchFamily="34" charset="-120"/>
              </a:rPr>
              <a:t>2</a:t>
            </a:r>
            <a:pPr indent="0" marL="0">
              <a:buNone/>
            </a:pPr>
            <a:r>
              <a:rPr lang="en-US" sz="1300" b="1" dirty="0">
                <a:solidFill>
                  <a:srgbClr val="1B2A41"/>
                </a:solidFill>
                <a:latin typeface="Calibri" pitchFamily="34" charset="0"/>
                <a:ea typeface="Calibri" pitchFamily="34" charset="-122"/>
                <a:cs typeface="Calibri" pitchFamily="34" charset="-120"/>
              </a:rPr>
              <a:t>(g) + O</a:t>
            </a:r>
            <a:pPr indent="0" marL="0">
              <a:buNone/>
            </a:pPr>
            <a:r>
              <a:rPr lang="en-US" sz="1300" b="1" baseline="-40000" dirty="0">
                <a:solidFill>
                  <a:srgbClr val="1B2A41"/>
                </a:solidFill>
                <a:latin typeface="Calibri" pitchFamily="34" charset="0"/>
                <a:ea typeface="Calibri" pitchFamily="34" charset="-122"/>
                <a:cs typeface="Calibri" pitchFamily="34" charset="-120"/>
              </a:rPr>
              <a:t>2</a:t>
            </a:r>
            <a:pPr indent="0" marL="0">
              <a:buNone/>
            </a:pPr>
            <a:r>
              <a:rPr lang="en-US" sz="1300" b="1" dirty="0">
                <a:solidFill>
                  <a:srgbClr val="1B2A41"/>
                </a:solidFill>
                <a:latin typeface="Calibri" pitchFamily="34" charset="0"/>
                <a:ea typeface="Calibri" pitchFamily="34" charset="-122"/>
                <a:cs typeface="Calibri" pitchFamily="34" charset="-120"/>
              </a:rPr>
              <a:t>(g) → 2H</a:t>
            </a:r>
            <a:pPr indent="0" marL="0">
              <a:buNone/>
            </a:pPr>
            <a:r>
              <a:rPr lang="en-US" sz="1300" b="1" baseline="-40000" dirty="0">
                <a:solidFill>
                  <a:srgbClr val="1B2A41"/>
                </a:solidFill>
                <a:latin typeface="Calibri" pitchFamily="34" charset="0"/>
                <a:ea typeface="Calibri" pitchFamily="34" charset="-122"/>
                <a:cs typeface="Calibri" pitchFamily="34" charset="-120"/>
              </a:rPr>
              <a:t>2</a:t>
            </a:r>
            <a:pPr indent="0" marL="0">
              <a:buNone/>
            </a:pPr>
            <a:r>
              <a:rPr lang="en-US" sz="1300" b="1" dirty="0">
                <a:solidFill>
                  <a:srgbClr val="1B2A41"/>
                </a:solidFill>
                <a:latin typeface="Calibri" pitchFamily="34" charset="0"/>
                <a:ea typeface="Calibri" pitchFamily="34" charset="-122"/>
                <a:cs typeface="Calibri" pitchFamily="34" charset="-120"/>
              </a:rPr>
              <a:t>O(ℓ), ΔH = −572 kJ. What is ΔH for 4H</a:t>
            </a:r>
            <a:pPr indent="0" marL="0">
              <a:buNone/>
            </a:pPr>
            <a:r>
              <a:rPr lang="en-US" sz="1300" b="1" baseline="-40000" dirty="0">
                <a:solidFill>
                  <a:srgbClr val="1B2A41"/>
                </a:solidFill>
                <a:latin typeface="Calibri" pitchFamily="34" charset="0"/>
                <a:ea typeface="Calibri" pitchFamily="34" charset="-122"/>
                <a:cs typeface="Calibri" pitchFamily="34" charset="-120"/>
              </a:rPr>
              <a:t>2</a:t>
            </a:r>
            <a:pPr indent="0" marL="0">
              <a:buNone/>
            </a:pPr>
            <a:r>
              <a:rPr lang="en-US" sz="1300" b="1" dirty="0">
                <a:solidFill>
                  <a:srgbClr val="1B2A41"/>
                </a:solidFill>
                <a:latin typeface="Calibri" pitchFamily="34" charset="0"/>
                <a:ea typeface="Calibri" pitchFamily="34" charset="-122"/>
                <a:cs typeface="Calibri" pitchFamily="34" charset="-120"/>
              </a:rPr>
              <a:t>O(ℓ) → 4H</a:t>
            </a:r>
            <a:pPr indent="0" marL="0">
              <a:buNone/>
            </a:pPr>
            <a:r>
              <a:rPr lang="en-US" sz="1300" b="1" baseline="-40000" dirty="0">
                <a:solidFill>
                  <a:srgbClr val="1B2A41"/>
                </a:solidFill>
                <a:latin typeface="Calibri" pitchFamily="34" charset="0"/>
                <a:ea typeface="Calibri" pitchFamily="34" charset="-122"/>
                <a:cs typeface="Calibri" pitchFamily="34" charset="-120"/>
              </a:rPr>
              <a:t>2</a:t>
            </a:r>
            <a:pPr indent="0" marL="0">
              <a:buNone/>
            </a:pPr>
            <a:r>
              <a:rPr lang="en-US" sz="1300" b="1" dirty="0">
                <a:solidFill>
                  <a:srgbClr val="1B2A41"/>
                </a:solidFill>
                <a:latin typeface="Calibri" pitchFamily="34" charset="0"/>
                <a:ea typeface="Calibri" pitchFamily="34" charset="-122"/>
                <a:cs typeface="Calibri" pitchFamily="34" charset="-120"/>
              </a:rPr>
              <a:t>(g) + 2O</a:t>
            </a:r>
            <a:pPr indent="0" marL="0">
              <a:buNone/>
            </a:pPr>
            <a:r>
              <a:rPr lang="en-US" sz="1300" b="1" baseline="-40000" dirty="0">
                <a:solidFill>
                  <a:srgbClr val="1B2A41"/>
                </a:solidFill>
                <a:latin typeface="Calibri" pitchFamily="34" charset="0"/>
                <a:ea typeface="Calibri" pitchFamily="34" charset="-122"/>
                <a:cs typeface="Calibri" pitchFamily="34" charset="-120"/>
              </a:rPr>
              <a:t>2</a:t>
            </a:r>
            <a:pPr indent="0" marL="0">
              <a:buNone/>
            </a:pPr>
            <a:r>
              <a:rPr lang="en-US" sz="1300" b="1" dirty="0">
                <a:solidFill>
                  <a:srgbClr val="1B2A41"/>
                </a:solidFill>
                <a:latin typeface="Calibri" pitchFamily="34" charset="0"/>
                <a:ea typeface="Calibri" pitchFamily="34" charset="-122"/>
                <a:cs typeface="Calibri" pitchFamily="34" charset="-120"/>
              </a:rPr>
              <a:t>(g)?</a:t>
            </a:r>
            <a:endParaRPr lang="en-US" sz="1300" dirty="0"/>
          </a:p>
        </p:txBody>
      </p:sp>
      <p:sp>
        <p:nvSpPr>
          <p:cNvPr id="11" name="Shape 8"/>
          <p:cNvSpPr/>
          <p:nvPr/>
        </p:nvSpPr>
        <p:spPr>
          <a:xfrm>
            <a:off x="457200" y="1965960"/>
            <a:ext cx="4023360" cy="594360"/>
          </a:xfrm>
          <a:prstGeom prst="roundRect">
            <a:avLst>
              <a:gd name="adj" fmla="val 12308"/>
            </a:avLst>
          </a:prstGeom>
          <a:solidFill>
            <a:srgbClr val="FFFFFF"/>
          </a:solidFill>
          <a:ln w="9525">
            <a:solidFill>
              <a:srgbClr val="D7E0E8"/>
            </a:solidFill>
            <a:prstDash val="solid"/>
          </a:ln>
        </p:spPr>
      </p:sp>
      <p:sp>
        <p:nvSpPr>
          <p:cNvPr id="12" name="Text 9"/>
          <p:cNvSpPr txBox="1"/>
          <p:nvPr/>
        </p:nvSpPr>
        <p:spPr>
          <a:xfrm>
            <a:off x="594360" y="196596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A   </a:t>
            </a:r>
            <a:pPr indent="0" marL="0">
              <a:buNone/>
            </a:pPr>
            <a:r>
              <a:rPr lang="en-US" sz="1150" dirty="0">
                <a:solidFill>
                  <a:srgbClr val="1B2A41"/>
                </a:solidFill>
                <a:latin typeface="Calibri" pitchFamily="34" charset="0"/>
                <a:ea typeface="Calibri" pitchFamily="34" charset="-122"/>
                <a:cs typeface="Calibri" pitchFamily="34" charset="-120"/>
              </a:rPr>
              <a:t>−1144 kJ</a:t>
            </a:r>
            <a:endParaRPr lang="en-US" sz="1100" dirty="0"/>
          </a:p>
        </p:txBody>
      </p:sp>
      <p:sp>
        <p:nvSpPr>
          <p:cNvPr id="13" name="Shape 10"/>
          <p:cNvSpPr/>
          <p:nvPr/>
        </p:nvSpPr>
        <p:spPr>
          <a:xfrm>
            <a:off x="4663440" y="1965960"/>
            <a:ext cx="4023360" cy="594360"/>
          </a:xfrm>
          <a:prstGeom prst="roundRect">
            <a:avLst>
              <a:gd name="adj" fmla="val 12308"/>
            </a:avLst>
          </a:prstGeom>
          <a:solidFill>
            <a:srgbClr val="FFFFFF"/>
          </a:solidFill>
          <a:ln w="9525">
            <a:solidFill>
              <a:srgbClr val="D7E0E8"/>
            </a:solidFill>
            <a:prstDash val="solid"/>
          </a:ln>
        </p:spPr>
      </p:sp>
      <p:sp>
        <p:nvSpPr>
          <p:cNvPr id="14" name="Text 11"/>
          <p:cNvSpPr txBox="1"/>
          <p:nvPr/>
        </p:nvSpPr>
        <p:spPr>
          <a:xfrm>
            <a:off x="4800600" y="196596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B   </a:t>
            </a:r>
            <a:pPr indent="0" marL="0">
              <a:buNone/>
            </a:pPr>
            <a:r>
              <a:rPr lang="en-US" sz="1150" dirty="0">
                <a:solidFill>
                  <a:srgbClr val="1B2A41"/>
                </a:solidFill>
                <a:latin typeface="Calibri" pitchFamily="34" charset="0"/>
                <a:ea typeface="Calibri" pitchFamily="34" charset="-122"/>
                <a:cs typeface="Calibri" pitchFamily="34" charset="-120"/>
              </a:rPr>
              <a:t>+572 kJ</a:t>
            </a:r>
            <a:endParaRPr lang="en-US" sz="1100" dirty="0"/>
          </a:p>
        </p:txBody>
      </p:sp>
      <p:sp>
        <p:nvSpPr>
          <p:cNvPr id="15" name="Shape 12"/>
          <p:cNvSpPr/>
          <p:nvPr/>
        </p:nvSpPr>
        <p:spPr>
          <a:xfrm>
            <a:off x="457200" y="2697480"/>
            <a:ext cx="4023360" cy="594360"/>
          </a:xfrm>
          <a:prstGeom prst="roundRect">
            <a:avLst>
              <a:gd name="adj" fmla="val 12308"/>
            </a:avLst>
          </a:prstGeom>
          <a:solidFill>
            <a:srgbClr val="E3F3E9"/>
          </a:solidFill>
          <a:ln w="9525">
            <a:solidFill>
              <a:srgbClr val="2E7D4F"/>
            </a:solidFill>
            <a:prstDash val="solid"/>
          </a:ln>
        </p:spPr>
      </p:sp>
      <p:sp>
        <p:nvSpPr>
          <p:cNvPr id="16" name="Text 13"/>
          <p:cNvSpPr txBox="1"/>
          <p:nvPr/>
        </p:nvSpPr>
        <p:spPr>
          <a:xfrm>
            <a:off x="594360" y="269748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C   </a:t>
            </a:r>
            <a:pPr indent="0" marL="0">
              <a:buNone/>
            </a:pPr>
            <a:r>
              <a:rPr lang="en-US" sz="1150" dirty="0">
                <a:solidFill>
                  <a:srgbClr val="1B2A41"/>
                </a:solidFill>
                <a:latin typeface="Calibri" pitchFamily="34" charset="0"/>
                <a:ea typeface="Calibri" pitchFamily="34" charset="-122"/>
                <a:cs typeface="Calibri" pitchFamily="34" charset="-120"/>
              </a:rPr>
              <a:t>+1144 kJ</a:t>
            </a:r>
            <a:endParaRPr lang="en-US" sz="1100" dirty="0"/>
          </a:p>
        </p:txBody>
      </p:sp>
      <p:sp>
        <p:nvSpPr>
          <p:cNvPr id="17" name="Shape 14"/>
          <p:cNvSpPr/>
          <p:nvPr/>
        </p:nvSpPr>
        <p:spPr>
          <a:xfrm>
            <a:off x="4663440" y="2697480"/>
            <a:ext cx="4023360" cy="594360"/>
          </a:xfrm>
          <a:prstGeom prst="roundRect">
            <a:avLst>
              <a:gd name="adj" fmla="val 12308"/>
            </a:avLst>
          </a:prstGeom>
          <a:solidFill>
            <a:srgbClr val="FFFFFF"/>
          </a:solidFill>
          <a:ln w="9525">
            <a:solidFill>
              <a:srgbClr val="D7E0E8"/>
            </a:solidFill>
            <a:prstDash val="solid"/>
          </a:ln>
        </p:spPr>
      </p:sp>
      <p:sp>
        <p:nvSpPr>
          <p:cNvPr id="18" name="Text 15"/>
          <p:cNvSpPr txBox="1"/>
          <p:nvPr/>
        </p:nvSpPr>
        <p:spPr>
          <a:xfrm>
            <a:off x="4800600" y="269748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D   </a:t>
            </a:r>
            <a:pPr indent="0" marL="0">
              <a:buNone/>
            </a:pPr>
            <a:r>
              <a:rPr lang="en-US" sz="1150" dirty="0">
                <a:solidFill>
                  <a:srgbClr val="1B2A41"/>
                </a:solidFill>
                <a:latin typeface="Calibri" pitchFamily="34" charset="0"/>
                <a:ea typeface="Calibri" pitchFamily="34" charset="-122"/>
                <a:cs typeface="Calibri" pitchFamily="34" charset="-120"/>
              </a:rPr>
              <a:t>−286 kJ</a:t>
            </a:r>
            <a:endParaRPr lang="en-US" sz="1100" dirty="0"/>
          </a:p>
        </p:txBody>
      </p:sp>
      <p:sp>
        <p:nvSpPr>
          <p:cNvPr id="19" name="Text 16"/>
          <p:cNvSpPr txBox="1"/>
          <p:nvPr/>
        </p:nvSpPr>
        <p:spPr>
          <a:xfrm>
            <a:off x="457200" y="3520440"/>
            <a:ext cx="8229600" cy="731520"/>
          </a:xfrm>
          <a:prstGeom prst="rect">
            <a:avLst/>
          </a:prstGeom>
          <a:noFill/>
          <a:ln/>
        </p:spPr>
        <p:txBody>
          <a:bodyPr wrap="square" lIns="0" tIns="0" rIns="0" bIns="0" rtlCol="0" anchor="t"/>
          <a:lstStyle/>
          <a:p>
            <a:pPr indent="0" marL="0">
              <a:buNone/>
            </a:pPr>
            <a:r>
              <a:rPr lang="en-US" sz="1150" b="1" dirty="0">
                <a:solidFill>
                  <a:srgbClr val="1B2A41"/>
                </a:solidFill>
                <a:latin typeface="Calibri" pitchFamily="34" charset="0"/>
                <a:ea typeface="Calibri" pitchFamily="34" charset="-122"/>
                <a:cs typeface="Calibri" pitchFamily="34" charset="-120"/>
              </a:rPr>
              <a:t>Answer C. </a:t>
            </a:r>
            <a:pPr indent="0" marL="0">
              <a:buNone/>
            </a:pPr>
            <a:r>
              <a:rPr lang="en-US" sz="1150" dirty="0">
                <a:solidFill>
                  <a:srgbClr val="1B2A41"/>
                </a:solidFill>
                <a:latin typeface="Calibri" pitchFamily="34" charset="0"/>
                <a:ea typeface="Calibri" pitchFamily="34" charset="-122"/>
                <a:cs typeface="Calibri" pitchFamily="34" charset="-120"/>
              </a:rPr>
              <a:t>Reversing changes the sign (+572 kJ) and doubling the coefficients doubles ΔH: +1144 kJ.</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B2A41"/>
        </a:solidFill>
      </p:bgPr>
    </p:bg>
    <p:spTree>
      <p:nvGrpSpPr>
        <p:cNvPr id="1" name=""/>
        <p:cNvGrpSpPr/>
        <p:nvPr/>
      </p:nvGrpSpPr>
      <p:grpSpPr>
        <a:xfrm>
          <a:off x="0" y="0"/>
          <a:ext cx="0" cy="0"/>
          <a:chOff x="0" y="0"/>
          <a:chExt cx="0" cy="0"/>
        </a:xfrm>
      </p:grpSpPr>
      <p:sp>
        <p:nvSpPr>
          <p:cNvPr id="2" name="Text 0"/>
          <p:cNvSpPr txBox="1"/>
          <p:nvPr/>
        </p:nvSpPr>
        <p:spPr>
          <a:xfrm>
            <a:off x="548640" y="640080"/>
            <a:ext cx="1371600" cy="1005840"/>
          </a:xfrm>
          <a:prstGeom prst="rect">
            <a:avLst/>
          </a:prstGeom>
          <a:noFill/>
          <a:ln/>
        </p:spPr>
        <p:txBody>
          <a:bodyPr wrap="square" lIns="0" tIns="0" rIns="0" bIns="0" rtlCol="0" anchor="ctr"/>
          <a:lstStyle/>
          <a:p>
            <a:pPr indent="0" marL="0">
              <a:buNone/>
            </a:pPr>
            <a:r>
              <a:rPr lang="en-US" sz="6600" b="1" dirty="0">
                <a:solidFill>
                  <a:srgbClr val="F0B24A"/>
                </a:solidFill>
                <a:latin typeface="Calibri" pitchFamily="34" charset="0"/>
                <a:ea typeface="Calibri" pitchFamily="34" charset="-122"/>
                <a:cs typeface="Calibri" pitchFamily="34" charset="-120"/>
              </a:rPr>
              <a:t>2</a:t>
            </a:r>
            <a:endParaRPr lang="en-US" sz="6600" dirty="0"/>
          </a:p>
        </p:txBody>
      </p:sp>
      <p:sp>
        <p:nvSpPr>
          <p:cNvPr id="3" name="Text 1"/>
          <p:cNvSpPr txBox="1"/>
          <p:nvPr/>
        </p:nvSpPr>
        <p:spPr>
          <a:xfrm>
            <a:off x="548640" y="1691640"/>
            <a:ext cx="2743200" cy="228600"/>
          </a:xfrm>
          <a:prstGeom prst="rect">
            <a:avLst/>
          </a:prstGeom>
          <a:noFill/>
          <a:ln/>
        </p:spPr>
        <p:txBody>
          <a:bodyPr wrap="square" lIns="0" tIns="0" rIns="0" bIns="0" rtlCol="0" anchor="ctr"/>
          <a:lstStyle/>
          <a:p>
            <a:pPr indent="0" marL="0">
              <a:buNone/>
            </a:pPr>
            <a:r>
              <a:rPr lang="en-US" sz="900" b="1" spc="200" kern="0" dirty="0">
                <a:solidFill>
                  <a:srgbClr val="A3B1C2"/>
                </a:solidFill>
                <a:latin typeface="Calibri" pitchFamily="34" charset="0"/>
                <a:ea typeface="Calibri" pitchFamily="34" charset="-122"/>
                <a:cs typeface="Calibri" pitchFamily="34" charset="-120"/>
              </a:rPr>
              <a:t>PART 2</a:t>
            </a:r>
            <a:endParaRPr lang="en-US" sz="900" dirty="0"/>
          </a:p>
        </p:txBody>
      </p:sp>
      <p:sp>
        <p:nvSpPr>
          <p:cNvPr id="4" name="Text 2"/>
          <p:cNvSpPr txBox="1"/>
          <p:nvPr/>
        </p:nvSpPr>
        <p:spPr>
          <a:xfrm>
            <a:off x="548640" y="1920240"/>
            <a:ext cx="6400800" cy="822960"/>
          </a:xfrm>
          <a:prstGeom prst="rect">
            <a:avLst/>
          </a:prstGeom>
          <a:noFill/>
          <a:ln/>
        </p:spPr>
        <p:txBody>
          <a:bodyPr wrap="square" lIns="0" tIns="0" rIns="0" bIns="0" rtlCol="0" anchor="t"/>
          <a:lstStyle/>
          <a:p>
            <a:pPr indent="0" marL="0">
              <a:buNone/>
            </a:pPr>
            <a:r>
              <a:rPr lang="en-US" sz="2600" b="1" dirty="0">
                <a:solidFill>
                  <a:srgbClr val="FFFFFF"/>
                </a:solidFill>
                <a:latin typeface="Calibri" pitchFamily="34" charset="0"/>
                <a:ea typeface="Calibri" pitchFamily="34" charset="-122"/>
                <a:cs typeface="Calibri" pitchFamily="34" charset="-120"/>
              </a:rPr>
              <a:t>Energy diagrams and activation energy</a:t>
            </a:r>
            <a:endParaRPr lang="en-US" sz="2600" dirty="0"/>
          </a:p>
        </p:txBody>
      </p:sp>
      <p:sp>
        <p:nvSpPr>
          <p:cNvPr id="5" name="Text 3"/>
          <p:cNvSpPr txBox="1"/>
          <p:nvPr/>
        </p:nvSpPr>
        <p:spPr>
          <a:xfrm>
            <a:off x="548640" y="2788920"/>
            <a:ext cx="6400800" cy="548640"/>
          </a:xfrm>
          <a:prstGeom prst="rect">
            <a:avLst/>
          </a:prstGeom>
          <a:noFill/>
          <a:ln/>
        </p:spPr>
        <p:txBody>
          <a:bodyPr wrap="square" lIns="0" tIns="0" rIns="0" bIns="0" rtlCol="0" anchor="t"/>
          <a:lstStyle/>
          <a:p>
            <a:pPr indent="0" marL="0">
              <a:buNone/>
            </a:pPr>
            <a:r>
              <a:rPr lang="en-US" sz="1200" dirty="0">
                <a:solidFill>
                  <a:srgbClr val="A3B1C2"/>
                </a:solidFill>
                <a:latin typeface="Calibri" pitchFamily="34" charset="0"/>
                <a:ea typeface="Calibri" pitchFamily="34" charset="-122"/>
                <a:cs typeface="Calibri" pitchFamily="34" charset="-120"/>
              </a:rPr>
              <a:t>Even a reaction that releases energy must first climb an energy hill.</a:t>
            </a:r>
            <a:endParaRPr lang="en-US" sz="1200" dirty="0"/>
          </a:p>
        </p:txBody>
      </p:sp>
      <p:sp>
        <p:nvSpPr>
          <p:cNvPr id="6" name="Text 4"/>
          <p:cNvSpPr txBox="1"/>
          <p:nvPr/>
        </p:nvSpPr>
        <p:spPr>
          <a:xfrm>
            <a:off x="548640" y="3520440"/>
            <a:ext cx="5486400" cy="274320"/>
          </a:xfrm>
          <a:prstGeom prst="rect">
            <a:avLst/>
          </a:prstGeom>
          <a:noFill/>
          <a:ln/>
        </p:spPr>
        <p:txBody>
          <a:bodyPr wrap="square" lIns="0" tIns="0" rIns="0" bIns="0" rtlCol="0" anchor="ctr"/>
          <a:lstStyle/>
          <a:p>
            <a:pPr indent="0" marL="0">
              <a:buNone/>
            </a:pPr>
            <a:r>
              <a:rPr lang="en-US" sz="900" b="1" dirty="0">
                <a:solidFill>
                  <a:srgbClr val="7DB6E3"/>
                </a:solidFill>
                <a:latin typeface="Calibri" pitchFamily="34" charset="0"/>
                <a:ea typeface="Calibri" pitchFamily="34" charset="-122"/>
                <a:cs typeface="Calibri" pitchFamily="34" charset="-120"/>
              </a:rPr>
              <a:t>CR2-LO2 · Ball 6.S</a:t>
            </a:r>
            <a:endParaRPr lang="en-US" sz="900" dirty="0"/>
          </a:p>
        </p:txBody>
      </p:sp>
      <p:pic>
        <p:nvPicPr>
          <p:cNvPr id="7" name="Image 0" descr="/home/claude/build/mol/h2.png">    </p:cNvPr>
          <p:cNvPicPr>
            <a:picLocks noChangeAspect="1"/>
          </p:cNvPicPr>
          <p:nvPr/>
        </p:nvPicPr>
        <p:blipFill>
          <a:blip r:embed="rId1"/>
          <a:stretch>
            <a:fillRect/>
          </a:stretch>
        </p:blipFill>
        <p:spPr>
          <a:xfrm>
            <a:off x="6303264" y="640080"/>
            <a:ext cx="1840992" cy="914400"/>
          </a:xfrm>
          <a:prstGeom prst="rect">
            <a:avLst/>
          </a:prstGeom>
        </p:spPr>
      </p:pic>
      <p:pic>
        <p:nvPicPr>
          <p:cNvPr id="8" name="Image 1" descr="/home/claude/build/mol/o2.png">    </p:cNvPr>
          <p:cNvPicPr>
            <a:picLocks noChangeAspect="1"/>
          </p:cNvPicPr>
          <p:nvPr/>
        </p:nvPicPr>
        <p:blipFill>
          <a:blip r:embed="rId2"/>
          <a:stretch>
            <a:fillRect/>
          </a:stretch>
        </p:blipFill>
        <p:spPr>
          <a:xfrm>
            <a:off x="7276514" y="2834640"/>
            <a:ext cx="1174652" cy="548640"/>
          </a:xfrm>
          <a:prstGeom prst="rect">
            <a:avLst/>
          </a:prstGeom>
        </p:spPr>
      </p:pic>
      <p:pic>
        <p:nvPicPr>
          <p:cNvPr id="9" name="Image 2" descr="/home/claude/build/mol/water.png">    </p:cNvPr>
          <p:cNvPicPr>
            <a:picLocks noChangeAspect="1"/>
          </p:cNvPicPr>
          <p:nvPr/>
        </p:nvPicPr>
        <p:blipFill>
          <a:blip r:embed="rId3"/>
          <a:stretch>
            <a:fillRect/>
          </a:stretch>
        </p:blipFill>
        <p:spPr>
          <a:xfrm>
            <a:off x="5697445" y="3794760"/>
            <a:ext cx="675190" cy="457200"/>
          </a:xfrm>
          <a:prstGeom prst="rect">
            <a:avLst/>
          </a:prstGeom>
        </p:spPr>
      </p:pic>
      <p:sp>
        <p:nvSpPr>
          <p:cNvPr id="10"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A3B1C2"/>
                </a:solidFill>
                <a:latin typeface="Calibri" pitchFamily="34" charset="0"/>
                <a:ea typeface="Calibri" pitchFamily="34" charset="-122"/>
                <a:cs typeface="Calibri" pitchFamily="34" charset="-120"/>
              </a:rPr>
              <a:t>PHD115 · Chemical Reactions II</a:t>
            </a:r>
            <a:endParaRPr lang="en-US" sz="800" dirty="0"/>
          </a:p>
        </p:txBody>
      </p:sp>
      <p:sp>
        <p:nvSpPr>
          <p:cNvPr id="11"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F0B24A"/>
                </a:solidFill>
                <a:latin typeface="Calibri" pitchFamily="34" charset="0"/>
                <a:ea typeface="Calibri" pitchFamily="34" charset="-122"/>
                <a:cs typeface="Calibri" pitchFamily="34" charset="-120"/>
              </a:rPr>
              <a:t>Dr. NAM · Faculty of Pharmacy, UiTM Bertam, Penang</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CR2-LO2</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If it releases energy, why doesn't it just happen?</a:t>
            </a:r>
            <a:endParaRPr lang="en-US" sz="2000" dirty="0"/>
          </a:p>
        </p:txBody>
      </p:sp>
      <p:pic>
        <p:nvPicPr>
          <p:cNvPr id="7" name="Image 0" descr="/home/claude/build/mol/h2.png">    </p:cNvPr>
          <p:cNvPicPr>
            <a:picLocks noChangeAspect="1"/>
          </p:cNvPicPr>
          <p:nvPr/>
        </p:nvPicPr>
        <p:blipFill>
          <a:blip r:embed="rId1"/>
          <a:stretch>
            <a:fillRect/>
          </a:stretch>
        </p:blipFill>
        <p:spPr>
          <a:xfrm>
            <a:off x="7980152" y="192024"/>
            <a:ext cx="773217"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Chemical Reactions II</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pic>
        <p:nvPicPr>
          <p:cNvPr id="10" name="Image 1" descr="/tmp/cr1img/hindenburg.png">    </p:cNvPr>
          <p:cNvPicPr>
            <a:picLocks noChangeAspect="1"/>
          </p:cNvPicPr>
          <p:nvPr/>
        </p:nvPicPr>
        <p:blipFill>
          <a:blip r:embed="rId2"/>
          <a:stretch>
            <a:fillRect/>
          </a:stretch>
        </p:blipFill>
        <p:spPr>
          <a:xfrm>
            <a:off x="457200" y="1280160"/>
            <a:ext cx="3931920" cy="2344556"/>
          </a:xfrm>
          <a:prstGeom prst="rect">
            <a:avLst/>
          </a:prstGeom>
        </p:spPr>
      </p:pic>
      <p:sp>
        <p:nvSpPr>
          <p:cNvPr id="11" name="Text 7"/>
          <p:cNvSpPr txBox="1"/>
          <p:nvPr/>
        </p:nvSpPr>
        <p:spPr>
          <a:xfrm>
            <a:off x="457200" y="3661292"/>
            <a:ext cx="3931920" cy="292608"/>
          </a:xfrm>
          <a:prstGeom prst="rect">
            <a:avLst/>
          </a:prstGeom>
          <a:noFill/>
          <a:ln/>
        </p:spPr>
        <p:txBody>
          <a:bodyPr wrap="square" lIns="0" tIns="0" rIns="0" bIns="0" rtlCol="0" anchor="t"/>
          <a:lstStyle/>
          <a:p>
            <a:pPr algn="ctr" indent="0" marL="0">
              <a:buNone/>
            </a:pPr>
            <a:r>
              <a:rPr lang="en-US" sz="750" i="1" dirty="0">
                <a:solidFill>
                  <a:srgbClr val="56657A"/>
                </a:solidFill>
                <a:latin typeface="Calibri" pitchFamily="34" charset="0"/>
                <a:ea typeface="Calibri" pitchFamily="34" charset="-122"/>
                <a:cs typeface="Calibri" pitchFamily="34" charset="-120"/>
              </a:rPr>
              <a:t>Hydrogen in the Hindenburg reacting with oxygen to form water, Figure 5.2.1 (Ball, The Basics of GOB Chemistry 5.2)</a:t>
            </a:r>
            <a:endParaRPr lang="en-US" sz="750" dirty="0"/>
          </a:p>
        </p:txBody>
      </p:sp>
      <p:sp>
        <p:nvSpPr>
          <p:cNvPr id="12" name="Text 8"/>
          <p:cNvSpPr txBox="1"/>
          <p:nvPr/>
        </p:nvSpPr>
        <p:spPr>
          <a:xfrm>
            <a:off x="4663440" y="1280160"/>
            <a:ext cx="4023360" cy="338328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Hydrogen and oxygen react very exothermically (ΔH = −572 kJ per 2 mol H</a:t>
            </a:r>
            <a:pPr marL="177800" indent="-177800">
              <a:spcAft>
                <a:spcPts val="600"/>
              </a:spcAft>
              <a:buSzPct val="100000"/>
              <a:buChar char="•"/>
            </a:pPr>
            <a:r>
              <a:rPr lang="en-US" sz="1250" baseline="-40000" dirty="0">
                <a:solidFill>
                  <a:srgbClr val="1B2A41"/>
                </a:solidFill>
                <a:latin typeface="Calibri" pitchFamily="34" charset="0"/>
                <a:ea typeface="Calibri" pitchFamily="34" charset="-122"/>
                <a:cs typeface="Calibri" pitchFamily="34" charset="-120"/>
              </a:rPr>
              <a:t>2</a:t>
            </a:r>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O).</a:t>
            </a:r>
            <a:endParaRPr lang="en-US" sz="1250" dirty="0"/>
          </a:p>
          <a:p>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Yet a mixture of the two gases can stand for years without reacting. The Hindenburg's hydrogen needed a spark to ignite.</a:t>
            </a:r>
            <a:endParaRPr lang="en-US" sz="1250" dirty="0"/>
          </a:p>
          <a:p>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Paper, wood and glucose all burn exothermically, but none of them bursts into flame on the desk.</a:t>
            </a:r>
            <a:endParaRPr lang="en-US" sz="1250" dirty="0"/>
          </a:p>
          <a:p>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Reactants must first gain enough energy to start breaking bonds: the </a:t>
            </a:r>
            <a:pPr marL="177800" indent="-177800">
              <a:spcAft>
                <a:spcPts val="600"/>
              </a:spcAft>
              <a:buSzPct val="100000"/>
              <a:buChar char="•"/>
            </a:pPr>
            <a:r>
              <a:rPr lang="en-US" sz="1250" b="1" dirty="0">
                <a:solidFill>
                  <a:srgbClr val="1B2A41"/>
                </a:solidFill>
                <a:latin typeface="Calibri" pitchFamily="34" charset="0"/>
                <a:ea typeface="Calibri" pitchFamily="34" charset="-122"/>
                <a:cs typeface="Calibri" pitchFamily="34" charset="-120"/>
              </a:rPr>
              <a:t>activation energy</a:t>
            </a:r>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CR2-LO2</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Reading an energy diagram: exothermic</a:t>
            </a:r>
            <a:endParaRPr lang="en-US" sz="2000" dirty="0"/>
          </a:p>
        </p:txBody>
      </p:sp>
      <p:pic>
        <p:nvPicPr>
          <p:cNvPr id="7" name="Image 0" descr="/home/claude/build/mol/h2.png">    </p:cNvPr>
          <p:cNvPicPr>
            <a:picLocks noChangeAspect="1"/>
          </p:cNvPicPr>
          <p:nvPr/>
        </p:nvPicPr>
        <p:blipFill>
          <a:blip r:embed="rId1"/>
          <a:stretch>
            <a:fillRect/>
          </a:stretch>
        </p:blipFill>
        <p:spPr>
          <a:xfrm>
            <a:off x="7980152" y="192024"/>
            <a:ext cx="773217"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Chemical Reactions II</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pic>
        <p:nvPicPr>
          <p:cNvPr id="10" name="Image 1" descr="/home/claude/build/png/ed_exo.png">    </p:cNvPr>
          <p:cNvPicPr>
            <a:picLocks noChangeAspect="1"/>
          </p:cNvPicPr>
          <p:nvPr/>
        </p:nvPicPr>
        <p:blipFill>
          <a:blip r:embed="rId2"/>
          <a:stretch>
            <a:fillRect/>
          </a:stretch>
        </p:blipFill>
        <p:spPr>
          <a:xfrm>
            <a:off x="457200" y="1280160"/>
            <a:ext cx="4389120" cy="2743200"/>
          </a:xfrm>
          <a:prstGeom prst="rect">
            <a:avLst/>
          </a:prstGeom>
        </p:spPr>
      </p:pic>
      <p:sp>
        <p:nvSpPr>
          <p:cNvPr id="11" name="Text 7"/>
          <p:cNvSpPr txBox="1"/>
          <p:nvPr/>
        </p:nvSpPr>
        <p:spPr>
          <a:xfrm>
            <a:off x="457200" y="4059936"/>
            <a:ext cx="4389120" cy="292608"/>
          </a:xfrm>
          <a:prstGeom prst="rect">
            <a:avLst/>
          </a:prstGeom>
          <a:noFill/>
          <a:ln/>
        </p:spPr>
        <p:txBody>
          <a:bodyPr wrap="square" lIns="0" tIns="0" rIns="0" bIns="0" rtlCol="0" anchor="t"/>
          <a:lstStyle/>
          <a:p>
            <a:pPr algn="ctr" indent="0" marL="0">
              <a:buNone/>
            </a:pPr>
            <a:r>
              <a:rPr lang="en-US" sz="750" i="1" dirty="0">
                <a:solidFill>
                  <a:srgbClr val="56657A"/>
                </a:solidFill>
                <a:latin typeface="Calibri" pitchFamily="34" charset="0"/>
                <a:ea typeface="Calibri" pitchFamily="34" charset="-122"/>
                <a:cs typeface="Calibri" pitchFamily="34" charset="-120"/>
              </a:rPr>
              <a:t>Energy diagram for an exothermic reaction (drawn by Dr. NAM)</a:t>
            </a:r>
            <a:endParaRPr lang="en-US" sz="750" dirty="0"/>
          </a:p>
        </p:txBody>
      </p:sp>
      <p:sp>
        <p:nvSpPr>
          <p:cNvPr id="12" name="Text 8"/>
          <p:cNvSpPr txBox="1"/>
          <p:nvPr/>
        </p:nvSpPr>
        <p:spPr>
          <a:xfrm>
            <a:off x="5120640" y="1280160"/>
            <a:ext cx="3566160" cy="338328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x-axis: progress of the reaction. y-axis: potential energy.</a:t>
            </a:r>
            <a:endParaRPr lang="en-US" sz="1250" dirty="0"/>
          </a:p>
          <a:p>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The peak is the </a:t>
            </a:r>
            <a:pPr marL="177800" indent="-177800">
              <a:spcAft>
                <a:spcPts val="600"/>
              </a:spcAft>
              <a:buSzPct val="100000"/>
              <a:buChar char="•"/>
            </a:pPr>
            <a:r>
              <a:rPr lang="en-US" sz="1250" b="1" dirty="0">
                <a:solidFill>
                  <a:srgbClr val="1B2A41"/>
                </a:solidFill>
                <a:latin typeface="Calibri" pitchFamily="34" charset="0"/>
                <a:ea typeface="Calibri" pitchFamily="34" charset="-122"/>
                <a:cs typeface="Calibri" pitchFamily="34" charset="-120"/>
              </a:rPr>
              <a:t>transition state</a:t>
            </a:r>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 (activated complex): old bonds half broken, new bonds half formed.</a:t>
            </a:r>
            <a:endParaRPr lang="en-US" sz="1250" dirty="0"/>
          </a:p>
          <a:p>
            <a:pPr marL="177800" indent="-177800">
              <a:spcAft>
                <a:spcPts val="600"/>
              </a:spcAft>
              <a:buSzPct val="100000"/>
              <a:buChar char="•"/>
            </a:pPr>
            <a:r>
              <a:rPr lang="en-US" sz="1250" b="1" dirty="0">
                <a:solidFill>
                  <a:srgbClr val="1B2A41"/>
                </a:solidFill>
                <a:latin typeface="Calibri" pitchFamily="34" charset="0"/>
                <a:ea typeface="Calibri" pitchFamily="34" charset="-122"/>
                <a:cs typeface="Calibri" pitchFamily="34" charset="-120"/>
              </a:rPr>
              <a:t>E</a:t>
            </a:r>
            <a:pPr marL="177800" indent="-177800">
              <a:spcAft>
                <a:spcPts val="600"/>
              </a:spcAft>
              <a:buSzPct val="100000"/>
              <a:buChar char="•"/>
            </a:pPr>
            <a:r>
              <a:rPr lang="en-US" sz="1250" b="1" baseline="-40000" dirty="0">
                <a:solidFill>
                  <a:srgbClr val="1B2A41"/>
                </a:solidFill>
                <a:latin typeface="Calibri" pitchFamily="34" charset="0"/>
                <a:ea typeface="Calibri" pitchFamily="34" charset="-122"/>
                <a:cs typeface="Calibri" pitchFamily="34" charset="-120"/>
              </a:rPr>
              <a:t>a</a:t>
            </a:r>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 = energy of the peak − energy of the reactants.</a:t>
            </a:r>
            <a:endParaRPr lang="en-US" sz="1250" dirty="0"/>
          </a:p>
          <a:p>
            <a:pPr marL="177800" indent="-177800">
              <a:spcAft>
                <a:spcPts val="600"/>
              </a:spcAft>
              <a:buSzPct val="100000"/>
              <a:buChar char="•"/>
            </a:pPr>
            <a:r>
              <a:rPr lang="en-US" sz="1250" b="1" dirty="0">
                <a:solidFill>
                  <a:srgbClr val="1B2A41"/>
                </a:solidFill>
                <a:latin typeface="Calibri" pitchFamily="34" charset="0"/>
                <a:ea typeface="Calibri" pitchFamily="34" charset="-122"/>
                <a:cs typeface="Calibri" pitchFamily="34" charset="-120"/>
              </a:rPr>
              <a:t>ΔH</a:t>
            </a:r>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 = energy of the products − energy of the reactants. Products lower: ΔH &lt; 0.</a:t>
            </a:r>
            <a:endParaRPr lang="en-US" sz="12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CR2-LO2</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Reading an energy diagram: endothermic</a:t>
            </a:r>
            <a:endParaRPr lang="en-US" sz="2000" dirty="0"/>
          </a:p>
        </p:txBody>
      </p:sp>
      <p:pic>
        <p:nvPicPr>
          <p:cNvPr id="7" name="Image 0" descr="/home/claude/build/mol/h2.png">    </p:cNvPr>
          <p:cNvPicPr>
            <a:picLocks noChangeAspect="1"/>
          </p:cNvPicPr>
          <p:nvPr/>
        </p:nvPicPr>
        <p:blipFill>
          <a:blip r:embed="rId1"/>
          <a:stretch>
            <a:fillRect/>
          </a:stretch>
        </p:blipFill>
        <p:spPr>
          <a:xfrm>
            <a:off x="7980152" y="192024"/>
            <a:ext cx="773217"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Chemical Reactions II</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pic>
        <p:nvPicPr>
          <p:cNvPr id="10" name="Image 1" descr="/home/claude/build/png/ed_endo.png">    </p:cNvPr>
          <p:cNvPicPr>
            <a:picLocks noChangeAspect="1"/>
          </p:cNvPicPr>
          <p:nvPr/>
        </p:nvPicPr>
        <p:blipFill>
          <a:blip r:embed="rId2"/>
          <a:stretch>
            <a:fillRect/>
          </a:stretch>
        </p:blipFill>
        <p:spPr>
          <a:xfrm>
            <a:off x="457200" y="1280160"/>
            <a:ext cx="4389120" cy="2743200"/>
          </a:xfrm>
          <a:prstGeom prst="rect">
            <a:avLst/>
          </a:prstGeom>
        </p:spPr>
      </p:pic>
      <p:sp>
        <p:nvSpPr>
          <p:cNvPr id="11" name="Text 7"/>
          <p:cNvSpPr txBox="1"/>
          <p:nvPr/>
        </p:nvSpPr>
        <p:spPr>
          <a:xfrm>
            <a:off x="457200" y="4059936"/>
            <a:ext cx="4389120" cy="292608"/>
          </a:xfrm>
          <a:prstGeom prst="rect">
            <a:avLst/>
          </a:prstGeom>
          <a:noFill/>
          <a:ln/>
        </p:spPr>
        <p:txBody>
          <a:bodyPr wrap="square" lIns="0" tIns="0" rIns="0" bIns="0" rtlCol="0" anchor="t"/>
          <a:lstStyle/>
          <a:p>
            <a:pPr algn="ctr" indent="0" marL="0">
              <a:buNone/>
            </a:pPr>
            <a:r>
              <a:rPr lang="en-US" sz="750" i="1" dirty="0">
                <a:solidFill>
                  <a:srgbClr val="56657A"/>
                </a:solidFill>
                <a:latin typeface="Calibri" pitchFamily="34" charset="0"/>
                <a:ea typeface="Calibri" pitchFamily="34" charset="-122"/>
                <a:cs typeface="Calibri" pitchFamily="34" charset="-120"/>
              </a:rPr>
              <a:t>Energy diagram for an endothermic reaction (drawn by Dr. NAM)</a:t>
            </a:r>
            <a:endParaRPr lang="en-US" sz="750" dirty="0"/>
          </a:p>
        </p:txBody>
      </p:sp>
      <p:sp>
        <p:nvSpPr>
          <p:cNvPr id="12" name="Text 8"/>
          <p:cNvSpPr txBox="1"/>
          <p:nvPr/>
        </p:nvSpPr>
        <p:spPr>
          <a:xfrm>
            <a:off x="5120640" y="1280160"/>
            <a:ext cx="3566160" cy="338328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Products are higher than reactants, so ΔH &gt; 0: energy is absorbed.</a:t>
            </a:r>
            <a:endParaRPr lang="en-US" sz="1250" dirty="0"/>
          </a:p>
          <a:p>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E</a:t>
            </a:r>
            <a:pPr marL="177800" indent="-177800">
              <a:spcAft>
                <a:spcPts val="600"/>
              </a:spcAft>
              <a:buSzPct val="100000"/>
              <a:buChar char="•"/>
            </a:pPr>
            <a:r>
              <a:rPr lang="en-US" sz="1250" baseline="-40000" dirty="0">
                <a:solidFill>
                  <a:srgbClr val="1B2A41"/>
                </a:solidFill>
                <a:latin typeface="Calibri" pitchFamily="34" charset="0"/>
                <a:ea typeface="Calibri" pitchFamily="34" charset="-122"/>
                <a:cs typeface="Calibri" pitchFamily="34" charset="-120"/>
              </a:rPr>
              <a:t>a</a:t>
            </a:r>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 is still measured from the reactants to the peak.</a:t>
            </a:r>
            <a:endParaRPr lang="en-US" sz="1250" dirty="0"/>
          </a:p>
          <a:p>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For an endothermic reaction, E</a:t>
            </a:r>
            <a:pPr marL="177800" indent="-177800">
              <a:spcAft>
                <a:spcPts val="600"/>
              </a:spcAft>
              <a:buSzPct val="100000"/>
              <a:buChar char="•"/>
            </a:pPr>
            <a:r>
              <a:rPr lang="en-US" sz="1250" baseline="-40000" dirty="0">
                <a:solidFill>
                  <a:srgbClr val="1B2A41"/>
                </a:solidFill>
                <a:latin typeface="Calibri" pitchFamily="34" charset="0"/>
                <a:ea typeface="Calibri" pitchFamily="34" charset="-122"/>
                <a:cs typeface="Calibri" pitchFamily="34" charset="-120"/>
              </a:rPr>
              <a:t>a</a:t>
            </a:r>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 is always at least as large as ΔH.</a:t>
            </a:r>
            <a:endParaRPr lang="en-US" sz="1250" dirty="0"/>
          </a:p>
          <a:p>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The reverse reaction has its own barrier: E</a:t>
            </a:r>
            <a:pPr marL="177800" indent="-177800">
              <a:spcAft>
                <a:spcPts val="600"/>
              </a:spcAft>
              <a:buSzPct val="100000"/>
              <a:buChar char="•"/>
            </a:pPr>
            <a:r>
              <a:rPr lang="en-US" sz="1250" baseline="-40000" dirty="0">
                <a:solidFill>
                  <a:srgbClr val="1B2A41"/>
                </a:solidFill>
                <a:latin typeface="Calibri" pitchFamily="34" charset="0"/>
                <a:ea typeface="Calibri" pitchFamily="34" charset="-122"/>
                <a:cs typeface="Calibri" pitchFamily="34" charset="-120"/>
              </a:rPr>
              <a:t>a</a:t>
            </a:r>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(reverse) = E</a:t>
            </a:r>
            <a:pPr marL="177800" indent="-177800">
              <a:spcAft>
                <a:spcPts val="600"/>
              </a:spcAft>
              <a:buSzPct val="100000"/>
              <a:buChar char="•"/>
            </a:pPr>
            <a:r>
              <a:rPr lang="en-US" sz="1250" baseline="-40000" dirty="0">
                <a:solidFill>
                  <a:srgbClr val="1B2A41"/>
                </a:solidFill>
                <a:latin typeface="Calibri" pitchFamily="34" charset="0"/>
                <a:ea typeface="Calibri" pitchFamily="34" charset="-122"/>
                <a:cs typeface="Calibri" pitchFamily="34" charset="-120"/>
              </a:rPr>
              <a:t>a</a:t>
            </a:r>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(forward) − ΔH.</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CR2-LO2</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Two different questions: ΔH and E</a:t>
            </a:r>
            <a:pPr indent="0" marL="0">
              <a:buNone/>
            </a:pPr>
            <a:r>
              <a:rPr lang="en-US" sz="2000" b="1" baseline="-40000" dirty="0">
                <a:solidFill>
                  <a:srgbClr val="1B2A41"/>
                </a:solidFill>
                <a:latin typeface="Calibri" pitchFamily="34" charset="0"/>
                <a:ea typeface="Calibri" pitchFamily="34" charset="-122"/>
                <a:cs typeface="Calibri" pitchFamily="34" charset="-120"/>
              </a:rPr>
              <a:t>a</a:t>
            </a:r>
            <a:endParaRPr lang="en-US" sz="2000" dirty="0"/>
          </a:p>
        </p:txBody>
      </p:sp>
      <p:pic>
        <p:nvPicPr>
          <p:cNvPr id="7" name="Image 0" descr="/home/claude/build/mol/h2.png">    </p:cNvPr>
          <p:cNvPicPr>
            <a:picLocks noChangeAspect="1"/>
          </p:cNvPicPr>
          <p:nvPr/>
        </p:nvPicPr>
        <p:blipFill>
          <a:blip r:embed="rId1"/>
          <a:stretch>
            <a:fillRect/>
          </a:stretch>
        </p:blipFill>
        <p:spPr>
          <a:xfrm>
            <a:off x="7980152" y="192024"/>
            <a:ext cx="773217"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Chemical Reactions II</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1645920"/>
                <a:gridCol w="3291840"/>
                <a:gridCol w="3291840"/>
              </a:tblGrid>
              <a:tr h="0">
                <a:tc>
                  <a:txBody>
                    <a:bodyPr/>
                    <a:lstStyle/>
                    <a:p>
                      <a:pPr indent="0" marL="0">
                        <a:buNone/>
                      </a:pP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E1EEF7"/>
                    </a:solidFill>
                  </a:tcPr>
                </a:tc>
                <a:tc>
                  <a:txBody>
                    <a:bodyPr/>
                    <a:lstStyle/>
                    <a:p>
                      <a:pPr indent="0" marL="0">
                        <a:buNone/>
                      </a:pPr>
                      <a:r>
                        <a:rPr lang="en-US" sz="1050" b="1" dirty="0">
                          <a:solidFill>
                            <a:srgbClr val="2F6F9F"/>
                          </a:solidFill>
                          <a:latin typeface="Calibri" pitchFamily="34" charset="0"/>
                          <a:ea typeface="Calibri" pitchFamily="34" charset="-122"/>
                          <a:cs typeface="Calibri" pitchFamily="34" charset="-120"/>
                        </a:rPr>
                        <a:t>ΔH (enthalpy change)</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E1EEF7"/>
                    </a:solidFill>
                  </a:tcPr>
                </a:tc>
                <a:tc>
                  <a:txBody>
                    <a:bodyPr/>
                    <a:lstStyle/>
                    <a:p>
                      <a:pPr indent="0" marL="0">
                        <a:buNone/>
                      </a:pPr>
                      <a:r>
                        <a:rPr lang="en-US" sz="1050" b="1" dirty="0">
                          <a:solidFill>
                            <a:srgbClr val="2F6F9F"/>
                          </a:solidFill>
                          <a:latin typeface="Calibri" pitchFamily="34" charset="0"/>
                          <a:ea typeface="Calibri" pitchFamily="34" charset="-122"/>
                          <a:cs typeface="Calibri" pitchFamily="34" charset="-120"/>
                        </a:rPr>
                        <a:t>E</a:t>
                      </a:r>
                      <a:pPr indent="0" marL="0">
                        <a:buNone/>
                      </a:pPr>
                      <a:r>
                        <a:rPr lang="en-US" sz="1050" b="1" baseline="-40000" dirty="0">
                          <a:solidFill>
                            <a:srgbClr val="2F6F9F"/>
                          </a:solidFill>
                          <a:latin typeface="Calibri" pitchFamily="34" charset="0"/>
                          <a:ea typeface="Calibri" pitchFamily="34" charset="-122"/>
                          <a:cs typeface="Calibri" pitchFamily="34" charset="-120"/>
                        </a:rPr>
                        <a:t>a</a:t>
                      </a:r>
                      <a:pPr indent="0" marL="0">
                        <a:buNone/>
                      </a:pPr>
                      <a:r>
                        <a:rPr lang="en-US" sz="1050" b="1" dirty="0">
                          <a:solidFill>
                            <a:srgbClr val="2F6F9F"/>
                          </a:solidFill>
                          <a:latin typeface="Calibri" pitchFamily="34" charset="0"/>
                          <a:ea typeface="Calibri" pitchFamily="34" charset="-122"/>
                          <a:cs typeface="Calibri" pitchFamily="34" charset="-120"/>
                        </a:rPr>
                        <a:t> (activation energy)</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E1EEF7"/>
                    </a:solidFill>
                  </a:tcPr>
                </a:tc>
              </a:tr>
              <a:tr h="0">
                <a:tc>
                  <a:txBody>
                    <a:bodyPr/>
                    <a:lstStyle/>
                    <a:p>
                      <a:pPr indent="0" marL="0">
                        <a:buNone/>
                      </a:pPr>
                      <a:r>
                        <a:rPr lang="en-US" sz="1050" b="1" dirty="0">
                          <a:solidFill>
                            <a:srgbClr val="1B2A41"/>
                          </a:solidFill>
                          <a:latin typeface="Calibri" pitchFamily="34" charset="0"/>
                          <a:ea typeface="Calibri" pitchFamily="34" charset="-122"/>
                          <a:cs typeface="Calibri" pitchFamily="34" charset="-120"/>
                        </a:rPr>
                        <a:t>Measures</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latin typeface="Calibri" pitchFamily="34" charset="0"/>
                          <a:ea typeface="Calibri" pitchFamily="34" charset="-122"/>
                          <a:cs typeface="Calibri" pitchFamily="34" charset="-120"/>
                        </a:rPr>
                        <a:t>energy of products − energy of reactants</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latin typeface="Calibri" pitchFamily="34" charset="0"/>
                          <a:ea typeface="Calibri" pitchFamily="34" charset="-122"/>
                          <a:cs typeface="Calibri" pitchFamily="34" charset="-120"/>
                        </a:rPr>
                        <a:t>energy of transition state − energy of reactants</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B2A41"/>
                          </a:solidFill>
                          <a:latin typeface="Calibri" pitchFamily="34" charset="0"/>
                          <a:ea typeface="Calibri" pitchFamily="34" charset="-122"/>
                          <a:cs typeface="Calibri" pitchFamily="34" charset="-120"/>
                        </a:rPr>
                        <a:t>Sign</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latin typeface="Calibri" pitchFamily="34" charset="0"/>
                          <a:ea typeface="Calibri" pitchFamily="34" charset="-122"/>
                          <a:cs typeface="Calibri" pitchFamily="34" charset="-120"/>
                        </a:rPr>
                        <a:t>negative (exothermic) or positive (endothermic)</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latin typeface="Calibri" pitchFamily="34" charset="0"/>
                          <a:ea typeface="Calibri" pitchFamily="34" charset="-122"/>
                          <a:cs typeface="Calibri" pitchFamily="34" charset="-120"/>
                        </a:rPr>
                        <a:t>always positive: there is always a hill</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B2A41"/>
                          </a:solidFill>
                          <a:latin typeface="Calibri" pitchFamily="34" charset="0"/>
                          <a:ea typeface="Calibri" pitchFamily="34" charset="-122"/>
                          <a:cs typeface="Calibri" pitchFamily="34" charset="-120"/>
                        </a:rPr>
                        <a:t>Tells us</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latin typeface="Calibri" pitchFamily="34" charset="0"/>
                          <a:ea typeface="Calibri" pitchFamily="34" charset="-122"/>
                          <a:cs typeface="Calibri" pitchFamily="34" charset="-120"/>
                        </a:rPr>
                        <a:t>how much heat is released or absorbed</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latin typeface="Calibri" pitchFamily="34" charset="0"/>
                          <a:ea typeface="Calibri" pitchFamily="34" charset="-122"/>
                          <a:cs typeface="Calibri" pitchFamily="34" charset="-120"/>
                        </a:rPr>
                        <a:t>how fast the reaction goes: higher E</a:t>
                      </a:r>
                      <a:pPr indent="0" marL="0">
                        <a:buNone/>
                      </a:pPr>
                      <a:r>
                        <a:rPr lang="en-US" sz="1050" baseline="-40000" dirty="0">
                          <a:solidFill>
                            <a:srgbClr val="1B2A41"/>
                          </a:solidFill>
                          <a:latin typeface="Calibri" pitchFamily="34" charset="0"/>
                          <a:ea typeface="Calibri" pitchFamily="34" charset="-122"/>
                          <a:cs typeface="Calibri" pitchFamily="34" charset="-120"/>
                        </a:rPr>
                        <a:t>a</a:t>
                      </a:r>
                      <a:pPr indent="0" marL="0">
                        <a:buNone/>
                      </a:pPr>
                      <a:r>
                        <a:rPr lang="en-US" sz="1050" dirty="0">
                          <a:solidFill>
                            <a:srgbClr val="1B2A41"/>
                          </a:solidFill>
                          <a:latin typeface="Calibri" pitchFamily="34" charset="0"/>
                          <a:ea typeface="Calibri" pitchFamily="34" charset="-122"/>
                          <a:cs typeface="Calibri" pitchFamily="34" charset="-120"/>
                        </a:rPr>
                        <a:t>, slower reaction</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B2A41"/>
                          </a:solidFill>
                          <a:latin typeface="Calibri" pitchFamily="34" charset="0"/>
                          <a:ea typeface="Calibri" pitchFamily="34" charset="-122"/>
                          <a:cs typeface="Calibri" pitchFamily="34" charset="-120"/>
                        </a:rPr>
                        <a:t>Changed by a catalyst?</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latin typeface="Calibri" pitchFamily="34" charset="0"/>
                          <a:ea typeface="Calibri" pitchFamily="34" charset="-122"/>
                          <a:cs typeface="Calibri" pitchFamily="34" charset="-120"/>
                        </a:rPr>
                        <a:t>yes, a catalyst lowers it (Part 5)</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r>
            </a:tbl>
          </a:graphicData>
        </a:graphic>
      </p:graphicFrame>
      <p:sp>
        <p:nvSpPr>
          <p:cNvPr id="11" name="Text 7"/>
          <p:cNvSpPr txBox="1"/>
          <p:nvPr/>
        </p:nvSpPr>
        <p:spPr>
          <a:xfrm>
            <a:off x="457200" y="4297680"/>
            <a:ext cx="8229600" cy="457200"/>
          </a:xfrm>
          <a:prstGeom prst="rect">
            <a:avLst/>
          </a:prstGeom>
          <a:noFill/>
          <a:ln/>
        </p:spPr>
        <p:txBody>
          <a:bodyPr wrap="square" lIns="0" tIns="0" rIns="0" bIns="0" rtlCol="0" anchor="t"/>
          <a:lstStyle/>
          <a:p>
            <a:pPr indent="0" marL="0">
              <a:buNone/>
            </a:pPr>
            <a:r>
              <a:rPr lang="en-US" sz="900" i="1" dirty="0">
                <a:solidFill>
                  <a:srgbClr val="56657A"/>
                </a:solidFill>
                <a:latin typeface="Calibri" pitchFamily="34" charset="0"/>
                <a:ea typeface="Calibri" pitchFamily="34" charset="-122"/>
                <a:cs typeface="Calibri" pitchFamily="34" charset="-120"/>
              </a:rPr>
              <a:t>A reaction can be very exothermic and still very slow if E</a:t>
            </a:r>
            <a:pPr indent="0" marL="0">
              <a:buNone/>
            </a:pPr>
            <a:r>
              <a:rPr lang="en-US" sz="900" i="1" baseline="-40000" dirty="0">
                <a:solidFill>
                  <a:srgbClr val="56657A"/>
                </a:solidFill>
                <a:latin typeface="Calibri" pitchFamily="34" charset="0"/>
                <a:ea typeface="Calibri" pitchFamily="34" charset="-122"/>
                <a:cs typeface="Calibri" pitchFamily="34" charset="-120"/>
              </a:rPr>
              <a:t>a</a:t>
            </a:r>
            <a:pPr indent="0" marL="0">
              <a:buNone/>
            </a:pPr>
            <a:r>
              <a:rPr lang="en-US" sz="900" i="1" dirty="0">
                <a:solidFill>
                  <a:srgbClr val="56657A"/>
                </a:solidFill>
                <a:latin typeface="Calibri" pitchFamily="34" charset="0"/>
                <a:ea typeface="Calibri" pitchFamily="34" charset="-122"/>
                <a:cs typeface="Calibri" pitchFamily="34" charset="-120"/>
              </a:rPr>
              <a:t> is large (glucose in air, paper, the H</a:t>
            </a:r>
            <a:pPr indent="0" marL="0">
              <a:buNone/>
            </a:pPr>
            <a:r>
              <a:rPr lang="en-US" sz="900" i="1" baseline="-40000" dirty="0">
                <a:solidFill>
                  <a:srgbClr val="56657A"/>
                </a:solidFill>
                <a:latin typeface="Calibri" pitchFamily="34" charset="0"/>
                <a:ea typeface="Calibri" pitchFamily="34" charset="-122"/>
                <a:cs typeface="Calibri" pitchFamily="34" charset="-120"/>
              </a:rPr>
              <a:t>2</a:t>
            </a:r>
            <a:pPr indent="0" marL="0">
              <a:buNone/>
            </a:pPr>
            <a:r>
              <a:rPr lang="en-US" sz="900" i="1" dirty="0">
                <a:solidFill>
                  <a:srgbClr val="56657A"/>
                </a:solidFill>
                <a:latin typeface="Calibri" pitchFamily="34" charset="0"/>
                <a:ea typeface="Calibri" pitchFamily="34" charset="-122"/>
                <a:cs typeface="Calibri" pitchFamily="34" charset="-120"/>
              </a:rPr>
              <a:t>/O</a:t>
            </a:r>
            <a:pPr indent="0" marL="0">
              <a:buNone/>
            </a:pPr>
            <a:r>
              <a:rPr lang="en-US" sz="900" i="1" baseline="-40000" dirty="0">
                <a:solidFill>
                  <a:srgbClr val="56657A"/>
                </a:solidFill>
                <a:latin typeface="Calibri" pitchFamily="34" charset="0"/>
                <a:ea typeface="Calibri" pitchFamily="34" charset="-122"/>
                <a:cs typeface="Calibri" pitchFamily="34" charset="-120"/>
              </a:rPr>
              <a:t>2</a:t>
            </a:r>
            <a:pPr indent="0" marL="0">
              <a:buNone/>
            </a:pPr>
            <a:r>
              <a:rPr lang="en-US" sz="900" i="1" dirty="0">
                <a:solidFill>
                  <a:srgbClr val="56657A"/>
                </a:solidFill>
                <a:latin typeface="Calibri" pitchFamily="34" charset="0"/>
                <a:ea typeface="Calibri" pitchFamily="34" charset="-122"/>
                <a:cs typeface="Calibri" pitchFamily="34" charset="-120"/>
              </a:rPr>
              <a:t> mixture).</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CR2-LO2</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Example 2.1 · Values from a diagram</a:t>
            </a:r>
            <a:endParaRPr lang="en-US" sz="2000" dirty="0"/>
          </a:p>
        </p:txBody>
      </p:sp>
      <p:pic>
        <p:nvPicPr>
          <p:cNvPr id="7" name="Image 0" descr="/home/claude/build/mol/h2.png">    </p:cNvPr>
          <p:cNvPicPr>
            <a:picLocks noChangeAspect="1"/>
          </p:cNvPicPr>
          <p:nvPr/>
        </p:nvPicPr>
        <p:blipFill>
          <a:blip r:embed="rId1"/>
          <a:stretch>
            <a:fillRect/>
          </a:stretch>
        </p:blipFill>
        <p:spPr>
          <a:xfrm>
            <a:off x="7980152" y="192024"/>
            <a:ext cx="773217"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Chemical Reactions II</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Shape 7"/>
          <p:cNvSpPr/>
          <p:nvPr/>
        </p:nvSpPr>
        <p:spPr>
          <a:xfrm>
            <a:off x="457200" y="1234440"/>
            <a:ext cx="8229600" cy="777240"/>
          </a:xfrm>
          <a:prstGeom prst="roundRect">
            <a:avLst>
              <a:gd name="adj" fmla="val 9412"/>
            </a:avLst>
          </a:prstGeom>
          <a:solidFill>
            <a:srgbClr val="FFFFFF"/>
          </a:solidFill>
          <a:ln w="9525">
            <a:solidFill>
              <a:srgbClr val="D7E0E8"/>
            </a:solidFill>
            <a:prstDash val="solid"/>
          </a:ln>
        </p:spPr>
      </p:sp>
      <p:sp>
        <p:nvSpPr>
          <p:cNvPr id="11" name="Text 8"/>
          <p:cNvSpPr txBox="1"/>
          <p:nvPr/>
        </p:nvSpPr>
        <p:spPr>
          <a:xfrm>
            <a:off x="594360" y="1280160"/>
            <a:ext cx="7955280" cy="685800"/>
          </a:xfrm>
          <a:prstGeom prst="rect">
            <a:avLst/>
          </a:prstGeom>
          <a:noFill/>
          <a:ln/>
        </p:spPr>
        <p:txBody>
          <a:bodyPr wrap="square" lIns="0" tIns="0" rIns="0" bIns="0" rtlCol="0" anchor="ctr"/>
          <a:lstStyle/>
          <a:p>
            <a:pPr indent="0" marL="0">
              <a:buNone/>
            </a:pPr>
            <a:r>
              <a:rPr lang="en-US" sz="1200" dirty="0">
                <a:solidFill>
                  <a:srgbClr val="1B2A41"/>
                </a:solidFill>
                <a:latin typeface="Calibri" pitchFamily="34" charset="0"/>
                <a:ea typeface="Calibri" pitchFamily="34" charset="-122"/>
                <a:cs typeface="Calibri" pitchFamily="34" charset="-120"/>
              </a:rPr>
              <a:t>On an energy diagram, the reactants are at 50 kJ, the transition state at 150 kJ and the products at 20 kJ. Find E</a:t>
            </a:r>
            <a:pPr indent="0" marL="0">
              <a:buNone/>
            </a:pPr>
            <a:r>
              <a:rPr lang="en-US" sz="1200" baseline="-40000" dirty="0">
                <a:solidFill>
                  <a:srgbClr val="1B2A41"/>
                </a:solidFill>
                <a:latin typeface="Calibri" pitchFamily="34" charset="0"/>
                <a:ea typeface="Calibri" pitchFamily="34" charset="-122"/>
                <a:cs typeface="Calibri" pitchFamily="34" charset="-120"/>
              </a:rPr>
              <a:t>a</a:t>
            </a:r>
            <a:pPr indent="0" marL="0">
              <a:buNone/>
            </a:pPr>
            <a:r>
              <a:rPr lang="en-US" sz="1200" dirty="0">
                <a:solidFill>
                  <a:srgbClr val="1B2A41"/>
                </a:solidFill>
                <a:latin typeface="Calibri" pitchFamily="34" charset="0"/>
                <a:ea typeface="Calibri" pitchFamily="34" charset="-122"/>
                <a:cs typeface="Calibri" pitchFamily="34" charset="-120"/>
              </a:rPr>
              <a:t> (forward), ΔH and E</a:t>
            </a:r>
            <a:pPr indent="0" marL="0">
              <a:buNone/>
            </a:pPr>
            <a:r>
              <a:rPr lang="en-US" sz="1200" baseline="-40000" dirty="0">
                <a:solidFill>
                  <a:srgbClr val="1B2A41"/>
                </a:solidFill>
                <a:latin typeface="Calibri" pitchFamily="34" charset="0"/>
                <a:ea typeface="Calibri" pitchFamily="34" charset="-122"/>
                <a:cs typeface="Calibri" pitchFamily="34" charset="-120"/>
              </a:rPr>
              <a:t>a</a:t>
            </a:r>
            <a:pPr indent="0" marL="0">
              <a:buNone/>
            </a:pPr>
            <a:r>
              <a:rPr lang="en-US" sz="1200" dirty="0">
                <a:solidFill>
                  <a:srgbClr val="1B2A41"/>
                </a:solidFill>
                <a:latin typeface="Calibri" pitchFamily="34" charset="0"/>
                <a:ea typeface="Calibri" pitchFamily="34" charset="-122"/>
                <a:cs typeface="Calibri" pitchFamily="34" charset="-120"/>
              </a:rPr>
              <a:t> (reverse). Is the reaction exothermic or endothermic?</a:t>
            </a:r>
            <a:endParaRPr lang="en-US" sz="1200" dirty="0"/>
          </a:p>
        </p:txBody>
      </p:sp>
      <p:sp>
        <p:nvSpPr>
          <p:cNvPr id="12" name="Shape 9"/>
          <p:cNvSpPr/>
          <p:nvPr/>
        </p:nvSpPr>
        <p:spPr>
          <a:xfrm>
            <a:off x="457200" y="2212848"/>
            <a:ext cx="274320" cy="274320"/>
          </a:xfrm>
          <a:prstGeom prst="ellipse">
            <a:avLst/>
          </a:prstGeom>
          <a:solidFill>
            <a:srgbClr val="2F6F9F"/>
          </a:solidFill>
          <a:ln w="12700">
            <a:solidFill>
              <a:srgbClr val="2F6F9F"/>
            </a:solidFill>
            <a:prstDash val="solid"/>
          </a:ln>
        </p:spPr>
      </p:sp>
      <p:sp>
        <p:nvSpPr>
          <p:cNvPr id="13" name="Text 10"/>
          <p:cNvSpPr txBox="1"/>
          <p:nvPr/>
        </p:nvSpPr>
        <p:spPr>
          <a:xfrm>
            <a:off x="457200" y="221284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4" name="Text 11"/>
          <p:cNvSpPr txBox="1"/>
          <p:nvPr/>
        </p:nvSpPr>
        <p:spPr>
          <a:xfrm>
            <a:off x="868680" y="2194560"/>
            <a:ext cx="7772400" cy="566928"/>
          </a:xfrm>
          <a:prstGeom prst="rect">
            <a:avLst/>
          </a:prstGeom>
          <a:noFill/>
          <a:ln/>
        </p:spPr>
        <p:txBody>
          <a:bodyPr wrap="square" lIns="0" tIns="0" rIns="0" bIns="0" rtlCol="0" anchor="t"/>
          <a:lstStyle/>
          <a:p>
            <a:pPr indent="0" marL="0">
              <a:buNone/>
            </a:pPr>
            <a:r>
              <a:rPr lang="en-US" sz="1200" dirty="0">
                <a:solidFill>
                  <a:srgbClr val="1B2A41"/>
                </a:solidFill>
                <a:latin typeface="Calibri" pitchFamily="34" charset="0"/>
                <a:ea typeface="Calibri" pitchFamily="34" charset="-122"/>
                <a:cs typeface="Calibri" pitchFamily="34" charset="-120"/>
              </a:rPr>
              <a:t>E</a:t>
            </a:r>
            <a:pPr indent="0" marL="0">
              <a:buNone/>
            </a:pPr>
            <a:r>
              <a:rPr lang="en-US" sz="1200" baseline="-40000" dirty="0">
                <a:solidFill>
                  <a:srgbClr val="1B2A41"/>
                </a:solidFill>
                <a:latin typeface="Calibri" pitchFamily="34" charset="0"/>
                <a:ea typeface="Calibri" pitchFamily="34" charset="-122"/>
                <a:cs typeface="Calibri" pitchFamily="34" charset="-120"/>
              </a:rPr>
              <a:t>a</a:t>
            </a:r>
            <a:pPr indent="0" marL="0">
              <a:buNone/>
            </a:pPr>
            <a:r>
              <a:rPr lang="en-US" sz="1200" dirty="0">
                <a:solidFill>
                  <a:srgbClr val="1B2A41"/>
                </a:solidFill>
                <a:latin typeface="Calibri" pitchFamily="34" charset="0"/>
                <a:ea typeface="Calibri" pitchFamily="34" charset="-122"/>
                <a:cs typeface="Calibri" pitchFamily="34" charset="-120"/>
              </a:rPr>
              <a:t>(forward) = 150 − 50 = </a:t>
            </a:r>
            <a:pPr indent="0" marL="0">
              <a:buNone/>
            </a:pPr>
            <a:r>
              <a:rPr lang="en-US" sz="1200" b="1" dirty="0">
                <a:solidFill>
                  <a:srgbClr val="1B2A41"/>
                </a:solidFill>
                <a:latin typeface="Calibri" pitchFamily="34" charset="0"/>
                <a:ea typeface="Calibri" pitchFamily="34" charset="-122"/>
                <a:cs typeface="Calibri" pitchFamily="34" charset="-120"/>
              </a:rPr>
              <a:t>100 kJ</a:t>
            </a:r>
            <a:endParaRPr lang="en-US" sz="1200" dirty="0"/>
          </a:p>
        </p:txBody>
      </p:sp>
      <p:sp>
        <p:nvSpPr>
          <p:cNvPr id="15" name="Shape 12"/>
          <p:cNvSpPr/>
          <p:nvPr/>
        </p:nvSpPr>
        <p:spPr>
          <a:xfrm>
            <a:off x="457200" y="2779776"/>
            <a:ext cx="274320" cy="274320"/>
          </a:xfrm>
          <a:prstGeom prst="ellipse">
            <a:avLst/>
          </a:prstGeom>
          <a:solidFill>
            <a:srgbClr val="2F6F9F"/>
          </a:solidFill>
          <a:ln w="12700">
            <a:solidFill>
              <a:srgbClr val="2F6F9F"/>
            </a:solidFill>
            <a:prstDash val="solid"/>
          </a:ln>
        </p:spPr>
      </p:sp>
      <p:sp>
        <p:nvSpPr>
          <p:cNvPr id="16" name="Text 13"/>
          <p:cNvSpPr txBox="1"/>
          <p:nvPr/>
        </p:nvSpPr>
        <p:spPr>
          <a:xfrm>
            <a:off x="457200" y="2779776"/>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7" name="Text 14"/>
          <p:cNvSpPr txBox="1"/>
          <p:nvPr/>
        </p:nvSpPr>
        <p:spPr>
          <a:xfrm>
            <a:off x="868680" y="2761488"/>
            <a:ext cx="7772400" cy="566928"/>
          </a:xfrm>
          <a:prstGeom prst="rect">
            <a:avLst/>
          </a:prstGeom>
          <a:noFill/>
          <a:ln/>
        </p:spPr>
        <p:txBody>
          <a:bodyPr wrap="square" lIns="0" tIns="0" rIns="0" bIns="0" rtlCol="0" anchor="t"/>
          <a:lstStyle/>
          <a:p>
            <a:pPr indent="0" marL="0">
              <a:buNone/>
            </a:pPr>
            <a:r>
              <a:rPr lang="en-US" sz="1200" dirty="0">
                <a:solidFill>
                  <a:srgbClr val="1B2A41"/>
                </a:solidFill>
                <a:latin typeface="Calibri" pitchFamily="34" charset="0"/>
                <a:ea typeface="Calibri" pitchFamily="34" charset="-122"/>
                <a:cs typeface="Calibri" pitchFamily="34" charset="-120"/>
              </a:rPr>
              <a:t>ΔH = 20 − 50 = </a:t>
            </a:r>
            <a:pPr indent="0" marL="0">
              <a:buNone/>
            </a:pPr>
            <a:r>
              <a:rPr lang="en-US" sz="1200" b="1" dirty="0">
                <a:solidFill>
                  <a:srgbClr val="1B2A41"/>
                </a:solidFill>
                <a:latin typeface="Calibri" pitchFamily="34" charset="0"/>
                <a:ea typeface="Calibri" pitchFamily="34" charset="-122"/>
                <a:cs typeface="Calibri" pitchFamily="34" charset="-120"/>
              </a:rPr>
              <a:t>−30 kJ</a:t>
            </a:r>
            <a:pPr indent="0" marL="0">
              <a:buNone/>
            </a:pPr>
            <a:r>
              <a:rPr lang="en-US" sz="1200" dirty="0">
                <a:solidFill>
                  <a:srgbClr val="1B2A41"/>
                </a:solidFill>
                <a:latin typeface="Calibri" pitchFamily="34" charset="0"/>
                <a:ea typeface="Calibri" pitchFamily="34" charset="-122"/>
                <a:cs typeface="Calibri" pitchFamily="34" charset="-120"/>
              </a:rPr>
              <a:t>: products are lower, so the reaction is </a:t>
            </a:r>
            <a:pPr indent="0" marL="0">
              <a:buNone/>
            </a:pPr>
            <a:r>
              <a:rPr lang="en-US" sz="1200" b="1" dirty="0">
                <a:solidFill>
                  <a:srgbClr val="1B2A41"/>
                </a:solidFill>
                <a:latin typeface="Calibri" pitchFamily="34" charset="0"/>
                <a:ea typeface="Calibri" pitchFamily="34" charset="-122"/>
                <a:cs typeface="Calibri" pitchFamily="34" charset="-120"/>
              </a:rPr>
              <a:t>exothermic</a:t>
            </a:r>
            <a:endParaRPr lang="en-US" sz="1200" dirty="0"/>
          </a:p>
        </p:txBody>
      </p:sp>
      <p:sp>
        <p:nvSpPr>
          <p:cNvPr id="18" name="Shape 15"/>
          <p:cNvSpPr/>
          <p:nvPr/>
        </p:nvSpPr>
        <p:spPr>
          <a:xfrm>
            <a:off x="457200" y="3346704"/>
            <a:ext cx="274320" cy="274320"/>
          </a:xfrm>
          <a:prstGeom prst="ellipse">
            <a:avLst/>
          </a:prstGeom>
          <a:solidFill>
            <a:srgbClr val="B86E00"/>
          </a:solidFill>
          <a:ln w="12700">
            <a:solidFill>
              <a:srgbClr val="B86E00"/>
            </a:solidFill>
            <a:prstDash val="solid"/>
          </a:ln>
        </p:spPr>
      </p:sp>
      <p:sp>
        <p:nvSpPr>
          <p:cNvPr id="19" name="Text 16"/>
          <p:cNvSpPr txBox="1"/>
          <p:nvPr/>
        </p:nvSpPr>
        <p:spPr>
          <a:xfrm>
            <a:off x="457200" y="334670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0" name="Text 17"/>
          <p:cNvSpPr txBox="1"/>
          <p:nvPr/>
        </p:nvSpPr>
        <p:spPr>
          <a:xfrm>
            <a:off x="868680" y="3328416"/>
            <a:ext cx="7772400" cy="566928"/>
          </a:xfrm>
          <a:prstGeom prst="rect">
            <a:avLst/>
          </a:prstGeom>
          <a:noFill/>
          <a:ln/>
        </p:spPr>
        <p:txBody>
          <a:bodyPr wrap="square" lIns="0" tIns="0" rIns="0" bIns="0" rtlCol="0" anchor="t"/>
          <a:lstStyle/>
          <a:p>
            <a:pPr indent="0" marL="0">
              <a:buNone/>
            </a:pPr>
            <a:r>
              <a:rPr lang="en-US" sz="1200" b="1" dirty="0">
                <a:solidFill>
                  <a:srgbClr val="1B2A41"/>
                </a:solidFill>
                <a:latin typeface="Calibri" pitchFamily="34" charset="0"/>
                <a:ea typeface="Calibri" pitchFamily="34" charset="-122"/>
                <a:cs typeface="Calibri" pitchFamily="34" charset="-120"/>
              </a:rPr>
              <a:t>E</a:t>
            </a:r>
            <a:pPr indent="0" marL="0">
              <a:buNone/>
            </a:pPr>
            <a:r>
              <a:rPr lang="en-US" sz="1200" b="1" baseline="-40000" dirty="0">
                <a:solidFill>
                  <a:srgbClr val="1B2A41"/>
                </a:solidFill>
                <a:latin typeface="Calibri" pitchFamily="34" charset="0"/>
                <a:ea typeface="Calibri" pitchFamily="34" charset="-122"/>
                <a:cs typeface="Calibri" pitchFamily="34" charset="-120"/>
              </a:rPr>
              <a:t>a</a:t>
            </a:r>
            <a:pPr indent="0" marL="0">
              <a:buNone/>
            </a:pPr>
            <a:r>
              <a:rPr lang="en-US" sz="1200" b="1" dirty="0">
                <a:solidFill>
                  <a:srgbClr val="1B2A41"/>
                </a:solidFill>
                <a:latin typeface="Calibri" pitchFamily="34" charset="0"/>
                <a:ea typeface="Calibri" pitchFamily="34" charset="-122"/>
                <a:cs typeface="Calibri" pitchFamily="34" charset="-120"/>
              </a:rPr>
              <a:t>(reverse) = 150 − 20 = </a:t>
            </a:r>
            <a:pPr indent="0" marL="0">
              <a:buNone/>
            </a:pPr>
            <a:r>
              <a:rPr lang="en-US" sz="1200" b="1" dirty="0">
                <a:solidFill>
                  <a:srgbClr val="1B2A41"/>
                </a:solidFill>
                <a:latin typeface="Calibri" pitchFamily="34" charset="0"/>
                <a:ea typeface="Calibri" pitchFamily="34" charset="-122"/>
                <a:cs typeface="Calibri" pitchFamily="34" charset="-120"/>
              </a:rPr>
              <a:t>130 kJ</a:t>
            </a:r>
            <a:pPr indent="0" marL="0">
              <a:buNone/>
            </a:pPr>
            <a:r>
              <a:rPr lang="en-US" sz="1200" b="1" dirty="0">
                <a:solidFill>
                  <a:srgbClr val="1B2A41"/>
                </a:solidFill>
                <a:latin typeface="Calibri" pitchFamily="34" charset="0"/>
                <a:ea typeface="Calibri" pitchFamily="34" charset="-122"/>
                <a:cs typeface="Calibri" pitchFamily="34" charset="-120"/>
              </a:rPr>
              <a:t> (check: 100 − (−30) = 130 kJ)</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CR2-LO2</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Try it · Values from a diagram</a:t>
            </a:r>
            <a:endParaRPr lang="en-US" sz="2000" dirty="0"/>
          </a:p>
        </p:txBody>
      </p:sp>
      <p:pic>
        <p:nvPicPr>
          <p:cNvPr id="7" name="Image 0" descr="/home/claude/build/mol/h2.png">    </p:cNvPr>
          <p:cNvPicPr>
            <a:picLocks noChangeAspect="1"/>
          </p:cNvPicPr>
          <p:nvPr/>
        </p:nvPicPr>
        <p:blipFill>
          <a:blip r:embed="rId1"/>
          <a:stretch>
            <a:fillRect/>
          </a:stretch>
        </p:blipFill>
        <p:spPr>
          <a:xfrm>
            <a:off x="7980152" y="192024"/>
            <a:ext cx="773217"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Chemical Reactions II</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Shape 7"/>
          <p:cNvSpPr/>
          <p:nvPr/>
        </p:nvSpPr>
        <p:spPr>
          <a:xfrm>
            <a:off x="457200" y="1234440"/>
            <a:ext cx="8229600" cy="914400"/>
          </a:xfrm>
          <a:prstGeom prst="roundRect">
            <a:avLst>
              <a:gd name="adj" fmla="val 8000"/>
            </a:avLst>
          </a:prstGeom>
          <a:solidFill>
            <a:srgbClr val="FFFFFF"/>
          </a:solidFill>
          <a:ln w="9525">
            <a:solidFill>
              <a:srgbClr val="D7E0E8"/>
            </a:solidFill>
            <a:prstDash val="solid"/>
          </a:ln>
        </p:spPr>
      </p:sp>
      <p:sp>
        <p:nvSpPr>
          <p:cNvPr id="11" name="Text 8"/>
          <p:cNvSpPr txBox="1"/>
          <p:nvPr/>
        </p:nvSpPr>
        <p:spPr>
          <a:xfrm>
            <a:off x="594360" y="1280160"/>
            <a:ext cx="7955280" cy="822960"/>
          </a:xfrm>
          <a:prstGeom prst="rect">
            <a:avLst/>
          </a:prstGeom>
          <a:noFill/>
          <a:ln/>
        </p:spPr>
        <p:txBody>
          <a:bodyPr wrap="square" lIns="0" tIns="0" rIns="0" bIns="0" rtlCol="0" anchor="ctr"/>
          <a:lstStyle/>
          <a:p>
            <a:pPr indent="0" marL="0">
              <a:buNone/>
            </a:pPr>
            <a:r>
              <a:rPr lang="en-US" sz="1250" dirty="0">
                <a:solidFill>
                  <a:srgbClr val="1B2A41"/>
                </a:solidFill>
                <a:latin typeface="Calibri" pitchFamily="34" charset="0"/>
                <a:ea typeface="Calibri" pitchFamily="34" charset="-122"/>
                <a:cs typeface="Calibri" pitchFamily="34" charset="-120"/>
              </a:rPr>
              <a:t>Reactants 30 kJ, transition state 120 kJ, products 80 kJ. Find E</a:t>
            </a:r>
            <a:pPr indent="0" marL="0">
              <a:buNone/>
            </a:pPr>
            <a:r>
              <a:rPr lang="en-US" sz="1250" baseline="-40000" dirty="0">
                <a:solidFill>
                  <a:srgbClr val="1B2A41"/>
                </a:solidFill>
                <a:latin typeface="Calibri" pitchFamily="34" charset="0"/>
                <a:ea typeface="Calibri" pitchFamily="34" charset="-122"/>
                <a:cs typeface="Calibri" pitchFamily="34" charset="-120"/>
              </a:rPr>
              <a:t>a</a:t>
            </a:r>
            <a:pPr indent="0" marL="0">
              <a:buNone/>
            </a:pPr>
            <a:r>
              <a:rPr lang="en-US" sz="1250" dirty="0">
                <a:solidFill>
                  <a:srgbClr val="1B2A41"/>
                </a:solidFill>
                <a:latin typeface="Calibri" pitchFamily="34" charset="0"/>
                <a:ea typeface="Calibri" pitchFamily="34" charset="-122"/>
                <a:cs typeface="Calibri" pitchFamily="34" charset="-120"/>
              </a:rPr>
              <a:t> (forward), ΔH and E</a:t>
            </a:r>
            <a:pPr indent="0" marL="0">
              <a:buNone/>
            </a:pPr>
            <a:r>
              <a:rPr lang="en-US" sz="1250" baseline="-40000" dirty="0">
                <a:solidFill>
                  <a:srgbClr val="1B2A41"/>
                </a:solidFill>
                <a:latin typeface="Calibri" pitchFamily="34" charset="0"/>
                <a:ea typeface="Calibri" pitchFamily="34" charset="-122"/>
                <a:cs typeface="Calibri" pitchFamily="34" charset="-120"/>
              </a:rPr>
              <a:t>a</a:t>
            </a:r>
            <a:pPr indent="0" marL="0">
              <a:buNone/>
            </a:pPr>
            <a:r>
              <a:rPr lang="en-US" sz="1250" dirty="0">
                <a:solidFill>
                  <a:srgbClr val="1B2A41"/>
                </a:solidFill>
                <a:latin typeface="Calibri" pitchFamily="34" charset="0"/>
                <a:ea typeface="Calibri" pitchFamily="34" charset="-122"/>
                <a:cs typeface="Calibri" pitchFamily="34" charset="-120"/>
              </a:rPr>
              <a:t> (reverse), and classify the reaction. Then sketch the diagram.</a:t>
            </a:r>
            <a:endParaRPr lang="en-US" sz="1250" dirty="0"/>
          </a:p>
        </p:txBody>
      </p:sp>
      <p:sp>
        <p:nvSpPr>
          <p:cNvPr id="12" name="Text 9"/>
          <p:cNvSpPr txBox="1"/>
          <p:nvPr/>
        </p:nvSpPr>
        <p:spPr>
          <a:xfrm>
            <a:off x="457200" y="2377440"/>
            <a:ext cx="5486400" cy="274320"/>
          </a:xfrm>
          <a:prstGeom prst="rect">
            <a:avLst/>
          </a:prstGeom>
          <a:noFill/>
          <a:ln/>
        </p:spPr>
        <p:txBody>
          <a:bodyPr wrap="square" lIns="0" tIns="0" rIns="0" bIns="0" rtlCol="0" anchor="ctr"/>
          <a:lstStyle/>
          <a:p>
            <a:pPr indent="0" marL="0">
              <a:buNone/>
            </a:pPr>
            <a:r>
              <a:rPr lang="en-US" sz="1000" i="1" dirty="0">
                <a:solidFill>
                  <a:srgbClr val="56657A"/>
                </a:solidFill>
                <a:latin typeface="Calibri" pitchFamily="34" charset="0"/>
                <a:ea typeface="Calibri" pitchFamily="34" charset="-122"/>
                <a:cs typeface="Calibri" pitchFamily="34" charset="-120"/>
              </a:rPr>
              <a:t>Work it out, then check on the next slide.</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CR2-LO2</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Try it · Values from a diagram · answer</a:t>
            </a:r>
            <a:endParaRPr lang="en-US" sz="2000" dirty="0"/>
          </a:p>
        </p:txBody>
      </p:sp>
      <p:pic>
        <p:nvPicPr>
          <p:cNvPr id="7" name="Image 0" descr="/home/claude/build/mol/h2.png">    </p:cNvPr>
          <p:cNvPicPr>
            <a:picLocks noChangeAspect="1"/>
          </p:cNvPicPr>
          <p:nvPr/>
        </p:nvPicPr>
        <p:blipFill>
          <a:blip r:embed="rId1"/>
          <a:stretch>
            <a:fillRect/>
          </a:stretch>
        </p:blipFill>
        <p:spPr>
          <a:xfrm>
            <a:off x="7980152" y="192024"/>
            <a:ext cx="773217"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Chemical Reactions II</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Shape 7"/>
          <p:cNvSpPr/>
          <p:nvPr/>
        </p:nvSpPr>
        <p:spPr>
          <a:xfrm>
            <a:off x="457200" y="1234440"/>
            <a:ext cx="8229600" cy="914400"/>
          </a:xfrm>
          <a:prstGeom prst="roundRect">
            <a:avLst>
              <a:gd name="adj" fmla="val 8000"/>
            </a:avLst>
          </a:prstGeom>
          <a:solidFill>
            <a:srgbClr val="FFFFFF"/>
          </a:solidFill>
          <a:ln w="9525">
            <a:solidFill>
              <a:srgbClr val="D7E0E8"/>
            </a:solidFill>
            <a:prstDash val="solid"/>
          </a:ln>
        </p:spPr>
      </p:sp>
      <p:sp>
        <p:nvSpPr>
          <p:cNvPr id="11" name="Text 8"/>
          <p:cNvSpPr txBox="1"/>
          <p:nvPr/>
        </p:nvSpPr>
        <p:spPr>
          <a:xfrm>
            <a:off x="594360" y="1280160"/>
            <a:ext cx="7955280" cy="822960"/>
          </a:xfrm>
          <a:prstGeom prst="rect">
            <a:avLst/>
          </a:prstGeom>
          <a:noFill/>
          <a:ln/>
        </p:spPr>
        <p:txBody>
          <a:bodyPr wrap="square" lIns="0" tIns="0" rIns="0" bIns="0" rtlCol="0" anchor="ctr"/>
          <a:lstStyle/>
          <a:p>
            <a:pPr indent="0" marL="0">
              <a:buNone/>
            </a:pPr>
            <a:r>
              <a:rPr lang="en-US" sz="1250" dirty="0">
                <a:solidFill>
                  <a:srgbClr val="1B2A41"/>
                </a:solidFill>
                <a:latin typeface="Calibri" pitchFamily="34" charset="0"/>
                <a:ea typeface="Calibri" pitchFamily="34" charset="-122"/>
                <a:cs typeface="Calibri" pitchFamily="34" charset="-120"/>
              </a:rPr>
              <a:t>Reactants 30 kJ, transition state 120 kJ, products 80 kJ. Find E</a:t>
            </a:r>
            <a:pPr indent="0" marL="0">
              <a:buNone/>
            </a:pPr>
            <a:r>
              <a:rPr lang="en-US" sz="1250" baseline="-40000" dirty="0">
                <a:solidFill>
                  <a:srgbClr val="1B2A41"/>
                </a:solidFill>
                <a:latin typeface="Calibri" pitchFamily="34" charset="0"/>
                <a:ea typeface="Calibri" pitchFamily="34" charset="-122"/>
                <a:cs typeface="Calibri" pitchFamily="34" charset="-120"/>
              </a:rPr>
              <a:t>a</a:t>
            </a:r>
            <a:pPr indent="0" marL="0">
              <a:buNone/>
            </a:pPr>
            <a:r>
              <a:rPr lang="en-US" sz="1250" dirty="0">
                <a:solidFill>
                  <a:srgbClr val="1B2A41"/>
                </a:solidFill>
                <a:latin typeface="Calibri" pitchFamily="34" charset="0"/>
                <a:ea typeface="Calibri" pitchFamily="34" charset="-122"/>
                <a:cs typeface="Calibri" pitchFamily="34" charset="-120"/>
              </a:rPr>
              <a:t> (forward), ΔH and E</a:t>
            </a:r>
            <a:pPr indent="0" marL="0">
              <a:buNone/>
            </a:pPr>
            <a:r>
              <a:rPr lang="en-US" sz="1250" baseline="-40000" dirty="0">
                <a:solidFill>
                  <a:srgbClr val="1B2A41"/>
                </a:solidFill>
                <a:latin typeface="Calibri" pitchFamily="34" charset="0"/>
                <a:ea typeface="Calibri" pitchFamily="34" charset="-122"/>
                <a:cs typeface="Calibri" pitchFamily="34" charset="-120"/>
              </a:rPr>
              <a:t>a</a:t>
            </a:r>
            <a:pPr indent="0" marL="0">
              <a:buNone/>
            </a:pPr>
            <a:r>
              <a:rPr lang="en-US" sz="1250" dirty="0">
                <a:solidFill>
                  <a:srgbClr val="1B2A41"/>
                </a:solidFill>
                <a:latin typeface="Calibri" pitchFamily="34" charset="0"/>
                <a:ea typeface="Calibri" pitchFamily="34" charset="-122"/>
                <a:cs typeface="Calibri" pitchFamily="34" charset="-120"/>
              </a:rPr>
              <a:t> (reverse), and classify the reaction. Then sketch the diagram.</a:t>
            </a:r>
            <a:endParaRPr lang="en-US" sz="1250" dirty="0"/>
          </a:p>
        </p:txBody>
      </p:sp>
      <p:sp>
        <p:nvSpPr>
          <p:cNvPr id="12" name="Shape 9"/>
          <p:cNvSpPr/>
          <p:nvPr/>
        </p:nvSpPr>
        <p:spPr>
          <a:xfrm>
            <a:off x="457200" y="2331720"/>
            <a:ext cx="8229600" cy="2240280"/>
          </a:xfrm>
          <a:prstGeom prst="roundRect">
            <a:avLst>
              <a:gd name="adj" fmla="val 3265"/>
            </a:avLst>
          </a:prstGeom>
          <a:solidFill>
            <a:srgbClr val="FBEFD9"/>
          </a:solidFill>
          <a:ln w="9525">
            <a:solidFill>
              <a:srgbClr val="FBEFD9"/>
            </a:solidFill>
            <a:prstDash val="solid"/>
          </a:ln>
        </p:spPr>
      </p:sp>
      <p:sp>
        <p:nvSpPr>
          <p:cNvPr id="13" name="Text 10"/>
          <p:cNvSpPr txBox="1"/>
          <p:nvPr/>
        </p:nvSpPr>
        <p:spPr>
          <a:xfrm>
            <a:off x="640080" y="2423160"/>
            <a:ext cx="7863840" cy="2057400"/>
          </a:xfrm>
          <a:prstGeom prst="rect">
            <a:avLst/>
          </a:prstGeom>
          <a:noFill/>
          <a:ln/>
        </p:spPr>
        <p:txBody>
          <a:bodyPr wrap="square" lIns="0" tIns="0" rIns="0" bIns="0" rtlCol="0" anchor="t"/>
          <a:lstStyle/>
          <a:p>
            <a:pPr indent="0" marL="0">
              <a:buNone/>
            </a:pPr>
            <a:r>
              <a:rPr lang="en-US" sz="1100" b="1" dirty="0">
                <a:solidFill>
                  <a:srgbClr val="B86E00"/>
                </a:solidFill>
                <a:latin typeface="Calibri" pitchFamily="34" charset="0"/>
                <a:ea typeface="Calibri" pitchFamily="34" charset="-122"/>
                <a:cs typeface="Calibri" pitchFamily="34" charset="-120"/>
              </a:rPr>
              <a:t>Answer</a:t>
            </a:r>
            <a:endParaRPr lang="en-US" sz="1100" dirty="0"/>
          </a:p>
          <a:p>
            <a:pPr indent="0" marL="0">
              <a:buNone/>
            </a:pPr>
            <a:r>
              <a:rPr lang="en-US" sz="1200" dirty="0">
                <a:solidFill>
                  <a:srgbClr val="1B2A41"/>
                </a:solidFill>
                <a:latin typeface="Calibri" pitchFamily="34" charset="0"/>
                <a:ea typeface="Calibri" pitchFamily="34" charset="-122"/>
                <a:cs typeface="Calibri" pitchFamily="34" charset="-120"/>
              </a:rPr>
              <a:t>E</a:t>
            </a:r>
            <a:pPr indent="0" marL="0">
              <a:buNone/>
            </a:pPr>
            <a:r>
              <a:rPr lang="en-US" sz="1200" baseline="-40000" dirty="0">
                <a:solidFill>
                  <a:srgbClr val="1B2A41"/>
                </a:solidFill>
                <a:latin typeface="Calibri" pitchFamily="34" charset="0"/>
                <a:ea typeface="Calibri" pitchFamily="34" charset="-122"/>
                <a:cs typeface="Calibri" pitchFamily="34" charset="-120"/>
              </a:rPr>
              <a:t>a</a:t>
            </a:r>
            <a:pPr indent="0" marL="0">
              <a:buNone/>
            </a:pPr>
            <a:r>
              <a:rPr lang="en-US" sz="1200" dirty="0">
                <a:solidFill>
                  <a:srgbClr val="1B2A41"/>
                </a:solidFill>
                <a:latin typeface="Calibri" pitchFamily="34" charset="0"/>
                <a:ea typeface="Calibri" pitchFamily="34" charset="-122"/>
                <a:cs typeface="Calibri" pitchFamily="34" charset="-120"/>
              </a:rPr>
              <a:t>(forward) = 120 − 30 = </a:t>
            </a:r>
            <a:pPr indent="0" marL="0">
              <a:buNone/>
            </a:pPr>
            <a:r>
              <a:rPr lang="en-US" sz="1200" b="1" dirty="0">
                <a:solidFill>
                  <a:srgbClr val="1B2A41"/>
                </a:solidFill>
                <a:latin typeface="Calibri" pitchFamily="34" charset="0"/>
                <a:ea typeface="Calibri" pitchFamily="34" charset="-122"/>
                <a:cs typeface="Calibri" pitchFamily="34" charset="-120"/>
              </a:rPr>
              <a:t>90 kJ</a:t>
            </a:r>
            <a:endParaRPr lang="en-US" sz="1100" dirty="0"/>
          </a:p>
          <a:p>
            <a:pPr indent="0" marL="0">
              <a:buNone/>
            </a:pPr>
            <a:r>
              <a:rPr lang="en-US" sz="1200" dirty="0">
                <a:solidFill>
                  <a:srgbClr val="1B2A41"/>
                </a:solidFill>
                <a:latin typeface="Calibri" pitchFamily="34" charset="0"/>
                <a:ea typeface="Calibri" pitchFamily="34" charset="-122"/>
                <a:cs typeface="Calibri" pitchFamily="34" charset="-120"/>
              </a:rPr>
              <a:t>ΔH = 80 − 30 = </a:t>
            </a:r>
            <a:pPr indent="0" marL="0">
              <a:buNone/>
            </a:pPr>
            <a:r>
              <a:rPr lang="en-US" sz="1200" b="1" dirty="0">
                <a:solidFill>
                  <a:srgbClr val="1B2A41"/>
                </a:solidFill>
                <a:latin typeface="Calibri" pitchFamily="34" charset="0"/>
                <a:ea typeface="Calibri" pitchFamily="34" charset="-122"/>
                <a:cs typeface="Calibri" pitchFamily="34" charset="-120"/>
              </a:rPr>
              <a:t>+50 kJ</a:t>
            </a:r>
            <a:pPr indent="0" marL="0">
              <a:buNone/>
            </a:pPr>
            <a:r>
              <a:rPr lang="en-US" sz="1200" dirty="0">
                <a:solidFill>
                  <a:srgbClr val="1B2A41"/>
                </a:solidFill>
                <a:latin typeface="Calibri" pitchFamily="34" charset="0"/>
                <a:ea typeface="Calibri" pitchFamily="34" charset="-122"/>
                <a:cs typeface="Calibri" pitchFamily="34" charset="-120"/>
              </a:rPr>
              <a:t>: </a:t>
            </a:r>
            <a:pPr indent="0" marL="0">
              <a:buNone/>
            </a:pPr>
            <a:r>
              <a:rPr lang="en-US" sz="1200" b="1" dirty="0">
                <a:solidFill>
                  <a:srgbClr val="1B2A41"/>
                </a:solidFill>
                <a:latin typeface="Calibri" pitchFamily="34" charset="0"/>
                <a:ea typeface="Calibri" pitchFamily="34" charset="-122"/>
                <a:cs typeface="Calibri" pitchFamily="34" charset="-120"/>
              </a:rPr>
              <a:t>endothermic</a:t>
            </a:r>
            <a:endParaRPr lang="en-US" sz="1100" dirty="0"/>
          </a:p>
          <a:p>
            <a:pPr indent="0" marL="0">
              <a:buNone/>
            </a:pPr>
            <a:r>
              <a:rPr lang="en-US" sz="1200" dirty="0">
                <a:solidFill>
                  <a:srgbClr val="1B2A41"/>
                </a:solidFill>
                <a:latin typeface="Calibri" pitchFamily="34" charset="0"/>
                <a:ea typeface="Calibri" pitchFamily="34" charset="-122"/>
                <a:cs typeface="Calibri" pitchFamily="34" charset="-120"/>
              </a:rPr>
              <a:t>E</a:t>
            </a:r>
            <a:pPr indent="0" marL="0">
              <a:buNone/>
            </a:pPr>
            <a:r>
              <a:rPr lang="en-US" sz="1200" baseline="-40000" dirty="0">
                <a:solidFill>
                  <a:srgbClr val="1B2A41"/>
                </a:solidFill>
                <a:latin typeface="Calibri" pitchFamily="34" charset="0"/>
                <a:ea typeface="Calibri" pitchFamily="34" charset="-122"/>
                <a:cs typeface="Calibri" pitchFamily="34" charset="-120"/>
              </a:rPr>
              <a:t>a</a:t>
            </a:r>
            <a:pPr indent="0" marL="0">
              <a:buNone/>
            </a:pPr>
            <a:r>
              <a:rPr lang="en-US" sz="1200" dirty="0">
                <a:solidFill>
                  <a:srgbClr val="1B2A41"/>
                </a:solidFill>
                <a:latin typeface="Calibri" pitchFamily="34" charset="0"/>
                <a:ea typeface="Calibri" pitchFamily="34" charset="-122"/>
                <a:cs typeface="Calibri" pitchFamily="34" charset="-120"/>
              </a:rPr>
              <a:t>(reverse) = 120 − 80 = </a:t>
            </a:r>
            <a:pPr indent="0" marL="0">
              <a:buNone/>
            </a:pPr>
            <a:r>
              <a:rPr lang="en-US" sz="1200" b="1" dirty="0">
                <a:solidFill>
                  <a:srgbClr val="1B2A41"/>
                </a:solidFill>
                <a:latin typeface="Calibri" pitchFamily="34" charset="0"/>
                <a:ea typeface="Calibri" pitchFamily="34" charset="-122"/>
                <a:cs typeface="Calibri" pitchFamily="34" charset="-120"/>
              </a:rPr>
              <a:t>40 kJ</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CR2-LO2</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Quick check</a:t>
            </a:r>
            <a:endParaRPr lang="en-US" sz="2000" dirty="0"/>
          </a:p>
        </p:txBody>
      </p:sp>
      <p:pic>
        <p:nvPicPr>
          <p:cNvPr id="7" name="Image 0" descr="/home/claude/build/mol/h2.png">    </p:cNvPr>
          <p:cNvPicPr>
            <a:picLocks noChangeAspect="1"/>
          </p:cNvPicPr>
          <p:nvPr/>
        </p:nvPicPr>
        <p:blipFill>
          <a:blip r:embed="rId1"/>
          <a:stretch>
            <a:fillRect/>
          </a:stretch>
        </p:blipFill>
        <p:spPr>
          <a:xfrm>
            <a:off x="7980152" y="192024"/>
            <a:ext cx="773217"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Chemical Reactions II</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Text 7"/>
          <p:cNvSpPr txBox="1"/>
          <p:nvPr/>
        </p:nvSpPr>
        <p:spPr>
          <a:xfrm>
            <a:off x="457200" y="1188720"/>
            <a:ext cx="8229600" cy="640080"/>
          </a:xfrm>
          <a:prstGeom prst="rect">
            <a:avLst/>
          </a:prstGeom>
          <a:noFill/>
          <a:ln/>
        </p:spPr>
        <p:txBody>
          <a:bodyPr wrap="square" lIns="0" tIns="0" rIns="0" bIns="0" rtlCol="0" anchor="t"/>
          <a:lstStyle/>
          <a:p>
            <a:pPr indent="0" marL="0">
              <a:buNone/>
            </a:pPr>
            <a:r>
              <a:rPr lang="en-US" sz="1300" b="1" dirty="0">
                <a:solidFill>
                  <a:srgbClr val="1B2A41"/>
                </a:solidFill>
                <a:latin typeface="Calibri" pitchFamily="34" charset="0"/>
                <a:ea typeface="Calibri" pitchFamily="34" charset="-122"/>
                <a:cs typeface="Calibri" pitchFamily="34" charset="-120"/>
              </a:rPr>
              <a:t>On an energy diagram, what does the height from the reactants up to the peak represent?</a:t>
            </a:r>
            <a:endParaRPr lang="en-US" sz="1300" dirty="0"/>
          </a:p>
        </p:txBody>
      </p:sp>
      <p:sp>
        <p:nvSpPr>
          <p:cNvPr id="11" name="Shape 8"/>
          <p:cNvSpPr/>
          <p:nvPr/>
        </p:nvSpPr>
        <p:spPr>
          <a:xfrm>
            <a:off x="457200" y="1965960"/>
            <a:ext cx="4023360" cy="594360"/>
          </a:xfrm>
          <a:prstGeom prst="roundRect">
            <a:avLst>
              <a:gd name="adj" fmla="val 12308"/>
            </a:avLst>
          </a:prstGeom>
          <a:solidFill>
            <a:srgbClr val="FFFFFF"/>
          </a:solidFill>
          <a:ln w="9525">
            <a:solidFill>
              <a:srgbClr val="D7E0E8"/>
            </a:solidFill>
            <a:prstDash val="solid"/>
          </a:ln>
        </p:spPr>
      </p:sp>
      <p:sp>
        <p:nvSpPr>
          <p:cNvPr id="12" name="Text 9"/>
          <p:cNvSpPr txBox="1"/>
          <p:nvPr/>
        </p:nvSpPr>
        <p:spPr>
          <a:xfrm>
            <a:off x="594360" y="196596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A   </a:t>
            </a:r>
            <a:pPr indent="0" marL="0">
              <a:buNone/>
            </a:pPr>
            <a:r>
              <a:rPr lang="en-US" sz="1150" dirty="0">
                <a:solidFill>
                  <a:srgbClr val="1B2A41"/>
                </a:solidFill>
                <a:latin typeface="Calibri" pitchFamily="34" charset="0"/>
                <a:ea typeface="Calibri" pitchFamily="34" charset="-122"/>
                <a:cs typeface="Calibri" pitchFamily="34" charset="-120"/>
              </a:rPr>
              <a:t>ΔH of the reaction</a:t>
            </a:r>
            <a:endParaRPr lang="en-US" sz="1100" dirty="0"/>
          </a:p>
        </p:txBody>
      </p:sp>
      <p:sp>
        <p:nvSpPr>
          <p:cNvPr id="13" name="Shape 10"/>
          <p:cNvSpPr/>
          <p:nvPr/>
        </p:nvSpPr>
        <p:spPr>
          <a:xfrm>
            <a:off x="4663440" y="1965960"/>
            <a:ext cx="4023360" cy="594360"/>
          </a:xfrm>
          <a:prstGeom prst="roundRect">
            <a:avLst>
              <a:gd name="adj" fmla="val 12308"/>
            </a:avLst>
          </a:prstGeom>
          <a:solidFill>
            <a:srgbClr val="FFFFFF"/>
          </a:solidFill>
          <a:ln w="9525">
            <a:solidFill>
              <a:srgbClr val="D7E0E8"/>
            </a:solidFill>
            <a:prstDash val="solid"/>
          </a:ln>
        </p:spPr>
      </p:sp>
      <p:sp>
        <p:nvSpPr>
          <p:cNvPr id="14" name="Text 11"/>
          <p:cNvSpPr txBox="1"/>
          <p:nvPr/>
        </p:nvSpPr>
        <p:spPr>
          <a:xfrm>
            <a:off x="4800600" y="196596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B   </a:t>
            </a:r>
            <a:pPr indent="0" marL="0">
              <a:buNone/>
            </a:pPr>
            <a:r>
              <a:rPr lang="en-US" sz="1150" dirty="0">
                <a:solidFill>
                  <a:srgbClr val="1B2A41"/>
                </a:solidFill>
                <a:latin typeface="Calibri" pitchFamily="34" charset="0"/>
                <a:ea typeface="Calibri" pitchFamily="34" charset="-122"/>
                <a:cs typeface="Calibri" pitchFamily="34" charset="-120"/>
              </a:rPr>
              <a:t>The activation energy, E</a:t>
            </a:r>
            <a:pPr indent="0" marL="0">
              <a:buNone/>
            </a:pPr>
            <a:r>
              <a:rPr lang="en-US" sz="1150" baseline="-40000" dirty="0">
                <a:solidFill>
                  <a:srgbClr val="1B2A41"/>
                </a:solidFill>
                <a:latin typeface="Calibri" pitchFamily="34" charset="0"/>
                <a:ea typeface="Calibri" pitchFamily="34" charset="-122"/>
                <a:cs typeface="Calibri" pitchFamily="34" charset="-120"/>
              </a:rPr>
              <a:t>a</a:t>
            </a:r>
            <a:endParaRPr lang="en-US" sz="1100" dirty="0"/>
          </a:p>
        </p:txBody>
      </p:sp>
      <p:sp>
        <p:nvSpPr>
          <p:cNvPr id="15" name="Shape 12"/>
          <p:cNvSpPr/>
          <p:nvPr/>
        </p:nvSpPr>
        <p:spPr>
          <a:xfrm>
            <a:off x="457200" y="2697480"/>
            <a:ext cx="4023360" cy="594360"/>
          </a:xfrm>
          <a:prstGeom prst="roundRect">
            <a:avLst>
              <a:gd name="adj" fmla="val 12308"/>
            </a:avLst>
          </a:prstGeom>
          <a:solidFill>
            <a:srgbClr val="FFFFFF"/>
          </a:solidFill>
          <a:ln w="9525">
            <a:solidFill>
              <a:srgbClr val="D7E0E8"/>
            </a:solidFill>
            <a:prstDash val="solid"/>
          </a:ln>
        </p:spPr>
      </p:sp>
      <p:sp>
        <p:nvSpPr>
          <p:cNvPr id="16" name="Text 13"/>
          <p:cNvSpPr txBox="1"/>
          <p:nvPr/>
        </p:nvSpPr>
        <p:spPr>
          <a:xfrm>
            <a:off x="594360" y="269748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C   </a:t>
            </a:r>
            <a:pPr indent="0" marL="0">
              <a:buNone/>
            </a:pPr>
            <a:r>
              <a:rPr lang="en-US" sz="1150" dirty="0">
                <a:solidFill>
                  <a:srgbClr val="1B2A41"/>
                </a:solidFill>
                <a:latin typeface="Calibri" pitchFamily="34" charset="0"/>
                <a:ea typeface="Calibri" pitchFamily="34" charset="-122"/>
                <a:cs typeface="Calibri" pitchFamily="34" charset="-120"/>
              </a:rPr>
              <a:t>The energy of the products</a:t>
            </a:r>
            <a:endParaRPr lang="en-US" sz="1100" dirty="0"/>
          </a:p>
        </p:txBody>
      </p:sp>
      <p:sp>
        <p:nvSpPr>
          <p:cNvPr id="17" name="Shape 14"/>
          <p:cNvSpPr/>
          <p:nvPr/>
        </p:nvSpPr>
        <p:spPr>
          <a:xfrm>
            <a:off x="4663440" y="2697480"/>
            <a:ext cx="4023360" cy="594360"/>
          </a:xfrm>
          <a:prstGeom prst="roundRect">
            <a:avLst>
              <a:gd name="adj" fmla="val 12308"/>
            </a:avLst>
          </a:prstGeom>
          <a:solidFill>
            <a:srgbClr val="FFFFFF"/>
          </a:solidFill>
          <a:ln w="9525">
            <a:solidFill>
              <a:srgbClr val="D7E0E8"/>
            </a:solidFill>
            <a:prstDash val="solid"/>
          </a:ln>
        </p:spPr>
      </p:sp>
      <p:sp>
        <p:nvSpPr>
          <p:cNvPr id="18" name="Text 15"/>
          <p:cNvSpPr txBox="1"/>
          <p:nvPr/>
        </p:nvSpPr>
        <p:spPr>
          <a:xfrm>
            <a:off x="4800600" y="269748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D   </a:t>
            </a:r>
            <a:pPr indent="0" marL="0">
              <a:buNone/>
            </a:pPr>
            <a:r>
              <a:rPr lang="en-US" sz="1150" dirty="0">
                <a:solidFill>
                  <a:srgbClr val="1B2A41"/>
                </a:solidFill>
                <a:latin typeface="Calibri" pitchFamily="34" charset="0"/>
                <a:ea typeface="Calibri" pitchFamily="34" charset="-122"/>
                <a:cs typeface="Calibri" pitchFamily="34" charset="-120"/>
              </a:rPr>
              <a:t>The rate of the reaction</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CR2-LO2</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Quick check · answer</a:t>
            </a:r>
            <a:endParaRPr lang="en-US" sz="2000" dirty="0"/>
          </a:p>
        </p:txBody>
      </p:sp>
      <p:pic>
        <p:nvPicPr>
          <p:cNvPr id="7" name="Image 0" descr="/home/claude/build/mol/h2.png">    </p:cNvPr>
          <p:cNvPicPr>
            <a:picLocks noChangeAspect="1"/>
          </p:cNvPicPr>
          <p:nvPr/>
        </p:nvPicPr>
        <p:blipFill>
          <a:blip r:embed="rId1"/>
          <a:stretch>
            <a:fillRect/>
          </a:stretch>
        </p:blipFill>
        <p:spPr>
          <a:xfrm>
            <a:off x="7980152" y="192024"/>
            <a:ext cx="773217"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Chemical Reactions II</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Text 7"/>
          <p:cNvSpPr txBox="1"/>
          <p:nvPr/>
        </p:nvSpPr>
        <p:spPr>
          <a:xfrm>
            <a:off x="457200" y="1188720"/>
            <a:ext cx="8229600" cy="640080"/>
          </a:xfrm>
          <a:prstGeom prst="rect">
            <a:avLst/>
          </a:prstGeom>
          <a:noFill/>
          <a:ln/>
        </p:spPr>
        <p:txBody>
          <a:bodyPr wrap="square" lIns="0" tIns="0" rIns="0" bIns="0" rtlCol="0" anchor="t"/>
          <a:lstStyle/>
          <a:p>
            <a:pPr indent="0" marL="0">
              <a:buNone/>
            </a:pPr>
            <a:r>
              <a:rPr lang="en-US" sz="1300" b="1" dirty="0">
                <a:solidFill>
                  <a:srgbClr val="1B2A41"/>
                </a:solidFill>
                <a:latin typeface="Calibri" pitchFamily="34" charset="0"/>
                <a:ea typeface="Calibri" pitchFamily="34" charset="-122"/>
                <a:cs typeface="Calibri" pitchFamily="34" charset="-120"/>
              </a:rPr>
              <a:t>On an energy diagram, what does the height from the reactants up to the peak represent?</a:t>
            </a:r>
            <a:endParaRPr lang="en-US" sz="1300" dirty="0"/>
          </a:p>
        </p:txBody>
      </p:sp>
      <p:sp>
        <p:nvSpPr>
          <p:cNvPr id="11" name="Shape 8"/>
          <p:cNvSpPr/>
          <p:nvPr/>
        </p:nvSpPr>
        <p:spPr>
          <a:xfrm>
            <a:off x="457200" y="1965960"/>
            <a:ext cx="4023360" cy="594360"/>
          </a:xfrm>
          <a:prstGeom prst="roundRect">
            <a:avLst>
              <a:gd name="adj" fmla="val 12308"/>
            </a:avLst>
          </a:prstGeom>
          <a:solidFill>
            <a:srgbClr val="FFFFFF"/>
          </a:solidFill>
          <a:ln w="9525">
            <a:solidFill>
              <a:srgbClr val="D7E0E8"/>
            </a:solidFill>
            <a:prstDash val="solid"/>
          </a:ln>
        </p:spPr>
      </p:sp>
      <p:sp>
        <p:nvSpPr>
          <p:cNvPr id="12" name="Text 9"/>
          <p:cNvSpPr txBox="1"/>
          <p:nvPr/>
        </p:nvSpPr>
        <p:spPr>
          <a:xfrm>
            <a:off x="594360" y="196596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A   </a:t>
            </a:r>
            <a:pPr indent="0" marL="0">
              <a:buNone/>
            </a:pPr>
            <a:r>
              <a:rPr lang="en-US" sz="1150" dirty="0">
                <a:solidFill>
                  <a:srgbClr val="1B2A41"/>
                </a:solidFill>
                <a:latin typeface="Calibri" pitchFamily="34" charset="0"/>
                <a:ea typeface="Calibri" pitchFamily="34" charset="-122"/>
                <a:cs typeface="Calibri" pitchFamily="34" charset="-120"/>
              </a:rPr>
              <a:t>ΔH of the reaction</a:t>
            </a:r>
            <a:endParaRPr lang="en-US" sz="1100" dirty="0"/>
          </a:p>
        </p:txBody>
      </p:sp>
      <p:sp>
        <p:nvSpPr>
          <p:cNvPr id="13" name="Shape 10"/>
          <p:cNvSpPr/>
          <p:nvPr/>
        </p:nvSpPr>
        <p:spPr>
          <a:xfrm>
            <a:off x="4663440" y="1965960"/>
            <a:ext cx="4023360" cy="594360"/>
          </a:xfrm>
          <a:prstGeom prst="roundRect">
            <a:avLst>
              <a:gd name="adj" fmla="val 12308"/>
            </a:avLst>
          </a:prstGeom>
          <a:solidFill>
            <a:srgbClr val="E3F3E9"/>
          </a:solidFill>
          <a:ln w="9525">
            <a:solidFill>
              <a:srgbClr val="2E7D4F"/>
            </a:solidFill>
            <a:prstDash val="solid"/>
          </a:ln>
        </p:spPr>
      </p:sp>
      <p:sp>
        <p:nvSpPr>
          <p:cNvPr id="14" name="Text 11"/>
          <p:cNvSpPr txBox="1"/>
          <p:nvPr/>
        </p:nvSpPr>
        <p:spPr>
          <a:xfrm>
            <a:off x="4800600" y="196596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B   </a:t>
            </a:r>
            <a:pPr indent="0" marL="0">
              <a:buNone/>
            </a:pPr>
            <a:r>
              <a:rPr lang="en-US" sz="1150" dirty="0">
                <a:solidFill>
                  <a:srgbClr val="1B2A41"/>
                </a:solidFill>
                <a:latin typeface="Calibri" pitchFamily="34" charset="0"/>
                <a:ea typeface="Calibri" pitchFamily="34" charset="-122"/>
                <a:cs typeface="Calibri" pitchFamily="34" charset="-120"/>
              </a:rPr>
              <a:t>The activation energy, E</a:t>
            </a:r>
            <a:pPr indent="0" marL="0">
              <a:buNone/>
            </a:pPr>
            <a:r>
              <a:rPr lang="en-US" sz="1150" baseline="-40000" dirty="0">
                <a:solidFill>
                  <a:srgbClr val="1B2A41"/>
                </a:solidFill>
                <a:latin typeface="Calibri" pitchFamily="34" charset="0"/>
                <a:ea typeface="Calibri" pitchFamily="34" charset="-122"/>
                <a:cs typeface="Calibri" pitchFamily="34" charset="-120"/>
              </a:rPr>
              <a:t>a</a:t>
            </a:r>
            <a:endParaRPr lang="en-US" sz="1100" dirty="0"/>
          </a:p>
        </p:txBody>
      </p:sp>
      <p:sp>
        <p:nvSpPr>
          <p:cNvPr id="15" name="Shape 12"/>
          <p:cNvSpPr/>
          <p:nvPr/>
        </p:nvSpPr>
        <p:spPr>
          <a:xfrm>
            <a:off x="457200" y="2697480"/>
            <a:ext cx="4023360" cy="594360"/>
          </a:xfrm>
          <a:prstGeom prst="roundRect">
            <a:avLst>
              <a:gd name="adj" fmla="val 12308"/>
            </a:avLst>
          </a:prstGeom>
          <a:solidFill>
            <a:srgbClr val="FFFFFF"/>
          </a:solidFill>
          <a:ln w="9525">
            <a:solidFill>
              <a:srgbClr val="D7E0E8"/>
            </a:solidFill>
            <a:prstDash val="solid"/>
          </a:ln>
        </p:spPr>
      </p:sp>
      <p:sp>
        <p:nvSpPr>
          <p:cNvPr id="16" name="Text 13"/>
          <p:cNvSpPr txBox="1"/>
          <p:nvPr/>
        </p:nvSpPr>
        <p:spPr>
          <a:xfrm>
            <a:off x="594360" y="269748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C   </a:t>
            </a:r>
            <a:pPr indent="0" marL="0">
              <a:buNone/>
            </a:pPr>
            <a:r>
              <a:rPr lang="en-US" sz="1150" dirty="0">
                <a:solidFill>
                  <a:srgbClr val="1B2A41"/>
                </a:solidFill>
                <a:latin typeface="Calibri" pitchFamily="34" charset="0"/>
                <a:ea typeface="Calibri" pitchFamily="34" charset="-122"/>
                <a:cs typeface="Calibri" pitchFamily="34" charset="-120"/>
              </a:rPr>
              <a:t>The energy of the products</a:t>
            </a:r>
            <a:endParaRPr lang="en-US" sz="1100" dirty="0"/>
          </a:p>
        </p:txBody>
      </p:sp>
      <p:sp>
        <p:nvSpPr>
          <p:cNvPr id="17" name="Shape 14"/>
          <p:cNvSpPr/>
          <p:nvPr/>
        </p:nvSpPr>
        <p:spPr>
          <a:xfrm>
            <a:off x="4663440" y="2697480"/>
            <a:ext cx="4023360" cy="594360"/>
          </a:xfrm>
          <a:prstGeom prst="roundRect">
            <a:avLst>
              <a:gd name="adj" fmla="val 12308"/>
            </a:avLst>
          </a:prstGeom>
          <a:solidFill>
            <a:srgbClr val="FFFFFF"/>
          </a:solidFill>
          <a:ln w="9525">
            <a:solidFill>
              <a:srgbClr val="D7E0E8"/>
            </a:solidFill>
            <a:prstDash val="solid"/>
          </a:ln>
        </p:spPr>
      </p:sp>
      <p:sp>
        <p:nvSpPr>
          <p:cNvPr id="18" name="Text 15"/>
          <p:cNvSpPr txBox="1"/>
          <p:nvPr/>
        </p:nvSpPr>
        <p:spPr>
          <a:xfrm>
            <a:off x="4800600" y="269748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D   </a:t>
            </a:r>
            <a:pPr indent="0" marL="0">
              <a:buNone/>
            </a:pPr>
            <a:r>
              <a:rPr lang="en-US" sz="1150" dirty="0">
                <a:solidFill>
                  <a:srgbClr val="1B2A41"/>
                </a:solidFill>
                <a:latin typeface="Calibri" pitchFamily="34" charset="0"/>
                <a:ea typeface="Calibri" pitchFamily="34" charset="-122"/>
                <a:cs typeface="Calibri" pitchFamily="34" charset="-120"/>
              </a:rPr>
              <a:t>The rate of the reaction</a:t>
            </a:r>
            <a:endParaRPr lang="en-US" sz="1100" dirty="0"/>
          </a:p>
        </p:txBody>
      </p:sp>
      <p:sp>
        <p:nvSpPr>
          <p:cNvPr id="19" name="Text 16"/>
          <p:cNvSpPr txBox="1"/>
          <p:nvPr/>
        </p:nvSpPr>
        <p:spPr>
          <a:xfrm>
            <a:off x="457200" y="3520440"/>
            <a:ext cx="8229600" cy="731520"/>
          </a:xfrm>
          <a:prstGeom prst="rect">
            <a:avLst/>
          </a:prstGeom>
          <a:noFill/>
          <a:ln/>
        </p:spPr>
        <p:txBody>
          <a:bodyPr wrap="square" lIns="0" tIns="0" rIns="0" bIns="0" rtlCol="0" anchor="t"/>
          <a:lstStyle/>
          <a:p>
            <a:pPr indent="0" marL="0">
              <a:buNone/>
            </a:pPr>
            <a:r>
              <a:rPr lang="en-US" sz="1150" b="1" dirty="0">
                <a:solidFill>
                  <a:srgbClr val="1B2A41"/>
                </a:solidFill>
                <a:latin typeface="Calibri" pitchFamily="34" charset="0"/>
                <a:ea typeface="Calibri" pitchFamily="34" charset="-122"/>
                <a:cs typeface="Calibri" pitchFamily="34" charset="-120"/>
              </a:rPr>
              <a:t>Answer B. </a:t>
            </a:r>
            <a:pPr indent="0" marL="0">
              <a:buNone/>
            </a:pPr>
            <a:r>
              <a:rPr lang="en-US" sz="1150" dirty="0">
                <a:solidFill>
                  <a:srgbClr val="1B2A41"/>
                </a:solidFill>
                <a:latin typeface="Calibri" pitchFamily="34" charset="0"/>
                <a:ea typeface="Calibri" pitchFamily="34" charset="-122"/>
                <a:cs typeface="Calibri" pitchFamily="34" charset="-120"/>
              </a:rPr>
              <a:t>E</a:t>
            </a:r>
            <a:pPr indent="0" marL="0">
              <a:buNone/>
            </a:pPr>
            <a:r>
              <a:rPr lang="en-US" sz="1150" baseline="-40000" dirty="0">
                <a:solidFill>
                  <a:srgbClr val="1B2A41"/>
                </a:solidFill>
                <a:latin typeface="Calibri" pitchFamily="34" charset="0"/>
                <a:ea typeface="Calibri" pitchFamily="34" charset="-122"/>
                <a:cs typeface="Calibri" pitchFamily="34" charset="-120"/>
              </a:rPr>
              <a:t>a</a:t>
            </a:r>
            <a:pPr indent="0" marL="0">
              <a:buNone/>
            </a:pPr>
            <a:r>
              <a:rPr lang="en-US" sz="1150" dirty="0">
                <a:solidFill>
                  <a:srgbClr val="1B2A41"/>
                </a:solidFill>
                <a:latin typeface="Calibri" pitchFamily="34" charset="0"/>
                <a:ea typeface="Calibri" pitchFamily="34" charset="-122"/>
                <a:cs typeface="Calibri" pitchFamily="34" charset="-120"/>
              </a:rPr>
              <a:t> is measured from the reactants to the transition state at the top of the hill.</a:t>
            </a:r>
            <a:endParaRPr lang="en-US" sz="11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B2A41"/>
        </a:solidFill>
      </p:bgPr>
    </p:bg>
    <p:spTree>
      <p:nvGrpSpPr>
        <p:cNvPr id="1" name=""/>
        <p:cNvGrpSpPr/>
        <p:nvPr/>
      </p:nvGrpSpPr>
      <p:grpSpPr>
        <a:xfrm>
          <a:off x="0" y="0"/>
          <a:ext cx="0" cy="0"/>
          <a:chOff x="0" y="0"/>
          <a:chExt cx="0" cy="0"/>
        </a:xfrm>
      </p:grpSpPr>
      <p:sp>
        <p:nvSpPr>
          <p:cNvPr id="2" name="Text 0"/>
          <p:cNvSpPr txBox="1"/>
          <p:nvPr/>
        </p:nvSpPr>
        <p:spPr>
          <a:xfrm>
            <a:off x="548640" y="640080"/>
            <a:ext cx="1371600" cy="1005840"/>
          </a:xfrm>
          <a:prstGeom prst="rect">
            <a:avLst/>
          </a:prstGeom>
          <a:noFill/>
          <a:ln/>
        </p:spPr>
        <p:txBody>
          <a:bodyPr wrap="square" lIns="0" tIns="0" rIns="0" bIns="0" rtlCol="0" anchor="ctr"/>
          <a:lstStyle/>
          <a:p>
            <a:pPr indent="0" marL="0">
              <a:buNone/>
            </a:pPr>
            <a:r>
              <a:rPr lang="en-US" sz="6600" b="1" dirty="0">
                <a:solidFill>
                  <a:srgbClr val="F0B24A"/>
                </a:solidFill>
                <a:latin typeface="Calibri" pitchFamily="34" charset="0"/>
                <a:ea typeface="Calibri" pitchFamily="34" charset="-122"/>
                <a:cs typeface="Calibri" pitchFamily="34" charset="-120"/>
              </a:rPr>
              <a:t>3</a:t>
            </a:r>
            <a:endParaRPr lang="en-US" sz="6600" dirty="0"/>
          </a:p>
        </p:txBody>
      </p:sp>
      <p:sp>
        <p:nvSpPr>
          <p:cNvPr id="3" name="Text 1"/>
          <p:cNvSpPr txBox="1"/>
          <p:nvPr/>
        </p:nvSpPr>
        <p:spPr>
          <a:xfrm>
            <a:off x="548640" y="1691640"/>
            <a:ext cx="2743200" cy="228600"/>
          </a:xfrm>
          <a:prstGeom prst="rect">
            <a:avLst/>
          </a:prstGeom>
          <a:noFill/>
          <a:ln/>
        </p:spPr>
        <p:txBody>
          <a:bodyPr wrap="square" lIns="0" tIns="0" rIns="0" bIns="0" rtlCol="0" anchor="ctr"/>
          <a:lstStyle/>
          <a:p>
            <a:pPr indent="0" marL="0">
              <a:buNone/>
            </a:pPr>
            <a:r>
              <a:rPr lang="en-US" sz="900" b="1" spc="200" kern="0" dirty="0">
                <a:solidFill>
                  <a:srgbClr val="A3B1C2"/>
                </a:solidFill>
                <a:latin typeface="Calibri" pitchFamily="34" charset="0"/>
                <a:ea typeface="Calibri" pitchFamily="34" charset="-122"/>
                <a:cs typeface="Calibri" pitchFamily="34" charset="-120"/>
              </a:rPr>
              <a:t>PART 3</a:t>
            </a:r>
            <a:endParaRPr lang="en-US" sz="900" dirty="0"/>
          </a:p>
        </p:txBody>
      </p:sp>
      <p:sp>
        <p:nvSpPr>
          <p:cNvPr id="4" name="Text 2"/>
          <p:cNvSpPr txBox="1"/>
          <p:nvPr/>
        </p:nvSpPr>
        <p:spPr>
          <a:xfrm>
            <a:off x="548640" y="1920240"/>
            <a:ext cx="6400800" cy="822960"/>
          </a:xfrm>
          <a:prstGeom prst="rect">
            <a:avLst/>
          </a:prstGeom>
          <a:noFill/>
          <a:ln/>
        </p:spPr>
        <p:txBody>
          <a:bodyPr wrap="square" lIns="0" tIns="0" rIns="0" bIns="0" rtlCol="0" anchor="t"/>
          <a:lstStyle/>
          <a:p>
            <a:pPr indent="0" marL="0">
              <a:buNone/>
            </a:pPr>
            <a:r>
              <a:rPr lang="en-US" sz="2600" b="1" dirty="0">
                <a:solidFill>
                  <a:srgbClr val="FFFFFF"/>
                </a:solidFill>
                <a:latin typeface="Calibri" pitchFamily="34" charset="0"/>
                <a:ea typeface="Calibri" pitchFamily="34" charset="-122"/>
                <a:cs typeface="Calibri" pitchFamily="34" charset="-120"/>
              </a:rPr>
              <a:t>Collision theory</a:t>
            </a:r>
            <a:endParaRPr lang="en-US" sz="2600" dirty="0"/>
          </a:p>
        </p:txBody>
      </p:sp>
      <p:sp>
        <p:nvSpPr>
          <p:cNvPr id="5" name="Text 3"/>
          <p:cNvSpPr txBox="1"/>
          <p:nvPr/>
        </p:nvSpPr>
        <p:spPr>
          <a:xfrm>
            <a:off x="548640" y="2788920"/>
            <a:ext cx="6400800" cy="548640"/>
          </a:xfrm>
          <a:prstGeom prst="rect">
            <a:avLst/>
          </a:prstGeom>
          <a:noFill/>
          <a:ln/>
        </p:spPr>
        <p:txBody>
          <a:bodyPr wrap="square" lIns="0" tIns="0" rIns="0" bIns="0" rtlCol="0" anchor="t"/>
          <a:lstStyle/>
          <a:p>
            <a:pPr indent="0" marL="0">
              <a:buNone/>
            </a:pPr>
            <a:r>
              <a:rPr lang="en-US" sz="1200" dirty="0">
                <a:solidFill>
                  <a:srgbClr val="A3B1C2"/>
                </a:solidFill>
                <a:latin typeface="Calibri" pitchFamily="34" charset="0"/>
                <a:ea typeface="Calibri" pitchFamily="34" charset="-122"/>
                <a:cs typeface="Calibri" pitchFamily="34" charset="-120"/>
              </a:rPr>
              <a:t>Particles have to meet, hard enough and the right way round, before they can react.</a:t>
            </a:r>
            <a:endParaRPr lang="en-US" sz="1200" dirty="0"/>
          </a:p>
        </p:txBody>
      </p:sp>
      <p:sp>
        <p:nvSpPr>
          <p:cNvPr id="6" name="Text 4"/>
          <p:cNvSpPr txBox="1"/>
          <p:nvPr/>
        </p:nvSpPr>
        <p:spPr>
          <a:xfrm>
            <a:off x="548640" y="3520440"/>
            <a:ext cx="5486400" cy="274320"/>
          </a:xfrm>
          <a:prstGeom prst="rect">
            <a:avLst/>
          </a:prstGeom>
          <a:noFill/>
          <a:ln/>
        </p:spPr>
        <p:txBody>
          <a:bodyPr wrap="square" lIns="0" tIns="0" rIns="0" bIns="0" rtlCol="0" anchor="ctr"/>
          <a:lstStyle/>
          <a:p>
            <a:pPr indent="0" marL="0">
              <a:buNone/>
            </a:pPr>
            <a:r>
              <a:rPr lang="en-US" sz="900" b="1" dirty="0">
                <a:solidFill>
                  <a:srgbClr val="7DB6E3"/>
                </a:solidFill>
                <a:latin typeface="Calibri" pitchFamily="34" charset="0"/>
                <a:ea typeface="Calibri" pitchFamily="34" charset="-122"/>
                <a:cs typeface="Calibri" pitchFamily="34" charset="-120"/>
              </a:rPr>
              <a:t>CR2-LO3 · Ball 6.S</a:t>
            </a:r>
            <a:endParaRPr lang="en-US" sz="900" dirty="0"/>
          </a:p>
        </p:txBody>
      </p:sp>
      <p:pic>
        <p:nvPicPr>
          <p:cNvPr id="7" name="Image 0" descr="/home/claude/build/mol/no.png">    </p:cNvPr>
          <p:cNvPicPr>
            <a:picLocks noChangeAspect="1"/>
          </p:cNvPicPr>
          <p:nvPr/>
        </p:nvPicPr>
        <p:blipFill>
          <a:blip r:embed="rId1"/>
          <a:stretch>
            <a:fillRect/>
          </a:stretch>
        </p:blipFill>
        <p:spPr>
          <a:xfrm>
            <a:off x="6271979" y="640080"/>
            <a:ext cx="1903562" cy="914400"/>
          </a:xfrm>
          <a:prstGeom prst="rect">
            <a:avLst/>
          </a:prstGeom>
        </p:spPr>
      </p:pic>
      <p:pic>
        <p:nvPicPr>
          <p:cNvPr id="8" name="Image 1" descr="/home/claude/build/mol/o3.png">    </p:cNvPr>
          <p:cNvPicPr>
            <a:picLocks noChangeAspect="1"/>
          </p:cNvPicPr>
          <p:nvPr/>
        </p:nvPicPr>
        <p:blipFill>
          <a:blip r:embed="rId2"/>
          <a:stretch>
            <a:fillRect/>
          </a:stretch>
        </p:blipFill>
        <p:spPr>
          <a:xfrm>
            <a:off x="7366299" y="2834640"/>
            <a:ext cx="995082" cy="548640"/>
          </a:xfrm>
          <a:prstGeom prst="rect">
            <a:avLst/>
          </a:prstGeom>
        </p:spPr>
      </p:pic>
      <p:pic>
        <p:nvPicPr>
          <p:cNvPr id="9" name="Image 2" descr="/home/claude/build/mol/no2.png">    </p:cNvPr>
          <p:cNvPicPr>
            <a:picLocks noChangeAspect="1"/>
          </p:cNvPicPr>
          <p:nvPr/>
        </p:nvPicPr>
        <p:blipFill>
          <a:blip r:embed="rId3"/>
          <a:stretch>
            <a:fillRect/>
          </a:stretch>
        </p:blipFill>
        <p:spPr>
          <a:xfrm>
            <a:off x="5570304" y="3794760"/>
            <a:ext cx="929473" cy="457200"/>
          </a:xfrm>
          <a:prstGeom prst="rect">
            <a:avLst/>
          </a:prstGeom>
        </p:spPr>
      </p:pic>
      <p:sp>
        <p:nvSpPr>
          <p:cNvPr id="10"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A3B1C2"/>
                </a:solidFill>
                <a:latin typeface="Calibri" pitchFamily="34" charset="0"/>
                <a:ea typeface="Calibri" pitchFamily="34" charset="-122"/>
                <a:cs typeface="Calibri" pitchFamily="34" charset="-120"/>
              </a:rPr>
              <a:t>PHD115 · Chemical Reactions II</a:t>
            </a:r>
            <a:endParaRPr lang="en-US" sz="800" dirty="0"/>
          </a:p>
        </p:txBody>
      </p:sp>
      <p:sp>
        <p:nvSpPr>
          <p:cNvPr id="11"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F0B24A"/>
                </a:solidFill>
                <a:latin typeface="Calibri" pitchFamily="34" charset="0"/>
                <a:ea typeface="Calibri" pitchFamily="34" charset="-122"/>
                <a:cs typeface="Calibri" pitchFamily="34" charset="-120"/>
              </a:rPr>
              <a:t>Dr. NAM · Faculty of Pharmacy, UiTM Bertam, Penang</a:t>
            </a:r>
            <a:endParaRPr lang="en-US" sz="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CR2-LO3</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The three conditions of collision theory</a:t>
            </a:r>
            <a:endParaRPr lang="en-US" sz="2000" dirty="0"/>
          </a:p>
        </p:txBody>
      </p:sp>
      <p:pic>
        <p:nvPicPr>
          <p:cNvPr id="7" name="Image 0" descr="/home/claude/build/mol/no.png">    </p:cNvPr>
          <p:cNvPicPr>
            <a:picLocks noChangeAspect="1"/>
          </p:cNvPicPr>
          <p:nvPr/>
        </p:nvPicPr>
        <p:blipFill>
          <a:blip r:embed="rId1"/>
          <a:stretch>
            <a:fillRect/>
          </a:stretch>
        </p:blipFill>
        <p:spPr>
          <a:xfrm>
            <a:off x="7967012" y="192024"/>
            <a:ext cx="799496"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Chemical Reactions II</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Text 7"/>
          <p:cNvSpPr txBox="1"/>
          <p:nvPr/>
        </p:nvSpPr>
        <p:spPr>
          <a:xfrm>
            <a:off x="457200" y="1280160"/>
            <a:ext cx="5486400" cy="3383280"/>
          </a:xfrm>
          <a:prstGeom prst="rect">
            <a:avLst/>
          </a:prstGeom>
          <a:noFill/>
          <a:ln/>
        </p:spPr>
        <p:txBody>
          <a:bodyPr wrap="square" lIns="0" tIns="0" rIns="0" bIns="0" rtlCol="0" anchor="t"/>
          <a:lstStyle/>
          <a:p>
            <a:pPr marL="177800" indent="-177800">
              <a:spcAft>
                <a:spcPts val="600"/>
              </a:spcAft>
              <a:buSzPct val="100000"/>
              <a:buChar char="•"/>
            </a:pPr>
            <a:r>
              <a:rPr lang="en-US" sz="1300" b="1" dirty="0">
                <a:solidFill>
                  <a:srgbClr val="1B2A41"/>
                </a:solidFill>
                <a:latin typeface="Calibri" pitchFamily="34" charset="0"/>
                <a:ea typeface="Calibri" pitchFamily="34" charset="-122"/>
                <a:cs typeface="Calibri" pitchFamily="34" charset="-120"/>
              </a:rPr>
              <a:t>1. Collide.</a:t>
            </a:r>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 Reactant particles must come into contact: no collision, no reaction.</a:t>
            </a:r>
            <a:endParaRPr lang="en-US" sz="1300" dirty="0"/>
          </a:p>
          <a:p>
            <a:pPr marL="177800" indent="-177800">
              <a:spcAft>
                <a:spcPts val="600"/>
              </a:spcAft>
              <a:buSzPct val="100000"/>
              <a:buChar char="•"/>
            </a:pPr>
            <a:r>
              <a:rPr lang="en-US" sz="1300" b="1" dirty="0">
                <a:solidFill>
                  <a:srgbClr val="1B2A41"/>
                </a:solidFill>
                <a:latin typeface="Calibri" pitchFamily="34" charset="0"/>
                <a:ea typeface="Calibri" pitchFamily="34" charset="-122"/>
                <a:cs typeface="Calibri" pitchFamily="34" charset="-120"/>
              </a:rPr>
              <a:t>2. With enough energy.</a:t>
            </a:r>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 The collision must supply at least E</a:t>
            </a:r>
            <a:pPr marL="177800" indent="-177800">
              <a:spcAft>
                <a:spcPts val="600"/>
              </a:spcAft>
              <a:buSzPct val="100000"/>
              <a:buChar char="•"/>
            </a:pPr>
            <a:r>
              <a:rPr lang="en-US" sz="1300" baseline="-40000" dirty="0">
                <a:solidFill>
                  <a:srgbClr val="1B2A41"/>
                </a:solidFill>
                <a:latin typeface="Calibri" pitchFamily="34" charset="0"/>
                <a:ea typeface="Calibri" pitchFamily="34" charset="-122"/>
                <a:cs typeface="Calibri" pitchFamily="34" charset="-120"/>
              </a:rPr>
              <a:t>a</a:t>
            </a:r>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 to start breaking bonds.</a:t>
            </a:r>
            <a:endParaRPr lang="en-US" sz="1300" dirty="0"/>
          </a:p>
          <a:p>
            <a:pPr marL="177800" indent="-177800">
              <a:spcAft>
                <a:spcPts val="600"/>
              </a:spcAft>
              <a:buSzPct val="100000"/>
              <a:buChar char="•"/>
            </a:pPr>
            <a:r>
              <a:rPr lang="en-US" sz="1300" b="1" dirty="0">
                <a:solidFill>
                  <a:srgbClr val="1B2A41"/>
                </a:solidFill>
                <a:latin typeface="Calibri" pitchFamily="34" charset="0"/>
                <a:ea typeface="Calibri" pitchFamily="34" charset="-122"/>
                <a:cs typeface="Calibri" pitchFamily="34" charset="-120"/>
              </a:rPr>
              <a:t>3. In the right orientation.</a:t>
            </a:r>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 The reacting parts of the particles must meet.</a:t>
            </a:r>
            <a:endParaRPr lang="en-US" sz="1300" dirty="0"/>
          </a:p>
          <a:p>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A collision that meets all three is an </a:t>
            </a:r>
            <a:pPr marL="177800" indent="-177800">
              <a:spcAft>
                <a:spcPts val="600"/>
              </a:spcAft>
              <a:buSzPct val="100000"/>
              <a:buChar char="•"/>
            </a:pPr>
            <a:r>
              <a:rPr lang="en-US" sz="1300" b="1" dirty="0">
                <a:solidFill>
                  <a:srgbClr val="1B2A41"/>
                </a:solidFill>
                <a:latin typeface="Calibri" pitchFamily="34" charset="0"/>
                <a:ea typeface="Calibri" pitchFamily="34" charset="-122"/>
                <a:cs typeface="Calibri" pitchFamily="34" charset="-120"/>
              </a:rPr>
              <a:t>effective collision</a:t>
            </a:r>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 and forms products. Any other collision is </a:t>
            </a:r>
            <a:pPr marL="177800" indent="-177800">
              <a:spcAft>
                <a:spcPts val="600"/>
              </a:spcAft>
              <a:buSzPct val="100000"/>
              <a:buChar char="•"/>
            </a:pPr>
            <a:r>
              <a:rPr lang="en-US" sz="1300" b="1" dirty="0">
                <a:solidFill>
                  <a:srgbClr val="1B2A41"/>
                </a:solidFill>
                <a:latin typeface="Calibri" pitchFamily="34" charset="0"/>
                <a:ea typeface="Calibri" pitchFamily="34" charset="-122"/>
                <a:cs typeface="Calibri" pitchFamily="34" charset="-120"/>
              </a:rPr>
              <a:t>ineffective</a:t>
            </a:r>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 the particles bounce apart unchanged.</a:t>
            </a:r>
            <a:endParaRPr lang="en-US" sz="1300" dirty="0"/>
          </a:p>
        </p:txBody>
      </p:sp>
      <p:sp>
        <p:nvSpPr>
          <p:cNvPr id="11" name="Shape 8"/>
          <p:cNvSpPr/>
          <p:nvPr/>
        </p:nvSpPr>
        <p:spPr>
          <a:xfrm>
            <a:off x="6172200" y="1280160"/>
            <a:ext cx="2514600" cy="2103120"/>
          </a:xfrm>
          <a:prstGeom prst="roundRect">
            <a:avLst>
              <a:gd name="adj" fmla="val 3478"/>
            </a:avLst>
          </a:prstGeom>
          <a:solidFill>
            <a:srgbClr val="FBEFD9"/>
          </a:solidFill>
          <a:ln w="9525">
            <a:solidFill>
              <a:srgbClr val="FBEFD9"/>
            </a:solidFill>
            <a:prstDash val="solid"/>
          </a:ln>
        </p:spPr>
      </p:sp>
      <p:sp>
        <p:nvSpPr>
          <p:cNvPr id="12" name="Text 9"/>
          <p:cNvSpPr txBox="1"/>
          <p:nvPr/>
        </p:nvSpPr>
        <p:spPr>
          <a:xfrm>
            <a:off x="6309360" y="1371600"/>
            <a:ext cx="2240280" cy="1920240"/>
          </a:xfrm>
          <a:prstGeom prst="rect">
            <a:avLst/>
          </a:prstGeom>
          <a:noFill/>
          <a:ln/>
        </p:spPr>
        <p:txBody>
          <a:bodyPr wrap="square" lIns="0" tIns="0" rIns="0" bIns="0" rtlCol="0" anchor="t"/>
          <a:lstStyle/>
          <a:p>
            <a:pPr indent="0" marL="0">
              <a:buNone/>
            </a:pPr>
            <a:r>
              <a:rPr lang="en-US" sz="1100" b="1" dirty="0">
                <a:solidFill>
                  <a:srgbClr val="B86E00"/>
                </a:solidFill>
                <a:latin typeface="Calibri" pitchFamily="34" charset="0"/>
                <a:ea typeface="Calibri" pitchFamily="34" charset="-122"/>
                <a:cs typeface="Calibri" pitchFamily="34" charset="-120"/>
              </a:rPr>
              <a:t>Scale</a:t>
            </a:r>
            <a:endParaRPr lang="en-US" sz="1100" dirty="0"/>
          </a:p>
          <a:p>
            <a:pPr indent="0" marL="0">
              <a:buNone/>
            </a:pPr>
            <a:r>
              <a:rPr lang="en-US" sz="1050" dirty="0">
                <a:solidFill>
                  <a:srgbClr val="1B2A41"/>
                </a:solidFill>
                <a:latin typeface="Calibri" pitchFamily="34" charset="0"/>
                <a:ea typeface="Calibri" pitchFamily="34" charset="-122"/>
                <a:cs typeface="Calibri" pitchFamily="34" charset="-120"/>
              </a:rPr>
              <a:t>In a gas at room temperature, each molecule collides billions of times per second. If every collision worked, every reaction would be instant.</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CR2-LO3</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Effective and ineffective collisions</a:t>
            </a:r>
            <a:endParaRPr lang="en-US" sz="2000" dirty="0"/>
          </a:p>
        </p:txBody>
      </p:sp>
      <p:pic>
        <p:nvPicPr>
          <p:cNvPr id="7" name="Image 0" descr="/home/claude/build/mol/no.png">    </p:cNvPr>
          <p:cNvPicPr>
            <a:picLocks noChangeAspect="1"/>
          </p:cNvPicPr>
          <p:nvPr/>
        </p:nvPicPr>
        <p:blipFill>
          <a:blip r:embed="rId1"/>
          <a:stretch>
            <a:fillRect/>
          </a:stretch>
        </p:blipFill>
        <p:spPr>
          <a:xfrm>
            <a:off x="7967012" y="192024"/>
            <a:ext cx="799496"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Chemical Reactions II</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pic>
        <p:nvPicPr>
          <p:cNvPr id="10" name="Image 1" descr="/home/claude/build/png/collide.png">    </p:cNvPr>
          <p:cNvPicPr>
            <a:picLocks noChangeAspect="1"/>
          </p:cNvPicPr>
          <p:nvPr/>
        </p:nvPicPr>
        <p:blipFill>
          <a:blip r:embed="rId2"/>
          <a:stretch>
            <a:fillRect/>
          </a:stretch>
        </p:blipFill>
        <p:spPr>
          <a:xfrm>
            <a:off x="2771335" y="1234440"/>
            <a:ext cx="3601329" cy="2194560"/>
          </a:xfrm>
          <a:prstGeom prst="rect">
            <a:avLst/>
          </a:prstGeom>
        </p:spPr>
      </p:pic>
      <p:sp>
        <p:nvSpPr>
          <p:cNvPr id="11" name="Text 7"/>
          <p:cNvSpPr txBox="1"/>
          <p:nvPr/>
        </p:nvSpPr>
        <p:spPr>
          <a:xfrm>
            <a:off x="457200" y="3465576"/>
            <a:ext cx="8229600" cy="292608"/>
          </a:xfrm>
          <a:prstGeom prst="rect">
            <a:avLst/>
          </a:prstGeom>
          <a:noFill/>
          <a:ln/>
        </p:spPr>
        <p:txBody>
          <a:bodyPr wrap="square" lIns="0" tIns="0" rIns="0" bIns="0" rtlCol="0" anchor="t"/>
          <a:lstStyle/>
          <a:p>
            <a:pPr algn="ctr" indent="0" marL="0">
              <a:buNone/>
            </a:pPr>
            <a:r>
              <a:rPr lang="en-US" sz="750" i="1" dirty="0">
                <a:solidFill>
                  <a:srgbClr val="56657A"/>
                </a:solidFill>
                <a:latin typeface="Calibri" pitchFamily="34" charset="0"/>
                <a:ea typeface="Calibri" pitchFamily="34" charset="-122"/>
                <a:cs typeface="Calibri" pitchFamily="34" charset="-120"/>
              </a:rPr>
              <a:t>NO + O</a:t>
            </a:r>
            <a:pPr algn="ctr" indent="0" marL="0">
              <a:buNone/>
            </a:pPr>
            <a:r>
              <a:rPr lang="en-US" sz="750" i="1" baseline="-40000" dirty="0">
                <a:solidFill>
                  <a:srgbClr val="56657A"/>
                </a:solidFill>
                <a:latin typeface="Calibri" pitchFamily="34" charset="0"/>
                <a:ea typeface="Calibri" pitchFamily="34" charset="-122"/>
                <a:cs typeface="Calibri" pitchFamily="34" charset="-120"/>
              </a:rPr>
              <a:t>3</a:t>
            </a:r>
            <a:pPr algn="ctr" indent="0" marL="0">
              <a:buNone/>
            </a:pPr>
            <a:r>
              <a:rPr lang="en-US" sz="750" i="1" dirty="0">
                <a:solidFill>
                  <a:srgbClr val="56657A"/>
                </a:solidFill>
                <a:latin typeface="Calibri" pitchFamily="34" charset="0"/>
                <a:ea typeface="Calibri" pitchFamily="34" charset="-122"/>
                <a:cs typeface="Calibri" pitchFamily="34" charset="-120"/>
              </a:rPr>
              <a:t> → NO</a:t>
            </a:r>
            <a:pPr algn="ctr" indent="0" marL="0">
              <a:buNone/>
            </a:pPr>
            <a:r>
              <a:rPr lang="en-US" sz="750" i="1" baseline="-40000" dirty="0">
                <a:solidFill>
                  <a:srgbClr val="56657A"/>
                </a:solidFill>
                <a:latin typeface="Calibri" pitchFamily="34" charset="0"/>
                <a:ea typeface="Calibri" pitchFamily="34" charset="-122"/>
                <a:cs typeface="Calibri" pitchFamily="34" charset="-120"/>
              </a:rPr>
              <a:t>2</a:t>
            </a:r>
            <a:pPr algn="ctr" indent="0" marL="0">
              <a:buNone/>
            </a:pPr>
            <a:r>
              <a:rPr lang="en-US" sz="750" i="1" dirty="0">
                <a:solidFill>
                  <a:srgbClr val="56657A"/>
                </a:solidFill>
                <a:latin typeface="Calibri" pitchFamily="34" charset="0"/>
                <a:ea typeface="Calibri" pitchFamily="34" charset="-122"/>
                <a:cs typeface="Calibri" pitchFamily="34" charset="-120"/>
              </a:rPr>
              <a:t> + O</a:t>
            </a:r>
            <a:pPr algn="ctr" indent="0" marL="0">
              <a:buNone/>
            </a:pPr>
            <a:r>
              <a:rPr lang="en-US" sz="750" i="1" baseline="-40000" dirty="0">
                <a:solidFill>
                  <a:srgbClr val="56657A"/>
                </a:solidFill>
                <a:latin typeface="Calibri" pitchFamily="34" charset="0"/>
                <a:ea typeface="Calibri" pitchFamily="34" charset="-122"/>
                <a:cs typeface="Calibri" pitchFamily="34" charset="-120"/>
              </a:rPr>
              <a:t>2</a:t>
            </a:r>
            <a:pPr algn="ctr" indent="0" marL="0">
              <a:buNone/>
            </a:pPr>
            <a:r>
              <a:rPr lang="en-US" sz="750" i="1" dirty="0">
                <a:solidFill>
                  <a:srgbClr val="56657A"/>
                </a:solidFill>
                <a:latin typeface="Calibri" pitchFamily="34" charset="0"/>
                <a:ea typeface="Calibri" pitchFamily="34" charset="-122"/>
                <a:cs typeface="Calibri" pitchFamily="34" charset="-120"/>
              </a:rPr>
              <a:t>: only one of these three collisions reacts (drawn by Dr. NAM)</a:t>
            </a:r>
            <a:endParaRPr lang="en-US" sz="750" dirty="0"/>
          </a:p>
        </p:txBody>
      </p:sp>
      <p:sp>
        <p:nvSpPr>
          <p:cNvPr id="12" name="Text 8"/>
          <p:cNvSpPr txBox="1"/>
          <p:nvPr/>
        </p:nvSpPr>
        <p:spPr>
          <a:xfrm>
            <a:off x="457200" y="3794760"/>
            <a:ext cx="8229600" cy="86868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B2A41"/>
                </a:solidFill>
                <a:latin typeface="Calibri" pitchFamily="34" charset="0"/>
                <a:ea typeface="Calibri" pitchFamily="34" charset="-122"/>
                <a:cs typeface="Calibri" pitchFamily="34" charset="-120"/>
              </a:rPr>
              <a:t>Nitrogen monoxide reacts with ozone only if the N atom strikes an end O atom of O</a:t>
            </a:r>
            <a:pPr marL="177800" indent="-177800">
              <a:spcAft>
                <a:spcPts val="600"/>
              </a:spcAft>
              <a:buSzPct val="100000"/>
              <a:buChar char="•"/>
            </a:pPr>
            <a:r>
              <a:rPr lang="en-US" sz="1200" baseline="-40000" dirty="0">
                <a:solidFill>
                  <a:srgbClr val="1B2A41"/>
                </a:solidFill>
                <a:latin typeface="Calibri" pitchFamily="34" charset="0"/>
                <a:ea typeface="Calibri" pitchFamily="34" charset="-122"/>
                <a:cs typeface="Calibri" pitchFamily="34" charset="-120"/>
              </a:rPr>
              <a:t>3</a:t>
            </a:r>
            <a:pPr marL="177800" indent="-177800">
              <a:spcAft>
                <a:spcPts val="600"/>
              </a:spcAft>
              <a:buSzPct val="100000"/>
              <a:buChar char="•"/>
            </a:pPr>
            <a:r>
              <a:rPr lang="en-US" sz="1200" dirty="0">
                <a:solidFill>
                  <a:srgbClr val="1B2A41"/>
                </a:solidFill>
                <a:latin typeface="Calibri" pitchFamily="34" charset="0"/>
                <a:ea typeface="Calibri" pitchFamily="34" charset="-122"/>
                <a:cs typeface="Calibri" pitchFamily="34" charset="-120"/>
              </a:rPr>
              <a:t>, with enough energy.</a:t>
            </a:r>
            <a:endParaRPr lang="en-US" sz="1200" dirty="0"/>
          </a:p>
          <a:p>
            <a:pPr marL="177800" indent="-177800">
              <a:spcAft>
                <a:spcPts val="600"/>
              </a:spcAft>
              <a:buSzPct val="100000"/>
              <a:buChar char="•"/>
            </a:pPr>
            <a:r>
              <a:rPr lang="en-US" sz="1200" dirty="0">
                <a:solidFill>
                  <a:srgbClr val="1B2A41"/>
                </a:solidFill>
                <a:latin typeface="Calibri" pitchFamily="34" charset="0"/>
                <a:ea typeface="Calibri" pitchFamily="34" charset="-122"/>
                <a:cs typeface="Calibri" pitchFamily="34" charset="-120"/>
              </a:rPr>
              <a:t>Too slow, or the wrong end first: the molecules simply bounce apart.</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CR2-LO3</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Not every particle has enough energy</a:t>
            </a:r>
            <a:endParaRPr lang="en-US" sz="2000" dirty="0"/>
          </a:p>
        </p:txBody>
      </p:sp>
      <p:pic>
        <p:nvPicPr>
          <p:cNvPr id="7" name="Image 0" descr="/home/claude/build/mol/no.png">    </p:cNvPr>
          <p:cNvPicPr>
            <a:picLocks noChangeAspect="1"/>
          </p:cNvPicPr>
          <p:nvPr/>
        </p:nvPicPr>
        <p:blipFill>
          <a:blip r:embed="rId1"/>
          <a:stretch>
            <a:fillRect/>
          </a:stretch>
        </p:blipFill>
        <p:spPr>
          <a:xfrm>
            <a:off x="7967012" y="192024"/>
            <a:ext cx="799496"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Chemical Reactions II</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pic>
        <p:nvPicPr>
          <p:cNvPr id="10" name="Image 1" descr="/home/claude/build/png/mb1.png">    </p:cNvPr>
          <p:cNvPicPr>
            <a:picLocks noChangeAspect="1"/>
          </p:cNvPicPr>
          <p:nvPr/>
        </p:nvPicPr>
        <p:blipFill>
          <a:blip r:embed="rId2"/>
          <a:stretch>
            <a:fillRect/>
          </a:stretch>
        </p:blipFill>
        <p:spPr>
          <a:xfrm>
            <a:off x="457200" y="1280160"/>
            <a:ext cx="4389120" cy="2743200"/>
          </a:xfrm>
          <a:prstGeom prst="rect">
            <a:avLst/>
          </a:prstGeom>
        </p:spPr>
      </p:pic>
      <p:sp>
        <p:nvSpPr>
          <p:cNvPr id="11" name="Text 7"/>
          <p:cNvSpPr txBox="1"/>
          <p:nvPr/>
        </p:nvSpPr>
        <p:spPr>
          <a:xfrm>
            <a:off x="457200" y="4059936"/>
            <a:ext cx="4389120" cy="292608"/>
          </a:xfrm>
          <a:prstGeom prst="rect">
            <a:avLst/>
          </a:prstGeom>
          <a:noFill/>
          <a:ln/>
        </p:spPr>
        <p:txBody>
          <a:bodyPr wrap="square" lIns="0" tIns="0" rIns="0" bIns="0" rtlCol="0" anchor="t"/>
          <a:lstStyle/>
          <a:p>
            <a:pPr algn="ctr" indent="0" marL="0">
              <a:buNone/>
            </a:pPr>
            <a:r>
              <a:rPr lang="en-US" sz="750" i="1" dirty="0">
                <a:solidFill>
                  <a:srgbClr val="56657A"/>
                </a:solidFill>
                <a:latin typeface="Calibri" pitchFamily="34" charset="0"/>
                <a:ea typeface="Calibri" pitchFamily="34" charset="-122"/>
                <a:cs typeface="Calibri" pitchFamily="34" charset="-120"/>
              </a:rPr>
              <a:t>Spread of kinetic energies in a sample at one temperature (drawn by Dr. NAM)</a:t>
            </a:r>
            <a:endParaRPr lang="en-US" sz="750" dirty="0"/>
          </a:p>
        </p:txBody>
      </p:sp>
      <p:sp>
        <p:nvSpPr>
          <p:cNvPr id="12" name="Text 8"/>
          <p:cNvSpPr txBox="1"/>
          <p:nvPr/>
        </p:nvSpPr>
        <p:spPr>
          <a:xfrm>
            <a:off x="5120640" y="1280160"/>
            <a:ext cx="3566160" cy="338328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Particles in a sample move at many different speeds.</a:t>
            </a:r>
            <a:endParaRPr lang="en-US" sz="1250" dirty="0"/>
          </a:p>
          <a:p>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Most have moderate energy; a few are very slow or very fast.</a:t>
            </a:r>
            <a:endParaRPr lang="en-US" sz="1250" dirty="0"/>
          </a:p>
          <a:p>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Only the particles in the shaded tail, with energy ≥ E</a:t>
            </a:r>
            <a:pPr marL="177800" indent="-177800">
              <a:spcAft>
                <a:spcPts val="600"/>
              </a:spcAft>
              <a:buSzPct val="100000"/>
              <a:buChar char="•"/>
            </a:pPr>
            <a:r>
              <a:rPr lang="en-US" sz="1250" baseline="-40000" dirty="0">
                <a:solidFill>
                  <a:srgbClr val="1B2A41"/>
                </a:solidFill>
                <a:latin typeface="Calibri" pitchFamily="34" charset="0"/>
                <a:ea typeface="Calibri" pitchFamily="34" charset="-122"/>
                <a:cs typeface="Calibri" pitchFamily="34" charset="-120"/>
              </a:rPr>
              <a:t>a</a:t>
            </a:r>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 can react when they collide.</a:t>
            </a:r>
            <a:endParaRPr lang="en-US" sz="1250" dirty="0"/>
          </a:p>
          <a:p>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Higher E</a:t>
            </a:r>
            <a:pPr marL="177800" indent="-177800">
              <a:spcAft>
                <a:spcPts val="600"/>
              </a:spcAft>
              <a:buSzPct val="100000"/>
              <a:buChar char="•"/>
            </a:pPr>
            <a:r>
              <a:rPr lang="en-US" sz="1250" baseline="-40000" dirty="0">
                <a:solidFill>
                  <a:srgbClr val="1B2A41"/>
                </a:solidFill>
                <a:latin typeface="Calibri" pitchFamily="34" charset="0"/>
                <a:ea typeface="Calibri" pitchFamily="34" charset="-122"/>
                <a:cs typeface="Calibri" pitchFamily="34" charset="-120"/>
              </a:rPr>
              <a:t>a</a:t>
            </a:r>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 → smaller tail → fewer effective collisions → slower reaction.</a:t>
            </a:r>
            <a:endParaRPr lang="en-US" sz="12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CR2-LO3</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Example 3.1 · Why a spark?</a:t>
            </a:r>
            <a:endParaRPr lang="en-US" sz="2000" dirty="0"/>
          </a:p>
        </p:txBody>
      </p:sp>
      <p:pic>
        <p:nvPicPr>
          <p:cNvPr id="7" name="Image 0" descr="/home/claude/build/mol/no.png">    </p:cNvPr>
          <p:cNvPicPr>
            <a:picLocks noChangeAspect="1"/>
          </p:cNvPicPr>
          <p:nvPr/>
        </p:nvPicPr>
        <p:blipFill>
          <a:blip r:embed="rId1"/>
          <a:stretch>
            <a:fillRect/>
          </a:stretch>
        </p:blipFill>
        <p:spPr>
          <a:xfrm>
            <a:off x="7967012" y="192024"/>
            <a:ext cx="799496"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Chemical Reactions II</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Shape 7"/>
          <p:cNvSpPr/>
          <p:nvPr/>
        </p:nvSpPr>
        <p:spPr>
          <a:xfrm>
            <a:off x="457200" y="1234440"/>
            <a:ext cx="8229600" cy="777240"/>
          </a:xfrm>
          <a:prstGeom prst="roundRect">
            <a:avLst>
              <a:gd name="adj" fmla="val 9412"/>
            </a:avLst>
          </a:prstGeom>
          <a:solidFill>
            <a:srgbClr val="FFFFFF"/>
          </a:solidFill>
          <a:ln w="9525">
            <a:solidFill>
              <a:srgbClr val="D7E0E8"/>
            </a:solidFill>
            <a:prstDash val="solid"/>
          </a:ln>
        </p:spPr>
      </p:sp>
      <p:sp>
        <p:nvSpPr>
          <p:cNvPr id="11" name="Text 8"/>
          <p:cNvSpPr txBox="1"/>
          <p:nvPr/>
        </p:nvSpPr>
        <p:spPr>
          <a:xfrm>
            <a:off x="594360" y="1280160"/>
            <a:ext cx="7955280" cy="685800"/>
          </a:xfrm>
          <a:prstGeom prst="rect">
            <a:avLst/>
          </a:prstGeom>
          <a:noFill/>
          <a:ln/>
        </p:spPr>
        <p:txBody>
          <a:bodyPr wrap="square" lIns="0" tIns="0" rIns="0" bIns="0" rtlCol="0" anchor="ctr"/>
          <a:lstStyle/>
          <a:p>
            <a:pPr indent="0" marL="0">
              <a:buNone/>
            </a:pPr>
            <a:r>
              <a:rPr lang="en-US" sz="1200" dirty="0">
                <a:solidFill>
                  <a:srgbClr val="1B2A41"/>
                </a:solidFill>
                <a:latin typeface="Calibri" pitchFamily="34" charset="0"/>
                <a:ea typeface="Calibri" pitchFamily="34" charset="-122"/>
                <a:cs typeface="Calibri" pitchFamily="34" charset="-120"/>
              </a:rPr>
              <a:t>Use collision theory to explain why a mixture of hydrogen and oxygen can be kept safely, but explodes when a spark is applied.</a:t>
            </a:r>
            <a:endParaRPr lang="en-US" sz="1200" dirty="0"/>
          </a:p>
        </p:txBody>
      </p:sp>
      <p:sp>
        <p:nvSpPr>
          <p:cNvPr id="12" name="Shape 9"/>
          <p:cNvSpPr/>
          <p:nvPr/>
        </p:nvSpPr>
        <p:spPr>
          <a:xfrm>
            <a:off x="457200" y="2212848"/>
            <a:ext cx="274320" cy="274320"/>
          </a:xfrm>
          <a:prstGeom prst="ellipse">
            <a:avLst/>
          </a:prstGeom>
          <a:solidFill>
            <a:srgbClr val="2F6F9F"/>
          </a:solidFill>
          <a:ln w="12700">
            <a:solidFill>
              <a:srgbClr val="2F6F9F"/>
            </a:solidFill>
            <a:prstDash val="solid"/>
          </a:ln>
        </p:spPr>
      </p:sp>
      <p:sp>
        <p:nvSpPr>
          <p:cNvPr id="13" name="Text 10"/>
          <p:cNvSpPr txBox="1"/>
          <p:nvPr/>
        </p:nvSpPr>
        <p:spPr>
          <a:xfrm>
            <a:off x="457200" y="221284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4" name="Text 11"/>
          <p:cNvSpPr txBox="1"/>
          <p:nvPr/>
        </p:nvSpPr>
        <p:spPr>
          <a:xfrm>
            <a:off x="868680" y="2194560"/>
            <a:ext cx="7772400" cy="566928"/>
          </a:xfrm>
          <a:prstGeom prst="rect">
            <a:avLst/>
          </a:prstGeom>
          <a:noFill/>
          <a:ln/>
        </p:spPr>
        <p:txBody>
          <a:bodyPr wrap="square" lIns="0" tIns="0" rIns="0" bIns="0" rtlCol="0" anchor="t"/>
          <a:lstStyle/>
          <a:p>
            <a:pPr indent="0" marL="0">
              <a:buNone/>
            </a:pPr>
            <a:r>
              <a:rPr lang="en-US" sz="1200" dirty="0">
                <a:solidFill>
                  <a:srgbClr val="1B2A41"/>
                </a:solidFill>
                <a:latin typeface="Calibri" pitchFamily="34" charset="0"/>
                <a:ea typeface="Calibri" pitchFamily="34" charset="-122"/>
                <a:cs typeface="Calibri" pitchFamily="34" charset="-120"/>
              </a:rPr>
              <a:t>H</a:t>
            </a:r>
            <a:pPr indent="0" marL="0">
              <a:buNone/>
            </a:pPr>
            <a:r>
              <a:rPr lang="en-US" sz="1200" baseline="-40000" dirty="0">
                <a:solidFill>
                  <a:srgbClr val="1B2A41"/>
                </a:solidFill>
                <a:latin typeface="Calibri" pitchFamily="34" charset="0"/>
                <a:ea typeface="Calibri" pitchFamily="34" charset="-122"/>
                <a:cs typeface="Calibri" pitchFamily="34" charset="-120"/>
              </a:rPr>
              <a:t>2</a:t>
            </a:r>
            <a:pPr indent="0" marL="0">
              <a:buNone/>
            </a:pPr>
            <a:r>
              <a:rPr lang="en-US" sz="1200" dirty="0">
                <a:solidFill>
                  <a:srgbClr val="1B2A41"/>
                </a:solidFill>
                <a:latin typeface="Calibri" pitchFamily="34" charset="0"/>
                <a:ea typeface="Calibri" pitchFamily="34" charset="-122"/>
                <a:cs typeface="Calibri" pitchFamily="34" charset="-120"/>
              </a:rPr>
              <a:t> and O</a:t>
            </a:r>
            <a:pPr indent="0" marL="0">
              <a:buNone/>
            </a:pPr>
            <a:r>
              <a:rPr lang="en-US" sz="1200" baseline="-40000" dirty="0">
                <a:solidFill>
                  <a:srgbClr val="1B2A41"/>
                </a:solidFill>
                <a:latin typeface="Calibri" pitchFamily="34" charset="0"/>
                <a:ea typeface="Calibri" pitchFamily="34" charset="-122"/>
                <a:cs typeface="Calibri" pitchFamily="34" charset="-120"/>
              </a:rPr>
              <a:t>2</a:t>
            </a:r>
            <a:pPr indent="0" marL="0">
              <a:buNone/>
            </a:pPr>
            <a:r>
              <a:rPr lang="en-US" sz="1200" dirty="0">
                <a:solidFill>
                  <a:srgbClr val="1B2A41"/>
                </a:solidFill>
                <a:latin typeface="Calibri" pitchFamily="34" charset="0"/>
                <a:ea typeface="Calibri" pitchFamily="34" charset="-122"/>
                <a:cs typeface="Calibri" pitchFamily="34" charset="-120"/>
              </a:rPr>
              <a:t> molecules collide all the time, but at room temperature almost none of the collisions have energy ≥ E</a:t>
            </a:r>
            <a:pPr indent="0" marL="0">
              <a:buNone/>
            </a:pPr>
            <a:r>
              <a:rPr lang="en-US" sz="1200" baseline="-40000" dirty="0">
                <a:solidFill>
                  <a:srgbClr val="1B2A41"/>
                </a:solidFill>
                <a:latin typeface="Calibri" pitchFamily="34" charset="0"/>
                <a:ea typeface="Calibri" pitchFamily="34" charset="-122"/>
                <a:cs typeface="Calibri" pitchFamily="34" charset="-120"/>
              </a:rPr>
              <a:t>a</a:t>
            </a:r>
            <a:pPr indent="0" marL="0">
              <a:buNone/>
            </a:pPr>
            <a:r>
              <a:rPr lang="en-US" sz="1200" dirty="0">
                <a:solidFill>
                  <a:srgbClr val="1B2A41"/>
                </a:solidFill>
                <a:latin typeface="Calibri" pitchFamily="34" charset="0"/>
                <a:ea typeface="Calibri" pitchFamily="34" charset="-122"/>
                <a:cs typeface="Calibri" pitchFamily="34" charset="-120"/>
              </a:rPr>
              <a:t>.</a:t>
            </a:r>
            <a:endParaRPr lang="en-US" sz="1200" dirty="0"/>
          </a:p>
        </p:txBody>
      </p:sp>
      <p:sp>
        <p:nvSpPr>
          <p:cNvPr id="15" name="Shape 12"/>
          <p:cNvSpPr/>
          <p:nvPr/>
        </p:nvSpPr>
        <p:spPr>
          <a:xfrm>
            <a:off x="457200" y="2779776"/>
            <a:ext cx="274320" cy="274320"/>
          </a:xfrm>
          <a:prstGeom prst="ellipse">
            <a:avLst/>
          </a:prstGeom>
          <a:solidFill>
            <a:srgbClr val="2F6F9F"/>
          </a:solidFill>
          <a:ln w="12700">
            <a:solidFill>
              <a:srgbClr val="2F6F9F"/>
            </a:solidFill>
            <a:prstDash val="solid"/>
          </a:ln>
        </p:spPr>
      </p:sp>
      <p:sp>
        <p:nvSpPr>
          <p:cNvPr id="16" name="Text 13"/>
          <p:cNvSpPr txBox="1"/>
          <p:nvPr/>
        </p:nvSpPr>
        <p:spPr>
          <a:xfrm>
            <a:off x="457200" y="2779776"/>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7" name="Text 14"/>
          <p:cNvSpPr txBox="1"/>
          <p:nvPr/>
        </p:nvSpPr>
        <p:spPr>
          <a:xfrm>
            <a:off x="868680" y="2761488"/>
            <a:ext cx="7772400" cy="566928"/>
          </a:xfrm>
          <a:prstGeom prst="rect">
            <a:avLst/>
          </a:prstGeom>
          <a:noFill/>
          <a:ln/>
        </p:spPr>
        <p:txBody>
          <a:bodyPr wrap="square" lIns="0" tIns="0" rIns="0" bIns="0" rtlCol="0" anchor="t"/>
          <a:lstStyle/>
          <a:p>
            <a:pPr indent="0" marL="0">
              <a:buNone/>
            </a:pPr>
            <a:r>
              <a:rPr lang="en-US" sz="1200" dirty="0">
                <a:solidFill>
                  <a:srgbClr val="1B2A41"/>
                </a:solidFill>
                <a:latin typeface="Calibri" pitchFamily="34" charset="0"/>
                <a:ea typeface="Calibri" pitchFamily="34" charset="-122"/>
                <a:cs typeface="Calibri" pitchFamily="34" charset="-120"/>
              </a:rPr>
              <a:t>The spark gives some molecules enough energy to react. The reaction is exothermic, so the heat released raises the energy of nearby molecules.</a:t>
            </a:r>
            <a:endParaRPr lang="en-US" sz="1200" dirty="0"/>
          </a:p>
        </p:txBody>
      </p:sp>
      <p:sp>
        <p:nvSpPr>
          <p:cNvPr id="18" name="Shape 15"/>
          <p:cNvSpPr/>
          <p:nvPr/>
        </p:nvSpPr>
        <p:spPr>
          <a:xfrm>
            <a:off x="457200" y="3346704"/>
            <a:ext cx="274320" cy="274320"/>
          </a:xfrm>
          <a:prstGeom prst="ellipse">
            <a:avLst/>
          </a:prstGeom>
          <a:solidFill>
            <a:srgbClr val="B86E00"/>
          </a:solidFill>
          <a:ln w="12700">
            <a:solidFill>
              <a:srgbClr val="B86E00"/>
            </a:solidFill>
            <a:prstDash val="solid"/>
          </a:ln>
        </p:spPr>
      </p:sp>
      <p:sp>
        <p:nvSpPr>
          <p:cNvPr id="19" name="Text 16"/>
          <p:cNvSpPr txBox="1"/>
          <p:nvPr/>
        </p:nvSpPr>
        <p:spPr>
          <a:xfrm>
            <a:off x="457200" y="334670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0" name="Text 17"/>
          <p:cNvSpPr txBox="1"/>
          <p:nvPr/>
        </p:nvSpPr>
        <p:spPr>
          <a:xfrm>
            <a:off x="868680" y="3328416"/>
            <a:ext cx="7772400" cy="566928"/>
          </a:xfrm>
          <a:prstGeom prst="rect">
            <a:avLst/>
          </a:prstGeom>
          <a:noFill/>
          <a:ln/>
        </p:spPr>
        <p:txBody>
          <a:bodyPr wrap="square" lIns="0" tIns="0" rIns="0" bIns="0" rtlCol="0" anchor="t"/>
          <a:lstStyle/>
          <a:p>
            <a:pPr indent="0" marL="0">
              <a:buNone/>
            </a:pPr>
            <a:r>
              <a:rPr lang="en-US" sz="1200" b="1" dirty="0">
                <a:solidFill>
                  <a:srgbClr val="1B2A41"/>
                </a:solidFill>
                <a:latin typeface="Calibri" pitchFamily="34" charset="0"/>
                <a:ea typeface="Calibri" pitchFamily="34" charset="-122"/>
                <a:cs typeface="Calibri" pitchFamily="34" charset="-120"/>
              </a:rPr>
              <a:t>More and more collisions become effective: a chain of fast reactions, an explosion.</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CR2-LO3</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Try it · Big molecules</a:t>
            </a:r>
            <a:endParaRPr lang="en-US" sz="2000" dirty="0"/>
          </a:p>
        </p:txBody>
      </p:sp>
      <p:pic>
        <p:nvPicPr>
          <p:cNvPr id="7" name="Image 0" descr="/home/claude/build/mol/no.png">    </p:cNvPr>
          <p:cNvPicPr>
            <a:picLocks noChangeAspect="1"/>
          </p:cNvPicPr>
          <p:nvPr/>
        </p:nvPicPr>
        <p:blipFill>
          <a:blip r:embed="rId1"/>
          <a:stretch>
            <a:fillRect/>
          </a:stretch>
        </p:blipFill>
        <p:spPr>
          <a:xfrm>
            <a:off x="7967012" y="192024"/>
            <a:ext cx="799496"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Chemical Reactions II</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Shape 7"/>
          <p:cNvSpPr/>
          <p:nvPr/>
        </p:nvSpPr>
        <p:spPr>
          <a:xfrm>
            <a:off x="457200" y="1234440"/>
            <a:ext cx="8229600" cy="914400"/>
          </a:xfrm>
          <a:prstGeom prst="roundRect">
            <a:avLst>
              <a:gd name="adj" fmla="val 8000"/>
            </a:avLst>
          </a:prstGeom>
          <a:solidFill>
            <a:srgbClr val="FFFFFF"/>
          </a:solidFill>
          <a:ln w="9525">
            <a:solidFill>
              <a:srgbClr val="D7E0E8"/>
            </a:solidFill>
            <a:prstDash val="solid"/>
          </a:ln>
        </p:spPr>
      </p:sp>
      <p:sp>
        <p:nvSpPr>
          <p:cNvPr id="11" name="Text 8"/>
          <p:cNvSpPr txBox="1"/>
          <p:nvPr/>
        </p:nvSpPr>
        <p:spPr>
          <a:xfrm>
            <a:off x="594360" y="1280160"/>
            <a:ext cx="7955280" cy="822960"/>
          </a:xfrm>
          <a:prstGeom prst="rect">
            <a:avLst/>
          </a:prstGeom>
          <a:noFill/>
          <a:ln/>
        </p:spPr>
        <p:txBody>
          <a:bodyPr wrap="square" lIns="0" tIns="0" rIns="0" bIns="0" rtlCol="0" anchor="ctr"/>
          <a:lstStyle/>
          <a:p>
            <a:pPr indent="0" marL="0">
              <a:buNone/>
            </a:pPr>
            <a:r>
              <a:rPr lang="en-US" sz="1250" dirty="0">
                <a:solidFill>
                  <a:srgbClr val="1B2A41"/>
                </a:solidFill>
                <a:latin typeface="Calibri" pitchFamily="34" charset="0"/>
                <a:ea typeface="Calibri" pitchFamily="34" charset="-122"/>
                <a:cs typeface="Calibri" pitchFamily="34" charset="-120"/>
              </a:rPr>
              <a:t>Two large drug-like molecules react only when a small group on one meets a small group on the other. Their reaction is much slower than a reaction between two small molecules colliding just as often. Use collision theory to explain why.</a:t>
            </a:r>
            <a:endParaRPr lang="en-US" sz="1250" dirty="0"/>
          </a:p>
        </p:txBody>
      </p:sp>
      <p:sp>
        <p:nvSpPr>
          <p:cNvPr id="12" name="Text 9"/>
          <p:cNvSpPr txBox="1"/>
          <p:nvPr/>
        </p:nvSpPr>
        <p:spPr>
          <a:xfrm>
            <a:off x="457200" y="2377440"/>
            <a:ext cx="5486400" cy="274320"/>
          </a:xfrm>
          <a:prstGeom prst="rect">
            <a:avLst/>
          </a:prstGeom>
          <a:noFill/>
          <a:ln/>
        </p:spPr>
        <p:txBody>
          <a:bodyPr wrap="square" lIns="0" tIns="0" rIns="0" bIns="0" rtlCol="0" anchor="ctr"/>
          <a:lstStyle/>
          <a:p>
            <a:pPr indent="0" marL="0">
              <a:buNone/>
            </a:pPr>
            <a:r>
              <a:rPr lang="en-US" sz="1000" i="1" dirty="0">
                <a:solidFill>
                  <a:srgbClr val="56657A"/>
                </a:solidFill>
                <a:latin typeface="Calibri" pitchFamily="34" charset="0"/>
                <a:ea typeface="Calibri" pitchFamily="34" charset="-122"/>
                <a:cs typeface="Calibri" pitchFamily="34" charset="-120"/>
              </a:rPr>
              <a:t>Work it out, then check on the next slide.</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CR2-LO3</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Try it · Big molecules · answer</a:t>
            </a:r>
            <a:endParaRPr lang="en-US" sz="2000" dirty="0"/>
          </a:p>
        </p:txBody>
      </p:sp>
      <p:pic>
        <p:nvPicPr>
          <p:cNvPr id="7" name="Image 0" descr="/home/claude/build/mol/no.png">    </p:cNvPr>
          <p:cNvPicPr>
            <a:picLocks noChangeAspect="1"/>
          </p:cNvPicPr>
          <p:nvPr/>
        </p:nvPicPr>
        <p:blipFill>
          <a:blip r:embed="rId1"/>
          <a:stretch>
            <a:fillRect/>
          </a:stretch>
        </p:blipFill>
        <p:spPr>
          <a:xfrm>
            <a:off x="7967012" y="192024"/>
            <a:ext cx="799496"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Chemical Reactions II</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Shape 7"/>
          <p:cNvSpPr/>
          <p:nvPr/>
        </p:nvSpPr>
        <p:spPr>
          <a:xfrm>
            <a:off x="457200" y="1234440"/>
            <a:ext cx="8229600" cy="914400"/>
          </a:xfrm>
          <a:prstGeom prst="roundRect">
            <a:avLst>
              <a:gd name="adj" fmla="val 8000"/>
            </a:avLst>
          </a:prstGeom>
          <a:solidFill>
            <a:srgbClr val="FFFFFF"/>
          </a:solidFill>
          <a:ln w="9525">
            <a:solidFill>
              <a:srgbClr val="D7E0E8"/>
            </a:solidFill>
            <a:prstDash val="solid"/>
          </a:ln>
        </p:spPr>
      </p:sp>
      <p:sp>
        <p:nvSpPr>
          <p:cNvPr id="11" name="Text 8"/>
          <p:cNvSpPr txBox="1"/>
          <p:nvPr/>
        </p:nvSpPr>
        <p:spPr>
          <a:xfrm>
            <a:off x="594360" y="1280160"/>
            <a:ext cx="7955280" cy="822960"/>
          </a:xfrm>
          <a:prstGeom prst="rect">
            <a:avLst/>
          </a:prstGeom>
          <a:noFill/>
          <a:ln/>
        </p:spPr>
        <p:txBody>
          <a:bodyPr wrap="square" lIns="0" tIns="0" rIns="0" bIns="0" rtlCol="0" anchor="ctr"/>
          <a:lstStyle/>
          <a:p>
            <a:pPr indent="0" marL="0">
              <a:buNone/>
            </a:pPr>
            <a:r>
              <a:rPr lang="en-US" sz="1250" dirty="0">
                <a:solidFill>
                  <a:srgbClr val="1B2A41"/>
                </a:solidFill>
                <a:latin typeface="Calibri" pitchFamily="34" charset="0"/>
                <a:ea typeface="Calibri" pitchFamily="34" charset="-122"/>
                <a:cs typeface="Calibri" pitchFamily="34" charset="-120"/>
              </a:rPr>
              <a:t>Two large drug-like molecules react only when a small group on one meets a small group on the other. Their reaction is much slower than a reaction between two small molecules colliding just as often. Use collision theory to explain why.</a:t>
            </a:r>
            <a:endParaRPr lang="en-US" sz="1250" dirty="0"/>
          </a:p>
        </p:txBody>
      </p:sp>
      <p:sp>
        <p:nvSpPr>
          <p:cNvPr id="12" name="Shape 9"/>
          <p:cNvSpPr/>
          <p:nvPr/>
        </p:nvSpPr>
        <p:spPr>
          <a:xfrm>
            <a:off x="457200" y="2331720"/>
            <a:ext cx="8229600" cy="2240280"/>
          </a:xfrm>
          <a:prstGeom prst="roundRect">
            <a:avLst>
              <a:gd name="adj" fmla="val 3265"/>
            </a:avLst>
          </a:prstGeom>
          <a:solidFill>
            <a:srgbClr val="FBEFD9"/>
          </a:solidFill>
          <a:ln w="9525">
            <a:solidFill>
              <a:srgbClr val="FBEFD9"/>
            </a:solidFill>
            <a:prstDash val="solid"/>
          </a:ln>
        </p:spPr>
      </p:sp>
      <p:sp>
        <p:nvSpPr>
          <p:cNvPr id="13" name="Text 10"/>
          <p:cNvSpPr txBox="1"/>
          <p:nvPr/>
        </p:nvSpPr>
        <p:spPr>
          <a:xfrm>
            <a:off x="640080" y="2423160"/>
            <a:ext cx="7863840" cy="2057400"/>
          </a:xfrm>
          <a:prstGeom prst="rect">
            <a:avLst/>
          </a:prstGeom>
          <a:noFill/>
          <a:ln/>
        </p:spPr>
        <p:txBody>
          <a:bodyPr wrap="square" lIns="0" tIns="0" rIns="0" bIns="0" rtlCol="0" anchor="t"/>
          <a:lstStyle/>
          <a:p>
            <a:pPr indent="0" marL="0">
              <a:buNone/>
            </a:pPr>
            <a:r>
              <a:rPr lang="en-US" sz="1100" b="1" dirty="0">
                <a:solidFill>
                  <a:srgbClr val="B86E00"/>
                </a:solidFill>
                <a:latin typeface="Calibri" pitchFamily="34" charset="0"/>
                <a:ea typeface="Calibri" pitchFamily="34" charset="-122"/>
                <a:cs typeface="Calibri" pitchFamily="34" charset="-120"/>
              </a:rPr>
              <a:t>Answer</a:t>
            </a:r>
            <a:endParaRPr lang="en-US" sz="1100" dirty="0"/>
          </a:p>
          <a:p>
            <a:pPr indent="0" marL="0">
              <a:buNone/>
            </a:pPr>
            <a:r>
              <a:rPr lang="en-US" sz="1200" dirty="0">
                <a:solidFill>
                  <a:srgbClr val="1B2A41"/>
                </a:solidFill>
                <a:latin typeface="Calibri" pitchFamily="34" charset="0"/>
                <a:ea typeface="Calibri" pitchFamily="34" charset="-122"/>
                <a:cs typeface="Calibri" pitchFamily="34" charset="-120"/>
              </a:rPr>
              <a:t>With large molecules, most collisions bring the </a:t>
            </a:r>
            <a:pPr indent="0" marL="0">
              <a:buNone/>
            </a:pPr>
            <a:r>
              <a:rPr lang="en-US" sz="1200" b="1" dirty="0">
                <a:solidFill>
                  <a:srgbClr val="1B2A41"/>
                </a:solidFill>
                <a:latin typeface="Calibri" pitchFamily="34" charset="0"/>
                <a:ea typeface="Calibri" pitchFamily="34" charset="-122"/>
                <a:cs typeface="Calibri" pitchFamily="34" charset="-120"/>
              </a:rPr>
              <a:t>wrong parts</a:t>
            </a:r>
            <a:pPr indent="0" marL="0">
              <a:buNone/>
            </a:pPr>
            <a:r>
              <a:rPr lang="en-US" sz="1200" dirty="0">
                <a:solidFill>
                  <a:srgbClr val="1B2A41"/>
                </a:solidFill>
                <a:latin typeface="Calibri" pitchFamily="34" charset="0"/>
                <a:ea typeface="Calibri" pitchFamily="34" charset="-122"/>
                <a:cs typeface="Calibri" pitchFamily="34" charset="-120"/>
              </a:rPr>
              <a:t> together. Only collisions in the </a:t>
            </a:r>
            <a:pPr indent="0" marL="0">
              <a:buNone/>
            </a:pPr>
            <a:r>
              <a:rPr lang="en-US" sz="1200" b="1" dirty="0">
                <a:solidFill>
                  <a:srgbClr val="1B2A41"/>
                </a:solidFill>
                <a:latin typeface="Calibri" pitchFamily="34" charset="0"/>
                <a:ea typeface="Calibri" pitchFamily="34" charset="-122"/>
                <a:cs typeface="Calibri" pitchFamily="34" charset="-120"/>
              </a:rPr>
              <a:t>right orientation</a:t>
            </a:r>
            <a:pPr indent="0" marL="0">
              <a:buNone/>
            </a:pPr>
            <a:r>
              <a:rPr lang="en-US" sz="1200" dirty="0">
                <a:solidFill>
                  <a:srgbClr val="1B2A41"/>
                </a:solidFill>
                <a:latin typeface="Calibri" pitchFamily="34" charset="0"/>
                <a:ea typeface="Calibri" pitchFamily="34" charset="-122"/>
                <a:cs typeface="Calibri" pitchFamily="34" charset="-120"/>
              </a:rPr>
              <a:t> (reactive groups touching, with enough energy) are effective, so a smaller fraction of collisions lead to reaction and the rate is lower.</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CR2-LO3</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Quick check</a:t>
            </a:r>
            <a:endParaRPr lang="en-US" sz="2000" dirty="0"/>
          </a:p>
        </p:txBody>
      </p:sp>
      <p:pic>
        <p:nvPicPr>
          <p:cNvPr id="7" name="Image 0" descr="/home/claude/build/mol/no.png">    </p:cNvPr>
          <p:cNvPicPr>
            <a:picLocks noChangeAspect="1"/>
          </p:cNvPicPr>
          <p:nvPr/>
        </p:nvPicPr>
        <p:blipFill>
          <a:blip r:embed="rId1"/>
          <a:stretch>
            <a:fillRect/>
          </a:stretch>
        </p:blipFill>
        <p:spPr>
          <a:xfrm>
            <a:off x="7967012" y="192024"/>
            <a:ext cx="799496"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Chemical Reactions II</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Text 7"/>
          <p:cNvSpPr txBox="1"/>
          <p:nvPr/>
        </p:nvSpPr>
        <p:spPr>
          <a:xfrm>
            <a:off x="457200" y="1188720"/>
            <a:ext cx="8229600" cy="640080"/>
          </a:xfrm>
          <a:prstGeom prst="rect">
            <a:avLst/>
          </a:prstGeom>
          <a:noFill/>
          <a:ln/>
        </p:spPr>
        <p:txBody>
          <a:bodyPr wrap="square" lIns="0" tIns="0" rIns="0" bIns="0" rtlCol="0" anchor="t"/>
          <a:lstStyle/>
          <a:p>
            <a:pPr indent="0" marL="0">
              <a:buNone/>
            </a:pPr>
            <a:r>
              <a:rPr lang="en-US" sz="1300" b="1" dirty="0">
                <a:solidFill>
                  <a:srgbClr val="1B2A41"/>
                </a:solidFill>
                <a:latin typeface="Calibri" pitchFamily="34" charset="0"/>
                <a:ea typeface="Calibri" pitchFamily="34" charset="-122"/>
                <a:cs typeface="Calibri" pitchFamily="34" charset="-120"/>
              </a:rPr>
              <a:t>According to collision theory, which collision is most likely to form products?</a:t>
            </a:r>
            <a:endParaRPr lang="en-US" sz="1300" dirty="0"/>
          </a:p>
        </p:txBody>
      </p:sp>
      <p:sp>
        <p:nvSpPr>
          <p:cNvPr id="11" name="Shape 8"/>
          <p:cNvSpPr/>
          <p:nvPr/>
        </p:nvSpPr>
        <p:spPr>
          <a:xfrm>
            <a:off x="457200" y="1965960"/>
            <a:ext cx="4023360" cy="594360"/>
          </a:xfrm>
          <a:prstGeom prst="roundRect">
            <a:avLst>
              <a:gd name="adj" fmla="val 12308"/>
            </a:avLst>
          </a:prstGeom>
          <a:solidFill>
            <a:srgbClr val="FFFFFF"/>
          </a:solidFill>
          <a:ln w="9525">
            <a:solidFill>
              <a:srgbClr val="D7E0E8"/>
            </a:solidFill>
            <a:prstDash val="solid"/>
          </a:ln>
        </p:spPr>
      </p:sp>
      <p:sp>
        <p:nvSpPr>
          <p:cNvPr id="12" name="Text 9"/>
          <p:cNvSpPr txBox="1"/>
          <p:nvPr/>
        </p:nvSpPr>
        <p:spPr>
          <a:xfrm>
            <a:off x="594360" y="196596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A   </a:t>
            </a:r>
            <a:pPr indent="0" marL="0">
              <a:buNone/>
            </a:pPr>
            <a:r>
              <a:rPr lang="en-US" sz="1150" dirty="0">
                <a:solidFill>
                  <a:srgbClr val="1B2A41"/>
                </a:solidFill>
                <a:latin typeface="Calibri" pitchFamily="34" charset="0"/>
                <a:ea typeface="Calibri" pitchFamily="34" charset="-122"/>
                <a:cs typeface="Calibri" pitchFamily="34" charset="-120"/>
              </a:rPr>
              <a:t>A slow collision in the correct orientation</a:t>
            </a:r>
            <a:endParaRPr lang="en-US" sz="1100" dirty="0"/>
          </a:p>
        </p:txBody>
      </p:sp>
      <p:sp>
        <p:nvSpPr>
          <p:cNvPr id="13" name="Shape 10"/>
          <p:cNvSpPr/>
          <p:nvPr/>
        </p:nvSpPr>
        <p:spPr>
          <a:xfrm>
            <a:off x="4663440" y="1965960"/>
            <a:ext cx="4023360" cy="594360"/>
          </a:xfrm>
          <a:prstGeom prst="roundRect">
            <a:avLst>
              <a:gd name="adj" fmla="val 12308"/>
            </a:avLst>
          </a:prstGeom>
          <a:solidFill>
            <a:srgbClr val="FFFFFF"/>
          </a:solidFill>
          <a:ln w="9525">
            <a:solidFill>
              <a:srgbClr val="D7E0E8"/>
            </a:solidFill>
            <a:prstDash val="solid"/>
          </a:ln>
        </p:spPr>
      </p:sp>
      <p:sp>
        <p:nvSpPr>
          <p:cNvPr id="14" name="Text 11"/>
          <p:cNvSpPr txBox="1"/>
          <p:nvPr/>
        </p:nvSpPr>
        <p:spPr>
          <a:xfrm>
            <a:off x="4800600" y="196596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B   </a:t>
            </a:r>
            <a:pPr indent="0" marL="0">
              <a:buNone/>
            </a:pPr>
            <a:r>
              <a:rPr lang="en-US" sz="1150" dirty="0">
                <a:solidFill>
                  <a:srgbClr val="1B2A41"/>
                </a:solidFill>
                <a:latin typeface="Calibri" pitchFamily="34" charset="0"/>
                <a:ea typeface="Calibri" pitchFamily="34" charset="-122"/>
                <a:cs typeface="Calibri" pitchFamily="34" charset="-120"/>
              </a:rPr>
              <a:t>A fast collision in the wrong orientation</a:t>
            </a:r>
            <a:endParaRPr lang="en-US" sz="1100" dirty="0"/>
          </a:p>
        </p:txBody>
      </p:sp>
      <p:sp>
        <p:nvSpPr>
          <p:cNvPr id="15" name="Shape 12"/>
          <p:cNvSpPr/>
          <p:nvPr/>
        </p:nvSpPr>
        <p:spPr>
          <a:xfrm>
            <a:off x="457200" y="2697480"/>
            <a:ext cx="4023360" cy="594360"/>
          </a:xfrm>
          <a:prstGeom prst="roundRect">
            <a:avLst>
              <a:gd name="adj" fmla="val 12308"/>
            </a:avLst>
          </a:prstGeom>
          <a:solidFill>
            <a:srgbClr val="FFFFFF"/>
          </a:solidFill>
          <a:ln w="9525">
            <a:solidFill>
              <a:srgbClr val="D7E0E8"/>
            </a:solidFill>
            <a:prstDash val="solid"/>
          </a:ln>
        </p:spPr>
      </p:sp>
      <p:sp>
        <p:nvSpPr>
          <p:cNvPr id="16" name="Text 13"/>
          <p:cNvSpPr txBox="1"/>
          <p:nvPr/>
        </p:nvSpPr>
        <p:spPr>
          <a:xfrm>
            <a:off x="594360" y="269748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C   </a:t>
            </a:r>
            <a:pPr indent="0" marL="0">
              <a:buNone/>
            </a:pPr>
            <a:r>
              <a:rPr lang="en-US" sz="1150" dirty="0">
                <a:solidFill>
                  <a:srgbClr val="1B2A41"/>
                </a:solidFill>
                <a:latin typeface="Calibri" pitchFamily="34" charset="0"/>
                <a:ea typeface="Calibri" pitchFamily="34" charset="-122"/>
                <a:cs typeface="Calibri" pitchFamily="34" charset="-120"/>
              </a:rPr>
              <a:t>A collision with energy ≥ E</a:t>
            </a:r>
            <a:pPr indent="0" marL="0">
              <a:buNone/>
            </a:pPr>
            <a:r>
              <a:rPr lang="en-US" sz="1150" baseline="-40000" dirty="0">
                <a:solidFill>
                  <a:srgbClr val="1B2A41"/>
                </a:solidFill>
                <a:latin typeface="Calibri" pitchFamily="34" charset="0"/>
                <a:ea typeface="Calibri" pitchFamily="34" charset="-122"/>
                <a:cs typeface="Calibri" pitchFamily="34" charset="-120"/>
              </a:rPr>
              <a:t>a</a:t>
            </a:r>
            <a:pPr indent="0" marL="0">
              <a:buNone/>
            </a:pPr>
            <a:r>
              <a:rPr lang="en-US" sz="1150" dirty="0">
                <a:solidFill>
                  <a:srgbClr val="1B2A41"/>
                </a:solidFill>
                <a:latin typeface="Calibri" pitchFamily="34" charset="0"/>
                <a:ea typeface="Calibri" pitchFamily="34" charset="-122"/>
                <a:cs typeface="Calibri" pitchFamily="34" charset="-120"/>
              </a:rPr>
              <a:t> in the correct orientation</a:t>
            </a:r>
            <a:endParaRPr lang="en-US" sz="1100" dirty="0"/>
          </a:p>
        </p:txBody>
      </p:sp>
      <p:sp>
        <p:nvSpPr>
          <p:cNvPr id="17" name="Shape 14"/>
          <p:cNvSpPr/>
          <p:nvPr/>
        </p:nvSpPr>
        <p:spPr>
          <a:xfrm>
            <a:off x="4663440" y="2697480"/>
            <a:ext cx="4023360" cy="594360"/>
          </a:xfrm>
          <a:prstGeom prst="roundRect">
            <a:avLst>
              <a:gd name="adj" fmla="val 12308"/>
            </a:avLst>
          </a:prstGeom>
          <a:solidFill>
            <a:srgbClr val="FFFFFF"/>
          </a:solidFill>
          <a:ln w="9525">
            <a:solidFill>
              <a:srgbClr val="D7E0E8"/>
            </a:solidFill>
            <a:prstDash val="solid"/>
          </a:ln>
        </p:spPr>
      </p:sp>
      <p:sp>
        <p:nvSpPr>
          <p:cNvPr id="18" name="Text 15"/>
          <p:cNvSpPr txBox="1"/>
          <p:nvPr/>
        </p:nvSpPr>
        <p:spPr>
          <a:xfrm>
            <a:off x="4800600" y="269748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D   </a:t>
            </a:r>
            <a:pPr indent="0" marL="0">
              <a:buNone/>
            </a:pPr>
            <a:r>
              <a:rPr lang="en-US" sz="1150" dirty="0">
                <a:solidFill>
                  <a:srgbClr val="1B2A41"/>
                </a:solidFill>
                <a:latin typeface="Calibri" pitchFamily="34" charset="0"/>
                <a:ea typeface="Calibri" pitchFamily="34" charset="-122"/>
                <a:cs typeface="Calibri" pitchFamily="34" charset="-120"/>
              </a:rPr>
              <a:t>Any collision between reactant particles</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CR2-LO3</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Quick check · answer</a:t>
            </a:r>
            <a:endParaRPr lang="en-US" sz="2000" dirty="0"/>
          </a:p>
        </p:txBody>
      </p:sp>
      <p:pic>
        <p:nvPicPr>
          <p:cNvPr id="7" name="Image 0" descr="/home/claude/build/mol/no.png">    </p:cNvPr>
          <p:cNvPicPr>
            <a:picLocks noChangeAspect="1"/>
          </p:cNvPicPr>
          <p:nvPr/>
        </p:nvPicPr>
        <p:blipFill>
          <a:blip r:embed="rId1"/>
          <a:stretch>
            <a:fillRect/>
          </a:stretch>
        </p:blipFill>
        <p:spPr>
          <a:xfrm>
            <a:off x="7967012" y="192024"/>
            <a:ext cx="799496"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Chemical Reactions II</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Text 7"/>
          <p:cNvSpPr txBox="1"/>
          <p:nvPr/>
        </p:nvSpPr>
        <p:spPr>
          <a:xfrm>
            <a:off x="457200" y="1188720"/>
            <a:ext cx="8229600" cy="640080"/>
          </a:xfrm>
          <a:prstGeom prst="rect">
            <a:avLst/>
          </a:prstGeom>
          <a:noFill/>
          <a:ln/>
        </p:spPr>
        <p:txBody>
          <a:bodyPr wrap="square" lIns="0" tIns="0" rIns="0" bIns="0" rtlCol="0" anchor="t"/>
          <a:lstStyle/>
          <a:p>
            <a:pPr indent="0" marL="0">
              <a:buNone/>
            </a:pPr>
            <a:r>
              <a:rPr lang="en-US" sz="1300" b="1" dirty="0">
                <a:solidFill>
                  <a:srgbClr val="1B2A41"/>
                </a:solidFill>
                <a:latin typeface="Calibri" pitchFamily="34" charset="0"/>
                <a:ea typeface="Calibri" pitchFamily="34" charset="-122"/>
                <a:cs typeface="Calibri" pitchFamily="34" charset="-120"/>
              </a:rPr>
              <a:t>According to collision theory, which collision is most likely to form products?</a:t>
            </a:r>
            <a:endParaRPr lang="en-US" sz="1300" dirty="0"/>
          </a:p>
        </p:txBody>
      </p:sp>
      <p:sp>
        <p:nvSpPr>
          <p:cNvPr id="11" name="Shape 8"/>
          <p:cNvSpPr/>
          <p:nvPr/>
        </p:nvSpPr>
        <p:spPr>
          <a:xfrm>
            <a:off x="457200" y="1965960"/>
            <a:ext cx="4023360" cy="594360"/>
          </a:xfrm>
          <a:prstGeom prst="roundRect">
            <a:avLst>
              <a:gd name="adj" fmla="val 12308"/>
            </a:avLst>
          </a:prstGeom>
          <a:solidFill>
            <a:srgbClr val="FFFFFF"/>
          </a:solidFill>
          <a:ln w="9525">
            <a:solidFill>
              <a:srgbClr val="D7E0E8"/>
            </a:solidFill>
            <a:prstDash val="solid"/>
          </a:ln>
        </p:spPr>
      </p:sp>
      <p:sp>
        <p:nvSpPr>
          <p:cNvPr id="12" name="Text 9"/>
          <p:cNvSpPr txBox="1"/>
          <p:nvPr/>
        </p:nvSpPr>
        <p:spPr>
          <a:xfrm>
            <a:off x="594360" y="196596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A   </a:t>
            </a:r>
            <a:pPr indent="0" marL="0">
              <a:buNone/>
            </a:pPr>
            <a:r>
              <a:rPr lang="en-US" sz="1150" dirty="0">
                <a:solidFill>
                  <a:srgbClr val="1B2A41"/>
                </a:solidFill>
                <a:latin typeface="Calibri" pitchFamily="34" charset="0"/>
                <a:ea typeface="Calibri" pitchFamily="34" charset="-122"/>
                <a:cs typeface="Calibri" pitchFamily="34" charset="-120"/>
              </a:rPr>
              <a:t>A slow collision in the correct orientation</a:t>
            </a:r>
            <a:endParaRPr lang="en-US" sz="1100" dirty="0"/>
          </a:p>
        </p:txBody>
      </p:sp>
      <p:sp>
        <p:nvSpPr>
          <p:cNvPr id="13" name="Shape 10"/>
          <p:cNvSpPr/>
          <p:nvPr/>
        </p:nvSpPr>
        <p:spPr>
          <a:xfrm>
            <a:off x="4663440" y="1965960"/>
            <a:ext cx="4023360" cy="594360"/>
          </a:xfrm>
          <a:prstGeom prst="roundRect">
            <a:avLst>
              <a:gd name="adj" fmla="val 12308"/>
            </a:avLst>
          </a:prstGeom>
          <a:solidFill>
            <a:srgbClr val="FFFFFF"/>
          </a:solidFill>
          <a:ln w="9525">
            <a:solidFill>
              <a:srgbClr val="D7E0E8"/>
            </a:solidFill>
            <a:prstDash val="solid"/>
          </a:ln>
        </p:spPr>
      </p:sp>
      <p:sp>
        <p:nvSpPr>
          <p:cNvPr id="14" name="Text 11"/>
          <p:cNvSpPr txBox="1"/>
          <p:nvPr/>
        </p:nvSpPr>
        <p:spPr>
          <a:xfrm>
            <a:off x="4800600" y="196596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B   </a:t>
            </a:r>
            <a:pPr indent="0" marL="0">
              <a:buNone/>
            </a:pPr>
            <a:r>
              <a:rPr lang="en-US" sz="1150" dirty="0">
                <a:solidFill>
                  <a:srgbClr val="1B2A41"/>
                </a:solidFill>
                <a:latin typeface="Calibri" pitchFamily="34" charset="0"/>
                <a:ea typeface="Calibri" pitchFamily="34" charset="-122"/>
                <a:cs typeface="Calibri" pitchFamily="34" charset="-120"/>
              </a:rPr>
              <a:t>A fast collision in the wrong orientation</a:t>
            </a:r>
            <a:endParaRPr lang="en-US" sz="1100" dirty="0"/>
          </a:p>
        </p:txBody>
      </p:sp>
      <p:sp>
        <p:nvSpPr>
          <p:cNvPr id="15" name="Shape 12"/>
          <p:cNvSpPr/>
          <p:nvPr/>
        </p:nvSpPr>
        <p:spPr>
          <a:xfrm>
            <a:off x="457200" y="2697480"/>
            <a:ext cx="4023360" cy="594360"/>
          </a:xfrm>
          <a:prstGeom prst="roundRect">
            <a:avLst>
              <a:gd name="adj" fmla="val 12308"/>
            </a:avLst>
          </a:prstGeom>
          <a:solidFill>
            <a:srgbClr val="E3F3E9"/>
          </a:solidFill>
          <a:ln w="9525">
            <a:solidFill>
              <a:srgbClr val="2E7D4F"/>
            </a:solidFill>
            <a:prstDash val="solid"/>
          </a:ln>
        </p:spPr>
      </p:sp>
      <p:sp>
        <p:nvSpPr>
          <p:cNvPr id="16" name="Text 13"/>
          <p:cNvSpPr txBox="1"/>
          <p:nvPr/>
        </p:nvSpPr>
        <p:spPr>
          <a:xfrm>
            <a:off x="594360" y="269748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C   </a:t>
            </a:r>
            <a:pPr indent="0" marL="0">
              <a:buNone/>
            </a:pPr>
            <a:r>
              <a:rPr lang="en-US" sz="1150" dirty="0">
                <a:solidFill>
                  <a:srgbClr val="1B2A41"/>
                </a:solidFill>
                <a:latin typeface="Calibri" pitchFamily="34" charset="0"/>
                <a:ea typeface="Calibri" pitchFamily="34" charset="-122"/>
                <a:cs typeface="Calibri" pitchFamily="34" charset="-120"/>
              </a:rPr>
              <a:t>A collision with energy ≥ E</a:t>
            </a:r>
            <a:pPr indent="0" marL="0">
              <a:buNone/>
            </a:pPr>
            <a:r>
              <a:rPr lang="en-US" sz="1150" baseline="-40000" dirty="0">
                <a:solidFill>
                  <a:srgbClr val="1B2A41"/>
                </a:solidFill>
                <a:latin typeface="Calibri" pitchFamily="34" charset="0"/>
                <a:ea typeface="Calibri" pitchFamily="34" charset="-122"/>
                <a:cs typeface="Calibri" pitchFamily="34" charset="-120"/>
              </a:rPr>
              <a:t>a</a:t>
            </a:r>
            <a:pPr indent="0" marL="0">
              <a:buNone/>
            </a:pPr>
            <a:r>
              <a:rPr lang="en-US" sz="1150" dirty="0">
                <a:solidFill>
                  <a:srgbClr val="1B2A41"/>
                </a:solidFill>
                <a:latin typeface="Calibri" pitchFamily="34" charset="0"/>
                <a:ea typeface="Calibri" pitchFamily="34" charset="-122"/>
                <a:cs typeface="Calibri" pitchFamily="34" charset="-120"/>
              </a:rPr>
              <a:t> in the correct orientation</a:t>
            </a:r>
            <a:endParaRPr lang="en-US" sz="1100" dirty="0"/>
          </a:p>
        </p:txBody>
      </p:sp>
      <p:sp>
        <p:nvSpPr>
          <p:cNvPr id="17" name="Shape 14"/>
          <p:cNvSpPr/>
          <p:nvPr/>
        </p:nvSpPr>
        <p:spPr>
          <a:xfrm>
            <a:off x="4663440" y="2697480"/>
            <a:ext cx="4023360" cy="594360"/>
          </a:xfrm>
          <a:prstGeom prst="roundRect">
            <a:avLst>
              <a:gd name="adj" fmla="val 12308"/>
            </a:avLst>
          </a:prstGeom>
          <a:solidFill>
            <a:srgbClr val="FFFFFF"/>
          </a:solidFill>
          <a:ln w="9525">
            <a:solidFill>
              <a:srgbClr val="D7E0E8"/>
            </a:solidFill>
            <a:prstDash val="solid"/>
          </a:ln>
        </p:spPr>
      </p:sp>
      <p:sp>
        <p:nvSpPr>
          <p:cNvPr id="18" name="Text 15"/>
          <p:cNvSpPr txBox="1"/>
          <p:nvPr/>
        </p:nvSpPr>
        <p:spPr>
          <a:xfrm>
            <a:off x="4800600" y="269748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D   </a:t>
            </a:r>
            <a:pPr indent="0" marL="0">
              <a:buNone/>
            </a:pPr>
            <a:r>
              <a:rPr lang="en-US" sz="1150" dirty="0">
                <a:solidFill>
                  <a:srgbClr val="1B2A41"/>
                </a:solidFill>
                <a:latin typeface="Calibri" pitchFamily="34" charset="0"/>
                <a:ea typeface="Calibri" pitchFamily="34" charset="-122"/>
                <a:cs typeface="Calibri" pitchFamily="34" charset="-120"/>
              </a:rPr>
              <a:t>Any collision between reactant particles</a:t>
            </a:r>
            <a:endParaRPr lang="en-US" sz="1100" dirty="0"/>
          </a:p>
        </p:txBody>
      </p:sp>
      <p:sp>
        <p:nvSpPr>
          <p:cNvPr id="19" name="Text 16"/>
          <p:cNvSpPr txBox="1"/>
          <p:nvPr/>
        </p:nvSpPr>
        <p:spPr>
          <a:xfrm>
            <a:off x="457200" y="3520440"/>
            <a:ext cx="8229600" cy="731520"/>
          </a:xfrm>
          <a:prstGeom prst="rect">
            <a:avLst/>
          </a:prstGeom>
          <a:noFill/>
          <a:ln/>
        </p:spPr>
        <p:txBody>
          <a:bodyPr wrap="square" lIns="0" tIns="0" rIns="0" bIns="0" rtlCol="0" anchor="t"/>
          <a:lstStyle/>
          <a:p>
            <a:pPr indent="0" marL="0">
              <a:buNone/>
            </a:pPr>
            <a:r>
              <a:rPr lang="en-US" sz="1150" b="1" dirty="0">
                <a:solidFill>
                  <a:srgbClr val="1B2A41"/>
                </a:solidFill>
                <a:latin typeface="Calibri" pitchFamily="34" charset="0"/>
                <a:ea typeface="Calibri" pitchFamily="34" charset="-122"/>
                <a:cs typeface="Calibri" pitchFamily="34" charset="-120"/>
              </a:rPr>
              <a:t>Answer C. </a:t>
            </a:r>
            <a:pPr indent="0" marL="0">
              <a:buNone/>
            </a:pPr>
            <a:r>
              <a:rPr lang="en-US" sz="1150" dirty="0">
                <a:solidFill>
                  <a:srgbClr val="1B2A41"/>
                </a:solidFill>
                <a:latin typeface="Calibri" pitchFamily="34" charset="0"/>
                <a:ea typeface="Calibri" pitchFamily="34" charset="-122"/>
                <a:cs typeface="Calibri" pitchFamily="34" charset="-120"/>
              </a:rPr>
              <a:t>An effective collision needs both enough energy (≥ E</a:t>
            </a:r>
            <a:pPr indent="0" marL="0">
              <a:buNone/>
            </a:pPr>
            <a:r>
              <a:rPr lang="en-US" sz="1150" baseline="-40000" dirty="0">
                <a:solidFill>
                  <a:srgbClr val="1B2A41"/>
                </a:solidFill>
                <a:latin typeface="Calibri" pitchFamily="34" charset="0"/>
                <a:ea typeface="Calibri" pitchFamily="34" charset="-122"/>
                <a:cs typeface="Calibri" pitchFamily="34" charset="-120"/>
              </a:rPr>
              <a:t>a</a:t>
            </a:r>
            <a:pPr indent="0" marL="0">
              <a:buNone/>
            </a:pPr>
            <a:r>
              <a:rPr lang="en-US" sz="1150" dirty="0">
                <a:solidFill>
                  <a:srgbClr val="1B2A41"/>
                </a:solidFill>
                <a:latin typeface="Calibri" pitchFamily="34" charset="0"/>
                <a:ea typeface="Calibri" pitchFamily="34" charset="-122"/>
                <a:cs typeface="Calibri" pitchFamily="34" charset="-120"/>
              </a:rPr>
              <a:t>) and the correct orientation.</a:t>
            </a:r>
            <a:endParaRPr lang="en-US" sz="11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B2A41"/>
        </a:solidFill>
      </p:bgPr>
    </p:bg>
    <p:spTree>
      <p:nvGrpSpPr>
        <p:cNvPr id="1" name=""/>
        <p:cNvGrpSpPr/>
        <p:nvPr/>
      </p:nvGrpSpPr>
      <p:grpSpPr>
        <a:xfrm>
          <a:off x="0" y="0"/>
          <a:ext cx="0" cy="0"/>
          <a:chOff x="0" y="0"/>
          <a:chExt cx="0" cy="0"/>
        </a:xfrm>
      </p:grpSpPr>
      <p:sp>
        <p:nvSpPr>
          <p:cNvPr id="2" name="Text 0"/>
          <p:cNvSpPr txBox="1"/>
          <p:nvPr/>
        </p:nvSpPr>
        <p:spPr>
          <a:xfrm>
            <a:off x="548640" y="640080"/>
            <a:ext cx="1371600" cy="1005840"/>
          </a:xfrm>
          <a:prstGeom prst="rect">
            <a:avLst/>
          </a:prstGeom>
          <a:noFill/>
          <a:ln/>
        </p:spPr>
        <p:txBody>
          <a:bodyPr wrap="square" lIns="0" tIns="0" rIns="0" bIns="0" rtlCol="0" anchor="ctr"/>
          <a:lstStyle/>
          <a:p>
            <a:pPr indent="0" marL="0">
              <a:buNone/>
            </a:pPr>
            <a:r>
              <a:rPr lang="en-US" sz="6600" b="1" dirty="0">
                <a:solidFill>
                  <a:srgbClr val="F0B24A"/>
                </a:solidFill>
                <a:latin typeface="Calibri" pitchFamily="34" charset="0"/>
                <a:ea typeface="Calibri" pitchFamily="34" charset="-122"/>
                <a:cs typeface="Calibri" pitchFamily="34" charset="-120"/>
              </a:rPr>
              <a:t>4</a:t>
            </a:r>
            <a:endParaRPr lang="en-US" sz="6600" dirty="0"/>
          </a:p>
        </p:txBody>
      </p:sp>
      <p:sp>
        <p:nvSpPr>
          <p:cNvPr id="3" name="Text 1"/>
          <p:cNvSpPr txBox="1"/>
          <p:nvPr/>
        </p:nvSpPr>
        <p:spPr>
          <a:xfrm>
            <a:off x="548640" y="1691640"/>
            <a:ext cx="2743200" cy="228600"/>
          </a:xfrm>
          <a:prstGeom prst="rect">
            <a:avLst/>
          </a:prstGeom>
          <a:noFill/>
          <a:ln/>
        </p:spPr>
        <p:txBody>
          <a:bodyPr wrap="square" lIns="0" tIns="0" rIns="0" bIns="0" rtlCol="0" anchor="ctr"/>
          <a:lstStyle/>
          <a:p>
            <a:pPr indent="0" marL="0">
              <a:buNone/>
            </a:pPr>
            <a:r>
              <a:rPr lang="en-US" sz="900" b="1" spc="200" kern="0" dirty="0">
                <a:solidFill>
                  <a:srgbClr val="A3B1C2"/>
                </a:solidFill>
                <a:latin typeface="Calibri" pitchFamily="34" charset="0"/>
                <a:ea typeface="Calibri" pitchFamily="34" charset="-122"/>
                <a:cs typeface="Calibri" pitchFamily="34" charset="-120"/>
              </a:rPr>
              <a:t>PART 4</a:t>
            </a:r>
            <a:endParaRPr lang="en-US" sz="900" dirty="0"/>
          </a:p>
        </p:txBody>
      </p:sp>
      <p:sp>
        <p:nvSpPr>
          <p:cNvPr id="4" name="Text 2"/>
          <p:cNvSpPr txBox="1"/>
          <p:nvPr/>
        </p:nvSpPr>
        <p:spPr>
          <a:xfrm>
            <a:off x="548640" y="1920240"/>
            <a:ext cx="6400800" cy="822960"/>
          </a:xfrm>
          <a:prstGeom prst="rect">
            <a:avLst/>
          </a:prstGeom>
          <a:noFill/>
          <a:ln/>
        </p:spPr>
        <p:txBody>
          <a:bodyPr wrap="square" lIns="0" tIns="0" rIns="0" bIns="0" rtlCol="0" anchor="t"/>
          <a:lstStyle/>
          <a:p>
            <a:pPr indent="0" marL="0">
              <a:buNone/>
            </a:pPr>
            <a:r>
              <a:rPr lang="en-US" sz="2600" b="1" dirty="0">
                <a:solidFill>
                  <a:srgbClr val="FFFFFF"/>
                </a:solidFill>
                <a:latin typeface="Calibri" pitchFamily="34" charset="0"/>
                <a:ea typeface="Calibri" pitchFamily="34" charset="-122"/>
                <a:cs typeface="Calibri" pitchFamily="34" charset="-120"/>
              </a:rPr>
              <a:t>Reaction rates</a:t>
            </a:r>
            <a:endParaRPr lang="en-US" sz="2600" dirty="0"/>
          </a:p>
        </p:txBody>
      </p:sp>
      <p:sp>
        <p:nvSpPr>
          <p:cNvPr id="5" name="Text 3"/>
          <p:cNvSpPr txBox="1"/>
          <p:nvPr/>
        </p:nvSpPr>
        <p:spPr>
          <a:xfrm>
            <a:off x="548640" y="2788920"/>
            <a:ext cx="6400800" cy="548640"/>
          </a:xfrm>
          <a:prstGeom prst="rect">
            <a:avLst/>
          </a:prstGeom>
          <a:noFill/>
          <a:ln/>
        </p:spPr>
        <p:txBody>
          <a:bodyPr wrap="square" lIns="0" tIns="0" rIns="0" bIns="0" rtlCol="0" anchor="t"/>
          <a:lstStyle/>
          <a:p>
            <a:pPr indent="0" marL="0">
              <a:buNone/>
            </a:pPr>
            <a:r>
              <a:rPr lang="en-US" sz="1200" dirty="0">
                <a:solidFill>
                  <a:srgbClr val="A3B1C2"/>
                </a:solidFill>
                <a:latin typeface="Calibri" pitchFamily="34" charset="0"/>
                <a:ea typeface="Calibri" pitchFamily="34" charset="-122"/>
                <a:cs typeface="Calibri" pitchFamily="34" charset="-120"/>
              </a:rPr>
              <a:t>How fast reactants are used up, and the four things that change it.</a:t>
            </a:r>
            <a:endParaRPr lang="en-US" sz="1200" dirty="0"/>
          </a:p>
        </p:txBody>
      </p:sp>
      <p:sp>
        <p:nvSpPr>
          <p:cNvPr id="6" name="Text 4"/>
          <p:cNvSpPr txBox="1"/>
          <p:nvPr/>
        </p:nvSpPr>
        <p:spPr>
          <a:xfrm>
            <a:off x="548640" y="3520440"/>
            <a:ext cx="5486400" cy="274320"/>
          </a:xfrm>
          <a:prstGeom prst="rect">
            <a:avLst/>
          </a:prstGeom>
          <a:noFill/>
          <a:ln/>
        </p:spPr>
        <p:txBody>
          <a:bodyPr wrap="square" lIns="0" tIns="0" rIns="0" bIns="0" rtlCol="0" anchor="ctr"/>
          <a:lstStyle/>
          <a:p>
            <a:pPr indent="0" marL="0">
              <a:buNone/>
            </a:pPr>
            <a:r>
              <a:rPr lang="en-US" sz="900" b="1" dirty="0">
                <a:solidFill>
                  <a:srgbClr val="7DB6E3"/>
                </a:solidFill>
                <a:latin typeface="Calibri" pitchFamily="34" charset="0"/>
                <a:ea typeface="Calibri" pitchFamily="34" charset="-122"/>
                <a:cs typeface="Calibri" pitchFamily="34" charset="-120"/>
              </a:rPr>
              <a:t>CR2-LO4 · Ball 6.S</a:t>
            </a:r>
            <a:endParaRPr lang="en-US" sz="900" dirty="0"/>
          </a:p>
        </p:txBody>
      </p:sp>
      <p:pic>
        <p:nvPicPr>
          <p:cNvPr id="7" name="Image 0" descr="/home/claude/build/mol/h2o2.png">    </p:cNvPr>
          <p:cNvPicPr>
            <a:picLocks noChangeAspect="1"/>
          </p:cNvPicPr>
          <p:nvPr/>
        </p:nvPicPr>
        <p:blipFill>
          <a:blip r:embed="rId1"/>
          <a:stretch>
            <a:fillRect/>
          </a:stretch>
        </p:blipFill>
        <p:spPr>
          <a:xfrm>
            <a:off x="6877703" y="640080"/>
            <a:ext cx="692115" cy="914400"/>
          </a:xfrm>
          <a:prstGeom prst="rect">
            <a:avLst/>
          </a:prstGeom>
        </p:spPr>
      </p:pic>
      <p:pic>
        <p:nvPicPr>
          <p:cNvPr id="8" name="Image 1" descr="/home/claude/build/mol/water.png">    </p:cNvPr>
          <p:cNvPicPr>
            <a:picLocks noChangeAspect="1"/>
          </p:cNvPicPr>
          <p:nvPr/>
        </p:nvPicPr>
        <p:blipFill>
          <a:blip r:embed="rId2"/>
          <a:stretch>
            <a:fillRect/>
          </a:stretch>
        </p:blipFill>
        <p:spPr>
          <a:xfrm>
            <a:off x="7458726" y="2834640"/>
            <a:ext cx="810228" cy="548640"/>
          </a:xfrm>
          <a:prstGeom prst="rect">
            <a:avLst/>
          </a:prstGeom>
        </p:spPr>
      </p:pic>
      <p:pic>
        <p:nvPicPr>
          <p:cNvPr id="9" name="Image 2" descr="/home/claude/build/mol/hcl.png">    </p:cNvPr>
          <p:cNvPicPr>
            <a:picLocks noChangeAspect="1"/>
          </p:cNvPicPr>
          <p:nvPr/>
        </p:nvPicPr>
        <p:blipFill>
          <a:blip r:embed="rId3"/>
          <a:stretch>
            <a:fillRect/>
          </a:stretch>
        </p:blipFill>
        <p:spPr>
          <a:xfrm>
            <a:off x="5607050" y="3794760"/>
            <a:ext cx="855980" cy="457200"/>
          </a:xfrm>
          <a:prstGeom prst="rect">
            <a:avLst/>
          </a:prstGeom>
        </p:spPr>
      </p:pic>
      <p:sp>
        <p:nvSpPr>
          <p:cNvPr id="10"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A3B1C2"/>
                </a:solidFill>
                <a:latin typeface="Calibri" pitchFamily="34" charset="0"/>
                <a:ea typeface="Calibri" pitchFamily="34" charset="-122"/>
                <a:cs typeface="Calibri" pitchFamily="34" charset="-120"/>
              </a:rPr>
              <a:t>PHD115 · Chemical Reactions II</a:t>
            </a:r>
            <a:endParaRPr lang="en-US" sz="800" dirty="0"/>
          </a:p>
        </p:txBody>
      </p:sp>
      <p:sp>
        <p:nvSpPr>
          <p:cNvPr id="11"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F0B24A"/>
                </a:solidFill>
                <a:latin typeface="Calibri" pitchFamily="34" charset="0"/>
                <a:ea typeface="Calibri" pitchFamily="34" charset="-122"/>
                <a:cs typeface="Calibri" pitchFamily="34" charset="-120"/>
              </a:rPr>
              <a:t>Dr. NAM · Faculty of Pharmacy, UiTM Bertam, Penang</a:t>
            </a:r>
            <a:endParaRPr lang="en-US" sz="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CR2-LO4</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What is a reaction rate?</a:t>
            </a:r>
            <a:endParaRPr lang="en-US" sz="2000" dirty="0"/>
          </a:p>
        </p:txBody>
      </p:sp>
      <p:pic>
        <p:nvPicPr>
          <p:cNvPr id="7" name="Image 0" descr="/home/claude/build/mol/h2o2.png">    </p:cNvPr>
          <p:cNvPicPr>
            <a:picLocks noChangeAspect="1"/>
          </p:cNvPicPr>
          <p:nvPr/>
        </p:nvPicPr>
        <p:blipFill>
          <a:blip r:embed="rId1"/>
          <a:stretch>
            <a:fillRect/>
          </a:stretch>
        </p:blipFill>
        <p:spPr>
          <a:xfrm>
            <a:off x="8221416" y="192024"/>
            <a:ext cx="290688"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Chemical Reactions II</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pic>
        <p:nvPicPr>
          <p:cNvPr id="10" name="Image 1" descr="/home/claude/build/png/rate.png">    </p:cNvPr>
          <p:cNvPicPr>
            <a:picLocks noChangeAspect="1"/>
          </p:cNvPicPr>
          <p:nvPr/>
        </p:nvPicPr>
        <p:blipFill>
          <a:blip r:embed="rId2"/>
          <a:stretch>
            <a:fillRect/>
          </a:stretch>
        </p:blipFill>
        <p:spPr>
          <a:xfrm>
            <a:off x="457200" y="1280160"/>
            <a:ext cx="4389120" cy="2743200"/>
          </a:xfrm>
          <a:prstGeom prst="rect">
            <a:avLst/>
          </a:prstGeom>
        </p:spPr>
      </p:pic>
      <p:sp>
        <p:nvSpPr>
          <p:cNvPr id="11" name="Text 7"/>
          <p:cNvSpPr txBox="1"/>
          <p:nvPr/>
        </p:nvSpPr>
        <p:spPr>
          <a:xfrm>
            <a:off x="457200" y="4059936"/>
            <a:ext cx="4389120" cy="292608"/>
          </a:xfrm>
          <a:prstGeom prst="rect">
            <a:avLst/>
          </a:prstGeom>
          <a:noFill/>
          <a:ln/>
        </p:spPr>
        <p:txBody>
          <a:bodyPr wrap="square" lIns="0" tIns="0" rIns="0" bIns="0" rtlCol="0" anchor="t"/>
          <a:lstStyle/>
          <a:p>
            <a:pPr algn="ctr" indent="0" marL="0">
              <a:buNone/>
            </a:pPr>
            <a:r>
              <a:rPr lang="en-US" sz="750" i="1" dirty="0">
                <a:solidFill>
                  <a:srgbClr val="56657A"/>
                </a:solidFill>
                <a:latin typeface="Calibri" pitchFamily="34" charset="0"/>
                <a:ea typeface="Calibri" pitchFamily="34" charset="-122"/>
                <a:cs typeface="Calibri" pitchFamily="34" charset="-120"/>
              </a:rPr>
              <a:t>Reactant and product concentrations during a reaction (drawn by Dr. NAM)</a:t>
            </a:r>
            <a:endParaRPr lang="en-US" sz="750" dirty="0"/>
          </a:p>
        </p:txBody>
      </p:sp>
      <p:sp>
        <p:nvSpPr>
          <p:cNvPr id="12" name="Text 8"/>
          <p:cNvSpPr txBox="1"/>
          <p:nvPr/>
        </p:nvSpPr>
        <p:spPr>
          <a:xfrm>
            <a:off x="5120640" y="1280160"/>
            <a:ext cx="3566160" cy="3383280"/>
          </a:xfrm>
          <a:prstGeom prst="rect">
            <a:avLst/>
          </a:prstGeom>
          <a:noFill/>
          <a:ln/>
        </p:spPr>
        <p:txBody>
          <a:bodyPr wrap="square" lIns="0" tIns="0" rIns="0" bIns="0" rtlCol="0" anchor="t"/>
          <a:lstStyle/>
          <a:p>
            <a:pPr marL="177800" indent="-177800">
              <a:spcAft>
                <a:spcPts val="600"/>
              </a:spcAft>
              <a:buSzPct val="100000"/>
              <a:buChar char="•"/>
            </a:pPr>
            <a:r>
              <a:rPr lang="en-US" sz="1250" b="1" dirty="0">
                <a:solidFill>
                  <a:srgbClr val="1B2A41"/>
                </a:solidFill>
                <a:latin typeface="Calibri" pitchFamily="34" charset="0"/>
                <a:ea typeface="Calibri" pitchFamily="34" charset="-122"/>
                <a:cs typeface="Calibri" pitchFamily="34" charset="-120"/>
              </a:rPr>
              <a:t>Rate</a:t>
            </a:r>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 = change in concentration ÷ change in time.</a:t>
            </a:r>
            <a:endParaRPr lang="en-US" sz="1250" dirty="0"/>
          </a:p>
          <a:p>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Units: mol/L per second (M/s), or per minute or hour for slow reactions.</a:t>
            </a:r>
            <a:endParaRPr lang="en-US" sz="1250" dirty="0"/>
          </a:p>
          <a:p>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Measured as the loss of a reactant or the gain of a product (gas volume, colour, mass).</a:t>
            </a:r>
            <a:endParaRPr lang="en-US" sz="1250" dirty="0"/>
          </a:p>
          <a:p>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Rate is fastest at the start and slows as the reactants are used up (fewer collisions).</a:t>
            </a:r>
            <a:endParaRPr lang="en-US" sz="12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CR2-LO4</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Example 4.1 · Average rate</a:t>
            </a:r>
            <a:endParaRPr lang="en-US" sz="2000" dirty="0"/>
          </a:p>
        </p:txBody>
      </p:sp>
      <p:pic>
        <p:nvPicPr>
          <p:cNvPr id="7" name="Image 0" descr="/home/claude/build/mol/h2o2.png">    </p:cNvPr>
          <p:cNvPicPr>
            <a:picLocks noChangeAspect="1"/>
          </p:cNvPicPr>
          <p:nvPr/>
        </p:nvPicPr>
        <p:blipFill>
          <a:blip r:embed="rId1"/>
          <a:stretch>
            <a:fillRect/>
          </a:stretch>
        </p:blipFill>
        <p:spPr>
          <a:xfrm>
            <a:off x="8221416" y="192024"/>
            <a:ext cx="290688"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Chemical Reactions II</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Shape 7"/>
          <p:cNvSpPr/>
          <p:nvPr/>
        </p:nvSpPr>
        <p:spPr>
          <a:xfrm>
            <a:off x="457200" y="1234440"/>
            <a:ext cx="8229600" cy="777240"/>
          </a:xfrm>
          <a:prstGeom prst="roundRect">
            <a:avLst>
              <a:gd name="adj" fmla="val 9412"/>
            </a:avLst>
          </a:prstGeom>
          <a:solidFill>
            <a:srgbClr val="FFFFFF"/>
          </a:solidFill>
          <a:ln w="9525">
            <a:solidFill>
              <a:srgbClr val="D7E0E8"/>
            </a:solidFill>
            <a:prstDash val="solid"/>
          </a:ln>
        </p:spPr>
      </p:sp>
      <p:sp>
        <p:nvSpPr>
          <p:cNvPr id="11" name="Text 8"/>
          <p:cNvSpPr txBox="1"/>
          <p:nvPr/>
        </p:nvSpPr>
        <p:spPr>
          <a:xfrm>
            <a:off x="594360" y="1280160"/>
            <a:ext cx="7955280" cy="685800"/>
          </a:xfrm>
          <a:prstGeom prst="rect">
            <a:avLst/>
          </a:prstGeom>
          <a:noFill/>
          <a:ln/>
        </p:spPr>
        <p:txBody>
          <a:bodyPr wrap="square" lIns="0" tIns="0" rIns="0" bIns="0" rtlCol="0" anchor="ctr"/>
          <a:lstStyle/>
          <a:p>
            <a:pPr indent="0" marL="0">
              <a:buNone/>
            </a:pPr>
            <a:r>
              <a:rPr lang="en-US" sz="1200" dirty="0">
                <a:solidFill>
                  <a:srgbClr val="1B2A41"/>
                </a:solidFill>
                <a:latin typeface="Calibri" pitchFamily="34" charset="0"/>
                <a:ea typeface="Calibri" pitchFamily="34" charset="-122"/>
                <a:cs typeface="Calibri" pitchFamily="34" charset="-120"/>
              </a:rPr>
              <a:t>In the decomposition 2H</a:t>
            </a:r>
            <a:pPr indent="0" marL="0">
              <a:buNone/>
            </a:pPr>
            <a:r>
              <a:rPr lang="en-US" sz="1200" baseline="-40000" dirty="0">
                <a:solidFill>
                  <a:srgbClr val="1B2A41"/>
                </a:solidFill>
                <a:latin typeface="Calibri" pitchFamily="34" charset="0"/>
                <a:ea typeface="Calibri" pitchFamily="34" charset="-122"/>
                <a:cs typeface="Calibri" pitchFamily="34" charset="-120"/>
              </a:rPr>
              <a:t>2</a:t>
            </a:r>
            <a:pPr indent="0" marL="0">
              <a:buNone/>
            </a:pPr>
            <a:r>
              <a:rPr lang="en-US" sz="1200" dirty="0">
                <a:solidFill>
                  <a:srgbClr val="1B2A41"/>
                </a:solidFill>
                <a:latin typeface="Calibri" pitchFamily="34" charset="0"/>
                <a:ea typeface="Calibri" pitchFamily="34" charset="-122"/>
                <a:cs typeface="Calibri" pitchFamily="34" charset="-120"/>
              </a:rPr>
              <a:t>O</a:t>
            </a:r>
            <a:pPr indent="0" marL="0">
              <a:buNone/>
            </a:pPr>
            <a:r>
              <a:rPr lang="en-US" sz="1200" baseline="-40000" dirty="0">
                <a:solidFill>
                  <a:srgbClr val="1B2A41"/>
                </a:solidFill>
                <a:latin typeface="Calibri" pitchFamily="34" charset="0"/>
                <a:ea typeface="Calibri" pitchFamily="34" charset="-122"/>
                <a:cs typeface="Calibri" pitchFamily="34" charset="-120"/>
              </a:rPr>
              <a:t>2</a:t>
            </a:r>
            <a:pPr indent="0" marL="0">
              <a:buNone/>
            </a:pPr>
            <a:r>
              <a:rPr lang="en-US" sz="1200" dirty="0">
                <a:solidFill>
                  <a:srgbClr val="1B2A41"/>
                </a:solidFill>
                <a:latin typeface="Calibri" pitchFamily="34" charset="0"/>
                <a:ea typeface="Calibri" pitchFamily="34" charset="-122"/>
                <a:cs typeface="Calibri" pitchFamily="34" charset="-120"/>
              </a:rPr>
              <a:t>(aq) → 2H</a:t>
            </a:r>
            <a:pPr indent="0" marL="0">
              <a:buNone/>
            </a:pPr>
            <a:r>
              <a:rPr lang="en-US" sz="1200" baseline="-40000" dirty="0">
                <a:solidFill>
                  <a:srgbClr val="1B2A41"/>
                </a:solidFill>
                <a:latin typeface="Calibri" pitchFamily="34" charset="0"/>
                <a:ea typeface="Calibri" pitchFamily="34" charset="-122"/>
                <a:cs typeface="Calibri" pitchFamily="34" charset="-120"/>
              </a:rPr>
              <a:t>2</a:t>
            </a:r>
            <a:pPr indent="0" marL="0">
              <a:buNone/>
            </a:pPr>
            <a:r>
              <a:rPr lang="en-US" sz="1200" dirty="0">
                <a:solidFill>
                  <a:srgbClr val="1B2A41"/>
                </a:solidFill>
                <a:latin typeface="Calibri" pitchFamily="34" charset="0"/>
                <a:ea typeface="Calibri" pitchFamily="34" charset="-122"/>
                <a:cs typeface="Calibri" pitchFamily="34" charset="-120"/>
              </a:rPr>
              <a:t>O(ℓ) + O</a:t>
            </a:r>
            <a:pPr indent="0" marL="0">
              <a:buNone/>
            </a:pPr>
            <a:r>
              <a:rPr lang="en-US" sz="1200" baseline="-40000" dirty="0">
                <a:solidFill>
                  <a:srgbClr val="1B2A41"/>
                </a:solidFill>
                <a:latin typeface="Calibri" pitchFamily="34" charset="0"/>
                <a:ea typeface="Calibri" pitchFamily="34" charset="-122"/>
                <a:cs typeface="Calibri" pitchFamily="34" charset="-120"/>
              </a:rPr>
              <a:t>2</a:t>
            </a:r>
            <a:pPr indent="0" marL="0">
              <a:buNone/>
            </a:pPr>
            <a:r>
              <a:rPr lang="en-US" sz="1200" dirty="0">
                <a:solidFill>
                  <a:srgbClr val="1B2A41"/>
                </a:solidFill>
                <a:latin typeface="Calibri" pitchFamily="34" charset="0"/>
                <a:ea typeface="Calibri" pitchFamily="34" charset="-122"/>
                <a:cs typeface="Calibri" pitchFamily="34" charset="-120"/>
              </a:rPr>
              <a:t>(g), the concentration of H</a:t>
            </a:r>
            <a:pPr indent="0" marL="0">
              <a:buNone/>
            </a:pPr>
            <a:r>
              <a:rPr lang="en-US" sz="1200" baseline="-40000" dirty="0">
                <a:solidFill>
                  <a:srgbClr val="1B2A41"/>
                </a:solidFill>
                <a:latin typeface="Calibri" pitchFamily="34" charset="0"/>
                <a:ea typeface="Calibri" pitchFamily="34" charset="-122"/>
                <a:cs typeface="Calibri" pitchFamily="34" charset="-120"/>
              </a:rPr>
              <a:t>2</a:t>
            </a:r>
            <a:pPr indent="0" marL="0">
              <a:buNone/>
            </a:pPr>
            <a:r>
              <a:rPr lang="en-US" sz="1200" dirty="0">
                <a:solidFill>
                  <a:srgbClr val="1B2A41"/>
                </a:solidFill>
                <a:latin typeface="Calibri" pitchFamily="34" charset="0"/>
                <a:ea typeface="Calibri" pitchFamily="34" charset="-122"/>
                <a:cs typeface="Calibri" pitchFamily="34" charset="-120"/>
              </a:rPr>
              <a:t>O</a:t>
            </a:r>
            <a:pPr indent="0" marL="0">
              <a:buNone/>
            </a:pPr>
            <a:r>
              <a:rPr lang="en-US" sz="1200" baseline="-40000" dirty="0">
                <a:solidFill>
                  <a:srgbClr val="1B2A41"/>
                </a:solidFill>
                <a:latin typeface="Calibri" pitchFamily="34" charset="0"/>
                <a:ea typeface="Calibri" pitchFamily="34" charset="-122"/>
                <a:cs typeface="Calibri" pitchFamily="34" charset="-120"/>
              </a:rPr>
              <a:t>2</a:t>
            </a:r>
            <a:pPr indent="0" marL="0">
              <a:buNone/>
            </a:pPr>
            <a:r>
              <a:rPr lang="en-US" sz="1200" dirty="0">
                <a:solidFill>
                  <a:srgbClr val="1B2A41"/>
                </a:solidFill>
                <a:latin typeface="Calibri" pitchFamily="34" charset="0"/>
                <a:ea typeface="Calibri" pitchFamily="34" charset="-122"/>
                <a:cs typeface="Calibri" pitchFamily="34" charset="-120"/>
              </a:rPr>
              <a:t> falls from 1.00 M to 0.80 M in 50 s. Find (a) the average rate of loss of H</a:t>
            </a:r>
            <a:pPr indent="0" marL="0">
              <a:buNone/>
            </a:pPr>
            <a:r>
              <a:rPr lang="en-US" sz="1200" baseline="-40000" dirty="0">
                <a:solidFill>
                  <a:srgbClr val="1B2A41"/>
                </a:solidFill>
                <a:latin typeface="Calibri" pitchFamily="34" charset="0"/>
                <a:ea typeface="Calibri" pitchFamily="34" charset="-122"/>
                <a:cs typeface="Calibri" pitchFamily="34" charset="-120"/>
              </a:rPr>
              <a:t>2</a:t>
            </a:r>
            <a:pPr indent="0" marL="0">
              <a:buNone/>
            </a:pPr>
            <a:r>
              <a:rPr lang="en-US" sz="1200" dirty="0">
                <a:solidFill>
                  <a:srgbClr val="1B2A41"/>
                </a:solidFill>
                <a:latin typeface="Calibri" pitchFamily="34" charset="0"/>
                <a:ea typeface="Calibri" pitchFamily="34" charset="-122"/>
                <a:cs typeface="Calibri" pitchFamily="34" charset="-120"/>
              </a:rPr>
              <a:t>O</a:t>
            </a:r>
            <a:pPr indent="0" marL="0">
              <a:buNone/>
            </a:pPr>
            <a:r>
              <a:rPr lang="en-US" sz="1200" baseline="-40000" dirty="0">
                <a:solidFill>
                  <a:srgbClr val="1B2A41"/>
                </a:solidFill>
                <a:latin typeface="Calibri" pitchFamily="34" charset="0"/>
                <a:ea typeface="Calibri" pitchFamily="34" charset="-122"/>
                <a:cs typeface="Calibri" pitchFamily="34" charset="-120"/>
              </a:rPr>
              <a:t>2</a:t>
            </a:r>
            <a:pPr indent="0" marL="0">
              <a:buNone/>
            </a:pPr>
            <a:r>
              <a:rPr lang="en-US" sz="1200" dirty="0">
                <a:solidFill>
                  <a:srgbClr val="1B2A41"/>
                </a:solidFill>
                <a:latin typeface="Calibri" pitchFamily="34" charset="0"/>
                <a:ea typeface="Calibri" pitchFamily="34" charset="-122"/>
                <a:cs typeface="Calibri" pitchFamily="34" charset="-120"/>
              </a:rPr>
              <a:t> and (b) the rate of formation of O</a:t>
            </a:r>
            <a:pPr indent="0" marL="0">
              <a:buNone/>
            </a:pPr>
            <a:r>
              <a:rPr lang="en-US" sz="1200" baseline="-40000" dirty="0">
                <a:solidFill>
                  <a:srgbClr val="1B2A41"/>
                </a:solidFill>
                <a:latin typeface="Calibri" pitchFamily="34" charset="0"/>
                <a:ea typeface="Calibri" pitchFamily="34" charset="-122"/>
                <a:cs typeface="Calibri" pitchFamily="34" charset="-120"/>
              </a:rPr>
              <a:t>2</a:t>
            </a:r>
            <a:pPr indent="0" marL="0">
              <a:buNone/>
            </a:pPr>
            <a:r>
              <a:rPr lang="en-US" sz="1200" dirty="0">
                <a:solidFill>
                  <a:srgbClr val="1B2A41"/>
                </a:solidFill>
                <a:latin typeface="Calibri" pitchFamily="34" charset="0"/>
                <a:ea typeface="Calibri" pitchFamily="34" charset="-122"/>
                <a:cs typeface="Calibri" pitchFamily="34" charset="-120"/>
              </a:rPr>
              <a:t>.</a:t>
            </a:r>
            <a:endParaRPr lang="en-US" sz="1200" dirty="0"/>
          </a:p>
        </p:txBody>
      </p:sp>
      <p:sp>
        <p:nvSpPr>
          <p:cNvPr id="12" name="Shape 9"/>
          <p:cNvSpPr/>
          <p:nvPr/>
        </p:nvSpPr>
        <p:spPr>
          <a:xfrm>
            <a:off x="457200" y="2212848"/>
            <a:ext cx="274320" cy="274320"/>
          </a:xfrm>
          <a:prstGeom prst="ellipse">
            <a:avLst/>
          </a:prstGeom>
          <a:solidFill>
            <a:srgbClr val="2F6F9F"/>
          </a:solidFill>
          <a:ln w="12700">
            <a:solidFill>
              <a:srgbClr val="2F6F9F"/>
            </a:solidFill>
            <a:prstDash val="solid"/>
          </a:ln>
        </p:spPr>
      </p:sp>
      <p:sp>
        <p:nvSpPr>
          <p:cNvPr id="13" name="Text 10"/>
          <p:cNvSpPr txBox="1"/>
          <p:nvPr/>
        </p:nvSpPr>
        <p:spPr>
          <a:xfrm>
            <a:off x="457200" y="221284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4" name="Text 11"/>
          <p:cNvSpPr txBox="1"/>
          <p:nvPr/>
        </p:nvSpPr>
        <p:spPr>
          <a:xfrm>
            <a:off x="868680" y="2194560"/>
            <a:ext cx="7772400" cy="566928"/>
          </a:xfrm>
          <a:prstGeom prst="rect">
            <a:avLst/>
          </a:prstGeom>
          <a:noFill/>
          <a:ln/>
        </p:spPr>
        <p:txBody>
          <a:bodyPr wrap="square" lIns="0" tIns="0" rIns="0" bIns="0" rtlCol="0" anchor="t"/>
          <a:lstStyle/>
          <a:p>
            <a:pPr indent="0" marL="0">
              <a:buNone/>
            </a:pPr>
            <a:r>
              <a:rPr lang="en-US" sz="1200" dirty="0">
                <a:solidFill>
                  <a:srgbClr val="1B2A41"/>
                </a:solidFill>
                <a:latin typeface="Calibri" pitchFamily="34" charset="0"/>
                <a:ea typeface="Calibri" pitchFamily="34" charset="-122"/>
                <a:cs typeface="Calibri" pitchFamily="34" charset="-120"/>
              </a:rPr>
              <a:t>Change in [H</a:t>
            </a:r>
            <a:pPr indent="0" marL="0">
              <a:buNone/>
            </a:pPr>
            <a:r>
              <a:rPr lang="en-US" sz="1200" baseline="-40000" dirty="0">
                <a:solidFill>
                  <a:srgbClr val="1B2A41"/>
                </a:solidFill>
                <a:latin typeface="Calibri" pitchFamily="34" charset="0"/>
                <a:ea typeface="Calibri" pitchFamily="34" charset="-122"/>
                <a:cs typeface="Calibri" pitchFamily="34" charset="-120"/>
              </a:rPr>
              <a:t>2</a:t>
            </a:r>
            <a:pPr indent="0" marL="0">
              <a:buNone/>
            </a:pPr>
            <a:r>
              <a:rPr lang="en-US" sz="1200" dirty="0">
                <a:solidFill>
                  <a:srgbClr val="1B2A41"/>
                </a:solidFill>
                <a:latin typeface="Calibri" pitchFamily="34" charset="0"/>
                <a:ea typeface="Calibri" pitchFamily="34" charset="-122"/>
                <a:cs typeface="Calibri" pitchFamily="34" charset="-120"/>
              </a:rPr>
              <a:t>O</a:t>
            </a:r>
            <a:pPr indent="0" marL="0">
              <a:buNone/>
            </a:pPr>
            <a:r>
              <a:rPr lang="en-US" sz="1200" baseline="-40000" dirty="0">
                <a:solidFill>
                  <a:srgbClr val="1B2A41"/>
                </a:solidFill>
                <a:latin typeface="Calibri" pitchFamily="34" charset="0"/>
                <a:ea typeface="Calibri" pitchFamily="34" charset="-122"/>
                <a:cs typeface="Calibri" pitchFamily="34" charset="-120"/>
              </a:rPr>
              <a:t>2</a:t>
            </a:r>
            <a:pPr indent="0" marL="0">
              <a:buNone/>
            </a:pPr>
            <a:r>
              <a:rPr lang="en-US" sz="1200" dirty="0">
                <a:solidFill>
                  <a:srgbClr val="1B2A41"/>
                </a:solidFill>
                <a:latin typeface="Calibri" pitchFamily="34" charset="0"/>
                <a:ea typeface="Calibri" pitchFamily="34" charset="-122"/>
                <a:cs typeface="Calibri" pitchFamily="34" charset="-120"/>
              </a:rPr>
              <a:t>] = 1.00 − 0.80 = 0.20 M</a:t>
            </a:r>
            <a:endParaRPr lang="en-US" sz="1200" dirty="0"/>
          </a:p>
        </p:txBody>
      </p:sp>
      <p:sp>
        <p:nvSpPr>
          <p:cNvPr id="15" name="Shape 12"/>
          <p:cNvSpPr/>
          <p:nvPr/>
        </p:nvSpPr>
        <p:spPr>
          <a:xfrm>
            <a:off x="457200" y="2779776"/>
            <a:ext cx="274320" cy="274320"/>
          </a:xfrm>
          <a:prstGeom prst="ellipse">
            <a:avLst/>
          </a:prstGeom>
          <a:solidFill>
            <a:srgbClr val="2F6F9F"/>
          </a:solidFill>
          <a:ln w="12700">
            <a:solidFill>
              <a:srgbClr val="2F6F9F"/>
            </a:solidFill>
            <a:prstDash val="solid"/>
          </a:ln>
        </p:spPr>
      </p:sp>
      <p:sp>
        <p:nvSpPr>
          <p:cNvPr id="16" name="Text 13"/>
          <p:cNvSpPr txBox="1"/>
          <p:nvPr/>
        </p:nvSpPr>
        <p:spPr>
          <a:xfrm>
            <a:off x="457200" y="2779776"/>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7" name="Text 14"/>
          <p:cNvSpPr txBox="1"/>
          <p:nvPr/>
        </p:nvSpPr>
        <p:spPr>
          <a:xfrm>
            <a:off x="868680" y="2761488"/>
            <a:ext cx="7772400" cy="566928"/>
          </a:xfrm>
          <a:prstGeom prst="rect">
            <a:avLst/>
          </a:prstGeom>
          <a:noFill/>
          <a:ln/>
        </p:spPr>
        <p:txBody>
          <a:bodyPr wrap="square" lIns="0" tIns="0" rIns="0" bIns="0" rtlCol="0" anchor="t"/>
          <a:lstStyle/>
          <a:p>
            <a:pPr indent="0" marL="0">
              <a:buNone/>
            </a:pPr>
            <a:r>
              <a:rPr lang="en-US" sz="1200" dirty="0">
                <a:solidFill>
                  <a:srgbClr val="1B2A41"/>
                </a:solidFill>
                <a:latin typeface="Calibri" pitchFamily="34" charset="0"/>
                <a:ea typeface="Calibri" pitchFamily="34" charset="-122"/>
                <a:cs typeface="Calibri" pitchFamily="34" charset="-120"/>
              </a:rPr>
              <a:t>(a) Rate = 0.20 M ÷ 50 s = </a:t>
            </a:r>
            <a:pPr indent="0" marL="0">
              <a:buNone/>
            </a:pPr>
            <a:r>
              <a:rPr lang="en-US" sz="1200" b="1" dirty="0">
                <a:solidFill>
                  <a:srgbClr val="1B2A41"/>
                </a:solidFill>
                <a:latin typeface="Calibri" pitchFamily="34" charset="0"/>
                <a:ea typeface="Calibri" pitchFamily="34" charset="-122"/>
                <a:cs typeface="Calibri" pitchFamily="34" charset="-120"/>
              </a:rPr>
              <a:t>4.0 × 10</a:t>
            </a:r>
            <a:pPr indent="0" marL="0">
              <a:buNone/>
            </a:pPr>
            <a:r>
              <a:rPr lang="en-US" sz="1200" b="1" baseline="30000" dirty="0">
                <a:solidFill>
                  <a:srgbClr val="1B2A41"/>
                </a:solidFill>
                <a:latin typeface="Calibri" pitchFamily="34" charset="0"/>
                <a:ea typeface="Calibri" pitchFamily="34" charset="-122"/>
                <a:cs typeface="Calibri" pitchFamily="34" charset="-120"/>
              </a:rPr>
              <a:t>−3</a:t>
            </a:r>
            <a:pPr indent="0" marL="0">
              <a:buNone/>
            </a:pPr>
            <a:r>
              <a:rPr lang="en-US" sz="1200" b="1" dirty="0">
                <a:solidFill>
                  <a:srgbClr val="1B2A41"/>
                </a:solidFill>
                <a:latin typeface="Calibri" pitchFamily="34" charset="0"/>
                <a:ea typeface="Calibri" pitchFamily="34" charset="-122"/>
                <a:cs typeface="Calibri" pitchFamily="34" charset="-120"/>
              </a:rPr>
              <a:t> M/s</a:t>
            </a:r>
            <a:endParaRPr lang="en-US" sz="1200" dirty="0"/>
          </a:p>
        </p:txBody>
      </p:sp>
      <p:sp>
        <p:nvSpPr>
          <p:cNvPr id="18" name="Shape 15"/>
          <p:cNvSpPr/>
          <p:nvPr/>
        </p:nvSpPr>
        <p:spPr>
          <a:xfrm>
            <a:off x="457200" y="3346704"/>
            <a:ext cx="274320" cy="274320"/>
          </a:xfrm>
          <a:prstGeom prst="ellipse">
            <a:avLst/>
          </a:prstGeom>
          <a:solidFill>
            <a:srgbClr val="B86E00"/>
          </a:solidFill>
          <a:ln w="12700">
            <a:solidFill>
              <a:srgbClr val="B86E00"/>
            </a:solidFill>
            <a:prstDash val="solid"/>
          </a:ln>
        </p:spPr>
      </p:sp>
      <p:sp>
        <p:nvSpPr>
          <p:cNvPr id="19" name="Text 16"/>
          <p:cNvSpPr txBox="1"/>
          <p:nvPr/>
        </p:nvSpPr>
        <p:spPr>
          <a:xfrm>
            <a:off x="457200" y="334670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0" name="Text 17"/>
          <p:cNvSpPr txBox="1"/>
          <p:nvPr/>
        </p:nvSpPr>
        <p:spPr>
          <a:xfrm>
            <a:off x="868680" y="3328416"/>
            <a:ext cx="7772400" cy="566928"/>
          </a:xfrm>
          <a:prstGeom prst="rect">
            <a:avLst/>
          </a:prstGeom>
          <a:noFill/>
          <a:ln/>
        </p:spPr>
        <p:txBody>
          <a:bodyPr wrap="square" lIns="0" tIns="0" rIns="0" bIns="0" rtlCol="0" anchor="t"/>
          <a:lstStyle/>
          <a:p>
            <a:pPr indent="0" marL="0">
              <a:buNone/>
            </a:pPr>
            <a:r>
              <a:rPr lang="en-US" sz="1200" b="1" dirty="0">
                <a:solidFill>
                  <a:srgbClr val="1B2A41"/>
                </a:solidFill>
                <a:latin typeface="Calibri" pitchFamily="34" charset="0"/>
                <a:ea typeface="Calibri" pitchFamily="34" charset="-122"/>
                <a:cs typeface="Calibri" pitchFamily="34" charset="-120"/>
              </a:rPr>
              <a:t>(b) Mole ratio O</a:t>
            </a:r>
            <a:pPr indent="0" marL="0">
              <a:buNone/>
            </a:pPr>
            <a:r>
              <a:rPr lang="en-US" sz="1200" b="1" baseline="-40000" dirty="0">
                <a:solidFill>
                  <a:srgbClr val="1B2A41"/>
                </a:solidFill>
                <a:latin typeface="Calibri" pitchFamily="34" charset="0"/>
                <a:ea typeface="Calibri" pitchFamily="34" charset="-122"/>
                <a:cs typeface="Calibri" pitchFamily="34" charset="-120"/>
              </a:rPr>
              <a:t>2</a:t>
            </a:r>
            <a:pPr indent="0" marL="0">
              <a:buNone/>
            </a:pPr>
            <a:r>
              <a:rPr lang="en-US" sz="1200" b="1" dirty="0">
                <a:solidFill>
                  <a:srgbClr val="1B2A41"/>
                </a:solidFill>
                <a:latin typeface="Calibri" pitchFamily="34" charset="0"/>
                <a:ea typeface="Calibri" pitchFamily="34" charset="-122"/>
                <a:cs typeface="Calibri" pitchFamily="34" charset="-120"/>
              </a:rPr>
              <a:t> : H</a:t>
            </a:r>
            <a:pPr indent="0" marL="0">
              <a:buNone/>
            </a:pPr>
            <a:r>
              <a:rPr lang="en-US" sz="1200" b="1" baseline="-40000" dirty="0">
                <a:solidFill>
                  <a:srgbClr val="1B2A41"/>
                </a:solidFill>
                <a:latin typeface="Calibri" pitchFamily="34" charset="0"/>
                <a:ea typeface="Calibri" pitchFamily="34" charset="-122"/>
                <a:cs typeface="Calibri" pitchFamily="34" charset="-120"/>
              </a:rPr>
              <a:t>2</a:t>
            </a:r>
            <a:pPr indent="0" marL="0">
              <a:buNone/>
            </a:pPr>
            <a:r>
              <a:rPr lang="en-US" sz="1200" b="1" dirty="0">
                <a:solidFill>
                  <a:srgbClr val="1B2A41"/>
                </a:solidFill>
                <a:latin typeface="Calibri" pitchFamily="34" charset="0"/>
                <a:ea typeface="Calibri" pitchFamily="34" charset="-122"/>
                <a:cs typeface="Calibri" pitchFamily="34" charset="-120"/>
              </a:rPr>
              <a:t>O</a:t>
            </a:r>
            <a:pPr indent="0" marL="0">
              <a:buNone/>
            </a:pPr>
            <a:r>
              <a:rPr lang="en-US" sz="1200" b="1" baseline="-40000" dirty="0">
                <a:solidFill>
                  <a:srgbClr val="1B2A41"/>
                </a:solidFill>
                <a:latin typeface="Calibri" pitchFamily="34" charset="0"/>
                <a:ea typeface="Calibri" pitchFamily="34" charset="-122"/>
                <a:cs typeface="Calibri" pitchFamily="34" charset="-120"/>
              </a:rPr>
              <a:t>2</a:t>
            </a:r>
            <a:pPr indent="0" marL="0">
              <a:buNone/>
            </a:pPr>
            <a:r>
              <a:rPr lang="en-US" sz="1200" b="1" dirty="0">
                <a:solidFill>
                  <a:srgbClr val="1B2A41"/>
                </a:solidFill>
                <a:latin typeface="Calibri" pitchFamily="34" charset="0"/>
                <a:ea typeface="Calibri" pitchFamily="34" charset="-122"/>
                <a:cs typeface="Calibri" pitchFamily="34" charset="-120"/>
              </a:rPr>
              <a:t> = 1 : 2, so O</a:t>
            </a:r>
            <a:pPr indent="0" marL="0">
              <a:buNone/>
            </a:pPr>
            <a:r>
              <a:rPr lang="en-US" sz="1200" b="1" baseline="-40000" dirty="0">
                <a:solidFill>
                  <a:srgbClr val="1B2A41"/>
                </a:solidFill>
                <a:latin typeface="Calibri" pitchFamily="34" charset="0"/>
                <a:ea typeface="Calibri" pitchFamily="34" charset="-122"/>
                <a:cs typeface="Calibri" pitchFamily="34" charset="-120"/>
              </a:rPr>
              <a:t>2</a:t>
            </a:r>
            <a:pPr indent="0" marL="0">
              <a:buNone/>
            </a:pPr>
            <a:r>
              <a:rPr lang="en-US" sz="1200" b="1" dirty="0">
                <a:solidFill>
                  <a:srgbClr val="1B2A41"/>
                </a:solidFill>
                <a:latin typeface="Calibri" pitchFamily="34" charset="0"/>
                <a:ea typeface="Calibri" pitchFamily="34" charset="-122"/>
                <a:cs typeface="Calibri" pitchFamily="34" charset="-120"/>
              </a:rPr>
              <a:t> forms at half that rate: </a:t>
            </a:r>
            <a:pPr indent="0" marL="0">
              <a:buNone/>
            </a:pPr>
            <a:r>
              <a:rPr lang="en-US" sz="1200" b="1" dirty="0">
                <a:solidFill>
                  <a:srgbClr val="1B2A41"/>
                </a:solidFill>
                <a:latin typeface="Calibri" pitchFamily="34" charset="0"/>
                <a:ea typeface="Calibri" pitchFamily="34" charset="-122"/>
                <a:cs typeface="Calibri" pitchFamily="34" charset="-120"/>
              </a:rPr>
              <a:t>2.0 × 10</a:t>
            </a:r>
            <a:pPr indent="0" marL="0">
              <a:buNone/>
            </a:pPr>
            <a:r>
              <a:rPr lang="en-US" sz="1200" b="1" baseline="30000" dirty="0">
                <a:solidFill>
                  <a:srgbClr val="1B2A41"/>
                </a:solidFill>
                <a:latin typeface="Calibri" pitchFamily="34" charset="0"/>
                <a:ea typeface="Calibri" pitchFamily="34" charset="-122"/>
                <a:cs typeface="Calibri" pitchFamily="34" charset="-120"/>
              </a:rPr>
              <a:t>−3</a:t>
            </a:r>
            <a:pPr indent="0" marL="0">
              <a:buNone/>
            </a:pPr>
            <a:r>
              <a:rPr lang="en-US" sz="1200" b="1" dirty="0">
                <a:solidFill>
                  <a:srgbClr val="1B2A41"/>
                </a:solidFill>
                <a:latin typeface="Calibri" pitchFamily="34" charset="0"/>
                <a:ea typeface="Calibri" pitchFamily="34" charset="-122"/>
                <a:cs typeface="Calibri" pitchFamily="34" charset="-120"/>
              </a:rPr>
              <a:t> M/s</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CR2-LO4</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Four factors that change the rate</a:t>
            </a:r>
            <a:endParaRPr lang="en-US" sz="2000" dirty="0"/>
          </a:p>
        </p:txBody>
      </p:sp>
      <p:pic>
        <p:nvPicPr>
          <p:cNvPr id="7" name="Image 0" descr="/home/claude/build/mol/h2o2.png">    </p:cNvPr>
          <p:cNvPicPr>
            <a:picLocks noChangeAspect="1"/>
          </p:cNvPicPr>
          <p:nvPr/>
        </p:nvPicPr>
        <p:blipFill>
          <a:blip r:embed="rId1"/>
          <a:stretch>
            <a:fillRect/>
          </a:stretch>
        </p:blipFill>
        <p:spPr>
          <a:xfrm>
            <a:off x="8221416" y="192024"/>
            <a:ext cx="290688"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Chemical Reactions II</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Text 7"/>
          <p:cNvSpPr txBox="1"/>
          <p:nvPr/>
        </p:nvSpPr>
        <p:spPr>
          <a:xfrm>
            <a:off x="457200" y="1188720"/>
            <a:ext cx="8229600" cy="411480"/>
          </a:xfrm>
          <a:prstGeom prst="rect">
            <a:avLst/>
          </a:prstGeom>
          <a:noFill/>
          <a:ln/>
        </p:spPr>
        <p:txBody>
          <a:bodyPr wrap="square" lIns="0" tIns="0" rIns="0" bIns="0" rtlCol="0" anchor="t"/>
          <a:lstStyle/>
          <a:p>
            <a:pPr indent="0" marL="0">
              <a:buNone/>
            </a:pPr>
            <a:r>
              <a:rPr lang="en-US" sz="1200" dirty="0">
                <a:solidFill>
                  <a:srgbClr val="1B2A41"/>
                </a:solidFill>
                <a:latin typeface="Calibri" pitchFamily="34" charset="0"/>
                <a:ea typeface="Calibri" pitchFamily="34" charset="-122"/>
                <a:cs typeface="Calibri" pitchFamily="34" charset="-120"/>
              </a:rPr>
              <a:t>Each factor changes how often particles collide, or what fraction of collisions are effective.</a:t>
            </a:r>
            <a:endParaRPr lang="en-US" sz="1200" dirty="0"/>
          </a:p>
        </p:txBody>
      </p:sp>
      <p:sp>
        <p:nvSpPr>
          <p:cNvPr id="11" name="Shape 8"/>
          <p:cNvSpPr/>
          <p:nvPr/>
        </p:nvSpPr>
        <p:spPr>
          <a:xfrm>
            <a:off x="457200" y="1737360"/>
            <a:ext cx="2615184" cy="2926080"/>
          </a:xfrm>
          <a:prstGeom prst="roundRect">
            <a:avLst>
              <a:gd name="adj" fmla="val 2797"/>
            </a:avLst>
          </a:prstGeom>
          <a:solidFill>
            <a:srgbClr val="E1EEF7"/>
          </a:solidFill>
          <a:ln w="9525">
            <a:solidFill>
              <a:srgbClr val="E1EEF7"/>
            </a:solidFill>
            <a:prstDash val="solid"/>
          </a:ln>
        </p:spPr>
      </p:sp>
      <p:sp>
        <p:nvSpPr>
          <p:cNvPr id="12" name="Text 9"/>
          <p:cNvSpPr txBox="1"/>
          <p:nvPr/>
        </p:nvSpPr>
        <p:spPr>
          <a:xfrm>
            <a:off x="594360" y="1828800"/>
            <a:ext cx="2340864" cy="2743200"/>
          </a:xfrm>
          <a:prstGeom prst="rect">
            <a:avLst/>
          </a:prstGeom>
          <a:noFill/>
          <a:ln/>
        </p:spPr>
        <p:txBody>
          <a:bodyPr wrap="square" lIns="0" tIns="0" rIns="0" bIns="0" rtlCol="0" anchor="t"/>
          <a:lstStyle/>
          <a:p>
            <a:pPr indent="0" marL="0">
              <a:buNone/>
            </a:pPr>
            <a:r>
              <a:rPr lang="en-US" sz="1300" b="1" dirty="0">
                <a:solidFill>
                  <a:srgbClr val="2F6F9F"/>
                </a:solidFill>
                <a:latin typeface="Calibri" pitchFamily="34" charset="0"/>
                <a:ea typeface="Calibri" pitchFamily="34" charset="-122"/>
                <a:cs typeface="Calibri" pitchFamily="34" charset="-120"/>
              </a:rPr>
              <a:t>Concentration</a:t>
            </a:r>
            <a:endParaRPr lang="en-US" sz="1300" dirty="0"/>
          </a:p>
          <a:p>
            <a:pPr indent="0" marL="0">
              <a:buNone/>
            </a:pPr>
            <a:r>
              <a:rPr lang="en-US" sz="1150" dirty="0">
                <a:solidFill>
                  <a:srgbClr val="1B2A41"/>
                </a:solidFill>
                <a:latin typeface="Calibri" pitchFamily="34" charset="0"/>
                <a:ea typeface="Calibri" pitchFamily="34" charset="-122"/>
                <a:cs typeface="Calibri" pitchFamily="34" charset="-120"/>
              </a:rPr>
              <a:t>More particles in the same volume → </a:t>
            </a:r>
            <a:pPr indent="0" marL="0">
              <a:buNone/>
            </a:pPr>
            <a:r>
              <a:rPr lang="en-US" sz="1150" b="1" dirty="0">
                <a:solidFill>
                  <a:srgbClr val="1B2A41"/>
                </a:solidFill>
                <a:latin typeface="Calibri" pitchFamily="34" charset="0"/>
                <a:ea typeface="Calibri" pitchFamily="34" charset="-122"/>
                <a:cs typeface="Calibri" pitchFamily="34" charset="-120"/>
              </a:rPr>
              <a:t>more collisions</a:t>
            </a:r>
            <a:pPr indent="0" marL="0">
              <a:buNone/>
            </a:pPr>
            <a:r>
              <a:rPr lang="en-US" sz="1150" dirty="0">
                <a:solidFill>
                  <a:srgbClr val="1B2A41"/>
                </a:solidFill>
                <a:latin typeface="Calibri" pitchFamily="34" charset="0"/>
                <a:ea typeface="Calibri" pitchFamily="34" charset="-122"/>
                <a:cs typeface="Calibri" pitchFamily="34" charset="-120"/>
              </a:rPr>
              <a:t> per second → faster.</a:t>
            </a:r>
            <a:endParaRPr lang="en-US" sz="1300" dirty="0"/>
          </a:p>
          <a:p>
            <a:pPr indent="0" marL="0">
              <a:buNone/>
            </a:pPr>
            <a:r>
              <a:rPr lang="en-US" sz="1150" dirty="0">
                <a:solidFill>
                  <a:srgbClr val="1B2A41"/>
                </a:solidFill>
                <a:latin typeface="Calibri" pitchFamily="34" charset="0"/>
                <a:ea typeface="Calibri" pitchFamily="34" charset="-122"/>
                <a:cs typeface="Calibri" pitchFamily="34" charset="-120"/>
              </a:rPr>
              <a:t>For gases, higher pressure has the same effect.</a:t>
            </a:r>
            <a:endParaRPr lang="en-US" sz="1300" dirty="0"/>
          </a:p>
        </p:txBody>
      </p:sp>
      <p:sp>
        <p:nvSpPr>
          <p:cNvPr id="13" name="Shape 10"/>
          <p:cNvSpPr/>
          <p:nvPr/>
        </p:nvSpPr>
        <p:spPr>
          <a:xfrm>
            <a:off x="3264408" y="1737360"/>
            <a:ext cx="2615184" cy="2926080"/>
          </a:xfrm>
          <a:prstGeom prst="roundRect">
            <a:avLst>
              <a:gd name="adj" fmla="val 2797"/>
            </a:avLst>
          </a:prstGeom>
          <a:solidFill>
            <a:srgbClr val="FBEFD9"/>
          </a:solidFill>
          <a:ln w="9525">
            <a:solidFill>
              <a:srgbClr val="FBEFD9"/>
            </a:solidFill>
            <a:prstDash val="solid"/>
          </a:ln>
        </p:spPr>
      </p:sp>
      <p:sp>
        <p:nvSpPr>
          <p:cNvPr id="14" name="Text 11"/>
          <p:cNvSpPr txBox="1"/>
          <p:nvPr/>
        </p:nvSpPr>
        <p:spPr>
          <a:xfrm>
            <a:off x="3401568" y="1828800"/>
            <a:ext cx="2340864" cy="2743200"/>
          </a:xfrm>
          <a:prstGeom prst="rect">
            <a:avLst/>
          </a:prstGeom>
          <a:noFill/>
          <a:ln/>
        </p:spPr>
        <p:txBody>
          <a:bodyPr wrap="square" lIns="0" tIns="0" rIns="0" bIns="0" rtlCol="0" anchor="t"/>
          <a:lstStyle/>
          <a:p>
            <a:pPr indent="0" marL="0">
              <a:buNone/>
            </a:pPr>
            <a:r>
              <a:rPr lang="en-US" sz="1300" b="1" dirty="0">
                <a:solidFill>
                  <a:srgbClr val="B86E00"/>
                </a:solidFill>
                <a:latin typeface="Calibri" pitchFamily="34" charset="0"/>
                <a:ea typeface="Calibri" pitchFamily="34" charset="-122"/>
                <a:cs typeface="Calibri" pitchFamily="34" charset="-120"/>
              </a:rPr>
              <a:t>Temperature</a:t>
            </a:r>
            <a:endParaRPr lang="en-US" sz="1300" dirty="0"/>
          </a:p>
          <a:p>
            <a:pPr indent="0" marL="0">
              <a:buNone/>
            </a:pPr>
            <a:r>
              <a:rPr lang="en-US" sz="1150" dirty="0">
                <a:solidFill>
                  <a:srgbClr val="1B2A41"/>
                </a:solidFill>
                <a:latin typeface="Calibri" pitchFamily="34" charset="0"/>
                <a:ea typeface="Calibri" pitchFamily="34" charset="-122"/>
                <a:cs typeface="Calibri" pitchFamily="34" charset="-120"/>
              </a:rPr>
              <a:t>Faster particles → more collisions </a:t>
            </a:r>
            <a:pPr indent="0" marL="0">
              <a:buNone/>
            </a:pPr>
            <a:r>
              <a:rPr lang="en-US" sz="1150" b="1" dirty="0">
                <a:solidFill>
                  <a:srgbClr val="1B2A41"/>
                </a:solidFill>
                <a:latin typeface="Calibri" pitchFamily="34" charset="0"/>
                <a:ea typeface="Calibri" pitchFamily="34" charset="-122"/>
                <a:cs typeface="Calibri" pitchFamily="34" charset="-120"/>
              </a:rPr>
              <a:t>and</a:t>
            </a:r>
            <a:pPr indent="0" marL="0">
              <a:buNone/>
            </a:pPr>
            <a:r>
              <a:rPr lang="en-US" sz="1150" dirty="0">
                <a:solidFill>
                  <a:srgbClr val="1B2A41"/>
                </a:solidFill>
                <a:latin typeface="Calibri" pitchFamily="34" charset="0"/>
                <a:ea typeface="Calibri" pitchFamily="34" charset="-122"/>
                <a:cs typeface="Calibri" pitchFamily="34" charset="-120"/>
              </a:rPr>
              <a:t> a much larger fraction with energy ≥ E</a:t>
            </a:r>
            <a:pPr indent="0" marL="0">
              <a:buNone/>
            </a:pPr>
            <a:r>
              <a:rPr lang="en-US" sz="1150" baseline="-40000" dirty="0">
                <a:solidFill>
                  <a:srgbClr val="1B2A41"/>
                </a:solidFill>
                <a:latin typeface="Calibri" pitchFamily="34" charset="0"/>
                <a:ea typeface="Calibri" pitchFamily="34" charset="-122"/>
                <a:cs typeface="Calibri" pitchFamily="34" charset="-120"/>
              </a:rPr>
              <a:t>a</a:t>
            </a:r>
            <a:pPr indent="0" marL="0">
              <a:buNone/>
            </a:pPr>
            <a:r>
              <a:rPr lang="en-US" sz="1150" dirty="0">
                <a:solidFill>
                  <a:srgbClr val="1B2A41"/>
                </a:solidFill>
                <a:latin typeface="Calibri" pitchFamily="34" charset="0"/>
                <a:ea typeface="Calibri" pitchFamily="34" charset="-122"/>
                <a:cs typeface="Calibri" pitchFamily="34" charset="-120"/>
              </a:rPr>
              <a:t> → faster.</a:t>
            </a:r>
            <a:endParaRPr lang="en-US" sz="1300" dirty="0"/>
          </a:p>
          <a:p>
            <a:pPr indent="0" marL="0">
              <a:buNone/>
            </a:pPr>
            <a:r>
              <a:rPr lang="en-US" sz="1150" dirty="0">
                <a:solidFill>
                  <a:srgbClr val="1B2A41"/>
                </a:solidFill>
                <a:latin typeface="Calibri" pitchFamily="34" charset="0"/>
                <a:ea typeface="Calibri" pitchFamily="34" charset="-122"/>
                <a:cs typeface="Calibri" pitchFamily="34" charset="-120"/>
              </a:rPr>
              <a:t>Many reactions roughly double in rate for each 10 °C rise.</a:t>
            </a:r>
            <a:endParaRPr lang="en-US" sz="1300" dirty="0"/>
          </a:p>
        </p:txBody>
      </p:sp>
      <p:sp>
        <p:nvSpPr>
          <p:cNvPr id="15" name="Shape 12"/>
          <p:cNvSpPr/>
          <p:nvPr/>
        </p:nvSpPr>
        <p:spPr>
          <a:xfrm>
            <a:off x="6071616" y="1737360"/>
            <a:ext cx="2615184" cy="2926080"/>
          </a:xfrm>
          <a:prstGeom prst="roundRect">
            <a:avLst>
              <a:gd name="adj" fmla="val 2797"/>
            </a:avLst>
          </a:prstGeom>
          <a:solidFill>
            <a:srgbClr val="E3F3E9"/>
          </a:solidFill>
          <a:ln w="9525">
            <a:solidFill>
              <a:srgbClr val="E3F3E9"/>
            </a:solidFill>
            <a:prstDash val="solid"/>
          </a:ln>
        </p:spPr>
      </p:sp>
      <p:sp>
        <p:nvSpPr>
          <p:cNvPr id="16" name="Text 13"/>
          <p:cNvSpPr txBox="1"/>
          <p:nvPr/>
        </p:nvSpPr>
        <p:spPr>
          <a:xfrm>
            <a:off x="6208776" y="1828800"/>
            <a:ext cx="2340864" cy="2743200"/>
          </a:xfrm>
          <a:prstGeom prst="rect">
            <a:avLst/>
          </a:prstGeom>
          <a:noFill/>
          <a:ln/>
        </p:spPr>
        <p:txBody>
          <a:bodyPr wrap="square" lIns="0" tIns="0" rIns="0" bIns="0" rtlCol="0" anchor="t"/>
          <a:lstStyle/>
          <a:p>
            <a:pPr indent="0" marL="0">
              <a:buNone/>
            </a:pPr>
            <a:r>
              <a:rPr lang="en-US" sz="1300" b="1" dirty="0">
                <a:solidFill>
                  <a:srgbClr val="2E7D4F"/>
                </a:solidFill>
                <a:latin typeface="Calibri" pitchFamily="34" charset="0"/>
                <a:ea typeface="Calibri" pitchFamily="34" charset="-122"/>
                <a:cs typeface="Calibri" pitchFamily="34" charset="-120"/>
              </a:rPr>
              <a:t>Surface area and catalysts</a:t>
            </a:r>
            <a:endParaRPr lang="en-US" sz="1300" dirty="0"/>
          </a:p>
          <a:p>
            <a:pPr indent="0" marL="0">
              <a:buNone/>
            </a:pPr>
            <a:r>
              <a:rPr lang="en-US" sz="1150" dirty="0">
                <a:solidFill>
                  <a:srgbClr val="1B2A41"/>
                </a:solidFill>
                <a:latin typeface="Calibri" pitchFamily="34" charset="0"/>
                <a:ea typeface="Calibri" pitchFamily="34" charset="-122"/>
                <a:cs typeface="Calibri" pitchFamily="34" charset="-120"/>
              </a:rPr>
              <a:t>Smaller pieces of a solid expose </a:t>
            </a:r>
            <a:pPr indent="0" marL="0">
              <a:buNone/>
            </a:pPr>
            <a:r>
              <a:rPr lang="en-US" sz="1150" b="1" dirty="0">
                <a:solidFill>
                  <a:srgbClr val="1B2A41"/>
                </a:solidFill>
                <a:latin typeface="Calibri" pitchFamily="34" charset="0"/>
                <a:ea typeface="Calibri" pitchFamily="34" charset="-122"/>
                <a:cs typeface="Calibri" pitchFamily="34" charset="-120"/>
              </a:rPr>
              <a:t>more surface</a:t>
            </a:r>
            <a:pPr indent="0" marL="0">
              <a:buNone/>
            </a:pPr>
            <a:r>
              <a:rPr lang="en-US" sz="1150" dirty="0">
                <a:solidFill>
                  <a:srgbClr val="1B2A41"/>
                </a:solidFill>
                <a:latin typeface="Calibri" pitchFamily="34" charset="0"/>
                <a:ea typeface="Calibri" pitchFamily="34" charset="-122"/>
                <a:cs typeface="Calibri" pitchFamily="34" charset="-120"/>
              </a:rPr>
              <a:t> to collisions → faster.</a:t>
            </a:r>
            <a:endParaRPr lang="en-US" sz="1300" dirty="0"/>
          </a:p>
          <a:p>
            <a:pPr indent="0" marL="0">
              <a:buNone/>
            </a:pPr>
            <a:r>
              <a:rPr lang="en-US" sz="1150" dirty="0">
                <a:solidFill>
                  <a:srgbClr val="1B2A41"/>
                </a:solidFill>
                <a:latin typeface="Calibri" pitchFamily="34" charset="0"/>
                <a:ea typeface="Calibri" pitchFamily="34" charset="-122"/>
                <a:cs typeface="Calibri" pitchFamily="34" charset="-120"/>
              </a:rPr>
              <a:t>A </a:t>
            </a:r>
            <a:pPr indent="0" marL="0">
              <a:buNone/>
            </a:pPr>
            <a:r>
              <a:rPr lang="en-US" sz="1150" b="1" dirty="0">
                <a:solidFill>
                  <a:srgbClr val="1B2A41"/>
                </a:solidFill>
                <a:latin typeface="Calibri" pitchFamily="34" charset="0"/>
                <a:ea typeface="Calibri" pitchFamily="34" charset="-122"/>
                <a:cs typeface="Calibri" pitchFamily="34" charset="-120"/>
              </a:rPr>
              <a:t>catalyst</a:t>
            </a:r>
            <a:pPr indent="0" marL="0">
              <a:buNone/>
            </a:pPr>
            <a:r>
              <a:rPr lang="en-US" sz="1150" dirty="0">
                <a:solidFill>
                  <a:srgbClr val="1B2A41"/>
                </a:solidFill>
                <a:latin typeface="Calibri" pitchFamily="34" charset="0"/>
                <a:ea typeface="Calibri" pitchFamily="34" charset="-122"/>
                <a:cs typeface="Calibri" pitchFamily="34" charset="-120"/>
              </a:rPr>
              <a:t> lowers E</a:t>
            </a:r>
            <a:pPr indent="0" marL="0">
              <a:buNone/>
            </a:pPr>
            <a:r>
              <a:rPr lang="en-US" sz="1150" baseline="-40000" dirty="0">
                <a:solidFill>
                  <a:srgbClr val="1B2A41"/>
                </a:solidFill>
                <a:latin typeface="Calibri" pitchFamily="34" charset="0"/>
                <a:ea typeface="Calibri" pitchFamily="34" charset="-122"/>
                <a:cs typeface="Calibri" pitchFamily="34" charset="-120"/>
              </a:rPr>
              <a:t>a</a:t>
            </a:r>
            <a:pPr indent="0" marL="0">
              <a:buNone/>
            </a:pPr>
            <a:r>
              <a:rPr lang="en-US" sz="1150" dirty="0">
                <a:solidFill>
                  <a:srgbClr val="1B2A41"/>
                </a:solidFill>
                <a:latin typeface="Calibri" pitchFamily="34" charset="0"/>
                <a:ea typeface="Calibri" pitchFamily="34" charset="-122"/>
                <a:cs typeface="Calibri" pitchFamily="34" charset="-120"/>
              </a:rPr>
              <a:t> so more collisions are effective (Part 5).</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CR2-LO4</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Concentration</a:t>
            </a:r>
            <a:endParaRPr lang="en-US" sz="2000" dirty="0"/>
          </a:p>
        </p:txBody>
      </p:sp>
      <p:pic>
        <p:nvPicPr>
          <p:cNvPr id="7" name="Image 0" descr="/home/claude/build/mol/h2o2.png">    </p:cNvPr>
          <p:cNvPicPr>
            <a:picLocks noChangeAspect="1"/>
          </p:cNvPicPr>
          <p:nvPr/>
        </p:nvPicPr>
        <p:blipFill>
          <a:blip r:embed="rId1"/>
          <a:stretch>
            <a:fillRect/>
          </a:stretch>
        </p:blipFill>
        <p:spPr>
          <a:xfrm>
            <a:off x="8221416" y="192024"/>
            <a:ext cx="290688"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Chemical Reactions II</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pic>
        <p:nvPicPr>
          <p:cNvPr id="10" name="Image 1" descr="/home/claude/build/png/conc.png">    </p:cNvPr>
          <p:cNvPicPr>
            <a:picLocks noChangeAspect="1"/>
          </p:cNvPicPr>
          <p:nvPr/>
        </p:nvPicPr>
        <p:blipFill>
          <a:blip r:embed="rId2"/>
          <a:stretch>
            <a:fillRect/>
          </a:stretch>
        </p:blipFill>
        <p:spPr>
          <a:xfrm>
            <a:off x="457200" y="1280160"/>
            <a:ext cx="4389120" cy="2674620"/>
          </a:xfrm>
          <a:prstGeom prst="rect">
            <a:avLst/>
          </a:prstGeom>
        </p:spPr>
      </p:pic>
      <p:sp>
        <p:nvSpPr>
          <p:cNvPr id="11" name="Text 7"/>
          <p:cNvSpPr txBox="1"/>
          <p:nvPr/>
        </p:nvSpPr>
        <p:spPr>
          <a:xfrm>
            <a:off x="457200" y="3991356"/>
            <a:ext cx="4389120" cy="292608"/>
          </a:xfrm>
          <a:prstGeom prst="rect">
            <a:avLst/>
          </a:prstGeom>
          <a:noFill/>
          <a:ln/>
        </p:spPr>
        <p:txBody>
          <a:bodyPr wrap="square" lIns="0" tIns="0" rIns="0" bIns="0" rtlCol="0" anchor="t"/>
          <a:lstStyle/>
          <a:p>
            <a:pPr algn="ctr" indent="0" marL="0">
              <a:buNone/>
            </a:pPr>
            <a:r>
              <a:rPr lang="en-US" sz="750" i="1" dirty="0">
                <a:solidFill>
                  <a:srgbClr val="56657A"/>
                </a:solidFill>
                <a:latin typeface="Calibri" pitchFamily="34" charset="0"/>
                <a:ea typeface="Calibri" pitchFamily="34" charset="-122"/>
                <a:cs typeface="Calibri" pitchFamily="34" charset="-120"/>
              </a:rPr>
              <a:t>Doubling the particles of each reactant quadruples the possible A–B collisions (drawn by Dr. NAM)</a:t>
            </a:r>
            <a:endParaRPr lang="en-US" sz="750" dirty="0"/>
          </a:p>
        </p:txBody>
      </p:sp>
      <p:sp>
        <p:nvSpPr>
          <p:cNvPr id="12" name="Text 8"/>
          <p:cNvSpPr txBox="1"/>
          <p:nvPr/>
        </p:nvSpPr>
        <p:spPr>
          <a:xfrm>
            <a:off x="5120640" y="1280160"/>
            <a:ext cx="3566160" cy="338328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Double the number of A and B particles in the same volume and the possible A–B pairs go from 4 to 16.</a:t>
            </a:r>
            <a:endParaRPr lang="en-US" sz="1250" dirty="0"/>
          </a:p>
          <a:p>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More collisions per second means more effective collisions per second.</a:t>
            </a:r>
            <a:endParaRPr lang="en-US" sz="1250" dirty="0"/>
          </a:p>
          <a:p>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Example: magnesium ribbon fizzes faster in 2 M HCl than in 1 M HCl.</a:t>
            </a:r>
            <a:endParaRPr lang="en-US" sz="1250" dirty="0"/>
          </a:p>
          <a:p>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Rates fall during a reaction because the reactant concentrations fall.</a:t>
            </a:r>
            <a:endParaRPr lang="en-US" sz="12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CR2-LO4</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Temperature</a:t>
            </a:r>
            <a:endParaRPr lang="en-US" sz="2000" dirty="0"/>
          </a:p>
        </p:txBody>
      </p:sp>
      <p:pic>
        <p:nvPicPr>
          <p:cNvPr id="7" name="Image 0" descr="/home/claude/build/mol/h2o2.png">    </p:cNvPr>
          <p:cNvPicPr>
            <a:picLocks noChangeAspect="1"/>
          </p:cNvPicPr>
          <p:nvPr/>
        </p:nvPicPr>
        <p:blipFill>
          <a:blip r:embed="rId1"/>
          <a:stretch>
            <a:fillRect/>
          </a:stretch>
        </p:blipFill>
        <p:spPr>
          <a:xfrm>
            <a:off x="8221416" y="192024"/>
            <a:ext cx="290688"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Chemical Reactions II</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pic>
        <p:nvPicPr>
          <p:cNvPr id="10" name="Image 1" descr="/home/claude/build/png/mb2.png">    </p:cNvPr>
          <p:cNvPicPr>
            <a:picLocks noChangeAspect="1"/>
          </p:cNvPicPr>
          <p:nvPr/>
        </p:nvPicPr>
        <p:blipFill>
          <a:blip r:embed="rId2"/>
          <a:stretch>
            <a:fillRect/>
          </a:stretch>
        </p:blipFill>
        <p:spPr>
          <a:xfrm>
            <a:off x="457200" y="1280160"/>
            <a:ext cx="4389120" cy="2743200"/>
          </a:xfrm>
          <a:prstGeom prst="rect">
            <a:avLst/>
          </a:prstGeom>
        </p:spPr>
      </p:pic>
      <p:sp>
        <p:nvSpPr>
          <p:cNvPr id="11" name="Text 7"/>
          <p:cNvSpPr txBox="1"/>
          <p:nvPr/>
        </p:nvSpPr>
        <p:spPr>
          <a:xfrm>
            <a:off x="457200" y="4059936"/>
            <a:ext cx="4389120" cy="292608"/>
          </a:xfrm>
          <a:prstGeom prst="rect">
            <a:avLst/>
          </a:prstGeom>
          <a:noFill/>
          <a:ln/>
        </p:spPr>
        <p:txBody>
          <a:bodyPr wrap="square" lIns="0" tIns="0" rIns="0" bIns="0" rtlCol="0" anchor="t"/>
          <a:lstStyle/>
          <a:p>
            <a:pPr algn="ctr" indent="0" marL="0">
              <a:buNone/>
            </a:pPr>
            <a:r>
              <a:rPr lang="en-US" sz="750" i="1" dirty="0">
                <a:solidFill>
                  <a:srgbClr val="56657A"/>
                </a:solidFill>
                <a:latin typeface="Calibri" pitchFamily="34" charset="0"/>
                <a:ea typeface="Calibri" pitchFamily="34" charset="-122"/>
                <a:cs typeface="Calibri" pitchFamily="34" charset="-120"/>
              </a:rPr>
              <a:t>At the higher temperature, far more particles have energy ≥ E</a:t>
            </a:r>
            <a:pPr algn="ctr" indent="0" marL="0">
              <a:buNone/>
            </a:pPr>
            <a:r>
              <a:rPr lang="en-US" sz="750" i="1" baseline="-40000" dirty="0">
                <a:solidFill>
                  <a:srgbClr val="56657A"/>
                </a:solidFill>
                <a:latin typeface="Calibri" pitchFamily="34" charset="0"/>
                <a:ea typeface="Calibri" pitchFamily="34" charset="-122"/>
                <a:cs typeface="Calibri" pitchFamily="34" charset="-120"/>
              </a:rPr>
              <a:t>a</a:t>
            </a:r>
            <a:pPr algn="ctr" indent="0" marL="0">
              <a:buNone/>
            </a:pPr>
            <a:r>
              <a:rPr lang="en-US" sz="750" i="1" dirty="0">
                <a:solidFill>
                  <a:srgbClr val="56657A"/>
                </a:solidFill>
                <a:latin typeface="Calibri" pitchFamily="34" charset="0"/>
                <a:ea typeface="Calibri" pitchFamily="34" charset="-122"/>
                <a:cs typeface="Calibri" pitchFamily="34" charset="-120"/>
              </a:rPr>
              <a:t> (drawn by Dr. NAM)</a:t>
            </a:r>
            <a:endParaRPr lang="en-US" sz="750" dirty="0"/>
          </a:p>
        </p:txBody>
      </p:sp>
      <p:sp>
        <p:nvSpPr>
          <p:cNvPr id="12" name="Text 8"/>
          <p:cNvSpPr txBox="1"/>
          <p:nvPr/>
        </p:nvSpPr>
        <p:spPr>
          <a:xfrm>
            <a:off x="5120640" y="1280160"/>
            <a:ext cx="3566160" cy="338328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Heating makes particles move faster, so they collide more often.</a:t>
            </a:r>
            <a:endParaRPr lang="en-US" sz="1250" dirty="0"/>
          </a:p>
          <a:p>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More importantly, the energy curve shifts: the shaded area above E</a:t>
            </a:r>
            <a:pPr marL="177800" indent="-177800">
              <a:spcAft>
                <a:spcPts val="600"/>
              </a:spcAft>
              <a:buSzPct val="100000"/>
              <a:buChar char="•"/>
            </a:pPr>
            <a:r>
              <a:rPr lang="en-US" sz="1250" baseline="-40000" dirty="0">
                <a:solidFill>
                  <a:srgbClr val="1B2A41"/>
                </a:solidFill>
                <a:latin typeface="Calibri" pitchFamily="34" charset="0"/>
                <a:ea typeface="Calibri" pitchFamily="34" charset="-122"/>
                <a:cs typeface="Calibri" pitchFamily="34" charset="-120"/>
              </a:rPr>
              <a:t>a</a:t>
            </a:r>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 grows a lot.</a:t>
            </a:r>
            <a:endParaRPr lang="en-US" sz="1250" dirty="0"/>
          </a:p>
          <a:p>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This is why a small temperature rise can speed up a reaction greatly.</a:t>
            </a:r>
            <a:endParaRPr lang="en-US" sz="1250" dirty="0"/>
          </a:p>
          <a:p>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Cooling does the opposite: refrigeration slows the spoiling of food and the breakdown of medicines.</a:t>
            </a:r>
            <a:endParaRPr lang="en-US" sz="12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CR2-LO4</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Surface area and particle size</a:t>
            </a:r>
            <a:endParaRPr lang="en-US" sz="2000" dirty="0"/>
          </a:p>
        </p:txBody>
      </p:sp>
      <p:pic>
        <p:nvPicPr>
          <p:cNvPr id="7" name="Image 0" descr="/home/claude/build/mol/h2o2.png">    </p:cNvPr>
          <p:cNvPicPr>
            <a:picLocks noChangeAspect="1"/>
          </p:cNvPicPr>
          <p:nvPr/>
        </p:nvPicPr>
        <p:blipFill>
          <a:blip r:embed="rId1"/>
          <a:stretch>
            <a:fillRect/>
          </a:stretch>
        </p:blipFill>
        <p:spPr>
          <a:xfrm>
            <a:off x="8221416" y="192024"/>
            <a:ext cx="290688"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Chemical Reactions II</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pic>
        <p:nvPicPr>
          <p:cNvPr id="10" name="Image 1" descr="/home/claude/build/png/surface.png">    </p:cNvPr>
          <p:cNvPicPr>
            <a:picLocks noChangeAspect="1"/>
          </p:cNvPicPr>
          <p:nvPr/>
        </p:nvPicPr>
        <p:blipFill>
          <a:blip r:embed="rId2"/>
          <a:stretch>
            <a:fillRect/>
          </a:stretch>
        </p:blipFill>
        <p:spPr>
          <a:xfrm>
            <a:off x="457200" y="1280160"/>
            <a:ext cx="4389120" cy="2674620"/>
          </a:xfrm>
          <a:prstGeom prst="rect">
            <a:avLst/>
          </a:prstGeom>
        </p:spPr>
      </p:pic>
      <p:sp>
        <p:nvSpPr>
          <p:cNvPr id="11" name="Text 7"/>
          <p:cNvSpPr txBox="1"/>
          <p:nvPr/>
        </p:nvSpPr>
        <p:spPr>
          <a:xfrm>
            <a:off x="457200" y="3991356"/>
            <a:ext cx="4389120" cy="292608"/>
          </a:xfrm>
          <a:prstGeom prst="rect">
            <a:avLst/>
          </a:prstGeom>
          <a:noFill/>
          <a:ln/>
        </p:spPr>
        <p:txBody>
          <a:bodyPr wrap="square" lIns="0" tIns="0" rIns="0" bIns="0" rtlCol="0" anchor="t"/>
          <a:lstStyle/>
          <a:p>
            <a:pPr algn="ctr" indent="0" marL="0">
              <a:buNone/>
            </a:pPr>
            <a:r>
              <a:rPr lang="en-US" sz="750" i="1" dirty="0">
                <a:solidFill>
                  <a:srgbClr val="56657A"/>
                </a:solidFill>
                <a:latin typeface="Calibri" pitchFamily="34" charset="0"/>
                <a:ea typeface="Calibri" pitchFamily="34" charset="-122"/>
                <a:cs typeface="Calibri" pitchFamily="34" charset="-120"/>
              </a:rPr>
              <a:t>Cutting the same mass into smaller pieces increases the surface area (drawn by Dr. NAM)</a:t>
            </a:r>
            <a:endParaRPr lang="en-US" sz="750" dirty="0"/>
          </a:p>
        </p:txBody>
      </p:sp>
      <p:sp>
        <p:nvSpPr>
          <p:cNvPr id="12" name="Text 8"/>
          <p:cNvSpPr txBox="1"/>
          <p:nvPr/>
        </p:nvSpPr>
        <p:spPr>
          <a:xfrm>
            <a:off x="5120640" y="1280160"/>
            <a:ext cx="3566160" cy="338328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Only particles on the surface of a solid can collide with the other reactant.</a:t>
            </a:r>
            <a:endParaRPr lang="en-US" sz="1250" dirty="0"/>
          </a:p>
          <a:p>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Smaller pieces → larger total surface area → more collisions → faster.</a:t>
            </a:r>
            <a:endParaRPr lang="en-US" sz="1250" dirty="0"/>
          </a:p>
          <a:p>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Magnesium powder reacts faster than ribbon; powdered sugar dissolves faster than a cube.</a:t>
            </a:r>
            <a:endParaRPr lang="en-US" sz="1250" dirty="0"/>
          </a:p>
          <a:p>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Pharmacy: fine powders and micronised drugs dissolve faster, which can speed up absorption.</a:t>
            </a:r>
            <a:endParaRPr lang="en-US" sz="12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CR2-LO4</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Example 4.2 · Predict the effect</a:t>
            </a:r>
            <a:endParaRPr lang="en-US" sz="2000" dirty="0"/>
          </a:p>
        </p:txBody>
      </p:sp>
      <p:pic>
        <p:nvPicPr>
          <p:cNvPr id="7" name="Image 0" descr="/home/claude/build/mol/h2o2.png">    </p:cNvPr>
          <p:cNvPicPr>
            <a:picLocks noChangeAspect="1"/>
          </p:cNvPicPr>
          <p:nvPr/>
        </p:nvPicPr>
        <p:blipFill>
          <a:blip r:embed="rId1"/>
          <a:stretch>
            <a:fillRect/>
          </a:stretch>
        </p:blipFill>
        <p:spPr>
          <a:xfrm>
            <a:off x="8221416" y="192024"/>
            <a:ext cx="290688"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Chemical Reactions II</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Shape 7"/>
          <p:cNvSpPr/>
          <p:nvPr/>
        </p:nvSpPr>
        <p:spPr>
          <a:xfrm>
            <a:off x="457200" y="1234440"/>
            <a:ext cx="8229600" cy="777240"/>
          </a:xfrm>
          <a:prstGeom prst="roundRect">
            <a:avLst>
              <a:gd name="adj" fmla="val 9412"/>
            </a:avLst>
          </a:prstGeom>
          <a:solidFill>
            <a:srgbClr val="FFFFFF"/>
          </a:solidFill>
          <a:ln w="9525">
            <a:solidFill>
              <a:srgbClr val="D7E0E8"/>
            </a:solidFill>
            <a:prstDash val="solid"/>
          </a:ln>
        </p:spPr>
      </p:sp>
      <p:sp>
        <p:nvSpPr>
          <p:cNvPr id="11" name="Text 8"/>
          <p:cNvSpPr txBox="1"/>
          <p:nvPr/>
        </p:nvSpPr>
        <p:spPr>
          <a:xfrm>
            <a:off x="594360" y="1280160"/>
            <a:ext cx="7955280" cy="685800"/>
          </a:xfrm>
          <a:prstGeom prst="rect">
            <a:avLst/>
          </a:prstGeom>
          <a:noFill/>
          <a:ln/>
        </p:spPr>
        <p:txBody>
          <a:bodyPr wrap="square" lIns="0" tIns="0" rIns="0" bIns="0" rtlCol="0" anchor="ctr"/>
          <a:lstStyle/>
          <a:p>
            <a:pPr indent="0" marL="0">
              <a:buNone/>
            </a:pPr>
            <a:r>
              <a:rPr lang="en-US" sz="1200" dirty="0">
                <a:solidFill>
                  <a:srgbClr val="1B2A41"/>
                </a:solidFill>
                <a:latin typeface="Calibri" pitchFamily="34" charset="0"/>
                <a:ea typeface="Calibri" pitchFamily="34" charset="-122"/>
                <a:cs typeface="Calibri" pitchFamily="34" charset="-120"/>
              </a:rPr>
              <a:t>Zinc granules react with 1.0 M hydrochloric acid at 25 °C. Predict the effect on the rate, and explain using collision theory: (a) using 2.0 M HCl; (b) using zinc powder; (c) cooling the flask in ice.</a:t>
            </a:r>
            <a:endParaRPr lang="en-US" sz="1200" dirty="0"/>
          </a:p>
        </p:txBody>
      </p:sp>
      <p:sp>
        <p:nvSpPr>
          <p:cNvPr id="12" name="Shape 9"/>
          <p:cNvSpPr/>
          <p:nvPr/>
        </p:nvSpPr>
        <p:spPr>
          <a:xfrm>
            <a:off x="457200" y="2212848"/>
            <a:ext cx="274320" cy="274320"/>
          </a:xfrm>
          <a:prstGeom prst="ellipse">
            <a:avLst/>
          </a:prstGeom>
          <a:solidFill>
            <a:srgbClr val="2F6F9F"/>
          </a:solidFill>
          <a:ln w="12700">
            <a:solidFill>
              <a:srgbClr val="2F6F9F"/>
            </a:solidFill>
            <a:prstDash val="solid"/>
          </a:ln>
        </p:spPr>
      </p:sp>
      <p:sp>
        <p:nvSpPr>
          <p:cNvPr id="13" name="Text 10"/>
          <p:cNvSpPr txBox="1"/>
          <p:nvPr/>
        </p:nvSpPr>
        <p:spPr>
          <a:xfrm>
            <a:off x="457200" y="221284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4" name="Text 11"/>
          <p:cNvSpPr txBox="1"/>
          <p:nvPr/>
        </p:nvSpPr>
        <p:spPr>
          <a:xfrm>
            <a:off x="868680" y="2194560"/>
            <a:ext cx="7772400" cy="566928"/>
          </a:xfrm>
          <a:prstGeom prst="rect">
            <a:avLst/>
          </a:prstGeom>
          <a:noFill/>
          <a:ln/>
        </p:spPr>
        <p:txBody>
          <a:bodyPr wrap="square" lIns="0" tIns="0" rIns="0" bIns="0" rtlCol="0" anchor="t"/>
          <a:lstStyle/>
          <a:p>
            <a:pPr indent="0" marL="0">
              <a:buNone/>
            </a:pPr>
            <a:r>
              <a:rPr lang="en-US" sz="1200" dirty="0">
                <a:solidFill>
                  <a:srgbClr val="1B2A41"/>
                </a:solidFill>
                <a:latin typeface="Calibri" pitchFamily="34" charset="0"/>
                <a:ea typeface="Calibri" pitchFamily="34" charset="-122"/>
                <a:cs typeface="Calibri" pitchFamily="34" charset="-120"/>
              </a:rPr>
              <a:t>(a) </a:t>
            </a:r>
            <a:pPr indent="0" marL="0">
              <a:buNone/>
            </a:pPr>
            <a:r>
              <a:rPr lang="en-US" sz="1200" b="1" dirty="0">
                <a:solidFill>
                  <a:srgbClr val="1B2A41"/>
                </a:solidFill>
                <a:latin typeface="Calibri" pitchFamily="34" charset="0"/>
                <a:ea typeface="Calibri" pitchFamily="34" charset="-122"/>
                <a:cs typeface="Calibri" pitchFamily="34" charset="-120"/>
              </a:rPr>
              <a:t>Faster</a:t>
            </a:r>
            <a:pPr indent="0" marL="0">
              <a:buNone/>
            </a:pPr>
            <a:r>
              <a:rPr lang="en-US" sz="1200" dirty="0">
                <a:solidFill>
                  <a:srgbClr val="1B2A41"/>
                </a:solidFill>
                <a:latin typeface="Calibri" pitchFamily="34" charset="0"/>
                <a:ea typeface="Calibri" pitchFamily="34" charset="-122"/>
                <a:cs typeface="Calibri" pitchFamily="34" charset="-120"/>
              </a:rPr>
              <a:t>: more H</a:t>
            </a:r>
            <a:pPr indent="0" marL="0">
              <a:buNone/>
            </a:pPr>
            <a:r>
              <a:rPr lang="en-US" sz="1200" baseline="30000" dirty="0">
                <a:solidFill>
                  <a:srgbClr val="1B2A41"/>
                </a:solidFill>
                <a:latin typeface="Calibri" pitchFamily="34" charset="0"/>
                <a:ea typeface="Calibri" pitchFamily="34" charset="-122"/>
                <a:cs typeface="Calibri" pitchFamily="34" charset="-120"/>
              </a:rPr>
              <a:t>+</a:t>
            </a:r>
            <a:pPr indent="0" marL="0">
              <a:buNone/>
            </a:pPr>
            <a:r>
              <a:rPr lang="en-US" sz="1200" dirty="0">
                <a:solidFill>
                  <a:srgbClr val="1B2A41"/>
                </a:solidFill>
                <a:latin typeface="Calibri" pitchFamily="34" charset="0"/>
                <a:ea typeface="Calibri" pitchFamily="34" charset="-122"/>
                <a:cs typeface="Calibri" pitchFamily="34" charset="-120"/>
              </a:rPr>
              <a:t> ions per litre → more collisions per second.</a:t>
            </a:r>
            <a:endParaRPr lang="en-US" sz="1200" dirty="0"/>
          </a:p>
        </p:txBody>
      </p:sp>
      <p:sp>
        <p:nvSpPr>
          <p:cNvPr id="15" name="Shape 12"/>
          <p:cNvSpPr/>
          <p:nvPr/>
        </p:nvSpPr>
        <p:spPr>
          <a:xfrm>
            <a:off x="457200" y="2779776"/>
            <a:ext cx="274320" cy="274320"/>
          </a:xfrm>
          <a:prstGeom prst="ellipse">
            <a:avLst/>
          </a:prstGeom>
          <a:solidFill>
            <a:srgbClr val="2F6F9F"/>
          </a:solidFill>
          <a:ln w="12700">
            <a:solidFill>
              <a:srgbClr val="2F6F9F"/>
            </a:solidFill>
            <a:prstDash val="solid"/>
          </a:ln>
        </p:spPr>
      </p:sp>
      <p:sp>
        <p:nvSpPr>
          <p:cNvPr id="16" name="Text 13"/>
          <p:cNvSpPr txBox="1"/>
          <p:nvPr/>
        </p:nvSpPr>
        <p:spPr>
          <a:xfrm>
            <a:off x="457200" y="2779776"/>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7" name="Text 14"/>
          <p:cNvSpPr txBox="1"/>
          <p:nvPr/>
        </p:nvSpPr>
        <p:spPr>
          <a:xfrm>
            <a:off x="868680" y="2761488"/>
            <a:ext cx="7772400" cy="566928"/>
          </a:xfrm>
          <a:prstGeom prst="rect">
            <a:avLst/>
          </a:prstGeom>
          <a:noFill/>
          <a:ln/>
        </p:spPr>
        <p:txBody>
          <a:bodyPr wrap="square" lIns="0" tIns="0" rIns="0" bIns="0" rtlCol="0" anchor="t"/>
          <a:lstStyle/>
          <a:p>
            <a:pPr indent="0" marL="0">
              <a:buNone/>
            </a:pPr>
            <a:r>
              <a:rPr lang="en-US" sz="1200" dirty="0">
                <a:solidFill>
                  <a:srgbClr val="1B2A41"/>
                </a:solidFill>
                <a:latin typeface="Calibri" pitchFamily="34" charset="0"/>
                <a:ea typeface="Calibri" pitchFamily="34" charset="-122"/>
                <a:cs typeface="Calibri" pitchFamily="34" charset="-120"/>
              </a:rPr>
              <a:t>(b) </a:t>
            </a:r>
            <a:pPr indent="0" marL="0">
              <a:buNone/>
            </a:pPr>
            <a:r>
              <a:rPr lang="en-US" sz="1200" b="1" dirty="0">
                <a:solidFill>
                  <a:srgbClr val="1B2A41"/>
                </a:solidFill>
                <a:latin typeface="Calibri" pitchFamily="34" charset="0"/>
                <a:ea typeface="Calibri" pitchFamily="34" charset="-122"/>
                <a:cs typeface="Calibri" pitchFamily="34" charset="-120"/>
              </a:rPr>
              <a:t>Faster</a:t>
            </a:r>
            <a:pPr indent="0" marL="0">
              <a:buNone/>
            </a:pPr>
            <a:r>
              <a:rPr lang="en-US" sz="1200" dirty="0">
                <a:solidFill>
                  <a:srgbClr val="1B2A41"/>
                </a:solidFill>
                <a:latin typeface="Calibri" pitchFamily="34" charset="0"/>
                <a:ea typeface="Calibri" pitchFamily="34" charset="-122"/>
                <a:cs typeface="Calibri" pitchFamily="34" charset="-120"/>
              </a:rPr>
              <a:t>: larger surface area of zinc → more collisions per second.</a:t>
            </a:r>
            <a:endParaRPr lang="en-US" sz="1200" dirty="0"/>
          </a:p>
        </p:txBody>
      </p:sp>
      <p:sp>
        <p:nvSpPr>
          <p:cNvPr id="18" name="Shape 15"/>
          <p:cNvSpPr/>
          <p:nvPr/>
        </p:nvSpPr>
        <p:spPr>
          <a:xfrm>
            <a:off x="457200" y="3346704"/>
            <a:ext cx="274320" cy="274320"/>
          </a:xfrm>
          <a:prstGeom prst="ellipse">
            <a:avLst/>
          </a:prstGeom>
          <a:solidFill>
            <a:srgbClr val="B86E00"/>
          </a:solidFill>
          <a:ln w="12700">
            <a:solidFill>
              <a:srgbClr val="B86E00"/>
            </a:solidFill>
            <a:prstDash val="solid"/>
          </a:ln>
        </p:spPr>
      </p:sp>
      <p:sp>
        <p:nvSpPr>
          <p:cNvPr id="19" name="Text 16"/>
          <p:cNvSpPr txBox="1"/>
          <p:nvPr/>
        </p:nvSpPr>
        <p:spPr>
          <a:xfrm>
            <a:off x="457200" y="334670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0" name="Text 17"/>
          <p:cNvSpPr txBox="1"/>
          <p:nvPr/>
        </p:nvSpPr>
        <p:spPr>
          <a:xfrm>
            <a:off x="868680" y="3328416"/>
            <a:ext cx="7772400" cy="566928"/>
          </a:xfrm>
          <a:prstGeom prst="rect">
            <a:avLst/>
          </a:prstGeom>
          <a:noFill/>
          <a:ln/>
        </p:spPr>
        <p:txBody>
          <a:bodyPr wrap="square" lIns="0" tIns="0" rIns="0" bIns="0" rtlCol="0" anchor="t"/>
          <a:lstStyle/>
          <a:p>
            <a:pPr indent="0" marL="0">
              <a:buNone/>
            </a:pPr>
            <a:r>
              <a:rPr lang="en-US" sz="1200" b="1" dirty="0">
                <a:solidFill>
                  <a:srgbClr val="1B2A41"/>
                </a:solidFill>
                <a:latin typeface="Calibri" pitchFamily="34" charset="0"/>
                <a:ea typeface="Calibri" pitchFamily="34" charset="-122"/>
                <a:cs typeface="Calibri" pitchFamily="34" charset="-120"/>
              </a:rPr>
              <a:t>(c) </a:t>
            </a:r>
            <a:pPr indent="0" marL="0">
              <a:buNone/>
            </a:pPr>
            <a:r>
              <a:rPr lang="en-US" sz="1200" b="1" dirty="0">
                <a:solidFill>
                  <a:srgbClr val="1B2A41"/>
                </a:solidFill>
                <a:latin typeface="Calibri" pitchFamily="34" charset="0"/>
                <a:ea typeface="Calibri" pitchFamily="34" charset="-122"/>
                <a:cs typeface="Calibri" pitchFamily="34" charset="-120"/>
              </a:rPr>
              <a:t>Slower</a:t>
            </a:r>
            <a:pPr indent="0" marL="0">
              <a:buNone/>
            </a:pPr>
            <a:r>
              <a:rPr lang="en-US" sz="1200" b="1" dirty="0">
                <a:solidFill>
                  <a:srgbClr val="1B2A41"/>
                </a:solidFill>
                <a:latin typeface="Calibri" pitchFamily="34" charset="0"/>
                <a:ea typeface="Calibri" pitchFamily="34" charset="-122"/>
                <a:cs typeface="Calibri" pitchFamily="34" charset="-120"/>
              </a:rPr>
              <a:t>: particles move more slowly, collide less often, and fewer collisions have energy ≥ E</a:t>
            </a:r>
            <a:pPr indent="0" marL="0">
              <a:buNone/>
            </a:pPr>
            <a:r>
              <a:rPr lang="en-US" sz="1200" b="1" baseline="-40000" dirty="0">
                <a:solidFill>
                  <a:srgbClr val="1B2A41"/>
                </a:solidFill>
                <a:latin typeface="Calibri" pitchFamily="34" charset="0"/>
                <a:ea typeface="Calibri" pitchFamily="34" charset="-122"/>
                <a:cs typeface="Calibri" pitchFamily="34" charset="-120"/>
              </a:rPr>
              <a:t>a</a:t>
            </a:r>
            <a:pPr indent="0" marL="0">
              <a:buNone/>
            </a:pPr>
            <a:r>
              <a:rPr lang="en-US" sz="1200" b="1" dirty="0">
                <a:solidFill>
                  <a:srgbClr val="1B2A41"/>
                </a:solidFill>
                <a:latin typeface="Calibri" pitchFamily="34" charset="0"/>
                <a:ea typeface="Calibri" pitchFamily="34" charset="-122"/>
                <a:cs typeface="Calibri" pitchFamily="34" charset="-120"/>
              </a:rPr>
              <a:t>.</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CR2-LO4</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Pharmacy focus: why medicines expire</a:t>
            </a:r>
            <a:endParaRPr lang="en-US" sz="2000" dirty="0"/>
          </a:p>
        </p:txBody>
      </p:sp>
      <p:pic>
        <p:nvPicPr>
          <p:cNvPr id="7" name="Image 0" descr="/home/claude/build/mol/h2o2.png">    </p:cNvPr>
          <p:cNvPicPr>
            <a:picLocks noChangeAspect="1"/>
          </p:cNvPicPr>
          <p:nvPr/>
        </p:nvPicPr>
        <p:blipFill>
          <a:blip r:embed="rId1"/>
          <a:stretch>
            <a:fillRect/>
          </a:stretch>
        </p:blipFill>
        <p:spPr>
          <a:xfrm>
            <a:off x="8221416" y="192024"/>
            <a:ext cx="290688"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Chemical Reactions II</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Text 7"/>
          <p:cNvSpPr txBox="1"/>
          <p:nvPr/>
        </p:nvSpPr>
        <p:spPr>
          <a:xfrm>
            <a:off x="457200" y="1188720"/>
            <a:ext cx="8229600" cy="365760"/>
          </a:xfrm>
          <a:prstGeom prst="rect">
            <a:avLst/>
          </a:prstGeom>
          <a:noFill/>
          <a:ln/>
        </p:spPr>
        <p:txBody>
          <a:bodyPr wrap="square" lIns="0" tIns="0" rIns="0" bIns="0" rtlCol="0" anchor="t"/>
          <a:lstStyle/>
          <a:p>
            <a:pPr indent="0" marL="0">
              <a:buNone/>
            </a:pPr>
            <a:r>
              <a:rPr lang="en-US" sz="1200" dirty="0">
                <a:solidFill>
                  <a:srgbClr val="1B2A41"/>
                </a:solidFill>
                <a:latin typeface="Calibri" pitchFamily="34" charset="0"/>
                <a:ea typeface="Calibri" pitchFamily="34" charset="-122"/>
                <a:cs typeface="Calibri" pitchFamily="34" charset="-120"/>
              </a:rPr>
              <a:t>Drugs slowly react (degrade) in the pack. Storage instructions are reaction-rate chemistry.</a:t>
            </a:r>
            <a:endParaRPr lang="en-US" sz="12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8229600" cy="914400"/>
        </p:xfrm>
        <a:graphic>
          <a:graphicData uri="http://schemas.openxmlformats.org/drawingml/2006/table">
            <a:tbl>
              <a:tblPr/>
              <a:tblGrid>
                <a:gridCol w="3017520"/>
                <a:gridCol w="3566160"/>
                <a:gridCol w="1645920"/>
              </a:tblGrid>
              <a:tr h="0">
                <a:tc>
                  <a:txBody>
                    <a:bodyPr/>
                    <a:lstStyle/>
                    <a:p>
                      <a:pPr indent="0" marL="0">
                        <a:buNone/>
                      </a:pPr>
                      <a:r>
                        <a:rPr lang="en-US" sz="1050" b="1" dirty="0">
                          <a:solidFill>
                            <a:srgbClr val="2F6F9F"/>
                          </a:solidFill>
                          <a:latin typeface="Calibri" pitchFamily="34" charset="0"/>
                          <a:ea typeface="Calibri" pitchFamily="34" charset="-122"/>
                          <a:cs typeface="Calibri" pitchFamily="34" charset="-120"/>
                        </a:rPr>
                        <a:t>Instruction on the label</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E1EEF7"/>
                    </a:solidFill>
                  </a:tcPr>
                </a:tc>
                <a:tc>
                  <a:txBody>
                    <a:bodyPr/>
                    <a:lstStyle/>
                    <a:p>
                      <a:pPr indent="0" marL="0">
                        <a:buNone/>
                      </a:pPr>
                      <a:r>
                        <a:rPr lang="en-US" sz="1050" b="1" dirty="0">
                          <a:solidFill>
                            <a:srgbClr val="2F6F9F"/>
                          </a:solidFill>
                          <a:latin typeface="Calibri" pitchFamily="34" charset="0"/>
                          <a:ea typeface="Calibri" pitchFamily="34" charset="-122"/>
                          <a:cs typeface="Calibri" pitchFamily="34" charset="-120"/>
                        </a:rPr>
                        <a:t>What it slows down</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E1EEF7"/>
                    </a:solidFill>
                  </a:tcPr>
                </a:tc>
                <a:tc>
                  <a:txBody>
                    <a:bodyPr/>
                    <a:lstStyle/>
                    <a:p>
                      <a:pPr indent="0" marL="0">
                        <a:buNone/>
                      </a:pPr>
                      <a:r>
                        <a:rPr lang="en-US" sz="1050" b="1" dirty="0">
                          <a:solidFill>
                            <a:srgbClr val="2F6F9F"/>
                          </a:solidFill>
                          <a:latin typeface="Calibri" pitchFamily="34" charset="0"/>
                          <a:ea typeface="Calibri" pitchFamily="34" charset="-122"/>
                          <a:cs typeface="Calibri" pitchFamily="34" charset="-120"/>
                        </a:rPr>
                        <a:t>Rate factor</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E1EEF7"/>
                    </a:solidFill>
                  </a:tcPr>
                </a:tc>
              </a:tr>
              <a:tr h="0">
                <a:tc>
                  <a:txBody>
                    <a:bodyPr/>
                    <a:lstStyle/>
                    <a:p>
                      <a:pPr indent="0" marL="0">
                        <a:buNone/>
                      </a:pPr>
                      <a:r>
                        <a:rPr lang="en-US" sz="1050" b="1" dirty="0">
                          <a:solidFill>
                            <a:srgbClr val="1B2A41"/>
                          </a:solidFill>
                          <a:latin typeface="Calibri" pitchFamily="34" charset="0"/>
                          <a:ea typeface="Calibri" pitchFamily="34" charset="-122"/>
                          <a:cs typeface="Calibri" pitchFamily="34" charset="-120"/>
                        </a:rPr>
                        <a:t>'Store below 25 °C' · 'Refrigerate at 2–8 °C' (insulin, many vaccines)</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latin typeface="Calibri" pitchFamily="34" charset="0"/>
                          <a:ea typeface="Calibri" pitchFamily="34" charset="-122"/>
                          <a:cs typeface="Calibri" pitchFamily="34" charset="-120"/>
                        </a:rPr>
                        <a:t>all degradation reactions</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latin typeface="Calibri" pitchFamily="34" charset="0"/>
                          <a:ea typeface="Calibri" pitchFamily="34" charset="-122"/>
                          <a:cs typeface="Calibri" pitchFamily="34" charset="-120"/>
                        </a:rPr>
                        <a:t>temperature</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B2A41"/>
                          </a:solidFill>
                          <a:latin typeface="Calibri" pitchFamily="34" charset="0"/>
                          <a:ea typeface="Calibri" pitchFamily="34" charset="-122"/>
                          <a:cs typeface="Calibri" pitchFamily="34" charset="-120"/>
                        </a:rPr>
                        <a:t>'Keep the container tightly closed' · desiccant sachets</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latin typeface="Calibri" pitchFamily="34" charset="0"/>
                          <a:ea typeface="Calibri" pitchFamily="34" charset="-122"/>
                          <a:cs typeface="Calibri" pitchFamily="34" charset="-120"/>
                        </a:rPr>
                        <a:t>hydrolysis by moisture, e.g. aspirin → salicylic acid + acetic acid (a vinegar smell means it has degraded)</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latin typeface="Calibri" pitchFamily="34" charset="0"/>
                          <a:ea typeface="Calibri" pitchFamily="34" charset="-122"/>
                          <a:cs typeface="Calibri" pitchFamily="34" charset="-120"/>
                        </a:rPr>
                        <a:t>concentration of water</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B2A41"/>
                          </a:solidFill>
                          <a:latin typeface="Calibri" pitchFamily="34" charset="0"/>
                          <a:ea typeface="Calibri" pitchFamily="34" charset="-122"/>
                          <a:cs typeface="Calibri" pitchFamily="34" charset="-120"/>
                        </a:rPr>
                        <a:t>Amber bottles · 'protect from light'</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latin typeface="Calibri" pitchFamily="34" charset="0"/>
                          <a:ea typeface="Calibri" pitchFamily="34" charset="-122"/>
                          <a:cs typeface="Calibri" pitchFamily="34" charset="-120"/>
                        </a:rPr>
                        <a:t>light-driven breakdown (photodegradation)</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latin typeface="Calibri" pitchFamily="34" charset="0"/>
                          <a:ea typeface="Calibri" pitchFamily="34" charset="-122"/>
                          <a:cs typeface="Calibri" pitchFamily="34" charset="-120"/>
                        </a:rPr>
                        <a:t>energy supplied by light</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B2A41"/>
                          </a:solidFill>
                          <a:latin typeface="Calibri" pitchFamily="34" charset="0"/>
                          <a:ea typeface="Calibri" pitchFamily="34" charset="-122"/>
                          <a:cs typeface="Calibri" pitchFamily="34" charset="-120"/>
                        </a:rPr>
                        <a:t>Expiry date</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latin typeface="Calibri" pitchFamily="34" charset="0"/>
                          <a:ea typeface="Calibri" pitchFamily="34" charset="-122"/>
                          <a:cs typeface="Calibri" pitchFamily="34" charset="-120"/>
                        </a:rPr>
                        <a:t>the time until too much drug has broken down to be safe and effective</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latin typeface="Calibri" pitchFamily="34" charset="0"/>
                          <a:ea typeface="Calibri" pitchFamily="34" charset="-122"/>
                          <a:cs typeface="Calibri" pitchFamily="34" charset="-120"/>
                        </a:rPr>
                        <a:t>overall rate</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r>
            </a:tbl>
          </a:graphicData>
        </a:graphic>
      </p:graphicFrame>
      <p:sp>
        <p:nvSpPr>
          <p:cNvPr id="12" name="Text 8"/>
          <p:cNvSpPr txBox="1"/>
          <p:nvPr/>
        </p:nvSpPr>
        <p:spPr>
          <a:xfrm>
            <a:off x="457200" y="4297680"/>
            <a:ext cx="8229600" cy="457200"/>
          </a:xfrm>
          <a:prstGeom prst="rect">
            <a:avLst/>
          </a:prstGeom>
          <a:noFill/>
          <a:ln/>
        </p:spPr>
        <p:txBody>
          <a:bodyPr wrap="square" lIns="0" tIns="0" rIns="0" bIns="0" rtlCol="0" anchor="t"/>
          <a:lstStyle/>
          <a:p>
            <a:pPr indent="0" marL="0">
              <a:buNone/>
            </a:pPr>
            <a:r>
              <a:rPr lang="en-US" sz="900" i="1" dirty="0">
                <a:solidFill>
                  <a:srgbClr val="56657A"/>
                </a:solidFill>
                <a:latin typeface="Calibri" pitchFamily="34" charset="0"/>
                <a:ea typeface="Calibri" pitchFamily="34" charset="-122"/>
                <a:cs typeface="Calibri" pitchFamily="34" charset="-120"/>
              </a:rPr>
              <a:t>Expiry dates come from stability testing: manufacturers measure how fast the drug degrades under set conditions.</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CR2-LO4</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Try it · On the ward</a:t>
            </a:r>
            <a:endParaRPr lang="en-US" sz="2000" dirty="0"/>
          </a:p>
        </p:txBody>
      </p:sp>
      <p:pic>
        <p:nvPicPr>
          <p:cNvPr id="7" name="Image 0" descr="/home/claude/build/mol/h2o2.png">    </p:cNvPr>
          <p:cNvPicPr>
            <a:picLocks noChangeAspect="1"/>
          </p:cNvPicPr>
          <p:nvPr/>
        </p:nvPicPr>
        <p:blipFill>
          <a:blip r:embed="rId1"/>
          <a:stretch>
            <a:fillRect/>
          </a:stretch>
        </p:blipFill>
        <p:spPr>
          <a:xfrm>
            <a:off x="8221416" y="192024"/>
            <a:ext cx="290688"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Chemical Reactions II</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Shape 7"/>
          <p:cNvSpPr/>
          <p:nvPr/>
        </p:nvSpPr>
        <p:spPr>
          <a:xfrm>
            <a:off x="457200" y="1234440"/>
            <a:ext cx="8229600" cy="914400"/>
          </a:xfrm>
          <a:prstGeom prst="roundRect">
            <a:avLst>
              <a:gd name="adj" fmla="val 8000"/>
            </a:avLst>
          </a:prstGeom>
          <a:solidFill>
            <a:srgbClr val="FFFFFF"/>
          </a:solidFill>
          <a:ln w="9525">
            <a:solidFill>
              <a:srgbClr val="D7E0E8"/>
            </a:solidFill>
            <a:prstDash val="solid"/>
          </a:ln>
        </p:spPr>
      </p:sp>
      <p:sp>
        <p:nvSpPr>
          <p:cNvPr id="11" name="Text 8"/>
          <p:cNvSpPr txBox="1"/>
          <p:nvPr/>
        </p:nvSpPr>
        <p:spPr>
          <a:xfrm>
            <a:off x="594360" y="1280160"/>
            <a:ext cx="7955280" cy="822960"/>
          </a:xfrm>
          <a:prstGeom prst="rect">
            <a:avLst/>
          </a:prstGeom>
          <a:noFill/>
          <a:ln/>
        </p:spPr>
        <p:txBody>
          <a:bodyPr wrap="square" lIns="0" tIns="0" rIns="0" bIns="0" rtlCol="0" anchor="ctr"/>
          <a:lstStyle/>
          <a:p>
            <a:pPr indent="0" marL="0">
              <a:buNone/>
            </a:pPr>
            <a:r>
              <a:rPr lang="en-US" sz="1250" dirty="0">
                <a:solidFill>
                  <a:srgbClr val="1B2A41"/>
                </a:solidFill>
                <a:latin typeface="Calibri" pitchFamily="34" charset="0"/>
                <a:ea typeface="Calibri" pitchFamily="34" charset="-122"/>
                <a:cs typeface="Calibri" pitchFamily="34" charset="-120"/>
              </a:rPr>
              <a:t>A patient keeps an opened bottle of aspirin tablets in a hot, steamy bathroom. Name two factors that will speed up the breakdown of the aspirin, and explain each using collision theory.</a:t>
            </a:r>
            <a:endParaRPr lang="en-US" sz="1250" dirty="0"/>
          </a:p>
        </p:txBody>
      </p:sp>
      <p:sp>
        <p:nvSpPr>
          <p:cNvPr id="12" name="Text 9"/>
          <p:cNvSpPr txBox="1"/>
          <p:nvPr/>
        </p:nvSpPr>
        <p:spPr>
          <a:xfrm>
            <a:off x="457200" y="2377440"/>
            <a:ext cx="5486400" cy="274320"/>
          </a:xfrm>
          <a:prstGeom prst="rect">
            <a:avLst/>
          </a:prstGeom>
          <a:noFill/>
          <a:ln/>
        </p:spPr>
        <p:txBody>
          <a:bodyPr wrap="square" lIns="0" tIns="0" rIns="0" bIns="0" rtlCol="0" anchor="ctr"/>
          <a:lstStyle/>
          <a:p>
            <a:pPr indent="0" marL="0">
              <a:buNone/>
            </a:pPr>
            <a:r>
              <a:rPr lang="en-US" sz="1000" i="1" dirty="0">
                <a:solidFill>
                  <a:srgbClr val="56657A"/>
                </a:solidFill>
                <a:latin typeface="Calibri" pitchFamily="34" charset="0"/>
                <a:ea typeface="Calibri" pitchFamily="34" charset="-122"/>
                <a:cs typeface="Calibri" pitchFamily="34" charset="-120"/>
              </a:rPr>
              <a:t>Work it out, then check on the next slide.</a:t>
            </a:r>
            <a:endParaRPr lang="en-US" sz="1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CR2-LO4</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Try it · On the ward · answer</a:t>
            </a:r>
            <a:endParaRPr lang="en-US" sz="2000" dirty="0"/>
          </a:p>
        </p:txBody>
      </p:sp>
      <p:pic>
        <p:nvPicPr>
          <p:cNvPr id="7" name="Image 0" descr="/home/claude/build/mol/h2o2.png">    </p:cNvPr>
          <p:cNvPicPr>
            <a:picLocks noChangeAspect="1"/>
          </p:cNvPicPr>
          <p:nvPr/>
        </p:nvPicPr>
        <p:blipFill>
          <a:blip r:embed="rId1"/>
          <a:stretch>
            <a:fillRect/>
          </a:stretch>
        </p:blipFill>
        <p:spPr>
          <a:xfrm>
            <a:off x="8221416" y="192024"/>
            <a:ext cx="290688"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Chemical Reactions II</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Shape 7"/>
          <p:cNvSpPr/>
          <p:nvPr/>
        </p:nvSpPr>
        <p:spPr>
          <a:xfrm>
            <a:off x="457200" y="1234440"/>
            <a:ext cx="8229600" cy="914400"/>
          </a:xfrm>
          <a:prstGeom prst="roundRect">
            <a:avLst>
              <a:gd name="adj" fmla="val 8000"/>
            </a:avLst>
          </a:prstGeom>
          <a:solidFill>
            <a:srgbClr val="FFFFFF"/>
          </a:solidFill>
          <a:ln w="9525">
            <a:solidFill>
              <a:srgbClr val="D7E0E8"/>
            </a:solidFill>
            <a:prstDash val="solid"/>
          </a:ln>
        </p:spPr>
      </p:sp>
      <p:sp>
        <p:nvSpPr>
          <p:cNvPr id="11" name="Text 8"/>
          <p:cNvSpPr txBox="1"/>
          <p:nvPr/>
        </p:nvSpPr>
        <p:spPr>
          <a:xfrm>
            <a:off x="594360" y="1280160"/>
            <a:ext cx="7955280" cy="822960"/>
          </a:xfrm>
          <a:prstGeom prst="rect">
            <a:avLst/>
          </a:prstGeom>
          <a:noFill/>
          <a:ln/>
        </p:spPr>
        <p:txBody>
          <a:bodyPr wrap="square" lIns="0" tIns="0" rIns="0" bIns="0" rtlCol="0" anchor="ctr"/>
          <a:lstStyle/>
          <a:p>
            <a:pPr indent="0" marL="0">
              <a:buNone/>
            </a:pPr>
            <a:r>
              <a:rPr lang="en-US" sz="1250" dirty="0">
                <a:solidFill>
                  <a:srgbClr val="1B2A41"/>
                </a:solidFill>
                <a:latin typeface="Calibri" pitchFamily="34" charset="0"/>
                <a:ea typeface="Calibri" pitchFamily="34" charset="-122"/>
                <a:cs typeface="Calibri" pitchFamily="34" charset="-120"/>
              </a:rPr>
              <a:t>A patient keeps an opened bottle of aspirin tablets in a hot, steamy bathroom. Name two factors that will speed up the breakdown of the aspirin, and explain each using collision theory.</a:t>
            </a:r>
            <a:endParaRPr lang="en-US" sz="1250" dirty="0"/>
          </a:p>
        </p:txBody>
      </p:sp>
      <p:sp>
        <p:nvSpPr>
          <p:cNvPr id="12" name="Shape 9"/>
          <p:cNvSpPr/>
          <p:nvPr/>
        </p:nvSpPr>
        <p:spPr>
          <a:xfrm>
            <a:off x="457200" y="2331720"/>
            <a:ext cx="8229600" cy="2240280"/>
          </a:xfrm>
          <a:prstGeom prst="roundRect">
            <a:avLst>
              <a:gd name="adj" fmla="val 3265"/>
            </a:avLst>
          </a:prstGeom>
          <a:solidFill>
            <a:srgbClr val="FBEFD9"/>
          </a:solidFill>
          <a:ln w="9525">
            <a:solidFill>
              <a:srgbClr val="FBEFD9"/>
            </a:solidFill>
            <a:prstDash val="solid"/>
          </a:ln>
        </p:spPr>
      </p:sp>
      <p:sp>
        <p:nvSpPr>
          <p:cNvPr id="13" name="Text 10"/>
          <p:cNvSpPr txBox="1"/>
          <p:nvPr/>
        </p:nvSpPr>
        <p:spPr>
          <a:xfrm>
            <a:off x="640080" y="2423160"/>
            <a:ext cx="7863840" cy="2057400"/>
          </a:xfrm>
          <a:prstGeom prst="rect">
            <a:avLst/>
          </a:prstGeom>
          <a:noFill/>
          <a:ln/>
        </p:spPr>
        <p:txBody>
          <a:bodyPr wrap="square" lIns="0" tIns="0" rIns="0" bIns="0" rtlCol="0" anchor="t"/>
          <a:lstStyle/>
          <a:p>
            <a:pPr indent="0" marL="0">
              <a:buNone/>
            </a:pPr>
            <a:r>
              <a:rPr lang="en-US" sz="1100" b="1" dirty="0">
                <a:solidFill>
                  <a:srgbClr val="B86E00"/>
                </a:solidFill>
                <a:latin typeface="Calibri" pitchFamily="34" charset="0"/>
                <a:ea typeface="Calibri" pitchFamily="34" charset="-122"/>
                <a:cs typeface="Calibri" pitchFamily="34" charset="-120"/>
              </a:rPr>
              <a:t>Answer</a:t>
            </a:r>
            <a:endParaRPr lang="en-US" sz="1100" dirty="0"/>
          </a:p>
          <a:p>
            <a:pPr indent="0" marL="0">
              <a:buNone/>
            </a:pPr>
            <a:r>
              <a:rPr lang="en-US" sz="1200" b="1" dirty="0">
                <a:solidFill>
                  <a:srgbClr val="1B2A41"/>
                </a:solidFill>
                <a:latin typeface="Calibri" pitchFamily="34" charset="0"/>
                <a:ea typeface="Calibri" pitchFamily="34" charset="-122"/>
                <a:cs typeface="Calibri" pitchFamily="34" charset="-120"/>
              </a:rPr>
              <a:t>Temperature</a:t>
            </a:r>
            <a:pPr indent="0" marL="0">
              <a:buNone/>
            </a:pPr>
            <a:r>
              <a:rPr lang="en-US" sz="1200" dirty="0">
                <a:solidFill>
                  <a:srgbClr val="1B2A41"/>
                </a:solidFill>
                <a:latin typeface="Calibri" pitchFamily="34" charset="0"/>
                <a:ea typeface="Calibri" pitchFamily="34" charset="-122"/>
                <a:cs typeface="Calibri" pitchFamily="34" charset="-120"/>
              </a:rPr>
              <a:t>: in the warm room, molecules move faster, collide more often and more collisions have energy ≥ E</a:t>
            </a:r>
            <a:pPr indent="0" marL="0">
              <a:buNone/>
            </a:pPr>
            <a:r>
              <a:rPr lang="en-US" sz="1200" baseline="-40000" dirty="0">
                <a:solidFill>
                  <a:srgbClr val="1B2A41"/>
                </a:solidFill>
                <a:latin typeface="Calibri" pitchFamily="34" charset="0"/>
                <a:ea typeface="Calibri" pitchFamily="34" charset="-122"/>
                <a:cs typeface="Calibri" pitchFamily="34" charset="-120"/>
              </a:rPr>
              <a:t>a</a:t>
            </a:r>
            <a:pPr indent="0" marL="0">
              <a:buNone/>
            </a:pPr>
            <a:r>
              <a:rPr lang="en-US" sz="1200" dirty="0">
                <a:solidFill>
                  <a:srgbClr val="1B2A41"/>
                </a:solidFill>
                <a:latin typeface="Calibri" pitchFamily="34" charset="0"/>
                <a:ea typeface="Calibri" pitchFamily="34" charset="-122"/>
                <a:cs typeface="Calibri" pitchFamily="34" charset="-120"/>
              </a:rPr>
              <a:t>.</a:t>
            </a:r>
            <a:endParaRPr lang="en-US" sz="1100" dirty="0"/>
          </a:p>
          <a:p>
            <a:pPr indent="0" marL="0">
              <a:buNone/>
            </a:pPr>
            <a:r>
              <a:rPr lang="en-US" sz="1200" b="1" dirty="0">
                <a:solidFill>
                  <a:srgbClr val="1B2A41"/>
                </a:solidFill>
                <a:latin typeface="Calibri" pitchFamily="34" charset="0"/>
                <a:ea typeface="Calibri" pitchFamily="34" charset="-122"/>
                <a:cs typeface="Calibri" pitchFamily="34" charset="-120"/>
              </a:rPr>
              <a:t>Moisture (concentration of water)</a:t>
            </a:r>
            <a:pPr indent="0" marL="0">
              <a:buNone/>
            </a:pPr>
            <a:r>
              <a:rPr lang="en-US" sz="1200" dirty="0">
                <a:solidFill>
                  <a:srgbClr val="1B2A41"/>
                </a:solidFill>
                <a:latin typeface="Calibri" pitchFamily="34" charset="0"/>
                <a:ea typeface="Calibri" pitchFamily="34" charset="-122"/>
                <a:cs typeface="Calibri" pitchFamily="34" charset="-120"/>
              </a:rPr>
              <a:t>: steam increases the water available to react with aspirin (hydrolysis), so collisions between aspirin and water are more frequent.</a:t>
            </a:r>
            <a:endParaRPr lang="en-US" sz="1100" dirty="0"/>
          </a:p>
          <a:p>
            <a:pPr indent="0" marL="0">
              <a:buNone/>
            </a:pPr>
            <a:r>
              <a:rPr lang="en-US" sz="1200" dirty="0">
                <a:solidFill>
                  <a:srgbClr val="1B2A41"/>
                </a:solidFill>
                <a:latin typeface="Calibri" pitchFamily="34" charset="0"/>
                <a:ea typeface="Calibri" pitchFamily="34" charset="-122"/>
                <a:cs typeface="Calibri" pitchFamily="34" charset="-120"/>
              </a:rPr>
              <a:t>Advice: store in a cool, dry place with the lid closed.</a:t>
            </a:r>
            <a:endParaRPr lang="en-US" sz="1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CR2-LO4</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Key takeaways: reaction rates</a:t>
            </a:r>
            <a:endParaRPr lang="en-US" sz="2000" dirty="0"/>
          </a:p>
        </p:txBody>
      </p:sp>
      <p:pic>
        <p:nvPicPr>
          <p:cNvPr id="7" name="Image 0" descr="/home/claude/build/mol/h2o2.png">    </p:cNvPr>
          <p:cNvPicPr>
            <a:picLocks noChangeAspect="1"/>
          </p:cNvPicPr>
          <p:nvPr/>
        </p:nvPicPr>
        <p:blipFill>
          <a:blip r:embed="rId1"/>
          <a:stretch>
            <a:fillRect/>
          </a:stretch>
        </p:blipFill>
        <p:spPr>
          <a:xfrm>
            <a:off x="8221416" y="192024"/>
            <a:ext cx="290688"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Chemical Reactions II</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Text 7"/>
          <p:cNvSpPr txBox="1"/>
          <p:nvPr/>
        </p:nvSpPr>
        <p:spPr>
          <a:xfrm>
            <a:off x="457200" y="1280160"/>
            <a:ext cx="8229600" cy="33832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Rate = change in concentration ÷ time; it is fastest at the start.</a:t>
            </a:r>
            <a:endParaRPr lang="en-US" sz="1300" dirty="0"/>
          </a:p>
          <a:p>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Higher concentration and larger surface area → more collisions per second → faster.</a:t>
            </a:r>
            <a:endParaRPr lang="en-US" sz="1300" dirty="0"/>
          </a:p>
          <a:p>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Higher temperature → more collisions and a larger fraction with energy ≥ E</a:t>
            </a:r>
            <a:pPr marL="177800" indent="-177800">
              <a:spcAft>
                <a:spcPts val="600"/>
              </a:spcAft>
              <a:buSzPct val="100000"/>
              <a:buChar char="•"/>
            </a:pPr>
            <a:r>
              <a:rPr lang="en-US" sz="1300" baseline="-40000" dirty="0">
                <a:solidFill>
                  <a:srgbClr val="1B2A41"/>
                </a:solidFill>
                <a:latin typeface="Calibri" pitchFamily="34" charset="0"/>
                <a:ea typeface="Calibri" pitchFamily="34" charset="-122"/>
                <a:cs typeface="Calibri" pitchFamily="34" charset="-120"/>
              </a:rPr>
              <a:t>a</a:t>
            </a:r>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 → much faster.</a:t>
            </a:r>
            <a:endParaRPr lang="en-US" sz="1300" dirty="0"/>
          </a:p>
          <a:p>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Storage instructions (cool, dry, dark, closed) slow the reactions that degrade medicines.</a:t>
            </a:r>
            <a:endParaRPr lang="en-US" sz="13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CR2-LO4</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Quick check</a:t>
            </a:r>
            <a:endParaRPr lang="en-US" sz="2000" dirty="0"/>
          </a:p>
        </p:txBody>
      </p:sp>
      <p:pic>
        <p:nvPicPr>
          <p:cNvPr id="7" name="Image 0" descr="/home/claude/build/mol/h2o2.png">    </p:cNvPr>
          <p:cNvPicPr>
            <a:picLocks noChangeAspect="1"/>
          </p:cNvPicPr>
          <p:nvPr/>
        </p:nvPicPr>
        <p:blipFill>
          <a:blip r:embed="rId1"/>
          <a:stretch>
            <a:fillRect/>
          </a:stretch>
        </p:blipFill>
        <p:spPr>
          <a:xfrm>
            <a:off x="8221416" y="192024"/>
            <a:ext cx="290688"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Chemical Reactions II</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Text 7"/>
          <p:cNvSpPr txBox="1"/>
          <p:nvPr/>
        </p:nvSpPr>
        <p:spPr>
          <a:xfrm>
            <a:off x="457200" y="1188720"/>
            <a:ext cx="8229600" cy="640080"/>
          </a:xfrm>
          <a:prstGeom prst="rect">
            <a:avLst/>
          </a:prstGeom>
          <a:noFill/>
          <a:ln/>
        </p:spPr>
        <p:txBody>
          <a:bodyPr wrap="square" lIns="0" tIns="0" rIns="0" bIns="0" rtlCol="0" anchor="t"/>
          <a:lstStyle/>
          <a:p>
            <a:pPr indent="0" marL="0">
              <a:buNone/>
            </a:pPr>
            <a:r>
              <a:rPr lang="en-US" sz="1300" b="1" dirty="0">
                <a:solidFill>
                  <a:srgbClr val="1B2A41"/>
                </a:solidFill>
                <a:latin typeface="Calibri" pitchFamily="34" charset="0"/>
                <a:ea typeface="Calibri" pitchFamily="34" charset="-122"/>
                <a:cs typeface="Calibri" pitchFamily="34" charset="-120"/>
              </a:rPr>
              <a:t>Why does raising the temperature increase the rate of a reaction?</a:t>
            </a:r>
            <a:endParaRPr lang="en-US" sz="1300" dirty="0"/>
          </a:p>
        </p:txBody>
      </p:sp>
      <p:sp>
        <p:nvSpPr>
          <p:cNvPr id="11" name="Shape 8"/>
          <p:cNvSpPr/>
          <p:nvPr/>
        </p:nvSpPr>
        <p:spPr>
          <a:xfrm>
            <a:off x="457200" y="1965960"/>
            <a:ext cx="4023360" cy="594360"/>
          </a:xfrm>
          <a:prstGeom prst="roundRect">
            <a:avLst>
              <a:gd name="adj" fmla="val 12308"/>
            </a:avLst>
          </a:prstGeom>
          <a:solidFill>
            <a:srgbClr val="FFFFFF"/>
          </a:solidFill>
          <a:ln w="9525">
            <a:solidFill>
              <a:srgbClr val="D7E0E8"/>
            </a:solidFill>
            <a:prstDash val="solid"/>
          </a:ln>
        </p:spPr>
      </p:sp>
      <p:sp>
        <p:nvSpPr>
          <p:cNvPr id="12" name="Text 9"/>
          <p:cNvSpPr txBox="1"/>
          <p:nvPr/>
        </p:nvSpPr>
        <p:spPr>
          <a:xfrm>
            <a:off x="594360" y="196596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A   </a:t>
            </a:r>
            <a:pPr indent="0" marL="0">
              <a:buNone/>
            </a:pPr>
            <a:r>
              <a:rPr lang="en-US" sz="1150" dirty="0">
                <a:solidFill>
                  <a:srgbClr val="1B2A41"/>
                </a:solidFill>
                <a:latin typeface="Calibri" pitchFamily="34" charset="0"/>
                <a:ea typeface="Calibri" pitchFamily="34" charset="-122"/>
                <a:cs typeface="Calibri" pitchFamily="34" charset="-120"/>
              </a:rPr>
              <a:t>It lowers the activation energy</a:t>
            </a:r>
            <a:endParaRPr lang="en-US" sz="1100" dirty="0"/>
          </a:p>
        </p:txBody>
      </p:sp>
      <p:sp>
        <p:nvSpPr>
          <p:cNvPr id="13" name="Shape 10"/>
          <p:cNvSpPr/>
          <p:nvPr/>
        </p:nvSpPr>
        <p:spPr>
          <a:xfrm>
            <a:off x="4663440" y="1965960"/>
            <a:ext cx="4023360" cy="594360"/>
          </a:xfrm>
          <a:prstGeom prst="roundRect">
            <a:avLst>
              <a:gd name="adj" fmla="val 12308"/>
            </a:avLst>
          </a:prstGeom>
          <a:solidFill>
            <a:srgbClr val="FFFFFF"/>
          </a:solidFill>
          <a:ln w="9525">
            <a:solidFill>
              <a:srgbClr val="D7E0E8"/>
            </a:solidFill>
            <a:prstDash val="solid"/>
          </a:ln>
        </p:spPr>
      </p:sp>
      <p:sp>
        <p:nvSpPr>
          <p:cNvPr id="14" name="Text 11"/>
          <p:cNvSpPr txBox="1"/>
          <p:nvPr/>
        </p:nvSpPr>
        <p:spPr>
          <a:xfrm>
            <a:off x="4800600" y="196596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B   </a:t>
            </a:r>
            <a:pPr indent="0" marL="0">
              <a:buNone/>
            </a:pPr>
            <a:r>
              <a:rPr lang="en-US" sz="1150" dirty="0">
                <a:solidFill>
                  <a:srgbClr val="1B2A41"/>
                </a:solidFill>
                <a:latin typeface="Calibri" pitchFamily="34" charset="0"/>
                <a:ea typeface="Calibri" pitchFamily="34" charset="-122"/>
                <a:cs typeface="Calibri" pitchFamily="34" charset="-120"/>
              </a:rPr>
              <a:t>It increases the fraction of collisions with energy ≥ E</a:t>
            </a:r>
            <a:pPr indent="0" marL="0">
              <a:buNone/>
            </a:pPr>
            <a:r>
              <a:rPr lang="en-US" sz="1150" baseline="-40000" dirty="0">
                <a:solidFill>
                  <a:srgbClr val="1B2A41"/>
                </a:solidFill>
                <a:latin typeface="Calibri" pitchFamily="34" charset="0"/>
                <a:ea typeface="Calibri" pitchFamily="34" charset="-122"/>
                <a:cs typeface="Calibri" pitchFamily="34" charset="-120"/>
              </a:rPr>
              <a:t>a</a:t>
            </a:r>
            <a:endParaRPr lang="en-US" sz="1100" dirty="0"/>
          </a:p>
        </p:txBody>
      </p:sp>
      <p:sp>
        <p:nvSpPr>
          <p:cNvPr id="15" name="Shape 12"/>
          <p:cNvSpPr/>
          <p:nvPr/>
        </p:nvSpPr>
        <p:spPr>
          <a:xfrm>
            <a:off x="457200" y="2697480"/>
            <a:ext cx="4023360" cy="594360"/>
          </a:xfrm>
          <a:prstGeom prst="roundRect">
            <a:avLst>
              <a:gd name="adj" fmla="val 12308"/>
            </a:avLst>
          </a:prstGeom>
          <a:solidFill>
            <a:srgbClr val="FFFFFF"/>
          </a:solidFill>
          <a:ln w="9525">
            <a:solidFill>
              <a:srgbClr val="D7E0E8"/>
            </a:solidFill>
            <a:prstDash val="solid"/>
          </a:ln>
        </p:spPr>
      </p:sp>
      <p:sp>
        <p:nvSpPr>
          <p:cNvPr id="16" name="Text 13"/>
          <p:cNvSpPr txBox="1"/>
          <p:nvPr/>
        </p:nvSpPr>
        <p:spPr>
          <a:xfrm>
            <a:off x="594360" y="269748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C   </a:t>
            </a:r>
            <a:pPr indent="0" marL="0">
              <a:buNone/>
            </a:pPr>
            <a:r>
              <a:rPr lang="en-US" sz="1150" dirty="0">
                <a:solidFill>
                  <a:srgbClr val="1B2A41"/>
                </a:solidFill>
                <a:latin typeface="Calibri" pitchFamily="34" charset="0"/>
                <a:ea typeface="Calibri" pitchFamily="34" charset="-122"/>
                <a:cs typeface="Calibri" pitchFamily="34" charset="-120"/>
              </a:rPr>
              <a:t>It changes ΔH from positive to negative</a:t>
            </a:r>
            <a:endParaRPr lang="en-US" sz="1100" dirty="0"/>
          </a:p>
        </p:txBody>
      </p:sp>
      <p:sp>
        <p:nvSpPr>
          <p:cNvPr id="17" name="Shape 14"/>
          <p:cNvSpPr/>
          <p:nvPr/>
        </p:nvSpPr>
        <p:spPr>
          <a:xfrm>
            <a:off x="4663440" y="2697480"/>
            <a:ext cx="4023360" cy="594360"/>
          </a:xfrm>
          <a:prstGeom prst="roundRect">
            <a:avLst>
              <a:gd name="adj" fmla="val 12308"/>
            </a:avLst>
          </a:prstGeom>
          <a:solidFill>
            <a:srgbClr val="FFFFFF"/>
          </a:solidFill>
          <a:ln w="9525">
            <a:solidFill>
              <a:srgbClr val="D7E0E8"/>
            </a:solidFill>
            <a:prstDash val="solid"/>
          </a:ln>
        </p:spPr>
      </p:sp>
      <p:sp>
        <p:nvSpPr>
          <p:cNvPr id="18" name="Text 15"/>
          <p:cNvSpPr txBox="1"/>
          <p:nvPr/>
        </p:nvSpPr>
        <p:spPr>
          <a:xfrm>
            <a:off x="4800600" y="269748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D   </a:t>
            </a:r>
            <a:pPr indent="0" marL="0">
              <a:buNone/>
            </a:pPr>
            <a:r>
              <a:rPr lang="en-US" sz="1150" dirty="0">
                <a:solidFill>
                  <a:srgbClr val="1B2A41"/>
                </a:solidFill>
                <a:latin typeface="Calibri" pitchFamily="34" charset="0"/>
                <a:ea typeface="Calibri" pitchFamily="34" charset="-122"/>
                <a:cs typeface="Calibri" pitchFamily="34" charset="-120"/>
              </a:rPr>
              <a:t>It increases the number of reactant particles</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CR2-LO4</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Quick check · answer</a:t>
            </a:r>
            <a:endParaRPr lang="en-US" sz="2000" dirty="0"/>
          </a:p>
        </p:txBody>
      </p:sp>
      <p:pic>
        <p:nvPicPr>
          <p:cNvPr id="7" name="Image 0" descr="/home/claude/build/mol/h2o2.png">    </p:cNvPr>
          <p:cNvPicPr>
            <a:picLocks noChangeAspect="1"/>
          </p:cNvPicPr>
          <p:nvPr/>
        </p:nvPicPr>
        <p:blipFill>
          <a:blip r:embed="rId1"/>
          <a:stretch>
            <a:fillRect/>
          </a:stretch>
        </p:blipFill>
        <p:spPr>
          <a:xfrm>
            <a:off x="8221416" y="192024"/>
            <a:ext cx="290688"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Chemical Reactions II</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Text 7"/>
          <p:cNvSpPr txBox="1"/>
          <p:nvPr/>
        </p:nvSpPr>
        <p:spPr>
          <a:xfrm>
            <a:off x="457200" y="1188720"/>
            <a:ext cx="8229600" cy="640080"/>
          </a:xfrm>
          <a:prstGeom prst="rect">
            <a:avLst/>
          </a:prstGeom>
          <a:noFill/>
          <a:ln/>
        </p:spPr>
        <p:txBody>
          <a:bodyPr wrap="square" lIns="0" tIns="0" rIns="0" bIns="0" rtlCol="0" anchor="t"/>
          <a:lstStyle/>
          <a:p>
            <a:pPr indent="0" marL="0">
              <a:buNone/>
            </a:pPr>
            <a:r>
              <a:rPr lang="en-US" sz="1300" b="1" dirty="0">
                <a:solidFill>
                  <a:srgbClr val="1B2A41"/>
                </a:solidFill>
                <a:latin typeface="Calibri" pitchFamily="34" charset="0"/>
                <a:ea typeface="Calibri" pitchFamily="34" charset="-122"/>
                <a:cs typeface="Calibri" pitchFamily="34" charset="-120"/>
              </a:rPr>
              <a:t>Why does raising the temperature increase the rate of a reaction?</a:t>
            </a:r>
            <a:endParaRPr lang="en-US" sz="1300" dirty="0"/>
          </a:p>
        </p:txBody>
      </p:sp>
      <p:sp>
        <p:nvSpPr>
          <p:cNvPr id="11" name="Shape 8"/>
          <p:cNvSpPr/>
          <p:nvPr/>
        </p:nvSpPr>
        <p:spPr>
          <a:xfrm>
            <a:off x="457200" y="1965960"/>
            <a:ext cx="4023360" cy="594360"/>
          </a:xfrm>
          <a:prstGeom prst="roundRect">
            <a:avLst>
              <a:gd name="adj" fmla="val 12308"/>
            </a:avLst>
          </a:prstGeom>
          <a:solidFill>
            <a:srgbClr val="FFFFFF"/>
          </a:solidFill>
          <a:ln w="9525">
            <a:solidFill>
              <a:srgbClr val="D7E0E8"/>
            </a:solidFill>
            <a:prstDash val="solid"/>
          </a:ln>
        </p:spPr>
      </p:sp>
      <p:sp>
        <p:nvSpPr>
          <p:cNvPr id="12" name="Text 9"/>
          <p:cNvSpPr txBox="1"/>
          <p:nvPr/>
        </p:nvSpPr>
        <p:spPr>
          <a:xfrm>
            <a:off x="594360" y="196596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A   </a:t>
            </a:r>
            <a:pPr indent="0" marL="0">
              <a:buNone/>
            </a:pPr>
            <a:r>
              <a:rPr lang="en-US" sz="1150" dirty="0">
                <a:solidFill>
                  <a:srgbClr val="1B2A41"/>
                </a:solidFill>
                <a:latin typeface="Calibri" pitchFamily="34" charset="0"/>
                <a:ea typeface="Calibri" pitchFamily="34" charset="-122"/>
                <a:cs typeface="Calibri" pitchFamily="34" charset="-120"/>
              </a:rPr>
              <a:t>It lowers the activation energy</a:t>
            </a:r>
            <a:endParaRPr lang="en-US" sz="1100" dirty="0"/>
          </a:p>
        </p:txBody>
      </p:sp>
      <p:sp>
        <p:nvSpPr>
          <p:cNvPr id="13" name="Shape 10"/>
          <p:cNvSpPr/>
          <p:nvPr/>
        </p:nvSpPr>
        <p:spPr>
          <a:xfrm>
            <a:off x="4663440" y="1965960"/>
            <a:ext cx="4023360" cy="594360"/>
          </a:xfrm>
          <a:prstGeom prst="roundRect">
            <a:avLst>
              <a:gd name="adj" fmla="val 12308"/>
            </a:avLst>
          </a:prstGeom>
          <a:solidFill>
            <a:srgbClr val="E3F3E9"/>
          </a:solidFill>
          <a:ln w="9525">
            <a:solidFill>
              <a:srgbClr val="2E7D4F"/>
            </a:solidFill>
            <a:prstDash val="solid"/>
          </a:ln>
        </p:spPr>
      </p:sp>
      <p:sp>
        <p:nvSpPr>
          <p:cNvPr id="14" name="Text 11"/>
          <p:cNvSpPr txBox="1"/>
          <p:nvPr/>
        </p:nvSpPr>
        <p:spPr>
          <a:xfrm>
            <a:off x="4800600" y="196596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B   </a:t>
            </a:r>
            <a:pPr indent="0" marL="0">
              <a:buNone/>
            </a:pPr>
            <a:r>
              <a:rPr lang="en-US" sz="1150" dirty="0">
                <a:solidFill>
                  <a:srgbClr val="1B2A41"/>
                </a:solidFill>
                <a:latin typeface="Calibri" pitchFamily="34" charset="0"/>
                <a:ea typeface="Calibri" pitchFamily="34" charset="-122"/>
                <a:cs typeface="Calibri" pitchFamily="34" charset="-120"/>
              </a:rPr>
              <a:t>It increases the fraction of collisions with energy ≥ E</a:t>
            </a:r>
            <a:pPr indent="0" marL="0">
              <a:buNone/>
            </a:pPr>
            <a:r>
              <a:rPr lang="en-US" sz="1150" baseline="-40000" dirty="0">
                <a:solidFill>
                  <a:srgbClr val="1B2A41"/>
                </a:solidFill>
                <a:latin typeface="Calibri" pitchFamily="34" charset="0"/>
                <a:ea typeface="Calibri" pitchFamily="34" charset="-122"/>
                <a:cs typeface="Calibri" pitchFamily="34" charset="-120"/>
              </a:rPr>
              <a:t>a</a:t>
            </a:r>
            <a:endParaRPr lang="en-US" sz="1100" dirty="0"/>
          </a:p>
        </p:txBody>
      </p:sp>
      <p:sp>
        <p:nvSpPr>
          <p:cNvPr id="15" name="Shape 12"/>
          <p:cNvSpPr/>
          <p:nvPr/>
        </p:nvSpPr>
        <p:spPr>
          <a:xfrm>
            <a:off x="457200" y="2697480"/>
            <a:ext cx="4023360" cy="594360"/>
          </a:xfrm>
          <a:prstGeom prst="roundRect">
            <a:avLst>
              <a:gd name="adj" fmla="val 12308"/>
            </a:avLst>
          </a:prstGeom>
          <a:solidFill>
            <a:srgbClr val="FFFFFF"/>
          </a:solidFill>
          <a:ln w="9525">
            <a:solidFill>
              <a:srgbClr val="D7E0E8"/>
            </a:solidFill>
            <a:prstDash val="solid"/>
          </a:ln>
        </p:spPr>
      </p:sp>
      <p:sp>
        <p:nvSpPr>
          <p:cNvPr id="16" name="Text 13"/>
          <p:cNvSpPr txBox="1"/>
          <p:nvPr/>
        </p:nvSpPr>
        <p:spPr>
          <a:xfrm>
            <a:off x="594360" y="269748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C   </a:t>
            </a:r>
            <a:pPr indent="0" marL="0">
              <a:buNone/>
            </a:pPr>
            <a:r>
              <a:rPr lang="en-US" sz="1150" dirty="0">
                <a:solidFill>
                  <a:srgbClr val="1B2A41"/>
                </a:solidFill>
                <a:latin typeface="Calibri" pitchFamily="34" charset="0"/>
                <a:ea typeface="Calibri" pitchFamily="34" charset="-122"/>
                <a:cs typeface="Calibri" pitchFamily="34" charset="-120"/>
              </a:rPr>
              <a:t>It changes ΔH from positive to negative</a:t>
            </a:r>
            <a:endParaRPr lang="en-US" sz="1100" dirty="0"/>
          </a:p>
        </p:txBody>
      </p:sp>
      <p:sp>
        <p:nvSpPr>
          <p:cNvPr id="17" name="Shape 14"/>
          <p:cNvSpPr/>
          <p:nvPr/>
        </p:nvSpPr>
        <p:spPr>
          <a:xfrm>
            <a:off x="4663440" y="2697480"/>
            <a:ext cx="4023360" cy="594360"/>
          </a:xfrm>
          <a:prstGeom prst="roundRect">
            <a:avLst>
              <a:gd name="adj" fmla="val 12308"/>
            </a:avLst>
          </a:prstGeom>
          <a:solidFill>
            <a:srgbClr val="FFFFFF"/>
          </a:solidFill>
          <a:ln w="9525">
            <a:solidFill>
              <a:srgbClr val="D7E0E8"/>
            </a:solidFill>
            <a:prstDash val="solid"/>
          </a:ln>
        </p:spPr>
      </p:sp>
      <p:sp>
        <p:nvSpPr>
          <p:cNvPr id="18" name="Text 15"/>
          <p:cNvSpPr txBox="1"/>
          <p:nvPr/>
        </p:nvSpPr>
        <p:spPr>
          <a:xfrm>
            <a:off x="4800600" y="269748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D   </a:t>
            </a:r>
            <a:pPr indent="0" marL="0">
              <a:buNone/>
            </a:pPr>
            <a:r>
              <a:rPr lang="en-US" sz="1150" dirty="0">
                <a:solidFill>
                  <a:srgbClr val="1B2A41"/>
                </a:solidFill>
                <a:latin typeface="Calibri" pitchFamily="34" charset="0"/>
                <a:ea typeface="Calibri" pitchFamily="34" charset="-122"/>
                <a:cs typeface="Calibri" pitchFamily="34" charset="-120"/>
              </a:rPr>
              <a:t>It increases the number of reactant particles</a:t>
            </a:r>
            <a:endParaRPr lang="en-US" sz="1100" dirty="0"/>
          </a:p>
        </p:txBody>
      </p:sp>
      <p:sp>
        <p:nvSpPr>
          <p:cNvPr id="19" name="Text 16"/>
          <p:cNvSpPr txBox="1"/>
          <p:nvPr/>
        </p:nvSpPr>
        <p:spPr>
          <a:xfrm>
            <a:off x="457200" y="3520440"/>
            <a:ext cx="8229600" cy="731520"/>
          </a:xfrm>
          <a:prstGeom prst="rect">
            <a:avLst/>
          </a:prstGeom>
          <a:noFill/>
          <a:ln/>
        </p:spPr>
        <p:txBody>
          <a:bodyPr wrap="square" lIns="0" tIns="0" rIns="0" bIns="0" rtlCol="0" anchor="t"/>
          <a:lstStyle/>
          <a:p>
            <a:pPr indent="0" marL="0">
              <a:buNone/>
            </a:pPr>
            <a:r>
              <a:rPr lang="en-US" sz="1150" b="1" dirty="0">
                <a:solidFill>
                  <a:srgbClr val="1B2A41"/>
                </a:solidFill>
                <a:latin typeface="Calibri" pitchFamily="34" charset="0"/>
                <a:ea typeface="Calibri" pitchFamily="34" charset="-122"/>
                <a:cs typeface="Calibri" pitchFamily="34" charset="-120"/>
              </a:rPr>
              <a:t>Answer B. </a:t>
            </a:r>
            <a:pPr indent="0" marL="0">
              <a:buNone/>
            </a:pPr>
            <a:r>
              <a:rPr lang="en-US" sz="1150" dirty="0">
                <a:solidFill>
                  <a:srgbClr val="1B2A41"/>
                </a:solidFill>
                <a:latin typeface="Calibri" pitchFamily="34" charset="0"/>
                <a:ea typeface="Calibri" pitchFamily="34" charset="-122"/>
                <a:cs typeface="Calibri" pitchFamily="34" charset="-120"/>
              </a:rPr>
              <a:t>Temperature does not change E</a:t>
            </a:r>
            <a:pPr indent="0" marL="0">
              <a:buNone/>
            </a:pPr>
            <a:r>
              <a:rPr lang="en-US" sz="1150" baseline="-40000" dirty="0">
                <a:solidFill>
                  <a:srgbClr val="1B2A41"/>
                </a:solidFill>
                <a:latin typeface="Calibri" pitchFamily="34" charset="0"/>
                <a:ea typeface="Calibri" pitchFamily="34" charset="-122"/>
                <a:cs typeface="Calibri" pitchFamily="34" charset="-120"/>
              </a:rPr>
              <a:t>a</a:t>
            </a:r>
            <a:pPr indent="0" marL="0">
              <a:buNone/>
            </a:pPr>
            <a:r>
              <a:rPr lang="en-US" sz="1150" dirty="0">
                <a:solidFill>
                  <a:srgbClr val="1B2A41"/>
                </a:solidFill>
                <a:latin typeface="Calibri" pitchFamily="34" charset="0"/>
                <a:ea typeface="Calibri" pitchFamily="34" charset="-122"/>
                <a:cs typeface="Calibri" pitchFamily="34" charset="-120"/>
              </a:rPr>
              <a:t> or ΔH. It gives more particles enough energy, and they also collide more often.</a:t>
            </a:r>
            <a:endParaRPr lang="en-US" sz="11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1B2A41"/>
        </a:solidFill>
      </p:bgPr>
    </p:bg>
    <p:spTree>
      <p:nvGrpSpPr>
        <p:cNvPr id="1" name=""/>
        <p:cNvGrpSpPr/>
        <p:nvPr/>
      </p:nvGrpSpPr>
      <p:grpSpPr>
        <a:xfrm>
          <a:off x="0" y="0"/>
          <a:ext cx="0" cy="0"/>
          <a:chOff x="0" y="0"/>
          <a:chExt cx="0" cy="0"/>
        </a:xfrm>
      </p:grpSpPr>
      <p:sp>
        <p:nvSpPr>
          <p:cNvPr id="2" name="Text 0"/>
          <p:cNvSpPr txBox="1"/>
          <p:nvPr/>
        </p:nvSpPr>
        <p:spPr>
          <a:xfrm>
            <a:off x="548640" y="640080"/>
            <a:ext cx="1371600" cy="1005840"/>
          </a:xfrm>
          <a:prstGeom prst="rect">
            <a:avLst/>
          </a:prstGeom>
          <a:noFill/>
          <a:ln/>
        </p:spPr>
        <p:txBody>
          <a:bodyPr wrap="square" lIns="0" tIns="0" rIns="0" bIns="0" rtlCol="0" anchor="ctr"/>
          <a:lstStyle/>
          <a:p>
            <a:pPr indent="0" marL="0">
              <a:buNone/>
            </a:pPr>
            <a:r>
              <a:rPr lang="en-US" sz="6600" b="1" dirty="0">
                <a:solidFill>
                  <a:srgbClr val="F0B24A"/>
                </a:solidFill>
                <a:latin typeface="Calibri" pitchFamily="34" charset="0"/>
                <a:ea typeface="Calibri" pitchFamily="34" charset="-122"/>
                <a:cs typeface="Calibri" pitchFamily="34" charset="-120"/>
              </a:rPr>
              <a:t>5</a:t>
            </a:r>
            <a:endParaRPr lang="en-US" sz="6600" dirty="0"/>
          </a:p>
        </p:txBody>
      </p:sp>
      <p:sp>
        <p:nvSpPr>
          <p:cNvPr id="3" name="Text 1"/>
          <p:cNvSpPr txBox="1"/>
          <p:nvPr/>
        </p:nvSpPr>
        <p:spPr>
          <a:xfrm>
            <a:off x="548640" y="1691640"/>
            <a:ext cx="2743200" cy="228600"/>
          </a:xfrm>
          <a:prstGeom prst="rect">
            <a:avLst/>
          </a:prstGeom>
          <a:noFill/>
          <a:ln/>
        </p:spPr>
        <p:txBody>
          <a:bodyPr wrap="square" lIns="0" tIns="0" rIns="0" bIns="0" rtlCol="0" anchor="ctr"/>
          <a:lstStyle/>
          <a:p>
            <a:pPr indent="0" marL="0">
              <a:buNone/>
            </a:pPr>
            <a:r>
              <a:rPr lang="en-US" sz="900" b="1" spc="200" kern="0" dirty="0">
                <a:solidFill>
                  <a:srgbClr val="A3B1C2"/>
                </a:solidFill>
                <a:latin typeface="Calibri" pitchFamily="34" charset="0"/>
                <a:ea typeface="Calibri" pitchFamily="34" charset="-122"/>
                <a:cs typeface="Calibri" pitchFamily="34" charset="-120"/>
              </a:rPr>
              <a:t>PART 5</a:t>
            </a:r>
            <a:endParaRPr lang="en-US" sz="900" dirty="0"/>
          </a:p>
        </p:txBody>
      </p:sp>
      <p:sp>
        <p:nvSpPr>
          <p:cNvPr id="4" name="Text 2"/>
          <p:cNvSpPr txBox="1"/>
          <p:nvPr/>
        </p:nvSpPr>
        <p:spPr>
          <a:xfrm>
            <a:off x="548640" y="1920240"/>
            <a:ext cx="6400800" cy="822960"/>
          </a:xfrm>
          <a:prstGeom prst="rect">
            <a:avLst/>
          </a:prstGeom>
          <a:noFill/>
          <a:ln/>
        </p:spPr>
        <p:txBody>
          <a:bodyPr wrap="square" lIns="0" tIns="0" rIns="0" bIns="0" rtlCol="0" anchor="t"/>
          <a:lstStyle/>
          <a:p>
            <a:pPr indent="0" marL="0">
              <a:buNone/>
            </a:pPr>
            <a:r>
              <a:rPr lang="en-US" sz="2600" b="1" dirty="0">
                <a:solidFill>
                  <a:srgbClr val="FFFFFF"/>
                </a:solidFill>
                <a:latin typeface="Calibri" pitchFamily="34" charset="0"/>
                <a:ea typeface="Calibri" pitchFamily="34" charset="-122"/>
                <a:cs typeface="Calibri" pitchFamily="34" charset="-120"/>
              </a:rPr>
              <a:t>Catalysts and enzymes</a:t>
            </a:r>
            <a:endParaRPr lang="en-US" sz="2600" dirty="0"/>
          </a:p>
        </p:txBody>
      </p:sp>
      <p:sp>
        <p:nvSpPr>
          <p:cNvPr id="5" name="Text 3"/>
          <p:cNvSpPr txBox="1"/>
          <p:nvPr/>
        </p:nvSpPr>
        <p:spPr>
          <a:xfrm>
            <a:off x="548640" y="2788920"/>
            <a:ext cx="6400800" cy="548640"/>
          </a:xfrm>
          <a:prstGeom prst="rect">
            <a:avLst/>
          </a:prstGeom>
          <a:noFill/>
          <a:ln/>
        </p:spPr>
        <p:txBody>
          <a:bodyPr wrap="square" lIns="0" tIns="0" rIns="0" bIns="0" rtlCol="0" anchor="t"/>
          <a:lstStyle/>
          <a:p>
            <a:pPr indent="0" marL="0">
              <a:buNone/>
            </a:pPr>
            <a:r>
              <a:rPr lang="en-US" sz="1200" dirty="0">
                <a:solidFill>
                  <a:srgbClr val="A3B1C2"/>
                </a:solidFill>
                <a:latin typeface="Calibri" pitchFamily="34" charset="0"/>
                <a:ea typeface="Calibri" pitchFamily="34" charset="-122"/>
                <a:cs typeface="Calibri" pitchFamily="34" charset="-120"/>
              </a:rPr>
              <a:t>A catalyst opens an easier path over the energy hill and comes out unchanged.</a:t>
            </a:r>
            <a:endParaRPr lang="en-US" sz="1200" dirty="0"/>
          </a:p>
        </p:txBody>
      </p:sp>
      <p:sp>
        <p:nvSpPr>
          <p:cNvPr id="6" name="Text 4"/>
          <p:cNvSpPr txBox="1"/>
          <p:nvPr/>
        </p:nvSpPr>
        <p:spPr>
          <a:xfrm>
            <a:off x="548640" y="3520440"/>
            <a:ext cx="5486400" cy="274320"/>
          </a:xfrm>
          <a:prstGeom prst="rect">
            <a:avLst/>
          </a:prstGeom>
          <a:noFill/>
          <a:ln/>
        </p:spPr>
        <p:txBody>
          <a:bodyPr wrap="square" lIns="0" tIns="0" rIns="0" bIns="0" rtlCol="0" anchor="ctr"/>
          <a:lstStyle/>
          <a:p>
            <a:pPr indent="0" marL="0">
              <a:buNone/>
            </a:pPr>
            <a:r>
              <a:rPr lang="en-US" sz="900" b="1" dirty="0">
                <a:solidFill>
                  <a:srgbClr val="7DB6E3"/>
                </a:solidFill>
                <a:latin typeface="Calibri" pitchFamily="34" charset="0"/>
                <a:ea typeface="Calibri" pitchFamily="34" charset="-122"/>
                <a:cs typeface="Calibri" pitchFamily="34" charset="-120"/>
              </a:rPr>
              <a:t>CR2-LO5 · Ball 6.S</a:t>
            </a:r>
            <a:endParaRPr lang="en-US" sz="900" dirty="0"/>
          </a:p>
        </p:txBody>
      </p:sp>
      <p:pic>
        <p:nvPicPr>
          <p:cNvPr id="7" name="Image 0" descr="/home/claude/build/mol/h2o2.png">    </p:cNvPr>
          <p:cNvPicPr>
            <a:picLocks noChangeAspect="1"/>
          </p:cNvPicPr>
          <p:nvPr/>
        </p:nvPicPr>
        <p:blipFill>
          <a:blip r:embed="rId1"/>
          <a:stretch>
            <a:fillRect/>
          </a:stretch>
        </p:blipFill>
        <p:spPr>
          <a:xfrm>
            <a:off x="6877703" y="640080"/>
            <a:ext cx="692115" cy="914400"/>
          </a:xfrm>
          <a:prstGeom prst="rect">
            <a:avLst/>
          </a:prstGeom>
        </p:spPr>
      </p:pic>
      <p:pic>
        <p:nvPicPr>
          <p:cNvPr id="8" name="Image 1" descr="/home/claude/build/mol/o2.png">    </p:cNvPr>
          <p:cNvPicPr>
            <a:picLocks noChangeAspect="1"/>
          </p:cNvPicPr>
          <p:nvPr/>
        </p:nvPicPr>
        <p:blipFill>
          <a:blip r:embed="rId2"/>
          <a:stretch>
            <a:fillRect/>
          </a:stretch>
        </p:blipFill>
        <p:spPr>
          <a:xfrm>
            <a:off x="7276514" y="2834640"/>
            <a:ext cx="1174652" cy="548640"/>
          </a:xfrm>
          <a:prstGeom prst="rect">
            <a:avLst/>
          </a:prstGeom>
        </p:spPr>
      </p:pic>
      <p:pic>
        <p:nvPicPr>
          <p:cNvPr id="9" name="Image 2" descr="/home/claude/build/mol/water.png">    </p:cNvPr>
          <p:cNvPicPr>
            <a:picLocks noChangeAspect="1"/>
          </p:cNvPicPr>
          <p:nvPr/>
        </p:nvPicPr>
        <p:blipFill>
          <a:blip r:embed="rId3"/>
          <a:stretch>
            <a:fillRect/>
          </a:stretch>
        </p:blipFill>
        <p:spPr>
          <a:xfrm>
            <a:off x="5697445" y="3794760"/>
            <a:ext cx="675190" cy="457200"/>
          </a:xfrm>
          <a:prstGeom prst="rect">
            <a:avLst/>
          </a:prstGeom>
        </p:spPr>
      </p:pic>
      <p:sp>
        <p:nvSpPr>
          <p:cNvPr id="10"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A3B1C2"/>
                </a:solidFill>
                <a:latin typeface="Calibri" pitchFamily="34" charset="0"/>
                <a:ea typeface="Calibri" pitchFamily="34" charset="-122"/>
                <a:cs typeface="Calibri" pitchFamily="34" charset="-120"/>
              </a:rPr>
              <a:t>PHD115 · Chemical Reactions II</a:t>
            </a:r>
            <a:endParaRPr lang="en-US" sz="800" dirty="0"/>
          </a:p>
        </p:txBody>
      </p:sp>
      <p:sp>
        <p:nvSpPr>
          <p:cNvPr id="11"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F0B24A"/>
                </a:solidFill>
                <a:latin typeface="Calibri" pitchFamily="34" charset="0"/>
                <a:ea typeface="Calibri" pitchFamily="34" charset="-122"/>
                <a:cs typeface="Calibri" pitchFamily="34" charset="-120"/>
              </a:rPr>
              <a:t>Dr. NAM · Faculty of Pharmacy, UiTM Bertam, Penang</a:t>
            </a:r>
            <a:endParaRPr lang="en-US" sz="8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CR2-LO5</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How a catalyst works</a:t>
            </a:r>
            <a:endParaRPr lang="en-US" sz="2000" dirty="0"/>
          </a:p>
        </p:txBody>
      </p:sp>
      <p:pic>
        <p:nvPicPr>
          <p:cNvPr id="7" name="Image 0" descr="/home/claude/build/mol/h2o2.png">    </p:cNvPr>
          <p:cNvPicPr>
            <a:picLocks noChangeAspect="1"/>
          </p:cNvPicPr>
          <p:nvPr/>
        </p:nvPicPr>
        <p:blipFill>
          <a:blip r:embed="rId1"/>
          <a:stretch>
            <a:fillRect/>
          </a:stretch>
        </p:blipFill>
        <p:spPr>
          <a:xfrm>
            <a:off x="8221416" y="192024"/>
            <a:ext cx="290688"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Chemical Reactions II</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pic>
        <p:nvPicPr>
          <p:cNvPr id="10" name="Image 1" descr="/home/claude/build/png/ed_cat.png">    </p:cNvPr>
          <p:cNvPicPr>
            <a:picLocks noChangeAspect="1"/>
          </p:cNvPicPr>
          <p:nvPr/>
        </p:nvPicPr>
        <p:blipFill>
          <a:blip r:embed="rId2"/>
          <a:stretch>
            <a:fillRect/>
          </a:stretch>
        </p:blipFill>
        <p:spPr>
          <a:xfrm>
            <a:off x="457200" y="1280160"/>
            <a:ext cx="4389120" cy="2743200"/>
          </a:xfrm>
          <a:prstGeom prst="rect">
            <a:avLst/>
          </a:prstGeom>
        </p:spPr>
      </p:pic>
      <p:sp>
        <p:nvSpPr>
          <p:cNvPr id="11" name="Text 7"/>
          <p:cNvSpPr txBox="1"/>
          <p:nvPr/>
        </p:nvSpPr>
        <p:spPr>
          <a:xfrm>
            <a:off x="457200" y="4059936"/>
            <a:ext cx="4389120" cy="292608"/>
          </a:xfrm>
          <a:prstGeom prst="rect">
            <a:avLst/>
          </a:prstGeom>
          <a:noFill/>
          <a:ln/>
        </p:spPr>
        <p:txBody>
          <a:bodyPr wrap="square" lIns="0" tIns="0" rIns="0" bIns="0" rtlCol="0" anchor="t"/>
          <a:lstStyle/>
          <a:p>
            <a:pPr algn="ctr" indent="0" marL="0">
              <a:buNone/>
            </a:pPr>
            <a:r>
              <a:rPr lang="en-US" sz="750" i="1" dirty="0">
                <a:solidFill>
                  <a:srgbClr val="56657A"/>
                </a:solidFill>
                <a:latin typeface="Calibri" pitchFamily="34" charset="0"/>
                <a:ea typeface="Calibri" pitchFamily="34" charset="-122"/>
                <a:cs typeface="Calibri" pitchFamily="34" charset="-120"/>
              </a:rPr>
              <a:t>A catalyst provides a pathway with a lower activation energy (drawn by Dr. NAM)</a:t>
            </a:r>
            <a:endParaRPr lang="en-US" sz="750" dirty="0"/>
          </a:p>
        </p:txBody>
      </p:sp>
      <p:sp>
        <p:nvSpPr>
          <p:cNvPr id="12" name="Text 8"/>
          <p:cNvSpPr txBox="1"/>
          <p:nvPr/>
        </p:nvSpPr>
        <p:spPr>
          <a:xfrm>
            <a:off x="5120640" y="1280160"/>
            <a:ext cx="3566160" cy="338328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A </a:t>
            </a:r>
            <a:pPr marL="177800" indent="-177800">
              <a:spcAft>
                <a:spcPts val="600"/>
              </a:spcAft>
              <a:buSzPct val="100000"/>
              <a:buChar char="•"/>
            </a:pPr>
            <a:r>
              <a:rPr lang="en-US" sz="1250" b="1" dirty="0">
                <a:solidFill>
                  <a:srgbClr val="1B2A41"/>
                </a:solidFill>
                <a:latin typeface="Calibri" pitchFamily="34" charset="0"/>
                <a:ea typeface="Calibri" pitchFamily="34" charset="-122"/>
                <a:cs typeface="Calibri" pitchFamily="34" charset="-120"/>
              </a:rPr>
              <a:t>catalyst</a:t>
            </a:r>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 speeds up a reaction without being used up.</a:t>
            </a:r>
            <a:endParaRPr lang="en-US" sz="1250" dirty="0"/>
          </a:p>
          <a:p>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It provides a different pathway with a </a:t>
            </a:r>
            <a:pPr marL="177800" indent="-177800">
              <a:spcAft>
                <a:spcPts val="600"/>
              </a:spcAft>
              <a:buSzPct val="100000"/>
              <a:buChar char="•"/>
            </a:pPr>
            <a:r>
              <a:rPr lang="en-US" sz="1250" b="1" dirty="0">
                <a:solidFill>
                  <a:srgbClr val="1B2A41"/>
                </a:solidFill>
                <a:latin typeface="Calibri" pitchFamily="34" charset="0"/>
                <a:ea typeface="Calibri" pitchFamily="34" charset="-122"/>
                <a:cs typeface="Calibri" pitchFamily="34" charset="-120"/>
              </a:rPr>
              <a:t>lower E</a:t>
            </a:r>
            <a:pPr marL="177800" indent="-177800">
              <a:spcAft>
                <a:spcPts val="600"/>
              </a:spcAft>
              <a:buSzPct val="100000"/>
              <a:buChar char="•"/>
            </a:pPr>
            <a:r>
              <a:rPr lang="en-US" sz="1250" b="1" baseline="-40000" dirty="0">
                <a:solidFill>
                  <a:srgbClr val="1B2A41"/>
                </a:solidFill>
                <a:latin typeface="Calibri" pitchFamily="34" charset="0"/>
                <a:ea typeface="Calibri" pitchFamily="34" charset="-122"/>
                <a:cs typeface="Calibri" pitchFamily="34" charset="-120"/>
              </a:rPr>
              <a:t>a</a:t>
            </a:r>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 so more collisions are effective.</a:t>
            </a:r>
            <a:endParaRPr lang="en-US" sz="1250" dirty="0"/>
          </a:p>
          <a:p>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It does </a:t>
            </a:r>
            <a:pPr marL="177800" indent="-177800">
              <a:spcAft>
                <a:spcPts val="600"/>
              </a:spcAft>
              <a:buSzPct val="100000"/>
              <a:buChar char="•"/>
            </a:pPr>
            <a:r>
              <a:rPr lang="en-US" sz="1250" b="1" dirty="0">
                <a:solidFill>
                  <a:srgbClr val="1B2A41"/>
                </a:solidFill>
                <a:latin typeface="Calibri" pitchFamily="34" charset="0"/>
                <a:ea typeface="Calibri" pitchFamily="34" charset="-122"/>
                <a:cs typeface="Calibri" pitchFamily="34" charset="-120"/>
              </a:rPr>
              <a:t>not</a:t>
            </a:r>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 change ΔH, the reactants or the products.</a:t>
            </a:r>
            <a:endParaRPr lang="en-US" sz="1250" dirty="0"/>
          </a:p>
          <a:p>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It speeds up the forward and reverse reactions equally.</a:t>
            </a:r>
            <a:endParaRPr lang="en-US" sz="12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CR2-LO5</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Hydrogen peroxide: one reaction, three speeds</a:t>
            </a:r>
            <a:endParaRPr lang="en-US" sz="2000" dirty="0"/>
          </a:p>
        </p:txBody>
      </p:sp>
      <p:pic>
        <p:nvPicPr>
          <p:cNvPr id="7" name="Image 0" descr="/home/claude/build/mol/h2o2.png">    </p:cNvPr>
          <p:cNvPicPr>
            <a:picLocks noChangeAspect="1"/>
          </p:cNvPicPr>
          <p:nvPr/>
        </p:nvPicPr>
        <p:blipFill>
          <a:blip r:embed="rId1"/>
          <a:stretch>
            <a:fillRect/>
          </a:stretch>
        </p:blipFill>
        <p:spPr>
          <a:xfrm>
            <a:off x="8221416" y="192024"/>
            <a:ext cx="290688"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Chemical Reactions II</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pic>
        <p:nvPicPr>
          <p:cNvPr id="10" name="Image 1" descr="/home/claude/build/png/h2o2.png">    </p:cNvPr>
          <p:cNvPicPr>
            <a:picLocks noChangeAspect="1"/>
          </p:cNvPicPr>
          <p:nvPr/>
        </p:nvPicPr>
        <p:blipFill>
          <a:blip r:embed="rId2"/>
          <a:stretch>
            <a:fillRect/>
          </a:stretch>
        </p:blipFill>
        <p:spPr>
          <a:xfrm>
            <a:off x="457200" y="1280160"/>
            <a:ext cx="4389120" cy="2674620"/>
          </a:xfrm>
          <a:prstGeom prst="rect">
            <a:avLst/>
          </a:prstGeom>
        </p:spPr>
      </p:pic>
      <p:sp>
        <p:nvSpPr>
          <p:cNvPr id="11" name="Text 7"/>
          <p:cNvSpPr txBox="1"/>
          <p:nvPr/>
        </p:nvSpPr>
        <p:spPr>
          <a:xfrm>
            <a:off x="457200" y="3991356"/>
            <a:ext cx="4389120" cy="292608"/>
          </a:xfrm>
          <a:prstGeom prst="rect">
            <a:avLst/>
          </a:prstGeom>
          <a:noFill/>
          <a:ln/>
        </p:spPr>
        <p:txBody>
          <a:bodyPr wrap="square" lIns="0" tIns="0" rIns="0" bIns="0" rtlCol="0" anchor="t"/>
          <a:lstStyle/>
          <a:p>
            <a:pPr algn="ctr" indent="0" marL="0">
              <a:buNone/>
            </a:pPr>
            <a:r>
              <a:rPr lang="en-US" sz="750" i="1" dirty="0">
                <a:solidFill>
                  <a:srgbClr val="56657A"/>
                </a:solidFill>
                <a:latin typeface="Calibri" pitchFamily="34" charset="0"/>
                <a:ea typeface="Calibri" pitchFamily="34" charset="-122"/>
                <a:cs typeface="Calibri" pitchFamily="34" charset="-120"/>
              </a:rPr>
              <a:t>Approximate activation energies for decomposing H</a:t>
            </a:r>
            <a:pPr algn="ctr" indent="0" marL="0">
              <a:buNone/>
            </a:pPr>
            <a:r>
              <a:rPr lang="en-US" sz="750" i="1" baseline="-40000" dirty="0">
                <a:solidFill>
                  <a:srgbClr val="56657A"/>
                </a:solidFill>
                <a:latin typeface="Calibri" pitchFamily="34" charset="0"/>
                <a:ea typeface="Calibri" pitchFamily="34" charset="-122"/>
                <a:cs typeface="Calibri" pitchFamily="34" charset="-120"/>
              </a:rPr>
              <a:t>2</a:t>
            </a:r>
            <a:pPr algn="ctr" indent="0" marL="0">
              <a:buNone/>
            </a:pPr>
            <a:r>
              <a:rPr lang="en-US" sz="750" i="1" dirty="0">
                <a:solidFill>
                  <a:srgbClr val="56657A"/>
                </a:solidFill>
                <a:latin typeface="Calibri" pitchFamily="34" charset="0"/>
                <a:ea typeface="Calibri" pitchFamily="34" charset="-122"/>
                <a:cs typeface="Calibri" pitchFamily="34" charset="-120"/>
              </a:rPr>
              <a:t>O</a:t>
            </a:r>
            <a:pPr algn="ctr" indent="0" marL="0">
              <a:buNone/>
            </a:pPr>
            <a:r>
              <a:rPr lang="en-US" sz="750" i="1" baseline="-40000" dirty="0">
                <a:solidFill>
                  <a:srgbClr val="56657A"/>
                </a:solidFill>
                <a:latin typeface="Calibri" pitchFamily="34" charset="0"/>
                <a:ea typeface="Calibri" pitchFamily="34" charset="-122"/>
                <a:cs typeface="Calibri" pitchFamily="34" charset="-120"/>
              </a:rPr>
              <a:t>2</a:t>
            </a:r>
            <a:pPr algn="ctr" indent="0" marL="0">
              <a:buNone/>
            </a:pPr>
            <a:r>
              <a:rPr lang="en-US" sz="750" i="1" dirty="0">
                <a:solidFill>
                  <a:srgbClr val="56657A"/>
                </a:solidFill>
                <a:latin typeface="Calibri" pitchFamily="34" charset="0"/>
                <a:ea typeface="Calibri" pitchFamily="34" charset="-122"/>
                <a:cs typeface="Calibri" pitchFamily="34" charset="-120"/>
              </a:rPr>
              <a:t> (values vary between sources) (drawn by Dr. NAM)</a:t>
            </a:r>
            <a:endParaRPr lang="en-US" sz="750" dirty="0"/>
          </a:p>
        </p:txBody>
      </p:sp>
      <p:sp>
        <p:nvSpPr>
          <p:cNvPr id="12" name="Text 8"/>
          <p:cNvSpPr txBox="1"/>
          <p:nvPr/>
        </p:nvSpPr>
        <p:spPr>
          <a:xfrm>
            <a:off x="5120640" y="1280160"/>
            <a:ext cx="3566160" cy="338328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H</a:t>
            </a:r>
            <a:pPr marL="177800" indent="-177800">
              <a:spcAft>
                <a:spcPts val="600"/>
              </a:spcAft>
              <a:buSzPct val="100000"/>
              <a:buChar char="•"/>
            </a:pPr>
            <a:r>
              <a:rPr lang="en-US" sz="1250" baseline="-40000" dirty="0">
                <a:solidFill>
                  <a:srgbClr val="1B2A41"/>
                </a:solidFill>
                <a:latin typeface="Calibri" pitchFamily="34" charset="0"/>
                <a:ea typeface="Calibri" pitchFamily="34" charset="-122"/>
                <a:cs typeface="Calibri" pitchFamily="34" charset="-120"/>
              </a:rPr>
              <a:t>2</a:t>
            </a:r>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O</a:t>
            </a:r>
            <a:pPr marL="177800" indent="-177800">
              <a:spcAft>
                <a:spcPts val="600"/>
              </a:spcAft>
              <a:buSzPct val="100000"/>
              <a:buChar char="•"/>
            </a:pPr>
            <a:r>
              <a:rPr lang="en-US" sz="1250" baseline="-40000" dirty="0">
                <a:solidFill>
                  <a:srgbClr val="1B2A41"/>
                </a:solidFill>
                <a:latin typeface="Calibri" pitchFamily="34" charset="0"/>
                <a:ea typeface="Calibri" pitchFamily="34" charset="-122"/>
                <a:cs typeface="Calibri" pitchFamily="34" charset="-120"/>
              </a:rPr>
              <a:t>2</a:t>
            </a:r>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 (used as an antiseptic) decomposes slowly in the bottle: 2H</a:t>
            </a:r>
            <a:pPr marL="177800" indent="-177800">
              <a:spcAft>
                <a:spcPts val="600"/>
              </a:spcAft>
              <a:buSzPct val="100000"/>
              <a:buChar char="•"/>
            </a:pPr>
            <a:r>
              <a:rPr lang="en-US" sz="1250" baseline="-40000" dirty="0">
                <a:solidFill>
                  <a:srgbClr val="1B2A41"/>
                </a:solidFill>
                <a:latin typeface="Calibri" pitchFamily="34" charset="0"/>
                <a:ea typeface="Calibri" pitchFamily="34" charset="-122"/>
                <a:cs typeface="Calibri" pitchFamily="34" charset="-120"/>
              </a:rPr>
              <a:t>2</a:t>
            </a:r>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O</a:t>
            </a:r>
            <a:pPr marL="177800" indent="-177800">
              <a:spcAft>
                <a:spcPts val="600"/>
              </a:spcAft>
              <a:buSzPct val="100000"/>
              <a:buChar char="•"/>
            </a:pPr>
            <a:r>
              <a:rPr lang="en-US" sz="1250" baseline="-40000" dirty="0">
                <a:solidFill>
                  <a:srgbClr val="1B2A41"/>
                </a:solidFill>
                <a:latin typeface="Calibri" pitchFamily="34" charset="0"/>
                <a:ea typeface="Calibri" pitchFamily="34" charset="-122"/>
                <a:cs typeface="Calibri" pitchFamily="34" charset="-120"/>
              </a:rPr>
              <a:t>2</a:t>
            </a:r>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 → 2H</a:t>
            </a:r>
            <a:pPr marL="177800" indent="-177800">
              <a:spcAft>
                <a:spcPts val="600"/>
              </a:spcAft>
              <a:buSzPct val="100000"/>
              <a:buChar char="•"/>
            </a:pPr>
            <a:r>
              <a:rPr lang="en-US" sz="1250" baseline="-40000" dirty="0">
                <a:solidFill>
                  <a:srgbClr val="1B2A41"/>
                </a:solidFill>
                <a:latin typeface="Calibri" pitchFamily="34" charset="0"/>
                <a:ea typeface="Calibri" pitchFamily="34" charset="-122"/>
                <a:cs typeface="Calibri" pitchFamily="34" charset="-120"/>
              </a:rPr>
              <a:t>2</a:t>
            </a:r>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O + O</a:t>
            </a:r>
            <a:pPr marL="177800" indent="-177800">
              <a:spcAft>
                <a:spcPts val="600"/>
              </a:spcAft>
              <a:buSzPct val="100000"/>
              <a:buChar char="•"/>
            </a:pPr>
            <a:r>
              <a:rPr lang="en-US" sz="1250" baseline="-40000" dirty="0">
                <a:solidFill>
                  <a:srgbClr val="1B2A41"/>
                </a:solidFill>
                <a:latin typeface="Calibri" pitchFamily="34" charset="0"/>
                <a:ea typeface="Calibri" pitchFamily="34" charset="-122"/>
                <a:cs typeface="Calibri" pitchFamily="34" charset="-120"/>
              </a:rPr>
              <a:t>2</a:t>
            </a:r>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a:t>
            </a:r>
            <a:endParaRPr lang="en-US" sz="1250" dirty="0"/>
          </a:p>
          <a:p>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Add iodide ions or manganese(IV) oxide and it bubbles quickly.</a:t>
            </a:r>
            <a:endParaRPr lang="en-US" sz="1250" dirty="0"/>
          </a:p>
          <a:p>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On a cut, it fizzes at once: the enzyme </a:t>
            </a:r>
            <a:pPr marL="177800" indent="-177800">
              <a:spcAft>
                <a:spcPts val="600"/>
              </a:spcAft>
              <a:buSzPct val="100000"/>
              <a:buChar char="•"/>
            </a:pPr>
            <a:r>
              <a:rPr lang="en-US" sz="1250" b="1" dirty="0">
                <a:solidFill>
                  <a:srgbClr val="1B2A41"/>
                </a:solidFill>
                <a:latin typeface="Calibri" pitchFamily="34" charset="0"/>
                <a:ea typeface="Calibri" pitchFamily="34" charset="-122"/>
                <a:cs typeface="Calibri" pitchFamily="34" charset="-120"/>
              </a:rPr>
              <a:t>catalase</a:t>
            </a:r>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 in blood and tissue is a very effective catalyst.</a:t>
            </a:r>
            <a:endParaRPr lang="en-US" sz="1250" dirty="0"/>
          </a:p>
          <a:p>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Catalase protects our cells by destroying H</a:t>
            </a:r>
            <a:pPr marL="177800" indent="-177800">
              <a:spcAft>
                <a:spcPts val="600"/>
              </a:spcAft>
              <a:buSzPct val="100000"/>
              <a:buChar char="•"/>
            </a:pPr>
            <a:r>
              <a:rPr lang="en-US" sz="1250" baseline="-40000" dirty="0">
                <a:solidFill>
                  <a:srgbClr val="1B2A41"/>
                </a:solidFill>
                <a:latin typeface="Calibri" pitchFamily="34" charset="0"/>
                <a:ea typeface="Calibri" pitchFamily="34" charset="-122"/>
                <a:cs typeface="Calibri" pitchFamily="34" charset="-120"/>
              </a:rPr>
              <a:t>2</a:t>
            </a:r>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O</a:t>
            </a:r>
            <a:pPr marL="177800" indent="-177800">
              <a:spcAft>
                <a:spcPts val="600"/>
              </a:spcAft>
              <a:buSzPct val="100000"/>
              <a:buChar char="•"/>
            </a:pPr>
            <a:r>
              <a:rPr lang="en-US" sz="1250" baseline="-40000" dirty="0">
                <a:solidFill>
                  <a:srgbClr val="1B2A41"/>
                </a:solidFill>
                <a:latin typeface="Calibri" pitchFamily="34" charset="0"/>
                <a:ea typeface="Calibri" pitchFamily="34" charset="-122"/>
                <a:cs typeface="Calibri" pitchFamily="34" charset="-120"/>
              </a:rPr>
              <a:t>2</a:t>
            </a:r>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 made during metabolism.</a:t>
            </a:r>
            <a:endParaRPr lang="en-US" sz="12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CR2-LO5</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Enzymes: the body's catalysts</a:t>
            </a:r>
            <a:endParaRPr lang="en-US" sz="2000" dirty="0"/>
          </a:p>
        </p:txBody>
      </p:sp>
      <p:pic>
        <p:nvPicPr>
          <p:cNvPr id="7" name="Image 0" descr="/home/claude/build/mol/h2o2.png">    </p:cNvPr>
          <p:cNvPicPr>
            <a:picLocks noChangeAspect="1"/>
          </p:cNvPicPr>
          <p:nvPr/>
        </p:nvPicPr>
        <p:blipFill>
          <a:blip r:embed="rId1"/>
          <a:stretch>
            <a:fillRect/>
          </a:stretch>
        </p:blipFill>
        <p:spPr>
          <a:xfrm>
            <a:off x="8221416" y="192024"/>
            <a:ext cx="290688"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Chemical Reactions II</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pic>
        <p:nvPicPr>
          <p:cNvPr id="10" name="Image 1" descr="/home/claude/build/png/enzyme.png">    </p:cNvPr>
          <p:cNvPicPr>
            <a:picLocks noChangeAspect="1"/>
          </p:cNvPicPr>
          <p:nvPr/>
        </p:nvPicPr>
        <p:blipFill>
          <a:blip r:embed="rId2"/>
          <a:stretch>
            <a:fillRect/>
          </a:stretch>
        </p:blipFill>
        <p:spPr>
          <a:xfrm>
            <a:off x="457200" y="1280160"/>
            <a:ext cx="4389120" cy="2606040"/>
          </a:xfrm>
          <a:prstGeom prst="rect">
            <a:avLst/>
          </a:prstGeom>
        </p:spPr>
      </p:pic>
      <p:sp>
        <p:nvSpPr>
          <p:cNvPr id="11" name="Text 7"/>
          <p:cNvSpPr txBox="1"/>
          <p:nvPr/>
        </p:nvSpPr>
        <p:spPr>
          <a:xfrm>
            <a:off x="457200" y="3922776"/>
            <a:ext cx="4389120" cy="292608"/>
          </a:xfrm>
          <a:prstGeom prst="rect">
            <a:avLst/>
          </a:prstGeom>
          <a:noFill/>
          <a:ln/>
        </p:spPr>
        <p:txBody>
          <a:bodyPr wrap="square" lIns="0" tIns="0" rIns="0" bIns="0" rtlCol="0" anchor="t"/>
          <a:lstStyle/>
          <a:p>
            <a:pPr algn="ctr" indent="0" marL="0">
              <a:buNone/>
            </a:pPr>
            <a:r>
              <a:rPr lang="en-US" sz="750" i="1" dirty="0">
                <a:solidFill>
                  <a:srgbClr val="56657A"/>
                </a:solidFill>
                <a:latin typeface="Calibri" pitchFamily="34" charset="0"/>
                <a:ea typeface="Calibri" pitchFamily="34" charset="-122"/>
                <a:cs typeface="Calibri" pitchFamily="34" charset="-120"/>
              </a:rPr>
              <a:t>The lock-and-key model of enzyme action (drawn by Dr. NAM)</a:t>
            </a:r>
            <a:endParaRPr lang="en-US" sz="750" dirty="0"/>
          </a:p>
        </p:txBody>
      </p:sp>
      <p:sp>
        <p:nvSpPr>
          <p:cNvPr id="12" name="Text 8"/>
          <p:cNvSpPr txBox="1"/>
          <p:nvPr/>
        </p:nvSpPr>
        <p:spPr>
          <a:xfrm>
            <a:off x="5120640" y="1280160"/>
            <a:ext cx="3566160" cy="3383280"/>
          </a:xfrm>
          <a:prstGeom prst="rect">
            <a:avLst/>
          </a:prstGeom>
          <a:noFill/>
          <a:ln/>
        </p:spPr>
        <p:txBody>
          <a:bodyPr wrap="square" lIns="0" tIns="0" rIns="0" bIns="0" rtlCol="0" anchor="t"/>
          <a:lstStyle/>
          <a:p>
            <a:pPr marL="177800" indent="-177800">
              <a:spcAft>
                <a:spcPts val="600"/>
              </a:spcAft>
              <a:buSzPct val="100000"/>
              <a:buChar char="•"/>
            </a:pPr>
            <a:r>
              <a:rPr lang="en-US" sz="1250" b="1" dirty="0">
                <a:solidFill>
                  <a:srgbClr val="1B2A41"/>
                </a:solidFill>
                <a:latin typeface="Calibri" pitchFamily="34" charset="0"/>
                <a:ea typeface="Calibri" pitchFamily="34" charset="-122"/>
                <a:cs typeface="Calibri" pitchFamily="34" charset="-120"/>
              </a:rPr>
              <a:t>Enzymes</a:t>
            </a:r>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 are proteins that catalyse reactions in living things.</a:t>
            </a:r>
            <a:endParaRPr lang="en-US" sz="1250" dirty="0"/>
          </a:p>
          <a:p>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The reactant (</a:t>
            </a:r>
            <a:pPr marL="177800" indent="-177800">
              <a:spcAft>
                <a:spcPts val="600"/>
              </a:spcAft>
              <a:buSzPct val="100000"/>
              <a:buChar char="•"/>
            </a:pPr>
            <a:r>
              <a:rPr lang="en-US" sz="1250" b="1" dirty="0">
                <a:solidFill>
                  <a:srgbClr val="1B2A41"/>
                </a:solidFill>
                <a:latin typeface="Calibri" pitchFamily="34" charset="0"/>
                <a:ea typeface="Calibri" pitchFamily="34" charset="-122"/>
                <a:cs typeface="Calibri" pitchFamily="34" charset="-120"/>
              </a:rPr>
              <a:t>substrate</a:t>
            </a:r>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 binds in a pocket called the </a:t>
            </a:r>
            <a:pPr marL="177800" indent="-177800">
              <a:spcAft>
                <a:spcPts val="600"/>
              </a:spcAft>
              <a:buSzPct val="100000"/>
              <a:buChar char="•"/>
            </a:pPr>
            <a:r>
              <a:rPr lang="en-US" sz="1250" b="1" dirty="0">
                <a:solidFill>
                  <a:srgbClr val="1B2A41"/>
                </a:solidFill>
                <a:latin typeface="Calibri" pitchFamily="34" charset="0"/>
                <a:ea typeface="Calibri" pitchFamily="34" charset="-122"/>
                <a:cs typeface="Calibri" pitchFamily="34" charset="-120"/>
              </a:rPr>
              <a:t>active site</a:t>
            </a:r>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 which holds it in the right orientation.</a:t>
            </a:r>
            <a:endParaRPr lang="en-US" sz="1250" dirty="0"/>
          </a:p>
          <a:p>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Each enzyme is very </a:t>
            </a:r>
            <a:pPr marL="177800" indent="-177800">
              <a:spcAft>
                <a:spcPts val="600"/>
              </a:spcAft>
              <a:buSzPct val="100000"/>
              <a:buChar char="•"/>
            </a:pPr>
            <a:r>
              <a:rPr lang="en-US" sz="1250" b="1" dirty="0">
                <a:solidFill>
                  <a:srgbClr val="1B2A41"/>
                </a:solidFill>
                <a:latin typeface="Calibri" pitchFamily="34" charset="0"/>
                <a:ea typeface="Calibri" pitchFamily="34" charset="-122"/>
                <a:cs typeface="Calibri" pitchFamily="34" charset="-120"/>
              </a:rPr>
              <a:t>specific</a:t>
            </a:r>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 its active site fits only certain substrates.</a:t>
            </a:r>
            <a:endParaRPr lang="en-US" sz="1250" dirty="0"/>
          </a:p>
          <a:p>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Enzymes can speed up reactions millions of times, at body temperature.</a:t>
            </a:r>
            <a:endParaRPr lang="en-US" sz="12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CR2-LO5</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Enzymes and temperature</a:t>
            </a:r>
            <a:endParaRPr lang="en-US" sz="2000" dirty="0"/>
          </a:p>
        </p:txBody>
      </p:sp>
      <p:pic>
        <p:nvPicPr>
          <p:cNvPr id="7" name="Image 0" descr="/home/claude/build/mol/h2o2.png">    </p:cNvPr>
          <p:cNvPicPr>
            <a:picLocks noChangeAspect="1"/>
          </p:cNvPicPr>
          <p:nvPr/>
        </p:nvPicPr>
        <p:blipFill>
          <a:blip r:embed="rId1"/>
          <a:stretch>
            <a:fillRect/>
          </a:stretch>
        </p:blipFill>
        <p:spPr>
          <a:xfrm>
            <a:off x="8221416" y="192024"/>
            <a:ext cx="290688"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Chemical Reactions II</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pic>
        <p:nvPicPr>
          <p:cNvPr id="10" name="Image 1" descr="/home/claude/build/png/enz_temp.png">    </p:cNvPr>
          <p:cNvPicPr>
            <a:picLocks noChangeAspect="1"/>
          </p:cNvPicPr>
          <p:nvPr/>
        </p:nvPicPr>
        <p:blipFill>
          <a:blip r:embed="rId2"/>
          <a:stretch>
            <a:fillRect/>
          </a:stretch>
        </p:blipFill>
        <p:spPr>
          <a:xfrm>
            <a:off x="457200" y="1280160"/>
            <a:ext cx="4389120" cy="2674620"/>
          </a:xfrm>
          <a:prstGeom prst="rect">
            <a:avLst/>
          </a:prstGeom>
        </p:spPr>
      </p:pic>
      <p:sp>
        <p:nvSpPr>
          <p:cNvPr id="11" name="Text 7"/>
          <p:cNvSpPr txBox="1"/>
          <p:nvPr/>
        </p:nvSpPr>
        <p:spPr>
          <a:xfrm>
            <a:off x="457200" y="3991356"/>
            <a:ext cx="4389120" cy="292608"/>
          </a:xfrm>
          <a:prstGeom prst="rect">
            <a:avLst/>
          </a:prstGeom>
          <a:noFill/>
          <a:ln/>
        </p:spPr>
        <p:txBody>
          <a:bodyPr wrap="square" lIns="0" tIns="0" rIns="0" bIns="0" rtlCol="0" anchor="t"/>
          <a:lstStyle/>
          <a:p>
            <a:pPr algn="ctr" indent="0" marL="0">
              <a:buNone/>
            </a:pPr>
            <a:r>
              <a:rPr lang="en-US" sz="750" i="1" dirty="0">
                <a:solidFill>
                  <a:srgbClr val="56657A"/>
                </a:solidFill>
                <a:latin typeface="Calibri" pitchFamily="34" charset="0"/>
                <a:ea typeface="Calibri" pitchFamily="34" charset="-122"/>
                <a:cs typeface="Calibri" pitchFamily="34" charset="-120"/>
              </a:rPr>
              <a:t>Rate of a typical human enzyme-catalysed reaction against temperature (drawn by Dr. NAM)</a:t>
            </a:r>
            <a:endParaRPr lang="en-US" sz="750" dirty="0"/>
          </a:p>
        </p:txBody>
      </p:sp>
      <p:sp>
        <p:nvSpPr>
          <p:cNvPr id="12" name="Text 8"/>
          <p:cNvSpPr txBox="1"/>
          <p:nvPr/>
        </p:nvSpPr>
        <p:spPr>
          <a:xfrm>
            <a:off x="5120640" y="1280160"/>
            <a:ext cx="3566160" cy="338328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Up to about 37 °C, rate rises: more frequent and more energetic collisions.</a:t>
            </a:r>
            <a:endParaRPr lang="en-US" sz="1250" dirty="0"/>
          </a:p>
          <a:p>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Above the </a:t>
            </a:r>
            <a:pPr marL="177800" indent="-177800">
              <a:spcAft>
                <a:spcPts val="600"/>
              </a:spcAft>
              <a:buSzPct val="100000"/>
              <a:buChar char="•"/>
            </a:pPr>
            <a:r>
              <a:rPr lang="en-US" sz="1250" b="1" dirty="0">
                <a:solidFill>
                  <a:srgbClr val="1B2A41"/>
                </a:solidFill>
                <a:latin typeface="Calibri" pitchFamily="34" charset="0"/>
                <a:ea typeface="Calibri" pitchFamily="34" charset="-122"/>
                <a:cs typeface="Calibri" pitchFamily="34" charset="-120"/>
              </a:rPr>
              <a:t>optimum</a:t>
            </a:r>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 the protein unfolds (</a:t>
            </a:r>
            <a:pPr marL="177800" indent="-177800">
              <a:spcAft>
                <a:spcPts val="600"/>
              </a:spcAft>
              <a:buSzPct val="100000"/>
              <a:buChar char="•"/>
            </a:pPr>
            <a:r>
              <a:rPr lang="en-US" sz="1250" b="1" dirty="0">
                <a:solidFill>
                  <a:srgbClr val="1B2A41"/>
                </a:solidFill>
                <a:latin typeface="Calibri" pitchFamily="34" charset="0"/>
                <a:ea typeface="Calibri" pitchFamily="34" charset="-122"/>
                <a:cs typeface="Calibri" pitchFamily="34" charset="-120"/>
              </a:rPr>
              <a:t>denatures</a:t>
            </a:r>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 and the active site loses its shape, so the rate drops sharply.</a:t>
            </a:r>
            <a:endParaRPr lang="en-US" sz="1250" dirty="0"/>
          </a:p>
          <a:p>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Enzymes also have an optimum pH; strong acid or base denatures them.</a:t>
            </a:r>
            <a:endParaRPr lang="en-US" sz="1250" dirty="0"/>
          </a:p>
          <a:p>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This is why a high fever is dangerous and why enzyme products are stored cool.</a:t>
            </a:r>
            <a:endParaRPr lang="en-US" sz="12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CR2-LO5</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Pharmacy link: drugs that block enzymes</a:t>
            </a:r>
            <a:endParaRPr lang="en-US" sz="2000" dirty="0"/>
          </a:p>
        </p:txBody>
      </p:sp>
      <p:pic>
        <p:nvPicPr>
          <p:cNvPr id="7" name="Image 0" descr="/home/claude/build/mol/h2o2.png">    </p:cNvPr>
          <p:cNvPicPr>
            <a:picLocks noChangeAspect="1"/>
          </p:cNvPicPr>
          <p:nvPr/>
        </p:nvPicPr>
        <p:blipFill>
          <a:blip r:embed="rId1"/>
          <a:stretch>
            <a:fillRect/>
          </a:stretch>
        </p:blipFill>
        <p:spPr>
          <a:xfrm>
            <a:off x="8221416" y="192024"/>
            <a:ext cx="290688"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Chemical Reactions II</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Text 7"/>
          <p:cNvSpPr txBox="1"/>
          <p:nvPr/>
        </p:nvSpPr>
        <p:spPr>
          <a:xfrm>
            <a:off x="457200" y="1188720"/>
            <a:ext cx="8229600" cy="502920"/>
          </a:xfrm>
          <a:prstGeom prst="rect">
            <a:avLst/>
          </a:prstGeom>
          <a:noFill/>
          <a:ln/>
        </p:spPr>
        <p:txBody>
          <a:bodyPr wrap="square" lIns="0" tIns="0" rIns="0" bIns="0" rtlCol="0" anchor="t"/>
          <a:lstStyle/>
          <a:p>
            <a:pPr indent="0" marL="0">
              <a:buNone/>
            </a:pPr>
            <a:r>
              <a:rPr lang="en-US" sz="1200" dirty="0">
                <a:solidFill>
                  <a:srgbClr val="1B2A41"/>
                </a:solidFill>
                <a:latin typeface="Calibri" pitchFamily="34" charset="0"/>
                <a:ea typeface="Calibri" pitchFamily="34" charset="-122"/>
                <a:cs typeface="Calibri" pitchFamily="34" charset="-120"/>
              </a:rPr>
              <a:t>Many medicines work by slowing down an enzyme-catalysed reaction. They are called </a:t>
            </a:r>
            <a:pPr indent="0" marL="0">
              <a:buNone/>
            </a:pPr>
            <a:r>
              <a:rPr lang="en-US" sz="1200" b="1" dirty="0">
                <a:solidFill>
                  <a:srgbClr val="1B2A41"/>
                </a:solidFill>
                <a:latin typeface="Calibri" pitchFamily="34" charset="0"/>
                <a:ea typeface="Calibri" pitchFamily="34" charset="-122"/>
                <a:cs typeface="Calibri" pitchFamily="34" charset="-120"/>
              </a:rPr>
              <a:t>enzyme inhibitors</a:t>
            </a:r>
            <a:pPr indent="0" marL="0">
              <a:buNone/>
            </a:pPr>
            <a:r>
              <a:rPr lang="en-US" sz="1200" dirty="0">
                <a:solidFill>
                  <a:srgbClr val="1B2A41"/>
                </a:solidFill>
                <a:latin typeface="Calibri" pitchFamily="34" charset="0"/>
                <a:ea typeface="Calibri" pitchFamily="34" charset="-122"/>
                <a:cs typeface="Calibri" pitchFamily="34" charset="-120"/>
              </a:rPr>
              <a:t>.</a:t>
            </a:r>
            <a:endParaRPr lang="en-US" sz="1200" dirty="0"/>
          </a:p>
        </p:txBody>
      </p:sp>
      <p:sp>
        <p:nvSpPr>
          <p:cNvPr id="11" name="Shape 8"/>
          <p:cNvSpPr/>
          <p:nvPr/>
        </p:nvSpPr>
        <p:spPr>
          <a:xfrm>
            <a:off x="457200" y="1783080"/>
            <a:ext cx="4023360" cy="2880360"/>
          </a:xfrm>
          <a:prstGeom prst="roundRect">
            <a:avLst>
              <a:gd name="adj" fmla="val 2540"/>
            </a:avLst>
          </a:prstGeom>
          <a:solidFill>
            <a:srgbClr val="E1EEF7"/>
          </a:solidFill>
          <a:ln w="9525">
            <a:solidFill>
              <a:srgbClr val="E1EEF7"/>
            </a:solidFill>
            <a:prstDash val="solid"/>
          </a:ln>
        </p:spPr>
      </p:sp>
      <p:sp>
        <p:nvSpPr>
          <p:cNvPr id="12" name="Text 9"/>
          <p:cNvSpPr txBox="1"/>
          <p:nvPr/>
        </p:nvSpPr>
        <p:spPr>
          <a:xfrm>
            <a:off x="594360" y="1874520"/>
            <a:ext cx="3749040" cy="320040"/>
          </a:xfrm>
          <a:prstGeom prst="rect">
            <a:avLst/>
          </a:prstGeom>
          <a:noFill/>
          <a:ln/>
        </p:spPr>
        <p:txBody>
          <a:bodyPr wrap="square" lIns="0" tIns="0" rIns="0" bIns="0" rtlCol="0" anchor="ctr"/>
          <a:lstStyle/>
          <a:p>
            <a:pPr indent="0" marL="0">
              <a:buNone/>
            </a:pPr>
            <a:r>
              <a:rPr lang="en-US" sz="1200" b="1" dirty="0">
                <a:solidFill>
                  <a:srgbClr val="2F6F9F"/>
                </a:solidFill>
                <a:latin typeface="Calibri" pitchFamily="34" charset="0"/>
                <a:ea typeface="Calibri" pitchFamily="34" charset="-122"/>
                <a:cs typeface="Calibri" pitchFamily="34" charset="-120"/>
              </a:rPr>
              <a:t>Examples</a:t>
            </a:r>
            <a:endParaRPr lang="en-US" sz="1200" dirty="0"/>
          </a:p>
        </p:txBody>
      </p:sp>
      <p:sp>
        <p:nvSpPr>
          <p:cNvPr id="13" name="Text 10"/>
          <p:cNvSpPr txBox="1"/>
          <p:nvPr/>
        </p:nvSpPr>
        <p:spPr>
          <a:xfrm>
            <a:off x="594360" y="2240280"/>
            <a:ext cx="3749040" cy="2331720"/>
          </a:xfrm>
          <a:prstGeom prst="rect">
            <a:avLst/>
          </a:prstGeom>
          <a:noFill/>
          <a:ln/>
        </p:spPr>
        <p:txBody>
          <a:bodyPr wrap="square" lIns="0" tIns="0" rIns="0" bIns="0" rtlCol="0" anchor="t"/>
          <a:lstStyle/>
          <a:p>
            <a:pPr marL="177800" indent="-177800">
              <a:spcAft>
                <a:spcPts val="400"/>
              </a:spcAft>
              <a:buSzPct val="100000"/>
              <a:buChar char="•"/>
            </a:pPr>
            <a:r>
              <a:rPr lang="en-US" sz="1100" b="1" dirty="0">
                <a:solidFill>
                  <a:srgbClr val="1B2A41"/>
                </a:solidFill>
                <a:latin typeface="Calibri" pitchFamily="34" charset="0"/>
                <a:ea typeface="Calibri" pitchFamily="34" charset="-122"/>
                <a:cs typeface="Calibri" pitchFamily="34" charset="-120"/>
              </a:rPr>
              <a:t>Aspirin, ibuprofen</a:t>
            </a:r>
            <a:pPr marL="177800" indent="-177800">
              <a:spcAft>
                <a:spcPts val="400"/>
              </a:spcAft>
              <a:buSzPct val="100000"/>
              <a:buChar char="•"/>
            </a:pPr>
            <a:r>
              <a:rPr lang="en-US" sz="1100" dirty="0">
                <a:solidFill>
                  <a:srgbClr val="1B2A41"/>
                </a:solidFill>
                <a:latin typeface="Calibri" pitchFamily="34" charset="0"/>
                <a:ea typeface="Calibri" pitchFamily="34" charset="-122"/>
                <a:cs typeface="Calibri" pitchFamily="34" charset="-120"/>
              </a:rPr>
              <a:t>: inhibit cyclooxygenase (COX) enzymes, so less prostaglandin is made: less pain, fever and inflammation</a:t>
            </a:r>
            <a:endParaRPr lang="en-US" sz="1100" dirty="0"/>
          </a:p>
          <a:p>
            <a:pPr marL="177800" indent="-177800">
              <a:spcAft>
                <a:spcPts val="400"/>
              </a:spcAft>
              <a:buSzPct val="100000"/>
              <a:buChar char="•"/>
            </a:pPr>
            <a:r>
              <a:rPr lang="en-US" sz="1100" b="1" dirty="0">
                <a:solidFill>
                  <a:srgbClr val="1B2A41"/>
                </a:solidFill>
                <a:latin typeface="Calibri" pitchFamily="34" charset="0"/>
                <a:ea typeface="Calibri" pitchFamily="34" charset="-122"/>
                <a:cs typeface="Calibri" pitchFamily="34" charset="-120"/>
              </a:rPr>
              <a:t>Statins</a:t>
            </a:r>
            <a:pPr marL="177800" indent="-177800">
              <a:spcAft>
                <a:spcPts val="400"/>
              </a:spcAft>
              <a:buSzPct val="100000"/>
              <a:buChar char="•"/>
            </a:pPr>
            <a:r>
              <a:rPr lang="en-US" sz="1100" dirty="0">
                <a:solidFill>
                  <a:srgbClr val="1B2A41"/>
                </a:solidFill>
                <a:latin typeface="Calibri" pitchFamily="34" charset="0"/>
                <a:ea typeface="Calibri" pitchFamily="34" charset="-122"/>
                <a:cs typeface="Calibri" pitchFamily="34" charset="-120"/>
              </a:rPr>
              <a:t> (e.g. simvastatin): inhibit HMG-CoA reductase, an enzyme in cholesterol synthesis</a:t>
            </a:r>
            <a:endParaRPr lang="en-US" sz="1100" dirty="0"/>
          </a:p>
          <a:p>
            <a:pPr marL="177800" indent="-177800">
              <a:spcAft>
                <a:spcPts val="400"/>
              </a:spcAft>
              <a:buSzPct val="100000"/>
              <a:buChar char="•"/>
            </a:pPr>
            <a:r>
              <a:rPr lang="en-US" sz="1100" b="1" dirty="0">
                <a:solidFill>
                  <a:srgbClr val="1B2A41"/>
                </a:solidFill>
                <a:latin typeface="Calibri" pitchFamily="34" charset="0"/>
                <a:ea typeface="Calibri" pitchFamily="34" charset="-122"/>
                <a:cs typeface="Calibri" pitchFamily="34" charset="-120"/>
              </a:rPr>
              <a:t>ACE inhibitors</a:t>
            </a:r>
            <a:pPr marL="177800" indent="-177800">
              <a:spcAft>
                <a:spcPts val="400"/>
              </a:spcAft>
              <a:buSzPct val="100000"/>
              <a:buChar char="•"/>
            </a:pPr>
            <a:r>
              <a:rPr lang="en-US" sz="1100" dirty="0">
                <a:solidFill>
                  <a:srgbClr val="1B2A41"/>
                </a:solidFill>
                <a:latin typeface="Calibri" pitchFamily="34" charset="0"/>
                <a:ea typeface="Calibri" pitchFamily="34" charset="-122"/>
                <a:cs typeface="Calibri" pitchFamily="34" charset="-120"/>
              </a:rPr>
              <a:t> (e.g. captopril): inhibit angiotensin-converting enzyme, lowering blood pressure</a:t>
            </a:r>
            <a:endParaRPr lang="en-US" sz="1100" dirty="0"/>
          </a:p>
        </p:txBody>
      </p:sp>
      <p:sp>
        <p:nvSpPr>
          <p:cNvPr id="14" name="Shape 11"/>
          <p:cNvSpPr/>
          <p:nvPr/>
        </p:nvSpPr>
        <p:spPr>
          <a:xfrm>
            <a:off x="4663440" y="1783080"/>
            <a:ext cx="4023360" cy="2880360"/>
          </a:xfrm>
          <a:prstGeom prst="roundRect">
            <a:avLst>
              <a:gd name="adj" fmla="val 2540"/>
            </a:avLst>
          </a:prstGeom>
          <a:solidFill>
            <a:srgbClr val="FBEFD9"/>
          </a:solidFill>
          <a:ln w="9525">
            <a:solidFill>
              <a:srgbClr val="FBEFD9"/>
            </a:solidFill>
            <a:prstDash val="solid"/>
          </a:ln>
        </p:spPr>
      </p:sp>
      <p:sp>
        <p:nvSpPr>
          <p:cNvPr id="15" name="Text 12"/>
          <p:cNvSpPr txBox="1"/>
          <p:nvPr/>
        </p:nvSpPr>
        <p:spPr>
          <a:xfrm>
            <a:off x="4800600" y="1874520"/>
            <a:ext cx="3749040" cy="320040"/>
          </a:xfrm>
          <a:prstGeom prst="rect">
            <a:avLst/>
          </a:prstGeom>
          <a:noFill/>
          <a:ln/>
        </p:spPr>
        <p:txBody>
          <a:bodyPr wrap="square" lIns="0" tIns="0" rIns="0" bIns="0" rtlCol="0" anchor="ctr"/>
          <a:lstStyle/>
          <a:p>
            <a:pPr indent="0" marL="0">
              <a:buNone/>
            </a:pPr>
            <a:r>
              <a:rPr lang="en-US" sz="1200" b="1" dirty="0">
                <a:solidFill>
                  <a:srgbClr val="B86E00"/>
                </a:solidFill>
                <a:latin typeface="Calibri" pitchFamily="34" charset="0"/>
                <a:ea typeface="Calibri" pitchFamily="34" charset="-122"/>
                <a:cs typeface="Calibri" pitchFamily="34" charset="-120"/>
              </a:rPr>
              <a:t>The chemistry behind it</a:t>
            </a:r>
            <a:endParaRPr lang="en-US" sz="1200" dirty="0"/>
          </a:p>
        </p:txBody>
      </p:sp>
      <p:sp>
        <p:nvSpPr>
          <p:cNvPr id="16" name="Text 13"/>
          <p:cNvSpPr txBox="1"/>
          <p:nvPr/>
        </p:nvSpPr>
        <p:spPr>
          <a:xfrm>
            <a:off x="4800600" y="2240280"/>
            <a:ext cx="3749040" cy="2331720"/>
          </a:xfrm>
          <a:prstGeom prst="rect">
            <a:avLst/>
          </a:prstGeom>
          <a:noFill/>
          <a:ln/>
        </p:spPr>
        <p:txBody>
          <a:bodyPr wrap="square" lIns="0" tIns="0" rIns="0" bIns="0" rtlCol="0" anchor="t"/>
          <a:lstStyle/>
          <a:p>
            <a:pPr marL="177800" indent="-177800">
              <a:spcAft>
                <a:spcPts val="400"/>
              </a:spcAft>
              <a:buSzPct val="100000"/>
              <a:buChar char="•"/>
            </a:pPr>
            <a:r>
              <a:rPr lang="en-US" sz="1100" dirty="0">
                <a:solidFill>
                  <a:srgbClr val="1B2A41"/>
                </a:solidFill>
                <a:latin typeface="Calibri" pitchFamily="34" charset="0"/>
                <a:ea typeface="Calibri" pitchFamily="34" charset="-122"/>
                <a:cs typeface="Calibri" pitchFamily="34" charset="-120"/>
              </a:rPr>
              <a:t>An inhibitor binds to the enzyme, often in or near the active site</a:t>
            </a:r>
            <a:endParaRPr lang="en-US" sz="1100" dirty="0"/>
          </a:p>
          <a:p>
            <a:pPr marL="177800" indent="-177800">
              <a:spcAft>
                <a:spcPts val="400"/>
              </a:spcAft>
              <a:buSzPct val="100000"/>
              <a:buChar char="•"/>
            </a:pPr>
            <a:r>
              <a:rPr lang="en-US" sz="1100" dirty="0">
                <a:solidFill>
                  <a:srgbClr val="1B2A41"/>
                </a:solidFill>
                <a:latin typeface="Calibri" pitchFamily="34" charset="0"/>
                <a:ea typeface="Calibri" pitchFamily="34" charset="-122"/>
                <a:cs typeface="Calibri" pitchFamily="34" charset="-120"/>
              </a:rPr>
              <a:t>Fewer substrate molecules can bind, so fewer effective 'collisions' happen</a:t>
            </a:r>
            <a:endParaRPr lang="en-US" sz="1100" dirty="0"/>
          </a:p>
          <a:p>
            <a:pPr marL="177800" indent="-177800">
              <a:spcAft>
                <a:spcPts val="400"/>
              </a:spcAft>
              <a:buSzPct val="100000"/>
              <a:buChar char="•"/>
            </a:pPr>
            <a:r>
              <a:rPr lang="en-US" sz="1100" dirty="0">
                <a:solidFill>
                  <a:srgbClr val="1B2A41"/>
                </a:solidFill>
                <a:latin typeface="Calibri" pitchFamily="34" charset="0"/>
                <a:ea typeface="Calibri" pitchFamily="34" charset="-122"/>
                <a:cs typeface="Calibri" pitchFamily="34" charset="-120"/>
              </a:rPr>
              <a:t>The reaction slows, without the drug being a reactant itself</a:t>
            </a:r>
            <a:endParaRPr lang="en-US" sz="1100" dirty="0"/>
          </a:p>
          <a:p>
            <a:pPr marL="177800" indent="-177800">
              <a:spcAft>
                <a:spcPts val="400"/>
              </a:spcAft>
              <a:buSzPct val="100000"/>
              <a:buChar char="•"/>
            </a:pPr>
            <a:r>
              <a:rPr lang="en-US" sz="1100" dirty="0">
                <a:solidFill>
                  <a:srgbClr val="1B2A41"/>
                </a:solidFill>
                <a:latin typeface="Calibri" pitchFamily="34" charset="0"/>
                <a:ea typeface="Calibri" pitchFamily="34" charset="-122"/>
                <a:cs typeface="Calibri" pitchFamily="34" charset="-120"/>
              </a:rPr>
              <a:t>Industry too: catalytic converters (Pt, Pd, Rh) speed up the removal of CO and NO from car exhaust</a:t>
            </a:r>
            <a:endParaRPr lang="en-US" sz="11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CR2-LO5</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Try it · What does a catalyst change?</a:t>
            </a:r>
            <a:endParaRPr lang="en-US" sz="2000" dirty="0"/>
          </a:p>
        </p:txBody>
      </p:sp>
      <p:pic>
        <p:nvPicPr>
          <p:cNvPr id="7" name="Image 0" descr="/home/claude/build/mol/h2o2.png">    </p:cNvPr>
          <p:cNvPicPr>
            <a:picLocks noChangeAspect="1"/>
          </p:cNvPicPr>
          <p:nvPr/>
        </p:nvPicPr>
        <p:blipFill>
          <a:blip r:embed="rId1"/>
          <a:stretch>
            <a:fillRect/>
          </a:stretch>
        </p:blipFill>
        <p:spPr>
          <a:xfrm>
            <a:off x="8221416" y="192024"/>
            <a:ext cx="290688"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Chemical Reactions II</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Shape 7"/>
          <p:cNvSpPr/>
          <p:nvPr/>
        </p:nvSpPr>
        <p:spPr>
          <a:xfrm>
            <a:off x="457200" y="1234440"/>
            <a:ext cx="8229600" cy="914400"/>
          </a:xfrm>
          <a:prstGeom prst="roundRect">
            <a:avLst>
              <a:gd name="adj" fmla="val 8000"/>
            </a:avLst>
          </a:prstGeom>
          <a:solidFill>
            <a:srgbClr val="FFFFFF"/>
          </a:solidFill>
          <a:ln w="9525">
            <a:solidFill>
              <a:srgbClr val="D7E0E8"/>
            </a:solidFill>
            <a:prstDash val="solid"/>
          </a:ln>
        </p:spPr>
      </p:sp>
      <p:sp>
        <p:nvSpPr>
          <p:cNvPr id="11" name="Text 8"/>
          <p:cNvSpPr txBox="1"/>
          <p:nvPr/>
        </p:nvSpPr>
        <p:spPr>
          <a:xfrm>
            <a:off x="594360" y="1280160"/>
            <a:ext cx="7955280" cy="822960"/>
          </a:xfrm>
          <a:prstGeom prst="rect">
            <a:avLst/>
          </a:prstGeom>
          <a:noFill/>
          <a:ln/>
        </p:spPr>
        <p:txBody>
          <a:bodyPr wrap="square" lIns="0" tIns="0" rIns="0" bIns="0" rtlCol="0" anchor="ctr"/>
          <a:lstStyle/>
          <a:p>
            <a:pPr indent="0" marL="0">
              <a:buNone/>
            </a:pPr>
            <a:r>
              <a:rPr lang="en-US" sz="1250" dirty="0">
                <a:solidFill>
                  <a:srgbClr val="1B2A41"/>
                </a:solidFill>
                <a:latin typeface="Calibri" pitchFamily="34" charset="0"/>
                <a:ea typeface="Calibri" pitchFamily="34" charset="-122"/>
                <a:cs typeface="Calibri" pitchFamily="34" charset="-120"/>
              </a:rPr>
              <a:t>A student says: 'Adding a catalyst makes the reaction release more heat and gives more product.' Is the student right? Explain.</a:t>
            </a:r>
            <a:endParaRPr lang="en-US" sz="1250" dirty="0"/>
          </a:p>
        </p:txBody>
      </p:sp>
      <p:sp>
        <p:nvSpPr>
          <p:cNvPr id="12" name="Text 9"/>
          <p:cNvSpPr txBox="1"/>
          <p:nvPr/>
        </p:nvSpPr>
        <p:spPr>
          <a:xfrm>
            <a:off x="457200" y="2377440"/>
            <a:ext cx="5486400" cy="274320"/>
          </a:xfrm>
          <a:prstGeom prst="rect">
            <a:avLst/>
          </a:prstGeom>
          <a:noFill/>
          <a:ln/>
        </p:spPr>
        <p:txBody>
          <a:bodyPr wrap="square" lIns="0" tIns="0" rIns="0" bIns="0" rtlCol="0" anchor="ctr"/>
          <a:lstStyle/>
          <a:p>
            <a:pPr indent="0" marL="0">
              <a:buNone/>
            </a:pPr>
            <a:r>
              <a:rPr lang="en-US" sz="1000" i="1" dirty="0">
                <a:solidFill>
                  <a:srgbClr val="56657A"/>
                </a:solidFill>
                <a:latin typeface="Calibri" pitchFamily="34" charset="0"/>
                <a:ea typeface="Calibri" pitchFamily="34" charset="-122"/>
                <a:cs typeface="Calibri" pitchFamily="34" charset="-120"/>
              </a:rPr>
              <a:t>Work it out, then check on the next slide.</a:t>
            </a:r>
            <a:endParaRPr lang="en-US" sz="10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CR2-LO5</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Try it · What does a catalyst change? · answer</a:t>
            </a:r>
            <a:endParaRPr lang="en-US" sz="2000" dirty="0"/>
          </a:p>
        </p:txBody>
      </p:sp>
      <p:pic>
        <p:nvPicPr>
          <p:cNvPr id="7" name="Image 0" descr="/home/claude/build/mol/h2o2.png">    </p:cNvPr>
          <p:cNvPicPr>
            <a:picLocks noChangeAspect="1"/>
          </p:cNvPicPr>
          <p:nvPr/>
        </p:nvPicPr>
        <p:blipFill>
          <a:blip r:embed="rId1"/>
          <a:stretch>
            <a:fillRect/>
          </a:stretch>
        </p:blipFill>
        <p:spPr>
          <a:xfrm>
            <a:off x="8221416" y="192024"/>
            <a:ext cx="290688"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Chemical Reactions II</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Shape 7"/>
          <p:cNvSpPr/>
          <p:nvPr/>
        </p:nvSpPr>
        <p:spPr>
          <a:xfrm>
            <a:off x="457200" y="1234440"/>
            <a:ext cx="8229600" cy="914400"/>
          </a:xfrm>
          <a:prstGeom prst="roundRect">
            <a:avLst>
              <a:gd name="adj" fmla="val 8000"/>
            </a:avLst>
          </a:prstGeom>
          <a:solidFill>
            <a:srgbClr val="FFFFFF"/>
          </a:solidFill>
          <a:ln w="9525">
            <a:solidFill>
              <a:srgbClr val="D7E0E8"/>
            </a:solidFill>
            <a:prstDash val="solid"/>
          </a:ln>
        </p:spPr>
      </p:sp>
      <p:sp>
        <p:nvSpPr>
          <p:cNvPr id="11" name="Text 8"/>
          <p:cNvSpPr txBox="1"/>
          <p:nvPr/>
        </p:nvSpPr>
        <p:spPr>
          <a:xfrm>
            <a:off x="594360" y="1280160"/>
            <a:ext cx="7955280" cy="822960"/>
          </a:xfrm>
          <a:prstGeom prst="rect">
            <a:avLst/>
          </a:prstGeom>
          <a:noFill/>
          <a:ln/>
        </p:spPr>
        <p:txBody>
          <a:bodyPr wrap="square" lIns="0" tIns="0" rIns="0" bIns="0" rtlCol="0" anchor="ctr"/>
          <a:lstStyle/>
          <a:p>
            <a:pPr indent="0" marL="0">
              <a:buNone/>
            </a:pPr>
            <a:r>
              <a:rPr lang="en-US" sz="1250" dirty="0">
                <a:solidFill>
                  <a:srgbClr val="1B2A41"/>
                </a:solidFill>
                <a:latin typeface="Calibri" pitchFamily="34" charset="0"/>
                <a:ea typeface="Calibri" pitchFamily="34" charset="-122"/>
                <a:cs typeface="Calibri" pitchFamily="34" charset="-120"/>
              </a:rPr>
              <a:t>A student says: 'Adding a catalyst makes the reaction release more heat and gives more product.' Is the student right? Explain.</a:t>
            </a:r>
            <a:endParaRPr lang="en-US" sz="1250" dirty="0"/>
          </a:p>
        </p:txBody>
      </p:sp>
      <p:sp>
        <p:nvSpPr>
          <p:cNvPr id="12" name="Shape 9"/>
          <p:cNvSpPr/>
          <p:nvPr/>
        </p:nvSpPr>
        <p:spPr>
          <a:xfrm>
            <a:off x="457200" y="2331720"/>
            <a:ext cx="8229600" cy="2240280"/>
          </a:xfrm>
          <a:prstGeom prst="roundRect">
            <a:avLst>
              <a:gd name="adj" fmla="val 3265"/>
            </a:avLst>
          </a:prstGeom>
          <a:solidFill>
            <a:srgbClr val="FBEFD9"/>
          </a:solidFill>
          <a:ln w="9525">
            <a:solidFill>
              <a:srgbClr val="FBEFD9"/>
            </a:solidFill>
            <a:prstDash val="solid"/>
          </a:ln>
        </p:spPr>
      </p:sp>
      <p:sp>
        <p:nvSpPr>
          <p:cNvPr id="13" name="Text 10"/>
          <p:cNvSpPr txBox="1"/>
          <p:nvPr/>
        </p:nvSpPr>
        <p:spPr>
          <a:xfrm>
            <a:off x="640080" y="2423160"/>
            <a:ext cx="7863840" cy="2057400"/>
          </a:xfrm>
          <a:prstGeom prst="rect">
            <a:avLst/>
          </a:prstGeom>
          <a:noFill/>
          <a:ln/>
        </p:spPr>
        <p:txBody>
          <a:bodyPr wrap="square" lIns="0" tIns="0" rIns="0" bIns="0" rtlCol="0" anchor="t"/>
          <a:lstStyle/>
          <a:p>
            <a:pPr indent="0" marL="0">
              <a:buNone/>
            </a:pPr>
            <a:r>
              <a:rPr lang="en-US" sz="1100" b="1" dirty="0">
                <a:solidFill>
                  <a:srgbClr val="B86E00"/>
                </a:solidFill>
                <a:latin typeface="Calibri" pitchFamily="34" charset="0"/>
                <a:ea typeface="Calibri" pitchFamily="34" charset="-122"/>
                <a:cs typeface="Calibri" pitchFamily="34" charset="-120"/>
              </a:rPr>
              <a:t>Answer</a:t>
            </a:r>
            <a:endParaRPr lang="en-US" sz="1100" dirty="0"/>
          </a:p>
          <a:p>
            <a:pPr indent="0" marL="0">
              <a:buNone/>
            </a:pPr>
            <a:r>
              <a:rPr lang="en-US" sz="1200" b="1" dirty="0">
                <a:solidFill>
                  <a:srgbClr val="1B2A41"/>
                </a:solidFill>
                <a:latin typeface="Calibri" pitchFamily="34" charset="0"/>
                <a:ea typeface="Calibri" pitchFamily="34" charset="-122"/>
                <a:cs typeface="Calibri" pitchFamily="34" charset="-120"/>
              </a:rPr>
              <a:t>No.</a:t>
            </a:r>
            <a:pPr indent="0" marL="0">
              <a:buNone/>
            </a:pPr>
            <a:r>
              <a:rPr lang="en-US" sz="1200" dirty="0">
                <a:solidFill>
                  <a:srgbClr val="1B2A41"/>
                </a:solidFill>
                <a:latin typeface="Calibri" pitchFamily="34" charset="0"/>
                <a:ea typeface="Calibri" pitchFamily="34" charset="-122"/>
                <a:cs typeface="Calibri" pitchFamily="34" charset="-120"/>
              </a:rPr>
              <a:t> A catalyst lowers E</a:t>
            </a:r>
            <a:pPr indent="0" marL="0">
              <a:buNone/>
            </a:pPr>
            <a:r>
              <a:rPr lang="en-US" sz="1200" baseline="-40000" dirty="0">
                <a:solidFill>
                  <a:srgbClr val="1B2A41"/>
                </a:solidFill>
                <a:latin typeface="Calibri" pitchFamily="34" charset="0"/>
                <a:ea typeface="Calibri" pitchFamily="34" charset="-122"/>
                <a:cs typeface="Calibri" pitchFamily="34" charset="-120"/>
              </a:rPr>
              <a:t>a</a:t>
            </a:r>
            <a:pPr indent="0" marL="0">
              <a:buNone/>
            </a:pPr>
            <a:r>
              <a:rPr lang="en-US" sz="1200" dirty="0">
                <a:solidFill>
                  <a:srgbClr val="1B2A41"/>
                </a:solidFill>
                <a:latin typeface="Calibri" pitchFamily="34" charset="0"/>
                <a:ea typeface="Calibri" pitchFamily="34" charset="-122"/>
                <a:cs typeface="Calibri" pitchFamily="34" charset="-120"/>
              </a:rPr>
              <a:t> only. ΔH stays the same, so the heat released is unchanged. It speeds up the forward and reverse reactions equally, so the final amount of product (the equilibrium position, Part 6) is unchanged. The product simply forms </a:t>
            </a:r>
            <a:pPr indent="0" marL="0">
              <a:buNone/>
            </a:pPr>
            <a:r>
              <a:rPr lang="en-US" sz="1200" b="1" dirty="0">
                <a:solidFill>
                  <a:srgbClr val="1B2A41"/>
                </a:solidFill>
                <a:latin typeface="Calibri" pitchFamily="34" charset="0"/>
                <a:ea typeface="Calibri" pitchFamily="34" charset="-122"/>
                <a:cs typeface="Calibri" pitchFamily="34" charset="-120"/>
              </a:rPr>
              <a:t>faster</a:t>
            </a:r>
            <a:pPr indent="0" marL="0">
              <a:buNone/>
            </a:pPr>
            <a:r>
              <a:rPr lang="en-US" sz="1200" dirty="0">
                <a:solidFill>
                  <a:srgbClr val="1B2A41"/>
                </a:solidFill>
                <a:latin typeface="Calibri" pitchFamily="34" charset="0"/>
                <a:ea typeface="Calibri" pitchFamily="34" charset="-122"/>
                <a:cs typeface="Calibri" pitchFamily="34" charset="-120"/>
              </a:rPr>
              <a:t>.</a:t>
            </a:r>
            <a:endParaRPr lang="en-US" sz="11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CR2-LO5</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Quick check</a:t>
            </a:r>
            <a:endParaRPr lang="en-US" sz="2000" dirty="0"/>
          </a:p>
        </p:txBody>
      </p:sp>
      <p:pic>
        <p:nvPicPr>
          <p:cNvPr id="7" name="Image 0" descr="/home/claude/build/mol/h2o2.png">    </p:cNvPr>
          <p:cNvPicPr>
            <a:picLocks noChangeAspect="1"/>
          </p:cNvPicPr>
          <p:nvPr/>
        </p:nvPicPr>
        <p:blipFill>
          <a:blip r:embed="rId1"/>
          <a:stretch>
            <a:fillRect/>
          </a:stretch>
        </p:blipFill>
        <p:spPr>
          <a:xfrm>
            <a:off x="8221416" y="192024"/>
            <a:ext cx="290688"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Chemical Reactions II</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Text 7"/>
          <p:cNvSpPr txBox="1"/>
          <p:nvPr/>
        </p:nvSpPr>
        <p:spPr>
          <a:xfrm>
            <a:off x="457200" y="1188720"/>
            <a:ext cx="8229600" cy="640080"/>
          </a:xfrm>
          <a:prstGeom prst="rect">
            <a:avLst/>
          </a:prstGeom>
          <a:noFill/>
          <a:ln/>
        </p:spPr>
        <p:txBody>
          <a:bodyPr wrap="square" lIns="0" tIns="0" rIns="0" bIns="0" rtlCol="0" anchor="t"/>
          <a:lstStyle/>
          <a:p>
            <a:pPr indent="0" marL="0">
              <a:buNone/>
            </a:pPr>
            <a:r>
              <a:rPr lang="en-US" sz="1300" b="1" dirty="0">
                <a:solidFill>
                  <a:srgbClr val="1B2A41"/>
                </a:solidFill>
                <a:latin typeface="Calibri" pitchFamily="34" charset="0"/>
                <a:ea typeface="Calibri" pitchFamily="34" charset="-122"/>
                <a:cs typeface="Calibri" pitchFamily="34" charset="-120"/>
              </a:rPr>
              <a:t>Which statement about catalysts is correct?</a:t>
            </a:r>
            <a:endParaRPr lang="en-US" sz="1300" dirty="0"/>
          </a:p>
        </p:txBody>
      </p:sp>
      <p:sp>
        <p:nvSpPr>
          <p:cNvPr id="11" name="Shape 8"/>
          <p:cNvSpPr/>
          <p:nvPr/>
        </p:nvSpPr>
        <p:spPr>
          <a:xfrm>
            <a:off x="457200" y="1965960"/>
            <a:ext cx="4023360" cy="594360"/>
          </a:xfrm>
          <a:prstGeom prst="roundRect">
            <a:avLst>
              <a:gd name="adj" fmla="val 12308"/>
            </a:avLst>
          </a:prstGeom>
          <a:solidFill>
            <a:srgbClr val="FFFFFF"/>
          </a:solidFill>
          <a:ln w="9525">
            <a:solidFill>
              <a:srgbClr val="D7E0E8"/>
            </a:solidFill>
            <a:prstDash val="solid"/>
          </a:ln>
        </p:spPr>
      </p:sp>
      <p:sp>
        <p:nvSpPr>
          <p:cNvPr id="12" name="Text 9"/>
          <p:cNvSpPr txBox="1"/>
          <p:nvPr/>
        </p:nvSpPr>
        <p:spPr>
          <a:xfrm>
            <a:off x="594360" y="196596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A   </a:t>
            </a:r>
            <a:pPr indent="0" marL="0">
              <a:buNone/>
            </a:pPr>
            <a:r>
              <a:rPr lang="en-US" sz="1150" dirty="0">
                <a:solidFill>
                  <a:srgbClr val="1B2A41"/>
                </a:solidFill>
                <a:latin typeface="Calibri" pitchFamily="34" charset="0"/>
                <a:ea typeface="Calibri" pitchFamily="34" charset="-122"/>
                <a:cs typeface="Calibri" pitchFamily="34" charset="-120"/>
              </a:rPr>
              <a:t>They are used up in the reaction</a:t>
            </a:r>
            <a:endParaRPr lang="en-US" sz="1100" dirty="0"/>
          </a:p>
        </p:txBody>
      </p:sp>
      <p:sp>
        <p:nvSpPr>
          <p:cNvPr id="13" name="Shape 10"/>
          <p:cNvSpPr/>
          <p:nvPr/>
        </p:nvSpPr>
        <p:spPr>
          <a:xfrm>
            <a:off x="4663440" y="1965960"/>
            <a:ext cx="4023360" cy="594360"/>
          </a:xfrm>
          <a:prstGeom prst="roundRect">
            <a:avLst>
              <a:gd name="adj" fmla="val 12308"/>
            </a:avLst>
          </a:prstGeom>
          <a:solidFill>
            <a:srgbClr val="FFFFFF"/>
          </a:solidFill>
          <a:ln w="9525">
            <a:solidFill>
              <a:srgbClr val="D7E0E8"/>
            </a:solidFill>
            <a:prstDash val="solid"/>
          </a:ln>
        </p:spPr>
      </p:sp>
      <p:sp>
        <p:nvSpPr>
          <p:cNvPr id="14" name="Text 11"/>
          <p:cNvSpPr txBox="1"/>
          <p:nvPr/>
        </p:nvSpPr>
        <p:spPr>
          <a:xfrm>
            <a:off x="4800600" y="196596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B   </a:t>
            </a:r>
            <a:pPr indent="0" marL="0">
              <a:buNone/>
            </a:pPr>
            <a:r>
              <a:rPr lang="en-US" sz="1150" dirty="0">
                <a:solidFill>
                  <a:srgbClr val="1B2A41"/>
                </a:solidFill>
                <a:latin typeface="Calibri" pitchFamily="34" charset="0"/>
                <a:ea typeface="Calibri" pitchFamily="34" charset="-122"/>
                <a:cs typeface="Calibri" pitchFamily="34" charset="-120"/>
              </a:rPr>
              <a:t>They make ΔH more negative</a:t>
            </a:r>
            <a:endParaRPr lang="en-US" sz="1100" dirty="0"/>
          </a:p>
        </p:txBody>
      </p:sp>
      <p:sp>
        <p:nvSpPr>
          <p:cNvPr id="15" name="Shape 12"/>
          <p:cNvSpPr/>
          <p:nvPr/>
        </p:nvSpPr>
        <p:spPr>
          <a:xfrm>
            <a:off x="457200" y="2697480"/>
            <a:ext cx="4023360" cy="594360"/>
          </a:xfrm>
          <a:prstGeom prst="roundRect">
            <a:avLst>
              <a:gd name="adj" fmla="val 12308"/>
            </a:avLst>
          </a:prstGeom>
          <a:solidFill>
            <a:srgbClr val="FFFFFF"/>
          </a:solidFill>
          <a:ln w="9525">
            <a:solidFill>
              <a:srgbClr val="D7E0E8"/>
            </a:solidFill>
            <a:prstDash val="solid"/>
          </a:ln>
        </p:spPr>
      </p:sp>
      <p:sp>
        <p:nvSpPr>
          <p:cNvPr id="16" name="Text 13"/>
          <p:cNvSpPr txBox="1"/>
          <p:nvPr/>
        </p:nvSpPr>
        <p:spPr>
          <a:xfrm>
            <a:off x="594360" y="269748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C   </a:t>
            </a:r>
            <a:pPr indent="0" marL="0">
              <a:buNone/>
            </a:pPr>
            <a:r>
              <a:rPr lang="en-US" sz="1150" dirty="0">
                <a:solidFill>
                  <a:srgbClr val="1B2A41"/>
                </a:solidFill>
                <a:latin typeface="Calibri" pitchFamily="34" charset="0"/>
                <a:ea typeface="Calibri" pitchFamily="34" charset="-122"/>
                <a:cs typeface="Calibri" pitchFamily="34" charset="-120"/>
              </a:rPr>
              <a:t>They provide a pathway with a lower activation energy</a:t>
            </a:r>
            <a:endParaRPr lang="en-US" sz="1100" dirty="0"/>
          </a:p>
        </p:txBody>
      </p:sp>
      <p:sp>
        <p:nvSpPr>
          <p:cNvPr id="17" name="Shape 14"/>
          <p:cNvSpPr/>
          <p:nvPr/>
        </p:nvSpPr>
        <p:spPr>
          <a:xfrm>
            <a:off x="4663440" y="2697480"/>
            <a:ext cx="4023360" cy="594360"/>
          </a:xfrm>
          <a:prstGeom prst="roundRect">
            <a:avLst>
              <a:gd name="adj" fmla="val 12308"/>
            </a:avLst>
          </a:prstGeom>
          <a:solidFill>
            <a:srgbClr val="FFFFFF"/>
          </a:solidFill>
          <a:ln w="9525">
            <a:solidFill>
              <a:srgbClr val="D7E0E8"/>
            </a:solidFill>
            <a:prstDash val="solid"/>
          </a:ln>
        </p:spPr>
      </p:sp>
      <p:sp>
        <p:nvSpPr>
          <p:cNvPr id="18" name="Text 15"/>
          <p:cNvSpPr txBox="1"/>
          <p:nvPr/>
        </p:nvSpPr>
        <p:spPr>
          <a:xfrm>
            <a:off x="4800600" y="269748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D   </a:t>
            </a:r>
            <a:pPr indent="0" marL="0">
              <a:buNone/>
            </a:pPr>
            <a:r>
              <a:rPr lang="en-US" sz="1150" dirty="0">
                <a:solidFill>
                  <a:srgbClr val="1B2A41"/>
                </a:solidFill>
                <a:latin typeface="Calibri" pitchFamily="34" charset="0"/>
                <a:ea typeface="Calibri" pitchFamily="34" charset="-122"/>
                <a:cs typeface="Calibri" pitchFamily="34" charset="-120"/>
              </a:rPr>
              <a:t>They only work at high temperature</a:t>
            </a:r>
            <a:endParaRPr lang="en-US" sz="11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CR2-LO5</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Quick check · answer</a:t>
            </a:r>
            <a:endParaRPr lang="en-US" sz="2000" dirty="0"/>
          </a:p>
        </p:txBody>
      </p:sp>
      <p:pic>
        <p:nvPicPr>
          <p:cNvPr id="7" name="Image 0" descr="/home/claude/build/mol/h2o2.png">    </p:cNvPr>
          <p:cNvPicPr>
            <a:picLocks noChangeAspect="1"/>
          </p:cNvPicPr>
          <p:nvPr/>
        </p:nvPicPr>
        <p:blipFill>
          <a:blip r:embed="rId1"/>
          <a:stretch>
            <a:fillRect/>
          </a:stretch>
        </p:blipFill>
        <p:spPr>
          <a:xfrm>
            <a:off x="8221416" y="192024"/>
            <a:ext cx="290688"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Chemical Reactions II</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Text 7"/>
          <p:cNvSpPr txBox="1"/>
          <p:nvPr/>
        </p:nvSpPr>
        <p:spPr>
          <a:xfrm>
            <a:off x="457200" y="1188720"/>
            <a:ext cx="8229600" cy="640080"/>
          </a:xfrm>
          <a:prstGeom prst="rect">
            <a:avLst/>
          </a:prstGeom>
          <a:noFill/>
          <a:ln/>
        </p:spPr>
        <p:txBody>
          <a:bodyPr wrap="square" lIns="0" tIns="0" rIns="0" bIns="0" rtlCol="0" anchor="t"/>
          <a:lstStyle/>
          <a:p>
            <a:pPr indent="0" marL="0">
              <a:buNone/>
            </a:pPr>
            <a:r>
              <a:rPr lang="en-US" sz="1300" b="1" dirty="0">
                <a:solidFill>
                  <a:srgbClr val="1B2A41"/>
                </a:solidFill>
                <a:latin typeface="Calibri" pitchFamily="34" charset="0"/>
                <a:ea typeface="Calibri" pitchFamily="34" charset="-122"/>
                <a:cs typeface="Calibri" pitchFamily="34" charset="-120"/>
              </a:rPr>
              <a:t>Which statement about catalysts is correct?</a:t>
            </a:r>
            <a:endParaRPr lang="en-US" sz="1300" dirty="0"/>
          </a:p>
        </p:txBody>
      </p:sp>
      <p:sp>
        <p:nvSpPr>
          <p:cNvPr id="11" name="Shape 8"/>
          <p:cNvSpPr/>
          <p:nvPr/>
        </p:nvSpPr>
        <p:spPr>
          <a:xfrm>
            <a:off x="457200" y="1965960"/>
            <a:ext cx="4023360" cy="594360"/>
          </a:xfrm>
          <a:prstGeom prst="roundRect">
            <a:avLst>
              <a:gd name="adj" fmla="val 12308"/>
            </a:avLst>
          </a:prstGeom>
          <a:solidFill>
            <a:srgbClr val="FFFFFF"/>
          </a:solidFill>
          <a:ln w="9525">
            <a:solidFill>
              <a:srgbClr val="D7E0E8"/>
            </a:solidFill>
            <a:prstDash val="solid"/>
          </a:ln>
        </p:spPr>
      </p:sp>
      <p:sp>
        <p:nvSpPr>
          <p:cNvPr id="12" name="Text 9"/>
          <p:cNvSpPr txBox="1"/>
          <p:nvPr/>
        </p:nvSpPr>
        <p:spPr>
          <a:xfrm>
            <a:off x="594360" y="196596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A   </a:t>
            </a:r>
            <a:pPr indent="0" marL="0">
              <a:buNone/>
            </a:pPr>
            <a:r>
              <a:rPr lang="en-US" sz="1150" dirty="0">
                <a:solidFill>
                  <a:srgbClr val="1B2A41"/>
                </a:solidFill>
                <a:latin typeface="Calibri" pitchFamily="34" charset="0"/>
                <a:ea typeface="Calibri" pitchFamily="34" charset="-122"/>
                <a:cs typeface="Calibri" pitchFamily="34" charset="-120"/>
              </a:rPr>
              <a:t>They are used up in the reaction</a:t>
            </a:r>
            <a:endParaRPr lang="en-US" sz="1100" dirty="0"/>
          </a:p>
        </p:txBody>
      </p:sp>
      <p:sp>
        <p:nvSpPr>
          <p:cNvPr id="13" name="Shape 10"/>
          <p:cNvSpPr/>
          <p:nvPr/>
        </p:nvSpPr>
        <p:spPr>
          <a:xfrm>
            <a:off x="4663440" y="1965960"/>
            <a:ext cx="4023360" cy="594360"/>
          </a:xfrm>
          <a:prstGeom prst="roundRect">
            <a:avLst>
              <a:gd name="adj" fmla="val 12308"/>
            </a:avLst>
          </a:prstGeom>
          <a:solidFill>
            <a:srgbClr val="FFFFFF"/>
          </a:solidFill>
          <a:ln w="9525">
            <a:solidFill>
              <a:srgbClr val="D7E0E8"/>
            </a:solidFill>
            <a:prstDash val="solid"/>
          </a:ln>
        </p:spPr>
      </p:sp>
      <p:sp>
        <p:nvSpPr>
          <p:cNvPr id="14" name="Text 11"/>
          <p:cNvSpPr txBox="1"/>
          <p:nvPr/>
        </p:nvSpPr>
        <p:spPr>
          <a:xfrm>
            <a:off x="4800600" y="196596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B   </a:t>
            </a:r>
            <a:pPr indent="0" marL="0">
              <a:buNone/>
            </a:pPr>
            <a:r>
              <a:rPr lang="en-US" sz="1150" dirty="0">
                <a:solidFill>
                  <a:srgbClr val="1B2A41"/>
                </a:solidFill>
                <a:latin typeface="Calibri" pitchFamily="34" charset="0"/>
                <a:ea typeface="Calibri" pitchFamily="34" charset="-122"/>
                <a:cs typeface="Calibri" pitchFamily="34" charset="-120"/>
              </a:rPr>
              <a:t>They make ΔH more negative</a:t>
            </a:r>
            <a:endParaRPr lang="en-US" sz="1100" dirty="0"/>
          </a:p>
        </p:txBody>
      </p:sp>
      <p:sp>
        <p:nvSpPr>
          <p:cNvPr id="15" name="Shape 12"/>
          <p:cNvSpPr/>
          <p:nvPr/>
        </p:nvSpPr>
        <p:spPr>
          <a:xfrm>
            <a:off x="457200" y="2697480"/>
            <a:ext cx="4023360" cy="594360"/>
          </a:xfrm>
          <a:prstGeom prst="roundRect">
            <a:avLst>
              <a:gd name="adj" fmla="val 12308"/>
            </a:avLst>
          </a:prstGeom>
          <a:solidFill>
            <a:srgbClr val="E3F3E9"/>
          </a:solidFill>
          <a:ln w="9525">
            <a:solidFill>
              <a:srgbClr val="2E7D4F"/>
            </a:solidFill>
            <a:prstDash val="solid"/>
          </a:ln>
        </p:spPr>
      </p:sp>
      <p:sp>
        <p:nvSpPr>
          <p:cNvPr id="16" name="Text 13"/>
          <p:cNvSpPr txBox="1"/>
          <p:nvPr/>
        </p:nvSpPr>
        <p:spPr>
          <a:xfrm>
            <a:off x="594360" y="269748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C   </a:t>
            </a:r>
            <a:pPr indent="0" marL="0">
              <a:buNone/>
            </a:pPr>
            <a:r>
              <a:rPr lang="en-US" sz="1150" dirty="0">
                <a:solidFill>
                  <a:srgbClr val="1B2A41"/>
                </a:solidFill>
                <a:latin typeface="Calibri" pitchFamily="34" charset="0"/>
                <a:ea typeface="Calibri" pitchFamily="34" charset="-122"/>
                <a:cs typeface="Calibri" pitchFamily="34" charset="-120"/>
              </a:rPr>
              <a:t>They provide a pathway with a lower activation energy</a:t>
            </a:r>
            <a:endParaRPr lang="en-US" sz="1100" dirty="0"/>
          </a:p>
        </p:txBody>
      </p:sp>
      <p:sp>
        <p:nvSpPr>
          <p:cNvPr id="17" name="Shape 14"/>
          <p:cNvSpPr/>
          <p:nvPr/>
        </p:nvSpPr>
        <p:spPr>
          <a:xfrm>
            <a:off x="4663440" y="2697480"/>
            <a:ext cx="4023360" cy="594360"/>
          </a:xfrm>
          <a:prstGeom prst="roundRect">
            <a:avLst>
              <a:gd name="adj" fmla="val 12308"/>
            </a:avLst>
          </a:prstGeom>
          <a:solidFill>
            <a:srgbClr val="FFFFFF"/>
          </a:solidFill>
          <a:ln w="9525">
            <a:solidFill>
              <a:srgbClr val="D7E0E8"/>
            </a:solidFill>
            <a:prstDash val="solid"/>
          </a:ln>
        </p:spPr>
      </p:sp>
      <p:sp>
        <p:nvSpPr>
          <p:cNvPr id="18" name="Text 15"/>
          <p:cNvSpPr txBox="1"/>
          <p:nvPr/>
        </p:nvSpPr>
        <p:spPr>
          <a:xfrm>
            <a:off x="4800600" y="269748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D   </a:t>
            </a:r>
            <a:pPr indent="0" marL="0">
              <a:buNone/>
            </a:pPr>
            <a:r>
              <a:rPr lang="en-US" sz="1150" dirty="0">
                <a:solidFill>
                  <a:srgbClr val="1B2A41"/>
                </a:solidFill>
                <a:latin typeface="Calibri" pitchFamily="34" charset="0"/>
                <a:ea typeface="Calibri" pitchFamily="34" charset="-122"/>
                <a:cs typeface="Calibri" pitchFamily="34" charset="-120"/>
              </a:rPr>
              <a:t>They only work at high temperature</a:t>
            </a:r>
            <a:endParaRPr lang="en-US" sz="1100" dirty="0"/>
          </a:p>
        </p:txBody>
      </p:sp>
      <p:sp>
        <p:nvSpPr>
          <p:cNvPr id="19" name="Text 16"/>
          <p:cNvSpPr txBox="1"/>
          <p:nvPr/>
        </p:nvSpPr>
        <p:spPr>
          <a:xfrm>
            <a:off x="457200" y="3520440"/>
            <a:ext cx="8229600" cy="731520"/>
          </a:xfrm>
          <a:prstGeom prst="rect">
            <a:avLst/>
          </a:prstGeom>
          <a:noFill/>
          <a:ln/>
        </p:spPr>
        <p:txBody>
          <a:bodyPr wrap="square" lIns="0" tIns="0" rIns="0" bIns="0" rtlCol="0" anchor="t"/>
          <a:lstStyle/>
          <a:p>
            <a:pPr indent="0" marL="0">
              <a:buNone/>
            </a:pPr>
            <a:r>
              <a:rPr lang="en-US" sz="1150" b="1" dirty="0">
                <a:solidFill>
                  <a:srgbClr val="1B2A41"/>
                </a:solidFill>
                <a:latin typeface="Calibri" pitchFamily="34" charset="0"/>
                <a:ea typeface="Calibri" pitchFamily="34" charset="-122"/>
                <a:cs typeface="Calibri" pitchFamily="34" charset="-120"/>
              </a:rPr>
              <a:t>Answer C. </a:t>
            </a:r>
            <a:pPr indent="0" marL="0">
              <a:buNone/>
            </a:pPr>
            <a:r>
              <a:rPr lang="en-US" sz="1150" dirty="0">
                <a:solidFill>
                  <a:srgbClr val="1B2A41"/>
                </a:solidFill>
                <a:latin typeface="Calibri" pitchFamily="34" charset="0"/>
                <a:ea typeface="Calibri" pitchFamily="34" charset="-122"/>
                <a:cs typeface="Calibri" pitchFamily="34" charset="-120"/>
              </a:rPr>
              <a:t>A catalyst lowers E</a:t>
            </a:r>
            <a:pPr indent="0" marL="0">
              <a:buNone/>
            </a:pPr>
            <a:r>
              <a:rPr lang="en-US" sz="1150" baseline="-40000" dirty="0">
                <a:solidFill>
                  <a:srgbClr val="1B2A41"/>
                </a:solidFill>
                <a:latin typeface="Calibri" pitchFamily="34" charset="0"/>
                <a:ea typeface="Calibri" pitchFamily="34" charset="-122"/>
                <a:cs typeface="Calibri" pitchFamily="34" charset="-120"/>
              </a:rPr>
              <a:t>a</a:t>
            </a:r>
            <a:pPr indent="0" marL="0">
              <a:buNone/>
            </a:pPr>
            <a:r>
              <a:rPr lang="en-US" sz="1150" dirty="0">
                <a:solidFill>
                  <a:srgbClr val="1B2A41"/>
                </a:solidFill>
                <a:latin typeface="Calibri" pitchFamily="34" charset="0"/>
                <a:ea typeface="Calibri" pitchFamily="34" charset="-122"/>
                <a:cs typeface="Calibri" pitchFamily="34" charset="-120"/>
              </a:rPr>
              <a:t> and is recovered unchanged; ΔH is not affected. Enzymes work at body temperature.</a:t>
            </a:r>
            <a:endParaRPr lang="en-US" sz="11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1B2A41"/>
        </a:solidFill>
      </p:bgPr>
    </p:bg>
    <p:spTree>
      <p:nvGrpSpPr>
        <p:cNvPr id="1" name=""/>
        <p:cNvGrpSpPr/>
        <p:nvPr/>
      </p:nvGrpSpPr>
      <p:grpSpPr>
        <a:xfrm>
          <a:off x="0" y="0"/>
          <a:ext cx="0" cy="0"/>
          <a:chOff x="0" y="0"/>
          <a:chExt cx="0" cy="0"/>
        </a:xfrm>
      </p:grpSpPr>
      <p:sp>
        <p:nvSpPr>
          <p:cNvPr id="2" name="Text 0"/>
          <p:cNvSpPr txBox="1"/>
          <p:nvPr/>
        </p:nvSpPr>
        <p:spPr>
          <a:xfrm>
            <a:off x="548640" y="640080"/>
            <a:ext cx="1371600" cy="1005840"/>
          </a:xfrm>
          <a:prstGeom prst="rect">
            <a:avLst/>
          </a:prstGeom>
          <a:noFill/>
          <a:ln/>
        </p:spPr>
        <p:txBody>
          <a:bodyPr wrap="square" lIns="0" tIns="0" rIns="0" bIns="0" rtlCol="0" anchor="ctr"/>
          <a:lstStyle/>
          <a:p>
            <a:pPr indent="0" marL="0">
              <a:buNone/>
            </a:pPr>
            <a:r>
              <a:rPr lang="en-US" sz="6600" b="1" dirty="0">
                <a:solidFill>
                  <a:srgbClr val="F0B24A"/>
                </a:solidFill>
                <a:latin typeface="Calibri" pitchFamily="34" charset="0"/>
                <a:ea typeface="Calibri" pitchFamily="34" charset="-122"/>
                <a:cs typeface="Calibri" pitchFamily="34" charset="-120"/>
              </a:rPr>
              <a:t>6</a:t>
            </a:r>
            <a:endParaRPr lang="en-US" sz="6600" dirty="0"/>
          </a:p>
        </p:txBody>
      </p:sp>
      <p:sp>
        <p:nvSpPr>
          <p:cNvPr id="3" name="Text 1"/>
          <p:cNvSpPr txBox="1"/>
          <p:nvPr/>
        </p:nvSpPr>
        <p:spPr>
          <a:xfrm>
            <a:off x="548640" y="1691640"/>
            <a:ext cx="2743200" cy="228600"/>
          </a:xfrm>
          <a:prstGeom prst="rect">
            <a:avLst/>
          </a:prstGeom>
          <a:noFill/>
          <a:ln/>
        </p:spPr>
        <p:txBody>
          <a:bodyPr wrap="square" lIns="0" tIns="0" rIns="0" bIns="0" rtlCol="0" anchor="ctr"/>
          <a:lstStyle/>
          <a:p>
            <a:pPr indent="0" marL="0">
              <a:buNone/>
            </a:pPr>
            <a:r>
              <a:rPr lang="en-US" sz="900" b="1" spc="200" kern="0" dirty="0">
                <a:solidFill>
                  <a:srgbClr val="A3B1C2"/>
                </a:solidFill>
                <a:latin typeface="Calibri" pitchFamily="34" charset="0"/>
                <a:ea typeface="Calibri" pitchFamily="34" charset="-122"/>
                <a:cs typeface="Calibri" pitchFamily="34" charset="-120"/>
              </a:rPr>
              <a:t>PART 6</a:t>
            </a:r>
            <a:endParaRPr lang="en-US" sz="900" dirty="0"/>
          </a:p>
        </p:txBody>
      </p:sp>
      <p:sp>
        <p:nvSpPr>
          <p:cNvPr id="4" name="Text 2"/>
          <p:cNvSpPr txBox="1"/>
          <p:nvPr/>
        </p:nvSpPr>
        <p:spPr>
          <a:xfrm>
            <a:off x="548640" y="1920240"/>
            <a:ext cx="6400800" cy="822960"/>
          </a:xfrm>
          <a:prstGeom prst="rect">
            <a:avLst/>
          </a:prstGeom>
          <a:noFill/>
          <a:ln/>
        </p:spPr>
        <p:txBody>
          <a:bodyPr wrap="square" lIns="0" tIns="0" rIns="0" bIns="0" rtlCol="0" anchor="t"/>
          <a:lstStyle/>
          <a:p>
            <a:pPr indent="0" marL="0">
              <a:buNone/>
            </a:pPr>
            <a:r>
              <a:rPr lang="en-US" sz="2600" b="1" dirty="0">
                <a:solidFill>
                  <a:srgbClr val="FFFFFF"/>
                </a:solidFill>
                <a:latin typeface="Calibri" pitchFamily="34" charset="0"/>
                <a:ea typeface="Calibri" pitchFamily="34" charset="-122"/>
                <a:cs typeface="Calibri" pitchFamily="34" charset="-120"/>
              </a:rPr>
              <a:t>Equilibrium and Le Châtelier's principle</a:t>
            </a:r>
            <a:endParaRPr lang="en-US" sz="2600" dirty="0"/>
          </a:p>
        </p:txBody>
      </p:sp>
      <p:sp>
        <p:nvSpPr>
          <p:cNvPr id="5" name="Text 3"/>
          <p:cNvSpPr txBox="1"/>
          <p:nvPr/>
        </p:nvSpPr>
        <p:spPr>
          <a:xfrm>
            <a:off x="548640" y="2788920"/>
            <a:ext cx="6400800" cy="548640"/>
          </a:xfrm>
          <a:prstGeom prst="rect">
            <a:avLst/>
          </a:prstGeom>
          <a:noFill/>
          <a:ln/>
        </p:spPr>
        <p:txBody>
          <a:bodyPr wrap="square" lIns="0" tIns="0" rIns="0" bIns="0" rtlCol="0" anchor="t"/>
          <a:lstStyle/>
          <a:p>
            <a:pPr indent="0" marL="0">
              <a:buNone/>
            </a:pPr>
            <a:r>
              <a:rPr lang="en-US" sz="1200" dirty="0">
                <a:solidFill>
                  <a:srgbClr val="A3B1C2"/>
                </a:solidFill>
                <a:latin typeface="Calibri" pitchFamily="34" charset="0"/>
                <a:ea typeface="Calibri" pitchFamily="34" charset="-122"/>
                <a:cs typeface="Calibri" pitchFamily="34" charset="-120"/>
              </a:rPr>
              <a:t>Some reactions go both ways at once, and settle into a balance that can be pushed.</a:t>
            </a:r>
            <a:endParaRPr lang="en-US" sz="1200" dirty="0"/>
          </a:p>
        </p:txBody>
      </p:sp>
      <p:sp>
        <p:nvSpPr>
          <p:cNvPr id="6" name="Text 4"/>
          <p:cNvSpPr txBox="1"/>
          <p:nvPr/>
        </p:nvSpPr>
        <p:spPr>
          <a:xfrm>
            <a:off x="548640" y="3520440"/>
            <a:ext cx="5486400" cy="274320"/>
          </a:xfrm>
          <a:prstGeom prst="rect">
            <a:avLst/>
          </a:prstGeom>
          <a:noFill/>
          <a:ln/>
        </p:spPr>
        <p:txBody>
          <a:bodyPr wrap="square" lIns="0" tIns="0" rIns="0" bIns="0" rtlCol="0" anchor="ctr"/>
          <a:lstStyle/>
          <a:p>
            <a:pPr indent="0" marL="0">
              <a:buNone/>
            </a:pPr>
            <a:r>
              <a:rPr lang="en-US" sz="900" b="1" dirty="0">
                <a:solidFill>
                  <a:srgbClr val="7DB6E3"/>
                </a:solidFill>
                <a:latin typeface="Calibri" pitchFamily="34" charset="0"/>
                <a:ea typeface="Calibri" pitchFamily="34" charset="-122"/>
                <a:cs typeface="Calibri" pitchFamily="34" charset="-120"/>
              </a:rPr>
              <a:t>CR2-LO6 · Ball 6.S</a:t>
            </a:r>
            <a:endParaRPr lang="en-US" sz="900" dirty="0"/>
          </a:p>
        </p:txBody>
      </p:sp>
      <p:pic>
        <p:nvPicPr>
          <p:cNvPr id="7" name="Image 0" descr="/home/claude/build/mol/n2.png">    </p:cNvPr>
          <p:cNvPicPr>
            <a:picLocks noChangeAspect="1"/>
          </p:cNvPicPr>
          <p:nvPr/>
        </p:nvPicPr>
        <p:blipFill>
          <a:blip r:embed="rId1"/>
          <a:stretch>
            <a:fillRect/>
          </a:stretch>
        </p:blipFill>
        <p:spPr>
          <a:xfrm>
            <a:off x="6298071" y="640080"/>
            <a:ext cx="1851378" cy="914400"/>
          </a:xfrm>
          <a:prstGeom prst="rect">
            <a:avLst/>
          </a:prstGeom>
        </p:spPr>
      </p:pic>
      <p:pic>
        <p:nvPicPr>
          <p:cNvPr id="8" name="Image 1" descr="/home/claude/build/mol/h2.png">    </p:cNvPr>
          <p:cNvPicPr>
            <a:picLocks noChangeAspect="1"/>
          </p:cNvPicPr>
          <p:nvPr/>
        </p:nvPicPr>
        <p:blipFill>
          <a:blip r:embed="rId2"/>
          <a:stretch>
            <a:fillRect/>
          </a:stretch>
        </p:blipFill>
        <p:spPr>
          <a:xfrm>
            <a:off x="7311542" y="2834640"/>
            <a:ext cx="1104595" cy="548640"/>
          </a:xfrm>
          <a:prstGeom prst="rect">
            <a:avLst/>
          </a:prstGeom>
        </p:spPr>
      </p:pic>
      <p:pic>
        <p:nvPicPr>
          <p:cNvPr id="9" name="Image 2" descr="/home/claude/build/mol/ammonia.png">    </p:cNvPr>
          <p:cNvPicPr>
            <a:picLocks noChangeAspect="1"/>
          </p:cNvPicPr>
          <p:nvPr/>
        </p:nvPicPr>
        <p:blipFill>
          <a:blip r:embed="rId3"/>
          <a:stretch>
            <a:fillRect/>
          </a:stretch>
        </p:blipFill>
        <p:spPr>
          <a:xfrm>
            <a:off x="5636904" y="3794760"/>
            <a:ext cx="796272" cy="457200"/>
          </a:xfrm>
          <a:prstGeom prst="rect">
            <a:avLst/>
          </a:prstGeom>
        </p:spPr>
      </p:pic>
      <p:sp>
        <p:nvSpPr>
          <p:cNvPr id="10"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A3B1C2"/>
                </a:solidFill>
                <a:latin typeface="Calibri" pitchFamily="34" charset="0"/>
                <a:ea typeface="Calibri" pitchFamily="34" charset="-122"/>
                <a:cs typeface="Calibri" pitchFamily="34" charset="-120"/>
              </a:rPr>
              <a:t>PHD115 · Chemical Reactions II</a:t>
            </a:r>
            <a:endParaRPr lang="en-US" sz="800" dirty="0"/>
          </a:p>
        </p:txBody>
      </p:sp>
      <p:sp>
        <p:nvSpPr>
          <p:cNvPr id="11"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F0B24A"/>
                </a:solidFill>
                <a:latin typeface="Calibri" pitchFamily="34" charset="0"/>
                <a:ea typeface="Calibri" pitchFamily="34" charset="-122"/>
                <a:cs typeface="Calibri" pitchFamily="34" charset="-120"/>
              </a:rPr>
              <a:t>Dr. NAM · Faculty of Pharmacy, UiTM Bertam, Penang</a:t>
            </a:r>
            <a:endParaRPr lang="en-US" sz="8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CR2-LO6</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Reversible reactions</a:t>
            </a:r>
            <a:endParaRPr lang="en-US" sz="2000" dirty="0"/>
          </a:p>
        </p:txBody>
      </p:sp>
      <p:pic>
        <p:nvPicPr>
          <p:cNvPr id="7" name="Image 0" descr="/home/claude/build/mol/n2.png">    </p:cNvPr>
          <p:cNvPicPr>
            <a:picLocks noChangeAspect="1"/>
          </p:cNvPicPr>
          <p:nvPr/>
        </p:nvPicPr>
        <p:blipFill>
          <a:blip r:embed="rId1"/>
          <a:stretch>
            <a:fillRect/>
          </a:stretch>
        </p:blipFill>
        <p:spPr>
          <a:xfrm>
            <a:off x="7977971" y="192024"/>
            <a:ext cx="777579"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Chemical Reactions II</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Text 7"/>
          <p:cNvSpPr txBox="1"/>
          <p:nvPr/>
        </p:nvSpPr>
        <p:spPr>
          <a:xfrm>
            <a:off x="457200" y="1280160"/>
            <a:ext cx="5486400" cy="33832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Not all reactions go to completion. In a </a:t>
            </a:r>
            <a:pPr marL="177800" indent="-177800">
              <a:spcAft>
                <a:spcPts val="600"/>
              </a:spcAft>
              <a:buSzPct val="100000"/>
              <a:buChar char="•"/>
            </a:pPr>
            <a:r>
              <a:rPr lang="en-US" sz="1300" b="1" dirty="0">
                <a:solidFill>
                  <a:srgbClr val="1B2A41"/>
                </a:solidFill>
                <a:latin typeface="Calibri" pitchFamily="34" charset="0"/>
                <a:ea typeface="Calibri" pitchFamily="34" charset="-122"/>
                <a:cs typeface="Calibri" pitchFamily="34" charset="-120"/>
              </a:rPr>
              <a:t>reversible reaction</a:t>
            </a:r>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 products can react to re-form the reactants.</a:t>
            </a:r>
            <a:endParaRPr lang="en-US" sz="1300" dirty="0"/>
          </a:p>
          <a:p>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We use a double arrow: N</a:t>
            </a:r>
            <a:pPr marL="177800" indent="-177800">
              <a:spcAft>
                <a:spcPts val="600"/>
              </a:spcAft>
              <a:buSzPct val="100000"/>
              <a:buChar char="•"/>
            </a:pPr>
            <a:r>
              <a:rPr lang="en-US" sz="1300" baseline="-40000" dirty="0">
                <a:solidFill>
                  <a:srgbClr val="1B2A41"/>
                </a:solidFill>
                <a:latin typeface="Calibri" pitchFamily="34" charset="0"/>
                <a:ea typeface="Calibri" pitchFamily="34" charset="-122"/>
                <a:cs typeface="Calibri" pitchFamily="34" charset="-120"/>
              </a:rPr>
              <a:t>2</a:t>
            </a:r>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(g) + 3H</a:t>
            </a:r>
            <a:pPr marL="177800" indent="-177800">
              <a:spcAft>
                <a:spcPts val="600"/>
              </a:spcAft>
              <a:buSzPct val="100000"/>
              <a:buChar char="•"/>
            </a:pPr>
            <a:r>
              <a:rPr lang="en-US" sz="1300" baseline="-40000" dirty="0">
                <a:solidFill>
                  <a:srgbClr val="1B2A41"/>
                </a:solidFill>
                <a:latin typeface="Calibri" pitchFamily="34" charset="0"/>
                <a:ea typeface="Calibri" pitchFamily="34" charset="-122"/>
                <a:cs typeface="Calibri" pitchFamily="34" charset="-120"/>
              </a:rPr>
              <a:t>2</a:t>
            </a:r>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(g) ⇌ 2NH</a:t>
            </a:r>
            <a:pPr marL="177800" indent="-177800">
              <a:spcAft>
                <a:spcPts val="600"/>
              </a:spcAft>
              <a:buSzPct val="100000"/>
              <a:buChar char="•"/>
            </a:pPr>
            <a:r>
              <a:rPr lang="en-US" sz="1300" baseline="-40000" dirty="0">
                <a:solidFill>
                  <a:srgbClr val="1B2A41"/>
                </a:solidFill>
                <a:latin typeface="Calibri" pitchFamily="34" charset="0"/>
                <a:ea typeface="Calibri" pitchFamily="34" charset="-122"/>
                <a:cs typeface="Calibri" pitchFamily="34" charset="-120"/>
              </a:rPr>
              <a:t>3</a:t>
            </a:r>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(g). Left to right is the </a:t>
            </a:r>
            <a:pPr marL="177800" indent="-177800">
              <a:spcAft>
                <a:spcPts val="600"/>
              </a:spcAft>
              <a:buSzPct val="100000"/>
              <a:buChar char="•"/>
            </a:pPr>
            <a:r>
              <a:rPr lang="en-US" sz="1300" b="1" dirty="0">
                <a:solidFill>
                  <a:srgbClr val="1B2A41"/>
                </a:solidFill>
                <a:latin typeface="Calibri" pitchFamily="34" charset="0"/>
                <a:ea typeface="Calibri" pitchFamily="34" charset="-122"/>
                <a:cs typeface="Calibri" pitchFamily="34" charset="-120"/>
              </a:rPr>
              <a:t>forward</a:t>
            </a:r>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 reaction; right to left is the </a:t>
            </a:r>
            <a:pPr marL="177800" indent="-177800">
              <a:spcAft>
                <a:spcPts val="600"/>
              </a:spcAft>
              <a:buSzPct val="100000"/>
              <a:buChar char="•"/>
            </a:pPr>
            <a:r>
              <a:rPr lang="en-US" sz="1300" b="1" dirty="0">
                <a:solidFill>
                  <a:srgbClr val="1B2A41"/>
                </a:solidFill>
                <a:latin typeface="Calibri" pitchFamily="34" charset="0"/>
                <a:ea typeface="Calibri" pitchFamily="34" charset="-122"/>
                <a:cs typeface="Calibri" pitchFamily="34" charset="-120"/>
              </a:rPr>
              <a:t>reverse</a:t>
            </a:r>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 reaction.</a:t>
            </a:r>
            <a:endParaRPr lang="en-US" sz="1300" dirty="0"/>
          </a:p>
          <a:p>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Carbon dioxide in water: CO</a:t>
            </a:r>
            <a:pPr marL="177800" indent="-177800">
              <a:spcAft>
                <a:spcPts val="600"/>
              </a:spcAft>
              <a:buSzPct val="100000"/>
              <a:buChar char="•"/>
            </a:pPr>
            <a:r>
              <a:rPr lang="en-US" sz="1300" baseline="-40000" dirty="0">
                <a:solidFill>
                  <a:srgbClr val="1B2A41"/>
                </a:solidFill>
                <a:latin typeface="Calibri" pitchFamily="34" charset="0"/>
                <a:ea typeface="Calibri" pitchFamily="34" charset="-122"/>
                <a:cs typeface="Calibri" pitchFamily="34" charset="-120"/>
              </a:rPr>
              <a:t>2</a:t>
            </a:r>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(aq) + H</a:t>
            </a:r>
            <a:pPr marL="177800" indent="-177800">
              <a:spcAft>
                <a:spcPts val="600"/>
              </a:spcAft>
              <a:buSzPct val="100000"/>
              <a:buChar char="•"/>
            </a:pPr>
            <a:r>
              <a:rPr lang="en-US" sz="1300" baseline="-40000" dirty="0">
                <a:solidFill>
                  <a:srgbClr val="1B2A41"/>
                </a:solidFill>
                <a:latin typeface="Calibri" pitchFamily="34" charset="0"/>
                <a:ea typeface="Calibri" pitchFamily="34" charset="-122"/>
                <a:cs typeface="Calibri" pitchFamily="34" charset="-120"/>
              </a:rPr>
              <a:t>2</a:t>
            </a:r>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O(ℓ) ⇌ H</a:t>
            </a:r>
            <a:pPr marL="177800" indent="-177800">
              <a:spcAft>
                <a:spcPts val="600"/>
              </a:spcAft>
              <a:buSzPct val="100000"/>
              <a:buChar char="•"/>
            </a:pPr>
            <a:r>
              <a:rPr lang="en-US" sz="1300" baseline="-40000" dirty="0">
                <a:solidFill>
                  <a:srgbClr val="1B2A41"/>
                </a:solidFill>
                <a:latin typeface="Calibri" pitchFamily="34" charset="0"/>
                <a:ea typeface="Calibri" pitchFamily="34" charset="-122"/>
                <a:cs typeface="Calibri" pitchFamily="34" charset="-120"/>
              </a:rPr>
              <a:t>2</a:t>
            </a:r>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CO</a:t>
            </a:r>
            <a:pPr marL="177800" indent="-177800">
              <a:spcAft>
                <a:spcPts val="600"/>
              </a:spcAft>
              <a:buSzPct val="100000"/>
              <a:buChar char="•"/>
            </a:pPr>
            <a:r>
              <a:rPr lang="en-US" sz="1300" baseline="-40000" dirty="0">
                <a:solidFill>
                  <a:srgbClr val="1B2A41"/>
                </a:solidFill>
                <a:latin typeface="Calibri" pitchFamily="34" charset="0"/>
                <a:ea typeface="Calibri" pitchFamily="34" charset="-122"/>
                <a:cs typeface="Calibri" pitchFamily="34" charset="-120"/>
              </a:rPr>
              <a:t>3</a:t>
            </a:r>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(aq), in fizzy drinks and in our blood.</a:t>
            </a:r>
            <a:endParaRPr lang="en-US" sz="1300" dirty="0"/>
          </a:p>
          <a:p>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Oxygen transport: haemoglobin + O</a:t>
            </a:r>
            <a:pPr marL="177800" indent="-177800">
              <a:spcAft>
                <a:spcPts val="600"/>
              </a:spcAft>
              <a:buSzPct val="100000"/>
              <a:buChar char="•"/>
            </a:pPr>
            <a:r>
              <a:rPr lang="en-US" sz="1300" baseline="-40000" dirty="0">
                <a:solidFill>
                  <a:srgbClr val="1B2A41"/>
                </a:solidFill>
                <a:latin typeface="Calibri" pitchFamily="34" charset="0"/>
                <a:ea typeface="Calibri" pitchFamily="34" charset="-122"/>
                <a:cs typeface="Calibri" pitchFamily="34" charset="-120"/>
              </a:rPr>
              <a:t>2</a:t>
            </a:r>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 ⇌ oxyhaemoglobin.</a:t>
            </a:r>
            <a:endParaRPr lang="en-US" sz="1300" dirty="0"/>
          </a:p>
        </p:txBody>
      </p:sp>
      <p:sp>
        <p:nvSpPr>
          <p:cNvPr id="11" name="Shape 8"/>
          <p:cNvSpPr/>
          <p:nvPr/>
        </p:nvSpPr>
        <p:spPr>
          <a:xfrm>
            <a:off x="6172200" y="1280160"/>
            <a:ext cx="2514600" cy="2103120"/>
          </a:xfrm>
          <a:prstGeom prst="roundRect">
            <a:avLst>
              <a:gd name="adj" fmla="val 3478"/>
            </a:avLst>
          </a:prstGeom>
          <a:solidFill>
            <a:srgbClr val="FBEFD9"/>
          </a:solidFill>
          <a:ln w="9525">
            <a:solidFill>
              <a:srgbClr val="FBEFD9"/>
            </a:solidFill>
            <a:prstDash val="solid"/>
          </a:ln>
        </p:spPr>
      </p:sp>
      <p:sp>
        <p:nvSpPr>
          <p:cNvPr id="12" name="Text 9"/>
          <p:cNvSpPr txBox="1"/>
          <p:nvPr/>
        </p:nvSpPr>
        <p:spPr>
          <a:xfrm>
            <a:off x="6309360" y="1371600"/>
            <a:ext cx="2240280" cy="1920240"/>
          </a:xfrm>
          <a:prstGeom prst="rect">
            <a:avLst/>
          </a:prstGeom>
          <a:noFill/>
          <a:ln/>
        </p:spPr>
        <p:txBody>
          <a:bodyPr wrap="square" lIns="0" tIns="0" rIns="0" bIns="0" rtlCol="0" anchor="t"/>
          <a:lstStyle/>
          <a:p>
            <a:pPr indent="0" marL="0">
              <a:buNone/>
            </a:pPr>
            <a:r>
              <a:rPr lang="en-US" sz="1100" b="1" dirty="0">
                <a:solidFill>
                  <a:srgbClr val="B86E00"/>
                </a:solidFill>
                <a:latin typeface="Calibri" pitchFamily="34" charset="0"/>
                <a:ea typeface="Calibri" pitchFamily="34" charset="-122"/>
                <a:cs typeface="Calibri" pitchFamily="34" charset="-120"/>
              </a:rPr>
              <a:t>Coming next</a:t>
            </a:r>
            <a:endParaRPr lang="en-US" sz="1100" dirty="0"/>
          </a:p>
          <a:p>
            <a:pPr indent="0" marL="0">
              <a:buNone/>
            </a:pPr>
            <a:r>
              <a:rPr lang="en-US" sz="1050" dirty="0">
                <a:solidFill>
                  <a:srgbClr val="1B2A41"/>
                </a:solidFill>
                <a:latin typeface="Calibri" pitchFamily="34" charset="0"/>
                <a:ea typeface="Calibri" pitchFamily="34" charset="-122"/>
                <a:cs typeface="Calibri" pitchFamily="34" charset="-120"/>
              </a:rPr>
              <a:t>Acids and bases, later in this course, are full of equilibria, such as the dissociation of water and buffers.</a:t>
            </a:r>
            <a:endParaRPr lang="en-US" sz="11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CR2-LO6</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Reaching dynamic equilibrium</a:t>
            </a:r>
            <a:endParaRPr lang="en-US" sz="2000" dirty="0"/>
          </a:p>
        </p:txBody>
      </p:sp>
      <p:pic>
        <p:nvPicPr>
          <p:cNvPr id="7" name="Image 0" descr="/home/claude/build/mol/n2.png">    </p:cNvPr>
          <p:cNvPicPr>
            <a:picLocks noChangeAspect="1"/>
          </p:cNvPicPr>
          <p:nvPr/>
        </p:nvPicPr>
        <p:blipFill>
          <a:blip r:embed="rId1"/>
          <a:stretch>
            <a:fillRect/>
          </a:stretch>
        </p:blipFill>
        <p:spPr>
          <a:xfrm>
            <a:off x="7977971" y="192024"/>
            <a:ext cx="777579"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Chemical Reactions II</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pic>
        <p:nvPicPr>
          <p:cNvPr id="10" name="Image 1" descr="/home/claude/build/png/eq_curve.png">    </p:cNvPr>
          <p:cNvPicPr>
            <a:picLocks noChangeAspect="1"/>
          </p:cNvPicPr>
          <p:nvPr/>
        </p:nvPicPr>
        <p:blipFill>
          <a:blip r:embed="rId2"/>
          <a:stretch>
            <a:fillRect/>
          </a:stretch>
        </p:blipFill>
        <p:spPr>
          <a:xfrm>
            <a:off x="2771335" y="1234440"/>
            <a:ext cx="3601329" cy="2194560"/>
          </a:xfrm>
          <a:prstGeom prst="rect">
            <a:avLst/>
          </a:prstGeom>
        </p:spPr>
      </p:pic>
      <p:sp>
        <p:nvSpPr>
          <p:cNvPr id="11" name="Text 7"/>
          <p:cNvSpPr txBox="1"/>
          <p:nvPr/>
        </p:nvSpPr>
        <p:spPr>
          <a:xfrm>
            <a:off x="457200" y="3465576"/>
            <a:ext cx="8229600" cy="292608"/>
          </a:xfrm>
          <a:prstGeom prst="rect">
            <a:avLst/>
          </a:prstGeom>
          <a:noFill/>
          <a:ln/>
        </p:spPr>
        <p:txBody>
          <a:bodyPr wrap="square" lIns="0" tIns="0" rIns="0" bIns="0" rtlCol="0" anchor="t"/>
          <a:lstStyle/>
          <a:p>
            <a:pPr algn="ctr" indent="0" marL="0">
              <a:buNone/>
            </a:pPr>
            <a:r>
              <a:rPr lang="en-US" sz="750" i="1" dirty="0">
                <a:solidFill>
                  <a:srgbClr val="56657A"/>
                </a:solidFill>
                <a:latin typeface="Calibri" pitchFamily="34" charset="0"/>
                <a:ea typeface="Calibri" pitchFamily="34" charset="-122"/>
                <a:cs typeface="Calibri" pitchFamily="34" charset="-120"/>
              </a:rPr>
              <a:t>Concentrations level off when the forward and reverse rates become equal (drawn by Dr. NAM)</a:t>
            </a:r>
            <a:endParaRPr lang="en-US" sz="750" dirty="0"/>
          </a:p>
        </p:txBody>
      </p:sp>
      <p:sp>
        <p:nvSpPr>
          <p:cNvPr id="12" name="Text 8"/>
          <p:cNvSpPr txBox="1"/>
          <p:nvPr/>
        </p:nvSpPr>
        <p:spPr>
          <a:xfrm>
            <a:off x="457200" y="3794760"/>
            <a:ext cx="8229600" cy="86868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B2A41"/>
                </a:solidFill>
                <a:latin typeface="Calibri" pitchFamily="34" charset="0"/>
                <a:ea typeface="Calibri" pitchFamily="34" charset="-122"/>
                <a:cs typeface="Calibri" pitchFamily="34" charset="-120"/>
              </a:rPr>
              <a:t>At first only the forward reaction runs. As products build up, the reverse reaction speeds up.</a:t>
            </a:r>
            <a:endParaRPr lang="en-US" sz="1200" dirty="0"/>
          </a:p>
          <a:p>
            <a:pPr marL="177800" indent="-177800">
              <a:spcAft>
                <a:spcPts val="600"/>
              </a:spcAft>
              <a:buSzPct val="100000"/>
              <a:buChar char="•"/>
            </a:pPr>
            <a:r>
              <a:rPr lang="en-US" sz="1200" b="1" dirty="0">
                <a:solidFill>
                  <a:srgbClr val="1B2A41"/>
                </a:solidFill>
                <a:latin typeface="Calibri" pitchFamily="34" charset="0"/>
                <a:ea typeface="Calibri" pitchFamily="34" charset="-122"/>
                <a:cs typeface="Calibri" pitchFamily="34" charset="-120"/>
              </a:rPr>
              <a:t>Equilibrium</a:t>
            </a:r>
            <a:pPr marL="177800" indent="-177800">
              <a:spcAft>
                <a:spcPts val="600"/>
              </a:spcAft>
              <a:buSzPct val="100000"/>
              <a:buChar char="•"/>
            </a:pPr>
            <a:r>
              <a:rPr lang="en-US" sz="1200" dirty="0">
                <a:solidFill>
                  <a:srgbClr val="1B2A41"/>
                </a:solidFill>
                <a:latin typeface="Calibri" pitchFamily="34" charset="0"/>
                <a:ea typeface="Calibri" pitchFamily="34" charset="-122"/>
                <a:cs typeface="Calibri" pitchFamily="34" charset="-120"/>
              </a:rPr>
              <a:t>: forward rate = reverse rate. Both reactions keep going (</a:t>
            </a:r>
            <a:pPr marL="177800" indent="-177800">
              <a:spcAft>
                <a:spcPts val="600"/>
              </a:spcAft>
              <a:buSzPct val="100000"/>
              <a:buChar char="•"/>
            </a:pPr>
            <a:r>
              <a:rPr lang="en-US" sz="1200" b="1" dirty="0">
                <a:solidFill>
                  <a:srgbClr val="1B2A41"/>
                </a:solidFill>
                <a:latin typeface="Calibri" pitchFamily="34" charset="0"/>
                <a:ea typeface="Calibri" pitchFamily="34" charset="-122"/>
                <a:cs typeface="Calibri" pitchFamily="34" charset="-120"/>
              </a:rPr>
              <a:t>dynamic</a:t>
            </a:r>
            <a:pPr marL="177800" indent="-177800">
              <a:spcAft>
                <a:spcPts val="600"/>
              </a:spcAft>
              <a:buSzPct val="100000"/>
              <a:buChar char="•"/>
            </a:pPr>
            <a:r>
              <a:rPr lang="en-US" sz="1200" dirty="0">
                <a:solidFill>
                  <a:srgbClr val="1B2A41"/>
                </a:solidFill>
                <a:latin typeface="Calibri" pitchFamily="34" charset="0"/>
                <a:ea typeface="Calibri" pitchFamily="34" charset="-122"/>
                <a:cs typeface="Calibri" pitchFamily="34" charset="-120"/>
              </a:rPr>
              <a:t>), so concentrations stay </a:t>
            </a:r>
            <a:pPr marL="177800" indent="-177800">
              <a:spcAft>
                <a:spcPts val="600"/>
              </a:spcAft>
              <a:buSzPct val="100000"/>
              <a:buChar char="•"/>
            </a:pPr>
            <a:r>
              <a:rPr lang="en-US" sz="1200" b="1" dirty="0">
                <a:solidFill>
                  <a:srgbClr val="1B2A41"/>
                </a:solidFill>
                <a:latin typeface="Calibri" pitchFamily="34" charset="0"/>
                <a:ea typeface="Calibri" pitchFamily="34" charset="-122"/>
                <a:cs typeface="Calibri" pitchFamily="34" charset="-120"/>
              </a:rPr>
              <a:t>constant</a:t>
            </a:r>
            <a:pPr marL="177800" indent="-177800">
              <a:spcAft>
                <a:spcPts val="600"/>
              </a:spcAft>
              <a:buSzPct val="100000"/>
              <a:buChar char="•"/>
            </a:pPr>
            <a:r>
              <a:rPr lang="en-US" sz="1200" dirty="0">
                <a:solidFill>
                  <a:srgbClr val="1B2A41"/>
                </a:solidFill>
                <a:latin typeface="Calibri" pitchFamily="34" charset="0"/>
                <a:ea typeface="Calibri" pitchFamily="34" charset="-122"/>
                <a:cs typeface="Calibri" pitchFamily="34" charset="-120"/>
              </a:rPr>
              <a:t>, but usually not equal.</a:t>
            </a:r>
            <a:endParaRPr lang="en-US" sz="12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CR2-LO6</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Le Châtelier's principle</a:t>
            </a:r>
            <a:endParaRPr lang="en-US" sz="2000" dirty="0"/>
          </a:p>
        </p:txBody>
      </p:sp>
      <p:pic>
        <p:nvPicPr>
          <p:cNvPr id="7" name="Image 0" descr="/home/claude/build/mol/n2.png">    </p:cNvPr>
          <p:cNvPicPr>
            <a:picLocks noChangeAspect="1"/>
          </p:cNvPicPr>
          <p:nvPr/>
        </p:nvPicPr>
        <p:blipFill>
          <a:blip r:embed="rId1"/>
          <a:stretch>
            <a:fillRect/>
          </a:stretch>
        </p:blipFill>
        <p:spPr>
          <a:xfrm>
            <a:off x="7977971" y="192024"/>
            <a:ext cx="777579"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Chemical Reactions II</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Text 7"/>
          <p:cNvSpPr txBox="1"/>
          <p:nvPr/>
        </p:nvSpPr>
        <p:spPr>
          <a:xfrm>
            <a:off x="457200" y="1280160"/>
            <a:ext cx="5486400" cy="3383280"/>
          </a:xfrm>
          <a:prstGeom prst="rect">
            <a:avLst/>
          </a:prstGeom>
          <a:noFill/>
          <a:ln/>
        </p:spPr>
        <p:txBody>
          <a:bodyPr wrap="square" lIns="0" tIns="0" rIns="0" bIns="0" rtlCol="0" anchor="t"/>
          <a:lstStyle/>
          <a:p>
            <a:pPr marL="177800" indent="-177800">
              <a:spcAft>
                <a:spcPts val="600"/>
              </a:spcAft>
              <a:buSzPct val="100000"/>
              <a:buChar char="•"/>
            </a:pPr>
            <a:r>
              <a:rPr lang="en-US" sz="1300" b="1" dirty="0">
                <a:solidFill>
                  <a:srgbClr val="1B2A41"/>
                </a:solidFill>
                <a:latin typeface="Calibri" pitchFamily="34" charset="0"/>
                <a:ea typeface="Calibri" pitchFamily="34" charset="-122"/>
                <a:cs typeface="Calibri" pitchFamily="34" charset="-120"/>
              </a:rPr>
              <a:t>If a system at equilibrium is disturbed (stressed), it shifts in the direction that reduces the stress.</a:t>
            </a:r>
            <a:endParaRPr lang="en-US" sz="1300" dirty="0"/>
          </a:p>
          <a:p>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'Shift right' means more products form; 'shift left' means more reactants form.</a:t>
            </a:r>
            <a:endParaRPr lang="en-US" sz="1300" dirty="0"/>
          </a:p>
          <a:p>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Stresses: changing a concentration, changing the temperature, changing the pressure of a gas mixture.</a:t>
            </a:r>
            <a:endParaRPr lang="en-US" sz="1300" dirty="0"/>
          </a:p>
          <a:p>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Treat heat like a substance: it is a product of an exothermic reaction and a reactant of an endothermic one.</a:t>
            </a:r>
            <a:endParaRPr lang="en-US" sz="1300" dirty="0"/>
          </a:p>
        </p:txBody>
      </p:sp>
      <p:sp>
        <p:nvSpPr>
          <p:cNvPr id="11" name="Shape 8"/>
          <p:cNvSpPr/>
          <p:nvPr/>
        </p:nvSpPr>
        <p:spPr>
          <a:xfrm>
            <a:off x="6172200" y="1280160"/>
            <a:ext cx="2514600" cy="2103120"/>
          </a:xfrm>
          <a:prstGeom prst="roundRect">
            <a:avLst>
              <a:gd name="adj" fmla="val 3478"/>
            </a:avLst>
          </a:prstGeom>
          <a:solidFill>
            <a:srgbClr val="FBEFD9"/>
          </a:solidFill>
          <a:ln w="9525">
            <a:solidFill>
              <a:srgbClr val="FBEFD9"/>
            </a:solidFill>
            <a:prstDash val="solid"/>
          </a:ln>
        </p:spPr>
      </p:sp>
      <p:sp>
        <p:nvSpPr>
          <p:cNvPr id="12" name="Text 9"/>
          <p:cNvSpPr txBox="1"/>
          <p:nvPr/>
        </p:nvSpPr>
        <p:spPr>
          <a:xfrm>
            <a:off x="6309360" y="1371600"/>
            <a:ext cx="2240280" cy="1920240"/>
          </a:xfrm>
          <a:prstGeom prst="rect">
            <a:avLst/>
          </a:prstGeom>
          <a:noFill/>
          <a:ln/>
        </p:spPr>
        <p:txBody>
          <a:bodyPr wrap="square" lIns="0" tIns="0" rIns="0" bIns="0" rtlCol="0" anchor="t"/>
          <a:lstStyle/>
          <a:p>
            <a:pPr indent="0" marL="0">
              <a:buNone/>
            </a:pPr>
            <a:r>
              <a:rPr lang="en-US" sz="1100" b="1" dirty="0">
                <a:solidFill>
                  <a:srgbClr val="B86E00"/>
                </a:solidFill>
                <a:latin typeface="Calibri" pitchFamily="34" charset="0"/>
                <a:ea typeface="Calibri" pitchFamily="34" charset="-122"/>
                <a:cs typeface="Calibri" pitchFamily="34" charset="-120"/>
              </a:rPr>
              <a:t>Analogy</a:t>
            </a:r>
            <a:endParaRPr lang="en-US" sz="1100" dirty="0"/>
          </a:p>
          <a:p>
            <a:pPr indent="0" marL="0">
              <a:buNone/>
            </a:pPr>
            <a:r>
              <a:rPr lang="en-US" sz="1050" dirty="0">
                <a:solidFill>
                  <a:srgbClr val="1B2A41"/>
                </a:solidFill>
                <a:latin typeface="Calibri" pitchFamily="34" charset="0"/>
                <a:ea typeface="Calibri" pitchFamily="34" charset="-122"/>
                <a:cs typeface="Calibri" pitchFamily="34" charset="-120"/>
              </a:rPr>
              <a:t>A crowded room with two doors: push more people in through one door and more leave through the other until the flow balances again.</a:t>
            </a:r>
            <a:endParaRPr lang="en-US" sz="11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CR2-LO6</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Predicting the shift</a:t>
            </a:r>
            <a:endParaRPr lang="en-US" sz="2000" dirty="0"/>
          </a:p>
        </p:txBody>
      </p:sp>
      <p:pic>
        <p:nvPicPr>
          <p:cNvPr id="7" name="Image 0" descr="/home/claude/build/mol/n2.png">    </p:cNvPr>
          <p:cNvPicPr>
            <a:picLocks noChangeAspect="1"/>
          </p:cNvPicPr>
          <p:nvPr/>
        </p:nvPicPr>
        <p:blipFill>
          <a:blip r:embed="rId1"/>
          <a:stretch>
            <a:fillRect/>
          </a:stretch>
        </p:blipFill>
        <p:spPr>
          <a:xfrm>
            <a:off x="7977971" y="192024"/>
            <a:ext cx="777579"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Chemical Reactions II</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graphicFrame>
        <p:nvGraphicFramePr>
          <p:cNvPr id="70"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2468880"/>
                <a:gridCol w="3566160"/>
                <a:gridCol w="2194560"/>
              </a:tblGrid>
              <a:tr h="0">
                <a:tc>
                  <a:txBody>
                    <a:bodyPr/>
                    <a:lstStyle/>
                    <a:p>
                      <a:pPr indent="0" marL="0">
                        <a:buNone/>
                      </a:pPr>
                      <a:r>
                        <a:rPr lang="en-US" sz="1050" b="1" dirty="0">
                          <a:solidFill>
                            <a:srgbClr val="2F6F9F"/>
                          </a:solidFill>
                          <a:latin typeface="Calibri" pitchFamily="34" charset="0"/>
                          <a:ea typeface="Calibri" pitchFamily="34" charset="-122"/>
                          <a:cs typeface="Calibri" pitchFamily="34" charset="-120"/>
                        </a:rPr>
                        <a:t>Stress</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E1EEF7"/>
                    </a:solidFill>
                  </a:tcPr>
                </a:tc>
                <a:tc>
                  <a:txBody>
                    <a:bodyPr/>
                    <a:lstStyle/>
                    <a:p>
                      <a:pPr indent="0" marL="0">
                        <a:buNone/>
                      </a:pPr>
                      <a:r>
                        <a:rPr lang="en-US" sz="1050" b="1" dirty="0">
                          <a:solidFill>
                            <a:srgbClr val="2F6F9F"/>
                          </a:solidFill>
                          <a:latin typeface="Calibri" pitchFamily="34" charset="0"/>
                          <a:ea typeface="Calibri" pitchFamily="34" charset="-122"/>
                          <a:cs typeface="Calibri" pitchFamily="34" charset="-120"/>
                        </a:rPr>
                        <a:t>The system responds by</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E1EEF7"/>
                    </a:solidFill>
                  </a:tcPr>
                </a:tc>
                <a:tc>
                  <a:txBody>
                    <a:bodyPr/>
                    <a:lstStyle/>
                    <a:p>
                      <a:pPr indent="0" marL="0">
                        <a:buNone/>
                      </a:pPr>
                      <a:r>
                        <a:rPr lang="en-US" sz="1050" b="1" dirty="0">
                          <a:solidFill>
                            <a:srgbClr val="2F6F9F"/>
                          </a:solidFill>
                          <a:latin typeface="Calibri" pitchFamily="34" charset="0"/>
                          <a:ea typeface="Calibri" pitchFamily="34" charset="-122"/>
                          <a:cs typeface="Calibri" pitchFamily="34" charset="-120"/>
                        </a:rPr>
                        <a:t>Shift</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E1EEF7"/>
                    </a:solidFill>
                  </a:tcPr>
                </a:tc>
              </a:tr>
              <a:tr h="0">
                <a:tc>
                  <a:txBody>
                    <a:bodyPr/>
                    <a:lstStyle/>
                    <a:p>
                      <a:pPr indent="0" marL="0">
                        <a:buNone/>
                      </a:pPr>
                      <a:r>
                        <a:rPr lang="en-US" sz="1050" b="1" dirty="0">
                          <a:solidFill>
                            <a:srgbClr val="1B2A41"/>
                          </a:solidFill>
                          <a:latin typeface="Calibri" pitchFamily="34" charset="0"/>
                          <a:ea typeface="Calibri" pitchFamily="34" charset="-122"/>
                          <a:cs typeface="Calibri" pitchFamily="34" charset="-120"/>
                        </a:rPr>
                        <a:t>Add a reactant / remove a product</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latin typeface="Calibri" pitchFamily="34" charset="0"/>
                          <a:ea typeface="Calibri" pitchFamily="34" charset="-122"/>
                          <a:cs typeface="Calibri" pitchFamily="34" charset="-120"/>
                        </a:rPr>
                        <a:t>using up the added reactant / replacing the product</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latin typeface="Calibri" pitchFamily="34" charset="0"/>
                          <a:ea typeface="Calibri" pitchFamily="34" charset="-122"/>
                          <a:cs typeface="Calibri" pitchFamily="34" charset="-120"/>
                        </a:rPr>
                        <a:t>right →</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B2A41"/>
                          </a:solidFill>
                          <a:latin typeface="Calibri" pitchFamily="34" charset="0"/>
                          <a:ea typeface="Calibri" pitchFamily="34" charset="-122"/>
                          <a:cs typeface="Calibri" pitchFamily="34" charset="-120"/>
                        </a:rPr>
                        <a:t>Add a product / remove a reactant</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latin typeface="Calibri" pitchFamily="34" charset="0"/>
                          <a:ea typeface="Calibri" pitchFamily="34" charset="-122"/>
                          <a:cs typeface="Calibri" pitchFamily="34" charset="-120"/>
                        </a:rPr>
                        <a:t>using up the added product</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latin typeface="Calibri" pitchFamily="34" charset="0"/>
                          <a:ea typeface="Calibri" pitchFamily="34" charset="-122"/>
                          <a:cs typeface="Calibri" pitchFamily="34" charset="-120"/>
                        </a:rPr>
                        <a:t>← left</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B2A41"/>
                          </a:solidFill>
                          <a:latin typeface="Calibri" pitchFamily="34" charset="0"/>
                          <a:ea typeface="Calibri" pitchFamily="34" charset="-122"/>
                          <a:cs typeface="Calibri" pitchFamily="34" charset="-120"/>
                        </a:rPr>
                        <a:t>Raise the temperature</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latin typeface="Calibri" pitchFamily="34" charset="0"/>
                          <a:ea typeface="Calibri" pitchFamily="34" charset="-122"/>
                          <a:cs typeface="Calibri" pitchFamily="34" charset="-120"/>
                        </a:rPr>
                        <a:t>absorbing heat: favours the endothermic direction</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latin typeface="Calibri" pitchFamily="34" charset="0"/>
                          <a:ea typeface="Calibri" pitchFamily="34" charset="-122"/>
                          <a:cs typeface="Calibri" pitchFamily="34" charset="-120"/>
                        </a:rPr>
                        <a:t>exothermic forward: ← left</a:t>
                      </a:r>
                      <a:endParaRPr lang="en-US" sz="1050" dirty="0">
                        <a:latin typeface="Calibri" charset="0"/>
                        <a:ea typeface="Calibri" charset="0"/>
                        <a:cs typeface="Calibri" charset="0"/>
                      </a:endParaRPr>
                    </a:p>
                    <a:p>
                      <a:pPr indent="0" marL="0">
                        <a:buNone/>
                      </a:pPr>
                      <a:r>
                        <a:rPr lang="en-US" sz="1050" dirty="0">
                          <a:solidFill>
                            <a:srgbClr val="1B2A41"/>
                          </a:solidFill>
                          <a:latin typeface="Calibri" pitchFamily="34" charset="0"/>
                          <a:ea typeface="Calibri" pitchFamily="34" charset="-122"/>
                          <a:cs typeface="Calibri" pitchFamily="34" charset="-120"/>
                        </a:rPr>
                        <a:t>endothermic forward: right →</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B2A41"/>
                          </a:solidFill>
                          <a:latin typeface="Calibri" pitchFamily="34" charset="0"/>
                          <a:ea typeface="Calibri" pitchFamily="34" charset="-122"/>
                          <a:cs typeface="Calibri" pitchFamily="34" charset="-120"/>
                        </a:rPr>
                        <a:t>Increase pressure (gases)</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latin typeface="Calibri" pitchFamily="34" charset="0"/>
                          <a:ea typeface="Calibri" pitchFamily="34" charset="-122"/>
                          <a:cs typeface="Calibri" pitchFamily="34" charset="-120"/>
                        </a:rPr>
                        <a:t>reducing the number of gas molecules</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latin typeface="Calibri" pitchFamily="34" charset="0"/>
                          <a:ea typeface="Calibri" pitchFamily="34" charset="-122"/>
                          <a:cs typeface="Calibri" pitchFamily="34" charset="-120"/>
                        </a:rPr>
                        <a:t>towards fewer moles of gas</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B2A41"/>
                          </a:solidFill>
                          <a:latin typeface="Calibri" pitchFamily="34" charset="0"/>
                          <a:ea typeface="Calibri" pitchFamily="34" charset="-122"/>
                          <a:cs typeface="Calibri" pitchFamily="34" charset="-120"/>
                        </a:rPr>
                        <a:t>Add a catalyst</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latin typeface="Calibri" pitchFamily="34" charset="0"/>
                          <a:ea typeface="Calibri" pitchFamily="34" charset="-122"/>
                          <a:cs typeface="Calibri" pitchFamily="34" charset="-120"/>
                        </a:rPr>
                        <a:t>reaching equilibrium faster</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latin typeface="Calibri" pitchFamily="34" charset="0"/>
                          <a:ea typeface="Calibri" pitchFamily="34" charset="-122"/>
                          <a:cs typeface="Calibri" pitchFamily="34" charset="-120"/>
                        </a:rPr>
                        <a:t>no shift</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r>
            </a:tbl>
          </a:graphicData>
        </a:graphic>
      </p:graphicFrame>
      <p:sp>
        <p:nvSpPr>
          <p:cNvPr id="11" name="Text 7"/>
          <p:cNvSpPr txBox="1"/>
          <p:nvPr/>
        </p:nvSpPr>
        <p:spPr>
          <a:xfrm>
            <a:off x="457200" y="4297680"/>
            <a:ext cx="8229600" cy="457200"/>
          </a:xfrm>
          <a:prstGeom prst="rect">
            <a:avLst/>
          </a:prstGeom>
          <a:noFill/>
          <a:ln/>
        </p:spPr>
        <p:txBody>
          <a:bodyPr wrap="square" lIns="0" tIns="0" rIns="0" bIns="0" rtlCol="0" anchor="t"/>
          <a:lstStyle/>
          <a:p>
            <a:pPr indent="0" marL="0">
              <a:buNone/>
            </a:pPr>
            <a:r>
              <a:rPr lang="en-US" sz="900" i="1" dirty="0">
                <a:solidFill>
                  <a:srgbClr val="56657A"/>
                </a:solidFill>
                <a:latin typeface="Calibri" pitchFamily="34" charset="0"/>
                <a:ea typeface="Calibri" pitchFamily="34" charset="-122"/>
                <a:cs typeface="Calibri" pitchFamily="34" charset="-120"/>
              </a:rPr>
              <a:t>Concentration and pressure changes move the position of equilibrium without changing the equilibrium constant, K; a temperature change does change K. You will meet K in later courses.</a:t>
            </a:r>
            <a:endParaRPr lang="en-US" sz="9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CR2-LO6</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Example 6.1 · Making ammonia</a:t>
            </a:r>
            <a:endParaRPr lang="en-US" sz="2000" dirty="0"/>
          </a:p>
        </p:txBody>
      </p:sp>
      <p:pic>
        <p:nvPicPr>
          <p:cNvPr id="7" name="Image 0" descr="/home/claude/build/mol/n2.png">    </p:cNvPr>
          <p:cNvPicPr>
            <a:picLocks noChangeAspect="1"/>
          </p:cNvPicPr>
          <p:nvPr/>
        </p:nvPicPr>
        <p:blipFill>
          <a:blip r:embed="rId1"/>
          <a:stretch>
            <a:fillRect/>
          </a:stretch>
        </p:blipFill>
        <p:spPr>
          <a:xfrm>
            <a:off x="7977971" y="192024"/>
            <a:ext cx="777579"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Chemical Reactions II</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Shape 7"/>
          <p:cNvSpPr/>
          <p:nvPr/>
        </p:nvSpPr>
        <p:spPr>
          <a:xfrm>
            <a:off x="457200" y="1234440"/>
            <a:ext cx="8229600" cy="777240"/>
          </a:xfrm>
          <a:prstGeom prst="roundRect">
            <a:avLst>
              <a:gd name="adj" fmla="val 9412"/>
            </a:avLst>
          </a:prstGeom>
          <a:solidFill>
            <a:srgbClr val="FFFFFF"/>
          </a:solidFill>
          <a:ln w="9525">
            <a:solidFill>
              <a:srgbClr val="D7E0E8"/>
            </a:solidFill>
            <a:prstDash val="solid"/>
          </a:ln>
        </p:spPr>
      </p:sp>
      <p:sp>
        <p:nvSpPr>
          <p:cNvPr id="11" name="Text 8"/>
          <p:cNvSpPr txBox="1"/>
          <p:nvPr/>
        </p:nvSpPr>
        <p:spPr>
          <a:xfrm>
            <a:off x="594360" y="1280160"/>
            <a:ext cx="7955280" cy="685800"/>
          </a:xfrm>
          <a:prstGeom prst="rect">
            <a:avLst/>
          </a:prstGeom>
          <a:noFill/>
          <a:ln/>
        </p:spPr>
        <p:txBody>
          <a:bodyPr wrap="square" lIns="0" tIns="0" rIns="0" bIns="0" rtlCol="0" anchor="ctr"/>
          <a:lstStyle/>
          <a:p>
            <a:pPr indent="0" marL="0">
              <a:buNone/>
            </a:pPr>
            <a:r>
              <a:rPr lang="en-US" sz="1200" dirty="0">
                <a:solidFill>
                  <a:srgbClr val="1B2A41"/>
                </a:solidFill>
                <a:latin typeface="Calibri" pitchFamily="34" charset="0"/>
                <a:ea typeface="Calibri" pitchFamily="34" charset="-122"/>
                <a:cs typeface="Calibri" pitchFamily="34" charset="-120"/>
              </a:rPr>
              <a:t>N</a:t>
            </a:r>
            <a:pPr indent="0" marL="0">
              <a:buNone/>
            </a:pPr>
            <a:r>
              <a:rPr lang="en-US" sz="1200" baseline="-40000" dirty="0">
                <a:solidFill>
                  <a:srgbClr val="1B2A41"/>
                </a:solidFill>
                <a:latin typeface="Calibri" pitchFamily="34" charset="0"/>
                <a:ea typeface="Calibri" pitchFamily="34" charset="-122"/>
                <a:cs typeface="Calibri" pitchFamily="34" charset="-120"/>
              </a:rPr>
              <a:t>2</a:t>
            </a:r>
            <a:pPr indent="0" marL="0">
              <a:buNone/>
            </a:pPr>
            <a:r>
              <a:rPr lang="en-US" sz="1200" dirty="0">
                <a:solidFill>
                  <a:srgbClr val="1B2A41"/>
                </a:solidFill>
                <a:latin typeface="Calibri" pitchFamily="34" charset="0"/>
                <a:ea typeface="Calibri" pitchFamily="34" charset="-122"/>
                <a:cs typeface="Calibri" pitchFamily="34" charset="-120"/>
              </a:rPr>
              <a:t>(g) + 3H</a:t>
            </a:r>
            <a:pPr indent="0" marL="0">
              <a:buNone/>
            </a:pPr>
            <a:r>
              <a:rPr lang="en-US" sz="1200" baseline="-40000" dirty="0">
                <a:solidFill>
                  <a:srgbClr val="1B2A41"/>
                </a:solidFill>
                <a:latin typeface="Calibri" pitchFamily="34" charset="0"/>
                <a:ea typeface="Calibri" pitchFamily="34" charset="-122"/>
                <a:cs typeface="Calibri" pitchFamily="34" charset="-120"/>
              </a:rPr>
              <a:t>2</a:t>
            </a:r>
            <a:pPr indent="0" marL="0">
              <a:buNone/>
            </a:pPr>
            <a:r>
              <a:rPr lang="en-US" sz="1200" dirty="0">
                <a:solidFill>
                  <a:srgbClr val="1B2A41"/>
                </a:solidFill>
                <a:latin typeface="Calibri" pitchFamily="34" charset="0"/>
                <a:ea typeface="Calibri" pitchFamily="34" charset="-122"/>
                <a:cs typeface="Calibri" pitchFamily="34" charset="-120"/>
              </a:rPr>
              <a:t>(g) ⇌ 2NH</a:t>
            </a:r>
            <a:pPr indent="0" marL="0">
              <a:buNone/>
            </a:pPr>
            <a:r>
              <a:rPr lang="en-US" sz="1200" baseline="-40000" dirty="0">
                <a:solidFill>
                  <a:srgbClr val="1B2A41"/>
                </a:solidFill>
                <a:latin typeface="Calibri" pitchFamily="34" charset="0"/>
                <a:ea typeface="Calibri" pitchFamily="34" charset="-122"/>
                <a:cs typeface="Calibri" pitchFamily="34" charset="-120"/>
              </a:rPr>
              <a:t>3</a:t>
            </a:r>
            <a:pPr indent="0" marL="0">
              <a:buNone/>
            </a:pPr>
            <a:r>
              <a:rPr lang="en-US" sz="1200" dirty="0">
                <a:solidFill>
                  <a:srgbClr val="1B2A41"/>
                </a:solidFill>
                <a:latin typeface="Calibri" pitchFamily="34" charset="0"/>
                <a:ea typeface="Calibri" pitchFamily="34" charset="-122"/>
                <a:cs typeface="Calibri" pitchFamily="34" charset="-120"/>
              </a:rPr>
              <a:t>(g), ΔH = −92 kJ. Predict the shift when: (a) N</a:t>
            </a:r>
            <a:pPr indent="0" marL="0">
              <a:buNone/>
            </a:pPr>
            <a:r>
              <a:rPr lang="en-US" sz="1200" baseline="-40000" dirty="0">
                <a:solidFill>
                  <a:srgbClr val="1B2A41"/>
                </a:solidFill>
                <a:latin typeface="Calibri" pitchFamily="34" charset="0"/>
                <a:ea typeface="Calibri" pitchFamily="34" charset="-122"/>
                <a:cs typeface="Calibri" pitchFamily="34" charset="-120"/>
              </a:rPr>
              <a:t>2</a:t>
            </a:r>
            <a:pPr indent="0" marL="0">
              <a:buNone/>
            </a:pPr>
            <a:r>
              <a:rPr lang="en-US" sz="1200" dirty="0">
                <a:solidFill>
                  <a:srgbClr val="1B2A41"/>
                </a:solidFill>
                <a:latin typeface="Calibri" pitchFamily="34" charset="0"/>
                <a:ea typeface="Calibri" pitchFamily="34" charset="-122"/>
                <a:cs typeface="Calibri" pitchFamily="34" charset="-120"/>
              </a:rPr>
              <a:t> is added; (b) NH</a:t>
            </a:r>
            <a:pPr indent="0" marL="0">
              <a:buNone/>
            </a:pPr>
            <a:r>
              <a:rPr lang="en-US" sz="1200" baseline="-40000" dirty="0">
                <a:solidFill>
                  <a:srgbClr val="1B2A41"/>
                </a:solidFill>
                <a:latin typeface="Calibri" pitchFamily="34" charset="0"/>
                <a:ea typeface="Calibri" pitchFamily="34" charset="-122"/>
                <a:cs typeface="Calibri" pitchFamily="34" charset="-120"/>
              </a:rPr>
              <a:t>3</a:t>
            </a:r>
            <a:pPr indent="0" marL="0">
              <a:buNone/>
            </a:pPr>
            <a:r>
              <a:rPr lang="en-US" sz="1200" dirty="0">
                <a:solidFill>
                  <a:srgbClr val="1B2A41"/>
                </a:solidFill>
                <a:latin typeface="Calibri" pitchFamily="34" charset="0"/>
                <a:ea typeface="Calibri" pitchFamily="34" charset="-122"/>
                <a:cs typeface="Calibri" pitchFamily="34" charset="-120"/>
              </a:rPr>
              <a:t> is removed; (c) the temperature is raised; (d) the pressure is increased; (e) an iron catalyst is added.</a:t>
            </a:r>
            <a:endParaRPr lang="en-US" sz="1200" dirty="0"/>
          </a:p>
        </p:txBody>
      </p:sp>
      <p:sp>
        <p:nvSpPr>
          <p:cNvPr id="12" name="Shape 9"/>
          <p:cNvSpPr/>
          <p:nvPr/>
        </p:nvSpPr>
        <p:spPr>
          <a:xfrm>
            <a:off x="457200" y="2212848"/>
            <a:ext cx="274320" cy="274320"/>
          </a:xfrm>
          <a:prstGeom prst="ellipse">
            <a:avLst/>
          </a:prstGeom>
          <a:solidFill>
            <a:srgbClr val="2F6F9F"/>
          </a:solidFill>
          <a:ln w="12700">
            <a:solidFill>
              <a:srgbClr val="2F6F9F"/>
            </a:solidFill>
            <a:prstDash val="solid"/>
          </a:ln>
        </p:spPr>
      </p:sp>
      <p:sp>
        <p:nvSpPr>
          <p:cNvPr id="13" name="Text 10"/>
          <p:cNvSpPr txBox="1"/>
          <p:nvPr/>
        </p:nvSpPr>
        <p:spPr>
          <a:xfrm>
            <a:off x="457200" y="221284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4" name="Text 11"/>
          <p:cNvSpPr txBox="1"/>
          <p:nvPr/>
        </p:nvSpPr>
        <p:spPr>
          <a:xfrm>
            <a:off x="868680" y="2194560"/>
            <a:ext cx="7772400" cy="512064"/>
          </a:xfrm>
          <a:prstGeom prst="rect">
            <a:avLst/>
          </a:prstGeom>
          <a:noFill/>
          <a:ln/>
        </p:spPr>
        <p:txBody>
          <a:bodyPr wrap="square" lIns="0" tIns="0" rIns="0" bIns="0" rtlCol="0" anchor="t"/>
          <a:lstStyle/>
          <a:p>
            <a:pPr indent="0" marL="0">
              <a:buNone/>
            </a:pPr>
            <a:r>
              <a:rPr lang="en-US" sz="1100" dirty="0">
                <a:solidFill>
                  <a:srgbClr val="1B2A41"/>
                </a:solidFill>
                <a:latin typeface="Calibri" pitchFamily="34" charset="0"/>
                <a:ea typeface="Calibri" pitchFamily="34" charset="-122"/>
                <a:cs typeface="Calibri" pitchFamily="34" charset="-120"/>
              </a:rPr>
              <a:t>(a) </a:t>
            </a:r>
            <a:pPr indent="0" marL="0">
              <a:buNone/>
            </a:pPr>
            <a:r>
              <a:rPr lang="en-US" sz="1100" b="1" dirty="0">
                <a:solidFill>
                  <a:srgbClr val="1B2A41"/>
                </a:solidFill>
                <a:latin typeface="Calibri" pitchFamily="34" charset="0"/>
                <a:ea typeface="Calibri" pitchFamily="34" charset="-122"/>
                <a:cs typeface="Calibri" pitchFamily="34" charset="-120"/>
              </a:rPr>
              <a:t>Right</a:t>
            </a:r>
            <a:pPr indent="0" marL="0">
              <a:buNone/>
            </a:pPr>
            <a:r>
              <a:rPr lang="en-US" sz="1100" dirty="0">
                <a:solidFill>
                  <a:srgbClr val="1B2A41"/>
                </a:solidFill>
                <a:latin typeface="Calibri" pitchFamily="34" charset="0"/>
                <a:ea typeface="Calibri" pitchFamily="34" charset="-122"/>
                <a:cs typeface="Calibri" pitchFamily="34" charset="-120"/>
              </a:rPr>
              <a:t>: the system uses up the added N</a:t>
            </a:r>
            <a:pPr indent="0" marL="0">
              <a:buNone/>
            </a:pPr>
            <a:r>
              <a:rPr lang="en-US" sz="1100" baseline="-40000" dirty="0">
                <a:solidFill>
                  <a:srgbClr val="1B2A41"/>
                </a:solidFill>
                <a:latin typeface="Calibri" pitchFamily="34" charset="0"/>
                <a:ea typeface="Calibri" pitchFamily="34" charset="-122"/>
                <a:cs typeface="Calibri" pitchFamily="34" charset="-120"/>
              </a:rPr>
              <a:t>2</a:t>
            </a:r>
            <a:pPr indent="0" marL="0">
              <a:buNone/>
            </a:pPr>
            <a:r>
              <a:rPr lang="en-US" sz="1100" dirty="0">
                <a:solidFill>
                  <a:srgbClr val="1B2A41"/>
                </a:solidFill>
                <a:latin typeface="Calibri" pitchFamily="34" charset="0"/>
                <a:ea typeface="Calibri" pitchFamily="34" charset="-122"/>
                <a:cs typeface="Calibri" pitchFamily="34" charset="-120"/>
              </a:rPr>
              <a:t>.</a:t>
            </a:r>
            <a:endParaRPr lang="en-US" sz="1100" dirty="0"/>
          </a:p>
        </p:txBody>
      </p:sp>
      <p:sp>
        <p:nvSpPr>
          <p:cNvPr id="15" name="Shape 12"/>
          <p:cNvSpPr/>
          <p:nvPr/>
        </p:nvSpPr>
        <p:spPr>
          <a:xfrm>
            <a:off x="457200" y="2724912"/>
            <a:ext cx="274320" cy="274320"/>
          </a:xfrm>
          <a:prstGeom prst="ellipse">
            <a:avLst/>
          </a:prstGeom>
          <a:solidFill>
            <a:srgbClr val="2F6F9F"/>
          </a:solidFill>
          <a:ln w="12700">
            <a:solidFill>
              <a:srgbClr val="2F6F9F"/>
            </a:solidFill>
            <a:prstDash val="solid"/>
          </a:ln>
        </p:spPr>
      </p:sp>
      <p:sp>
        <p:nvSpPr>
          <p:cNvPr id="16" name="Text 13"/>
          <p:cNvSpPr txBox="1"/>
          <p:nvPr/>
        </p:nvSpPr>
        <p:spPr>
          <a:xfrm>
            <a:off x="457200" y="272491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7" name="Text 14"/>
          <p:cNvSpPr txBox="1"/>
          <p:nvPr/>
        </p:nvSpPr>
        <p:spPr>
          <a:xfrm>
            <a:off x="868680" y="2706624"/>
            <a:ext cx="7772400" cy="512064"/>
          </a:xfrm>
          <a:prstGeom prst="rect">
            <a:avLst/>
          </a:prstGeom>
          <a:noFill/>
          <a:ln/>
        </p:spPr>
        <p:txBody>
          <a:bodyPr wrap="square" lIns="0" tIns="0" rIns="0" bIns="0" rtlCol="0" anchor="t"/>
          <a:lstStyle/>
          <a:p>
            <a:pPr indent="0" marL="0">
              <a:buNone/>
            </a:pPr>
            <a:r>
              <a:rPr lang="en-US" sz="1100" dirty="0">
                <a:solidFill>
                  <a:srgbClr val="1B2A41"/>
                </a:solidFill>
                <a:latin typeface="Calibri" pitchFamily="34" charset="0"/>
                <a:ea typeface="Calibri" pitchFamily="34" charset="-122"/>
                <a:cs typeface="Calibri" pitchFamily="34" charset="-120"/>
              </a:rPr>
              <a:t>(b) </a:t>
            </a:r>
            <a:pPr indent="0" marL="0">
              <a:buNone/>
            </a:pPr>
            <a:r>
              <a:rPr lang="en-US" sz="1100" b="1" dirty="0">
                <a:solidFill>
                  <a:srgbClr val="1B2A41"/>
                </a:solidFill>
                <a:latin typeface="Calibri" pitchFamily="34" charset="0"/>
                <a:ea typeface="Calibri" pitchFamily="34" charset="-122"/>
                <a:cs typeface="Calibri" pitchFamily="34" charset="-120"/>
              </a:rPr>
              <a:t>Right</a:t>
            </a:r>
            <a:pPr indent="0" marL="0">
              <a:buNone/>
            </a:pPr>
            <a:r>
              <a:rPr lang="en-US" sz="1100" dirty="0">
                <a:solidFill>
                  <a:srgbClr val="1B2A41"/>
                </a:solidFill>
                <a:latin typeface="Calibri" pitchFamily="34" charset="0"/>
                <a:ea typeface="Calibri" pitchFamily="34" charset="-122"/>
                <a:cs typeface="Calibri" pitchFamily="34" charset="-120"/>
              </a:rPr>
              <a:t>: the system replaces the NH</a:t>
            </a:r>
            <a:pPr indent="0" marL="0">
              <a:buNone/>
            </a:pPr>
            <a:r>
              <a:rPr lang="en-US" sz="1100" baseline="-40000" dirty="0">
                <a:solidFill>
                  <a:srgbClr val="1B2A41"/>
                </a:solidFill>
                <a:latin typeface="Calibri" pitchFamily="34" charset="0"/>
                <a:ea typeface="Calibri" pitchFamily="34" charset="-122"/>
                <a:cs typeface="Calibri" pitchFamily="34" charset="-120"/>
              </a:rPr>
              <a:t>3</a:t>
            </a:r>
            <a:pPr indent="0" marL="0">
              <a:buNone/>
            </a:pPr>
            <a:r>
              <a:rPr lang="en-US" sz="1100" dirty="0">
                <a:solidFill>
                  <a:srgbClr val="1B2A41"/>
                </a:solidFill>
                <a:latin typeface="Calibri" pitchFamily="34" charset="0"/>
                <a:ea typeface="Calibri" pitchFamily="34" charset="-122"/>
                <a:cs typeface="Calibri" pitchFamily="34" charset="-120"/>
              </a:rPr>
              <a:t> removed.</a:t>
            </a:r>
            <a:endParaRPr lang="en-US" sz="1100" dirty="0"/>
          </a:p>
        </p:txBody>
      </p:sp>
      <p:sp>
        <p:nvSpPr>
          <p:cNvPr id="18" name="Shape 15"/>
          <p:cNvSpPr/>
          <p:nvPr/>
        </p:nvSpPr>
        <p:spPr>
          <a:xfrm>
            <a:off x="457200" y="3236976"/>
            <a:ext cx="274320" cy="274320"/>
          </a:xfrm>
          <a:prstGeom prst="ellipse">
            <a:avLst/>
          </a:prstGeom>
          <a:solidFill>
            <a:srgbClr val="2F6F9F"/>
          </a:solidFill>
          <a:ln w="12700">
            <a:solidFill>
              <a:srgbClr val="2F6F9F"/>
            </a:solidFill>
            <a:prstDash val="solid"/>
          </a:ln>
        </p:spPr>
      </p:sp>
      <p:sp>
        <p:nvSpPr>
          <p:cNvPr id="19" name="Text 16"/>
          <p:cNvSpPr txBox="1"/>
          <p:nvPr/>
        </p:nvSpPr>
        <p:spPr>
          <a:xfrm>
            <a:off x="457200" y="3236976"/>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0" name="Text 17"/>
          <p:cNvSpPr txBox="1"/>
          <p:nvPr/>
        </p:nvSpPr>
        <p:spPr>
          <a:xfrm>
            <a:off x="868680" y="3218688"/>
            <a:ext cx="7772400" cy="512064"/>
          </a:xfrm>
          <a:prstGeom prst="rect">
            <a:avLst/>
          </a:prstGeom>
          <a:noFill/>
          <a:ln/>
        </p:spPr>
        <p:txBody>
          <a:bodyPr wrap="square" lIns="0" tIns="0" rIns="0" bIns="0" rtlCol="0" anchor="t"/>
          <a:lstStyle/>
          <a:p>
            <a:pPr indent="0" marL="0">
              <a:buNone/>
            </a:pPr>
            <a:r>
              <a:rPr lang="en-US" sz="1100" dirty="0">
                <a:solidFill>
                  <a:srgbClr val="1B2A41"/>
                </a:solidFill>
                <a:latin typeface="Calibri" pitchFamily="34" charset="0"/>
                <a:ea typeface="Calibri" pitchFamily="34" charset="-122"/>
                <a:cs typeface="Calibri" pitchFamily="34" charset="-120"/>
              </a:rPr>
              <a:t>(c) </a:t>
            </a:r>
            <a:pPr indent="0" marL="0">
              <a:buNone/>
            </a:pPr>
            <a:r>
              <a:rPr lang="en-US" sz="1100" b="1" dirty="0">
                <a:solidFill>
                  <a:srgbClr val="1B2A41"/>
                </a:solidFill>
                <a:latin typeface="Calibri" pitchFamily="34" charset="0"/>
                <a:ea typeface="Calibri" pitchFamily="34" charset="-122"/>
                <a:cs typeface="Calibri" pitchFamily="34" charset="-120"/>
              </a:rPr>
              <a:t>Left</a:t>
            </a:r>
            <a:pPr indent="0" marL="0">
              <a:buNone/>
            </a:pPr>
            <a:r>
              <a:rPr lang="en-US" sz="1100" dirty="0">
                <a:solidFill>
                  <a:srgbClr val="1B2A41"/>
                </a:solidFill>
                <a:latin typeface="Calibri" pitchFamily="34" charset="0"/>
                <a:ea typeface="Calibri" pitchFamily="34" charset="-122"/>
                <a:cs typeface="Calibri" pitchFamily="34" charset="-120"/>
              </a:rPr>
              <a:t>: the forward reaction is exothermic (heat is a product); adding heat favours the reverse reaction.</a:t>
            </a:r>
            <a:endParaRPr lang="en-US" sz="1100" dirty="0"/>
          </a:p>
        </p:txBody>
      </p:sp>
      <p:sp>
        <p:nvSpPr>
          <p:cNvPr id="21" name="Shape 18"/>
          <p:cNvSpPr/>
          <p:nvPr/>
        </p:nvSpPr>
        <p:spPr>
          <a:xfrm>
            <a:off x="457200" y="3749040"/>
            <a:ext cx="274320" cy="274320"/>
          </a:xfrm>
          <a:prstGeom prst="ellipse">
            <a:avLst/>
          </a:prstGeom>
          <a:solidFill>
            <a:srgbClr val="2F6F9F"/>
          </a:solidFill>
          <a:ln w="12700">
            <a:solidFill>
              <a:srgbClr val="2F6F9F"/>
            </a:solidFill>
            <a:prstDash val="solid"/>
          </a:ln>
        </p:spPr>
      </p:sp>
      <p:sp>
        <p:nvSpPr>
          <p:cNvPr id="22" name="Text 19"/>
          <p:cNvSpPr txBox="1"/>
          <p:nvPr/>
        </p:nvSpPr>
        <p:spPr>
          <a:xfrm>
            <a:off x="457200" y="374904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3" name="Text 20"/>
          <p:cNvSpPr txBox="1"/>
          <p:nvPr/>
        </p:nvSpPr>
        <p:spPr>
          <a:xfrm>
            <a:off x="868680" y="3730752"/>
            <a:ext cx="7772400" cy="512064"/>
          </a:xfrm>
          <a:prstGeom prst="rect">
            <a:avLst/>
          </a:prstGeom>
          <a:noFill/>
          <a:ln/>
        </p:spPr>
        <p:txBody>
          <a:bodyPr wrap="square" lIns="0" tIns="0" rIns="0" bIns="0" rtlCol="0" anchor="t"/>
          <a:lstStyle/>
          <a:p>
            <a:pPr indent="0" marL="0">
              <a:buNone/>
            </a:pPr>
            <a:r>
              <a:rPr lang="en-US" sz="1100" dirty="0">
                <a:solidFill>
                  <a:srgbClr val="1B2A41"/>
                </a:solidFill>
                <a:latin typeface="Calibri" pitchFamily="34" charset="0"/>
                <a:ea typeface="Calibri" pitchFamily="34" charset="-122"/>
                <a:cs typeface="Calibri" pitchFamily="34" charset="-120"/>
              </a:rPr>
              <a:t>(d) </a:t>
            </a:r>
            <a:pPr indent="0" marL="0">
              <a:buNone/>
            </a:pPr>
            <a:r>
              <a:rPr lang="en-US" sz="1100" b="1" dirty="0">
                <a:solidFill>
                  <a:srgbClr val="1B2A41"/>
                </a:solidFill>
                <a:latin typeface="Calibri" pitchFamily="34" charset="0"/>
                <a:ea typeface="Calibri" pitchFamily="34" charset="-122"/>
                <a:cs typeface="Calibri" pitchFamily="34" charset="-120"/>
              </a:rPr>
              <a:t>Right</a:t>
            </a:r>
            <a:pPr indent="0" marL="0">
              <a:buNone/>
            </a:pPr>
            <a:r>
              <a:rPr lang="en-US" sz="1100" dirty="0">
                <a:solidFill>
                  <a:srgbClr val="1B2A41"/>
                </a:solidFill>
                <a:latin typeface="Calibri" pitchFamily="34" charset="0"/>
                <a:ea typeface="Calibri" pitchFamily="34" charset="-122"/>
                <a:cs typeface="Calibri" pitchFamily="34" charset="-120"/>
              </a:rPr>
              <a:t>: 4 mol of gas on the left, 2 mol on the right; higher pressure favours fewer gas molecules.</a:t>
            </a:r>
            <a:endParaRPr lang="en-US" sz="1100" dirty="0"/>
          </a:p>
        </p:txBody>
      </p:sp>
      <p:sp>
        <p:nvSpPr>
          <p:cNvPr id="24" name="Shape 21"/>
          <p:cNvSpPr/>
          <p:nvPr/>
        </p:nvSpPr>
        <p:spPr>
          <a:xfrm>
            <a:off x="457200" y="4261104"/>
            <a:ext cx="274320" cy="274320"/>
          </a:xfrm>
          <a:prstGeom prst="ellipse">
            <a:avLst/>
          </a:prstGeom>
          <a:solidFill>
            <a:srgbClr val="B86E00"/>
          </a:solidFill>
          <a:ln w="12700">
            <a:solidFill>
              <a:srgbClr val="B86E00"/>
            </a:solidFill>
            <a:prstDash val="solid"/>
          </a:ln>
        </p:spPr>
      </p:sp>
      <p:sp>
        <p:nvSpPr>
          <p:cNvPr id="25" name="Text 22"/>
          <p:cNvSpPr txBox="1"/>
          <p:nvPr/>
        </p:nvSpPr>
        <p:spPr>
          <a:xfrm>
            <a:off x="457200" y="426110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26" name="Text 23"/>
          <p:cNvSpPr txBox="1"/>
          <p:nvPr/>
        </p:nvSpPr>
        <p:spPr>
          <a:xfrm>
            <a:off x="868680" y="4242816"/>
            <a:ext cx="7772400" cy="512064"/>
          </a:xfrm>
          <a:prstGeom prst="rect">
            <a:avLst/>
          </a:prstGeom>
          <a:noFill/>
          <a:ln/>
        </p:spPr>
        <p:txBody>
          <a:bodyPr wrap="square" lIns="0" tIns="0" rIns="0" bIns="0" rtlCol="0" anchor="t"/>
          <a:lstStyle/>
          <a:p>
            <a:pPr indent="0" marL="0">
              <a:buNone/>
            </a:pPr>
            <a:r>
              <a:rPr lang="en-US" sz="1100" b="1" dirty="0">
                <a:solidFill>
                  <a:srgbClr val="1B2A41"/>
                </a:solidFill>
                <a:latin typeface="Calibri" pitchFamily="34" charset="0"/>
                <a:ea typeface="Calibri" pitchFamily="34" charset="-122"/>
                <a:cs typeface="Calibri" pitchFamily="34" charset="-120"/>
              </a:rPr>
              <a:t>(e) </a:t>
            </a:r>
            <a:pPr indent="0" marL="0">
              <a:buNone/>
            </a:pPr>
            <a:r>
              <a:rPr lang="en-US" sz="1100" b="1" dirty="0">
                <a:solidFill>
                  <a:srgbClr val="1B2A41"/>
                </a:solidFill>
                <a:latin typeface="Calibri" pitchFamily="34" charset="0"/>
                <a:ea typeface="Calibri" pitchFamily="34" charset="-122"/>
                <a:cs typeface="Calibri" pitchFamily="34" charset="-120"/>
              </a:rPr>
              <a:t>No shift</a:t>
            </a:r>
            <a:pPr indent="0" marL="0">
              <a:buNone/>
            </a:pPr>
            <a:r>
              <a:rPr lang="en-US" sz="1100" b="1" dirty="0">
                <a:solidFill>
                  <a:srgbClr val="1B2A41"/>
                </a:solidFill>
                <a:latin typeface="Calibri" pitchFamily="34" charset="0"/>
                <a:ea typeface="Calibri" pitchFamily="34" charset="-122"/>
                <a:cs typeface="Calibri" pitchFamily="34" charset="-120"/>
              </a:rPr>
              <a:t>: equilibrium is reached faster.</a:t>
            </a:r>
            <a:endParaRPr lang="en-US" sz="11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CR2-LO6</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Equilibrium in the body: oxygen transport</a:t>
            </a:r>
            <a:endParaRPr lang="en-US" sz="2000" dirty="0"/>
          </a:p>
        </p:txBody>
      </p:sp>
      <p:pic>
        <p:nvPicPr>
          <p:cNvPr id="7" name="Image 0" descr="/home/claude/build/mol/n2.png">    </p:cNvPr>
          <p:cNvPicPr>
            <a:picLocks noChangeAspect="1"/>
          </p:cNvPicPr>
          <p:nvPr/>
        </p:nvPicPr>
        <p:blipFill>
          <a:blip r:embed="rId1"/>
          <a:stretch>
            <a:fillRect/>
          </a:stretch>
        </p:blipFill>
        <p:spPr>
          <a:xfrm>
            <a:off x="7977971" y="192024"/>
            <a:ext cx="777579"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Chemical Reactions II</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Text 7"/>
          <p:cNvSpPr txBox="1"/>
          <p:nvPr/>
        </p:nvSpPr>
        <p:spPr>
          <a:xfrm>
            <a:off x="457200" y="1188720"/>
            <a:ext cx="8229600" cy="502920"/>
          </a:xfrm>
          <a:prstGeom prst="rect">
            <a:avLst/>
          </a:prstGeom>
          <a:noFill/>
          <a:ln/>
        </p:spPr>
        <p:txBody>
          <a:bodyPr wrap="square" lIns="0" tIns="0" rIns="0" bIns="0" rtlCol="0" anchor="t"/>
          <a:lstStyle/>
          <a:p>
            <a:pPr indent="0" marL="0">
              <a:buNone/>
            </a:pPr>
            <a:r>
              <a:rPr lang="en-US" sz="1200" dirty="0">
                <a:solidFill>
                  <a:srgbClr val="1B2A41"/>
                </a:solidFill>
                <a:latin typeface="Calibri" pitchFamily="34" charset="0"/>
                <a:ea typeface="Calibri" pitchFamily="34" charset="-122"/>
                <a:cs typeface="Calibri" pitchFamily="34" charset="-120"/>
              </a:rPr>
              <a:t>Hb + O</a:t>
            </a:r>
            <a:pPr indent="0" marL="0">
              <a:buNone/>
            </a:pPr>
            <a:r>
              <a:rPr lang="en-US" sz="1200" baseline="-40000" dirty="0">
                <a:solidFill>
                  <a:srgbClr val="1B2A41"/>
                </a:solidFill>
                <a:latin typeface="Calibri" pitchFamily="34" charset="0"/>
                <a:ea typeface="Calibri" pitchFamily="34" charset="-122"/>
                <a:cs typeface="Calibri" pitchFamily="34" charset="-120"/>
              </a:rPr>
              <a:t>2</a:t>
            </a:r>
            <a:pPr indent="0" marL="0">
              <a:buNone/>
            </a:pPr>
            <a:r>
              <a:rPr lang="en-US" sz="1200" dirty="0">
                <a:solidFill>
                  <a:srgbClr val="1B2A41"/>
                </a:solidFill>
                <a:latin typeface="Calibri" pitchFamily="34" charset="0"/>
                <a:ea typeface="Calibri" pitchFamily="34" charset="-122"/>
                <a:cs typeface="Calibri" pitchFamily="34" charset="-120"/>
              </a:rPr>
              <a:t> ⇌ HbO</a:t>
            </a:r>
            <a:pPr indent="0" marL="0">
              <a:buNone/>
            </a:pPr>
            <a:r>
              <a:rPr lang="en-US" sz="1200" baseline="-40000" dirty="0">
                <a:solidFill>
                  <a:srgbClr val="1B2A41"/>
                </a:solidFill>
                <a:latin typeface="Calibri" pitchFamily="34" charset="0"/>
                <a:ea typeface="Calibri" pitchFamily="34" charset="-122"/>
                <a:cs typeface="Calibri" pitchFamily="34" charset="-120"/>
              </a:rPr>
              <a:t>2</a:t>
            </a:r>
            <a:pPr indent="0" marL="0">
              <a:buNone/>
            </a:pPr>
            <a:r>
              <a:rPr lang="en-US" sz="1200" dirty="0">
                <a:solidFill>
                  <a:srgbClr val="1B2A41"/>
                </a:solidFill>
                <a:latin typeface="Calibri" pitchFamily="34" charset="0"/>
                <a:ea typeface="Calibri" pitchFamily="34" charset="-122"/>
                <a:cs typeface="Calibri" pitchFamily="34" charset="-120"/>
              </a:rPr>
              <a:t> (haemoglobin + oxygen ⇌ oxyhaemoglobin)</a:t>
            </a:r>
            <a:endParaRPr lang="en-US" sz="1200" dirty="0"/>
          </a:p>
        </p:txBody>
      </p:sp>
      <p:sp>
        <p:nvSpPr>
          <p:cNvPr id="11" name="Shape 8"/>
          <p:cNvSpPr/>
          <p:nvPr/>
        </p:nvSpPr>
        <p:spPr>
          <a:xfrm>
            <a:off x="457200" y="1783080"/>
            <a:ext cx="4023360" cy="2880360"/>
          </a:xfrm>
          <a:prstGeom prst="roundRect">
            <a:avLst>
              <a:gd name="adj" fmla="val 2540"/>
            </a:avLst>
          </a:prstGeom>
          <a:solidFill>
            <a:srgbClr val="E1EEF7"/>
          </a:solidFill>
          <a:ln w="9525">
            <a:solidFill>
              <a:srgbClr val="E1EEF7"/>
            </a:solidFill>
            <a:prstDash val="solid"/>
          </a:ln>
        </p:spPr>
      </p:sp>
      <p:sp>
        <p:nvSpPr>
          <p:cNvPr id="12" name="Text 9"/>
          <p:cNvSpPr txBox="1"/>
          <p:nvPr/>
        </p:nvSpPr>
        <p:spPr>
          <a:xfrm>
            <a:off x="594360" y="1874520"/>
            <a:ext cx="3749040" cy="320040"/>
          </a:xfrm>
          <a:prstGeom prst="rect">
            <a:avLst/>
          </a:prstGeom>
          <a:noFill/>
          <a:ln/>
        </p:spPr>
        <p:txBody>
          <a:bodyPr wrap="square" lIns="0" tIns="0" rIns="0" bIns="0" rtlCol="0" anchor="ctr"/>
          <a:lstStyle/>
          <a:p>
            <a:pPr indent="0" marL="0">
              <a:buNone/>
            </a:pPr>
            <a:r>
              <a:rPr lang="en-US" sz="1200" b="1" dirty="0">
                <a:solidFill>
                  <a:srgbClr val="2F6F9F"/>
                </a:solidFill>
                <a:latin typeface="Calibri" pitchFamily="34" charset="0"/>
                <a:ea typeface="Calibri" pitchFamily="34" charset="-122"/>
                <a:cs typeface="Calibri" pitchFamily="34" charset="-120"/>
              </a:rPr>
              <a:t>In the lungs</a:t>
            </a:r>
            <a:endParaRPr lang="en-US" sz="1200" dirty="0"/>
          </a:p>
        </p:txBody>
      </p:sp>
      <p:sp>
        <p:nvSpPr>
          <p:cNvPr id="13" name="Text 10"/>
          <p:cNvSpPr txBox="1"/>
          <p:nvPr/>
        </p:nvSpPr>
        <p:spPr>
          <a:xfrm>
            <a:off x="594360" y="2240280"/>
            <a:ext cx="3749040" cy="2331720"/>
          </a:xfrm>
          <a:prstGeom prst="rect">
            <a:avLst/>
          </a:prstGeom>
          <a:noFill/>
          <a:ln/>
        </p:spPr>
        <p:txBody>
          <a:bodyPr wrap="square" lIns="0" tIns="0" rIns="0" bIns="0" rtlCol="0" anchor="t"/>
          <a:lstStyle/>
          <a:p>
            <a:pPr marL="177800" indent="-177800">
              <a:spcAft>
                <a:spcPts val="400"/>
              </a:spcAft>
              <a:buSzPct val="100000"/>
              <a:buChar char="•"/>
            </a:pPr>
            <a:r>
              <a:rPr lang="en-US" sz="1100" dirty="0">
                <a:solidFill>
                  <a:srgbClr val="1B2A41"/>
                </a:solidFill>
                <a:latin typeface="Calibri" pitchFamily="34" charset="0"/>
                <a:ea typeface="Calibri" pitchFamily="34" charset="-122"/>
                <a:cs typeface="Calibri" pitchFamily="34" charset="-120"/>
              </a:rPr>
              <a:t>O</a:t>
            </a:r>
            <a:pPr marL="177800" indent="-177800">
              <a:spcAft>
                <a:spcPts val="400"/>
              </a:spcAft>
              <a:buSzPct val="100000"/>
              <a:buChar char="•"/>
            </a:pPr>
            <a:r>
              <a:rPr lang="en-US" sz="1100" baseline="-40000" dirty="0">
                <a:solidFill>
                  <a:srgbClr val="1B2A41"/>
                </a:solidFill>
                <a:latin typeface="Calibri" pitchFamily="34" charset="0"/>
                <a:ea typeface="Calibri" pitchFamily="34" charset="-122"/>
                <a:cs typeface="Calibri" pitchFamily="34" charset="-120"/>
              </a:rPr>
              <a:t>2</a:t>
            </a:r>
            <a:pPr marL="177800" indent="-177800">
              <a:spcAft>
                <a:spcPts val="400"/>
              </a:spcAft>
              <a:buSzPct val="100000"/>
              <a:buChar char="•"/>
            </a:pPr>
            <a:r>
              <a:rPr lang="en-US" sz="1100" dirty="0">
                <a:solidFill>
                  <a:srgbClr val="1B2A41"/>
                </a:solidFill>
                <a:latin typeface="Calibri" pitchFamily="34" charset="0"/>
                <a:ea typeface="Calibri" pitchFamily="34" charset="-122"/>
                <a:cs typeface="Calibri" pitchFamily="34" charset="-120"/>
              </a:rPr>
              <a:t> concentration is high</a:t>
            </a:r>
            <a:endParaRPr lang="en-US" sz="1100" dirty="0"/>
          </a:p>
          <a:p>
            <a:pPr marL="177800" indent="-177800">
              <a:spcAft>
                <a:spcPts val="400"/>
              </a:spcAft>
              <a:buSzPct val="100000"/>
              <a:buChar char="•"/>
            </a:pPr>
            <a:r>
              <a:rPr lang="en-US" sz="1100" dirty="0">
                <a:solidFill>
                  <a:srgbClr val="1B2A41"/>
                </a:solidFill>
                <a:latin typeface="Calibri" pitchFamily="34" charset="0"/>
                <a:ea typeface="Calibri" pitchFamily="34" charset="-122"/>
                <a:cs typeface="Calibri" pitchFamily="34" charset="-120"/>
              </a:rPr>
              <a:t>Le Châtelier: the equilibrium shifts </a:t>
            </a:r>
            <a:pPr marL="177800" indent="-177800">
              <a:spcAft>
                <a:spcPts val="400"/>
              </a:spcAft>
              <a:buSzPct val="100000"/>
              <a:buChar char="•"/>
            </a:pPr>
            <a:r>
              <a:rPr lang="en-US" sz="1100" b="1" dirty="0">
                <a:solidFill>
                  <a:srgbClr val="1B2A41"/>
                </a:solidFill>
                <a:latin typeface="Calibri" pitchFamily="34" charset="0"/>
                <a:ea typeface="Calibri" pitchFamily="34" charset="-122"/>
                <a:cs typeface="Calibri" pitchFamily="34" charset="-120"/>
              </a:rPr>
              <a:t>right</a:t>
            </a:r>
            <a:endParaRPr lang="en-US" sz="1100" dirty="0"/>
          </a:p>
          <a:p>
            <a:pPr marL="177800" indent="-177800">
              <a:spcAft>
                <a:spcPts val="400"/>
              </a:spcAft>
              <a:buSzPct val="100000"/>
              <a:buChar char="•"/>
            </a:pPr>
            <a:r>
              <a:rPr lang="en-US" sz="1100" dirty="0">
                <a:solidFill>
                  <a:srgbClr val="1B2A41"/>
                </a:solidFill>
                <a:latin typeface="Calibri" pitchFamily="34" charset="0"/>
                <a:ea typeface="Calibri" pitchFamily="34" charset="-122"/>
                <a:cs typeface="Calibri" pitchFamily="34" charset="-120"/>
              </a:rPr>
              <a:t>Haemoglobin loads up with oxygen</a:t>
            </a:r>
            <a:endParaRPr lang="en-US" sz="1100" dirty="0"/>
          </a:p>
        </p:txBody>
      </p:sp>
      <p:sp>
        <p:nvSpPr>
          <p:cNvPr id="14" name="Shape 11"/>
          <p:cNvSpPr/>
          <p:nvPr/>
        </p:nvSpPr>
        <p:spPr>
          <a:xfrm>
            <a:off x="4663440" y="1783080"/>
            <a:ext cx="4023360" cy="2880360"/>
          </a:xfrm>
          <a:prstGeom prst="roundRect">
            <a:avLst>
              <a:gd name="adj" fmla="val 2540"/>
            </a:avLst>
          </a:prstGeom>
          <a:solidFill>
            <a:srgbClr val="FBEFD9"/>
          </a:solidFill>
          <a:ln w="9525">
            <a:solidFill>
              <a:srgbClr val="FBEFD9"/>
            </a:solidFill>
            <a:prstDash val="solid"/>
          </a:ln>
        </p:spPr>
      </p:sp>
      <p:sp>
        <p:nvSpPr>
          <p:cNvPr id="15" name="Text 12"/>
          <p:cNvSpPr txBox="1"/>
          <p:nvPr/>
        </p:nvSpPr>
        <p:spPr>
          <a:xfrm>
            <a:off x="4800600" y="1874520"/>
            <a:ext cx="3749040" cy="320040"/>
          </a:xfrm>
          <a:prstGeom prst="rect">
            <a:avLst/>
          </a:prstGeom>
          <a:noFill/>
          <a:ln/>
        </p:spPr>
        <p:txBody>
          <a:bodyPr wrap="square" lIns="0" tIns="0" rIns="0" bIns="0" rtlCol="0" anchor="ctr"/>
          <a:lstStyle/>
          <a:p>
            <a:pPr indent="0" marL="0">
              <a:buNone/>
            </a:pPr>
            <a:r>
              <a:rPr lang="en-US" sz="1200" b="1" dirty="0">
                <a:solidFill>
                  <a:srgbClr val="B86E00"/>
                </a:solidFill>
                <a:latin typeface="Calibri" pitchFamily="34" charset="0"/>
                <a:ea typeface="Calibri" pitchFamily="34" charset="-122"/>
                <a:cs typeface="Calibri" pitchFamily="34" charset="-120"/>
              </a:rPr>
              <a:t>In the tissues</a:t>
            </a:r>
            <a:endParaRPr lang="en-US" sz="1200" dirty="0"/>
          </a:p>
        </p:txBody>
      </p:sp>
      <p:sp>
        <p:nvSpPr>
          <p:cNvPr id="16" name="Text 13"/>
          <p:cNvSpPr txBox="1"/>
          <p:nvPr/>
        </p:nvSpPr>
        <p:spPr>
          <a:xfrm>
            <a:off x="4800600" y="2240280"/>
            <a:ext cx="3749040" cy="2331720"/>
          </a:xfrm>
          <a:prstGeom prst="rect">
            <a:avLst/>
          </a:prstGeom>
          <a:noFill/>
          <a:ln/>
        </p:spPr>
        <p:txBody>
          <a:bodyPr wrap="square" lIns="0" tIns="0" rIns="0" bIns="0" rtlCol="0" anchor="t"/>
          <a:lstStyle/>
          <a:p>
            <a:pPr marL="177800" indent="-177800">
              <a:spcAft>
                <a:spcPts val="400"/>
              </a:spcAft>
              <a:buSzPct val="100000"/>
              <a:buChar char="•"/>
            </a:pPr>
            <a:r>
              <a:rPr lang="en-US" sz="1100" dirty="0">
                <a:solidFill>
                  <a:srgbClr val="1B2A41"/>
                </a:solidFill>
                <a:latin typeface="Calibri" pitchFamily="34" charset="0"/>
                <a:ea typeface="Calibri" pitchFamily="34" charset="-122"/>
                <a:cs typeface="Calibri" pitchFamily="34" charset="-120"/>
              </a:rPr>
              <a:t>Cells use O</a:t>
            </a:r>
            <a:pPr marL="177800" indent="-177800">
              <a:spcAft>
                <a:spcPts val="400"/>
              </a:spcAft>
              <a:buSzPct val="100000"/>
              <a:buChar char="•"/>
            </a:pPr>
            <a:r>
              <a:rPr lang="en-US" sz="1100" baseline="-40000" dirty="0">
                <a:solidFill>
                  <a:srgbClr val="1B2A41"/>
                </a:solidFill>
                <a:latin typeface="Calibri" pitchFamily="34" charset="0"/>
                <a:ea typeface="Calibri" pitchFamily="34" charset="-122"/>
                <a:cs typeface="Calibri" pitchFamily="34" charset="-120"/>
              </a:rPr>
              <a:t>2</a:t>
            </a:r>
            <a:pPr marL="177800" indent="-177800">
              <a:spcAft>
                <a:spcPts val="400"/>
              </a:spcAft>
              <a:buSzPct val="100000"/>
              <a:buChar char="•"/>
            </a:pPr>
            <a:r>
              <a:rPr lang="en-US" sz="1100" dirty="0">
                <a:solidFill>
                  <a:srgbClr val="1B2A41"/>
                </a:solidFill>
                <a:latin typeface="Calibri" pitchFamily="34" charset="0"/>
                <a:ea typeface="Calibri" pitchFamily="34" charset="-122"/>
                <a:cs typeface="Calibri" pitchFamily="34" charset="-120"/>
              </a:rPr>
              <a:t>, so its concentration is low</a:t>
            </a:r>
            <a:endParaRPr lang="en-US" sz="1100" dirty="0"/>
          </a:p>
          <a:p>
            <a:pPr marL="177800" indent="-177800">
              <a:spcAft>
                <a:spcPts val="400"/>
              </a:spcAft>
              <a:buSzPct val="100000"/>
              <a:buChar char="•"/>
            </a:pPr>
            <a:r>
              <a:rPr lang="en-US" sz="1100" dirty="0">
                <a:solidFill>
                  <a:srgbClr val="1B2A41"/>
                </a:solidFill>
                <a:latin typeface="Calibri" pitchFamily="34" charset="0"/>
                <a:ea typeface="Calibri" pitchFamily="34" charset="-122"/>
                <a:cs typeface="Calibri" pitchFamily="34" charset="-120"/>
              </a:rPr>
              <a:t>The equilibrium shifts </a:t>
            </a:r>
            <a:pPr marL="177800" indent="-177800">
              <a:spcAft>
                <a:spcPts val="400"/>
              </a:spcAft>
              <a:buSzPct val="100000"/>
              <a:buChar char="•"/>
            </a:pPr>
            <a:r>
              <a:rPr lang="en-US" sz="1100" b="1" dirty="0">
                <a:solidFill>
                  <a:srgbClr val="1B2A41"/>
                </a:solidFill>
                <a:latin typeface="Calibri" pitchFamily="34" charset="0"/>
                <a:ea typeface="Calibri" pitchFamily="34" charset="-122"/>
                <a:cs typeface="Calibri" pitchFamily="34" charset="-120"/>
              </a:rPr>
              <a:t>left</a:t>
            </a:r>
            <a:endParaRPr lang="en-US" sz="1100" dirty="0"/>
          </a:p>
          <a:p>
            <a:pPr marL="177800" indent="-177800">
              <a:spcAft>
                <a:spcPts val="400"/>
              </a:spcAft>
              <a:buSzPct val="100000"/>
              <a:buChar char="•"/>
            </a:pPr>
            <a:r>
              <a:rPr lang="en-US" sz="1100" dirty="0">
                <a:solidFill>
                  <a:srgbClr val="1B2A41"/>
                </a:solidFill>
                <a:latin typeface="Calibri" pitchFamily="34" charset="0"/>
                <a:ea typeface="Calibri" pitchFamily="34" charset="-122"/>
                <a:cs typeface="Calibri" pitchFamily="34" charset="-120"/>
              </a:rPr>
              <a:t>Oxyhaemoglobin releases oxygen where it is needed</a:t>
            </a:r>
            <a:endParaRPr lang="en-US" sz="11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CR2-LO6</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Try it · Opening a fizzy drink</a:t>
            </a:r>
            <a:endParaRPr lang="en-US" sz="2000" dirty="0"/>
          </a:p>
        </p:txBody>
      </p:sp>
      <p:pic>
        <p:nvPicPr>
          <p:cNvPr id="7" name="Image 0" descr="/home/claude/build/mol/n2.png">    </p:cNvPr>
          <p:cNvPicPr>
            <a:picLocks noChangeAspect="1"/>
          </p:cNvPicPr>
          <p:nvPr/>
        </p:nvPicPr>
        <p:blipFill>
          <a:blip r:embed="rId1"/>
          <a:stretch>
            <a:fillRect/>
          </a:stretch>
        </p:blipFill>
        <p:spPr>
          <a:xfrm>
            <a:off x="7977971" y="192024"/>
            <a:ext cx="777579"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Chemical Reactions II</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Shape 7"/>
          <p:cNvSpPr/>
          <p:nvPr/>
        </p:nvSpPr>
        <p:spPr>
          <a:xfrm>
            <a:off x="457200" y="1234440"/>
            <a:ext cx="8229600" cy="914400"/>
          </a:xfrm>
          <a:prstGeom prst="roundRect">
            <a:avLst>
              <a:gd name="adj" fmla="val 8000"/>
            </a:avLst>
          </a:prstGeom>
          <a:solidFill>
            <a:srgbClr val="FFFFFF"/>
          </a:solidFill>
          <a:ln w="9525">
            <a:solidFill>
              <a:srgbClr val="D7E0E8"/>
            </a:solidFill>
            <a:prstDash val="solid"/>
          </a:ln>
        </p:spPr>
      </p:sp>
      <p:sp>
        <p:nvSpPr>
          <p:cNvPr id="11" name="Text 8"/>
          <p:cNvSpPr txBox="1"/>
          <p:nvPr/>
        </p:nvSpPr>
        <p:spPr>
          <a:xfrm>
            <a:off x="594360" y="1280160"/>
            <a:ext cx="7955280" cy="822960"/>
          </a:xfrm>
          <a:prstGeom prst="rect">
            <a:avLst/>
          </a:prstGeom>
          <a:noFill/>
          <a:ln/>
        </p:spPr>
        <p:txBody>
          <a:bodyPr wrap="square" lIns="0" tIns="0" rIns="0" bIns="0" rtlCol="0" anchor="ctr"/>
          <a:lstStyle/>
          <a:p>
            <a:pPr indent="0" marL="0">
              <a:buNone/>
            </a:pPr>
            <a:r>
              <a:rPr lang="en-US" sz="1250" dirty="0">
                <a:solidFill>
                  <a:srgbClr val="1B2A41"/>
                </a:solidFill>
                <a:latin typeface="Calibri" pitchFamily="34" charset="0"/>
                <a:ea typeface="Calibri" pitchFamily="34" charset="-122"/>
                <a:cs typeface="Calibri" pitchFamily="34" charset="-120"/>
              </a:rPr>
              <a:t>In a sealed bottle: CO</a:t>
            </a:r>
            <a:pPr indent="0" marL="0">
              <a:buNone/>
            </a:pPr>
            <a:r>
              <a:rPr lang="en-US" sz="1250" baseline="-40000" dirty="0">
                <a:solidFill>
                  <a:srgbClr val="1B2A41"/>
                </a:solidFill>
                <a:latin typeface="Calibri" pitchFamily="34" charset="0"/>
                <a:ea typeface="Calibri" pitchFamily="34" charset="-122"/>
                <a:cs typeface="Calibri" pitchFamily="34" charset="-120"/>
              </a:rPr>
              <a:t>2</a:t>
            </a:r>
            <a:pPr indent="0" marL="0">
              <a:buNone/>
            </a:pPr>
            <a:r>
              <a:rPr lang="en-US" sz="1250" dirty="0">
                <a:solidFill>
                  <a:srgbClr val="1B2A41"/>
                </a:solidFill>
                <a:latin typeface="Calibri" pitchFamily="34" charset="0"/>
                <a:ea typeface="Calibri" pitchFamily="34" charset="-122"/>
                <a:cs typeface="Calibri" pitchFamily="34" charset="-120"/>
              </a:rPr>
              <a:t>(g) ⇌ CO</a:t>
            </a:r>
            <a:pPr indent="0" marL="0">
              <a:buNone/>
            </a:pPr>
            <a:r>
              <a:rPr lang="en-US" sz="1250" baseline="-40000" dirty="0">
                <a:solidFill>
                  <a:srgbClr val="1B2A41"/>
                </a:solidFill>
                <a:latin typeface="Calibri" pitchFamily="34" charset="0"/>
                <a:ea typeface="Calibri" pitchFamily="34" charset="-122"/>
                <a:cs typeface="Calibri" pitchFamily="34" charset="-120"/>
              </a:rPr>
              <a:t>2</a:t>
            </a:r>
            <a:pPr indent="0" marL="0">
              <a:buNone/>
            </a:pPr>
            <a:r>
              <a:rPr lang="en-US" sz="1250" dirty="0">
                <a:solidFill>
                  <a:srgbClr val="1B2A41"/>
                </a:solidFill>
                <a:latin typeface="Calibri" pitchFamily="34" charset="0"/>
                <a:ea typeface="Calibri" pitchFamily="34" charset="-122"/>
                <a:cs typeface="Calibri" pitchFamily="34" charset="-120"/>
              </a:rPr>
              <a:t>(aq). Dissolving CO</a:t>
            </a:r>
            <a:pPr indent="0" marL="0">
              <a:buNone/>
            </a:pPr>
            <a:r>
              <a:rPr lang="en-US" sz="1250" baseline="-40000" dirty="0">
                <a:solidFill>
                  <a:srgbClr val="1B2A41"/>
                </a:solidFill>
                <a:latin typeface="Calibri" pitchFamily="34" charset="0"/>
                <a:ea typeface="Calibri" pitchFamily="34" charset="-122"/>
                <a:cs typeface="Calibri" pitchFamily="34" charset="-120"/>
              </a:rPr>
              <a:t>2</a:t>
            </a:r>
            <a:pPr indent="0" marL="0">
              <a:buNone/>
            </a:pPr>
            <a:r>
              <a:rPr lang="en-US" sz="1250" dirty="0">
                <a:solidFill>
                  <a:srgbClr val="1B2A41"/>
                </a:solidFill>
                <a:latin typeface="Calibri" pitchFamily="34" charset="0"/>
                <a:ea typeface="Calibri" pitchFamily="34" charset="-122"/>
                <a:cs typeface="Calibri" pitchFamily="34" charset="-120"/>
              </a:rPr>
              <a:t> is exothermic. Use Le Châtelier's principle to explain (a) why the drink fizzes when opened and (b) why a warm drink goes flat faster.</a:t>
            </a:r>
            <a:endParaRPr lang="en-US" sz="1250" dirty="0"/>
          </a:p>
        </p:txBody>
      </p:sp>
      <p:sp>
        <p:nvSpPr>
          <p:cNvPr id="12" name="Text 9"/>
          <p:cNvSpPr txBox="1"/>
          <p:nvPr/>
        </p:nvSpPr>
        <p:spPr>
          <a:xfrm>
            <a:off x="457200" y="2377440"/>
            <a:ext cx="5486400" cy="274320"/>
          </a:xfrm>
          <a:prstGeom prst="rect">
            <a:avLst/>
          </a:prstGeom>
          <a:noFill/>
          <a:ln/>
        </p:spPr>
        <p:txBody>
          <a:bodyPr wrap="square" lIns="0" tIns="0" rIns="0" bIns="0" rtlCol="0" anchor="ctr"/>
          <a:lstStyle/>
          <a:p>
            <a:pPr indent="0" marL="0">
              <a:buNone/>
            </a:pPr>
            <a:r>
              <a:rPr lang="en-US" sz="1000" i="1" dirty="0">
                <a:solidFill>
                  <a:srgbClr val="56657A"/>
                </a:solidFill>
                <a:latin typeface="Calibri" pitchFamily="34" charset="0"/>
                <a:ea typeface="Calibri" pitchFamily="34" charset="-122"/>
                <a:cs typeface="Calibri" pitchFamily="34" charset="-120"/>
              </a:rPr>
              <a:t>Work it out, then check on the next slide.</a:t>
            </a:r>
            <a:endParaRPr lang="en-US" sz="10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CR2-LO6</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Try it · Opening a fizzy drink · answer</a:t>
            </a:r>
            <a:endParaRPr lang="en-US" sz="2000" dirty="0"/>
          </a:p>
        </p:txBody>
      </p:sp>
      <p:pic>
        <p:nvPicPr>
          <p:cNvPr id="7" name="Image 0" descr="/home/claude/build/mol/n2.png">    </p:cNvPr>
          <p:cNvPicPr>
            <a:picLocks noChangeAspect="1"/>
          </p:cNvPicPr>
          <p:nvPr/>
        </p:nvPicPr>
        <p:blipFill>
          <a:blip r:embed="rId1"/>
          <a:stretch>
            <a:fillRect/>
          </a:stretch>
        </p:blipFill>
        <p:spPr>
          <a:xfrm>
            <a:off x="7977971" y="192024"/>
            <a:ext cx="777579"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Chemical Reactions II</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Shape 7"/>
          <p:cNvSpPr/>
          <p:nvPr/>
        </p:nvSpPr>
        <p:spPr>
          <a:xfrm>
            <a:off x="457200" y="1234440"/>
            <a:ext cx="8229600" cy="914400"/>
          </a:xfrm>
          <a:prstGeom prst="roundRect">
            <a:avLst>
              <a:gd name="adj" fmla="val 8000"/>
            </a:avLst>
          </a:prstGeom>
          <a:solidFill>
            <a:srgbClr val="FFFFFF"/>
          </a:solidFill>
          <a:ln w="9525">
            <a:solidFill>
              <a:srgbClr val="D7E0E8"/>
            </a:solidFill>
            <a:prstDash val="solid"/>
          </a:ln>
        </p:spPr>
      </p:sp>
      <p:sp>
        <p:nvSpPr>
          <p:cNvPr id="11" name="Text 8"/>
          <p:cNvSpPr txBox="1"/>
          <p:nvPr/>
        </p:nvSpPr>
        <p:spPr>
          <a:xfrm>
            <a:off x="594360" y="1280160"/>
            <a:ext cx="7955280" cy="822960"/>
          </a:xfrm>
          <a:prstGeom prst="rect">
            <a:avLst/>
          </a:prstGeom>
          <a:noFill/>
          <a:ln/>
        </p:spPr>
        <p:txBody>
          <a:bodyPr wrap="square" lIns="0" tIns="0" rIns="0" bIns="0" rtlCol="0" anchor="ctr"/>
          <a:lstStyle/>
          <a:p>
            <a:pPr indent="0" marL="0">
              <a:buNone/>
            </a:pPr>
            <a:r>
              <a:rPr lang="en-US" sz="1250" dirty="0">
                <a:solidFill>
                  <a:srgbClr val="1B2A41"/>
                </a:solidFill>
                <a:latin typeface="Calibri" pitchFamily="34" charset="0"/>
                <a:ea typeface="Calibri" pitchFamily="34" charset="-122"/>
                <a:cs typeface="Calibri" pitchFamily="34" charset="-120"/>
              </a:rPr>
              <a:t>In a sealed bottle: CO</a:t>
            </a:r>
            <a:pPr indent="0" marL="0">
              <a:buNone/>
            </a:pPr>
            <a:r>
              <a:rPr lang="en-US" sz="1250" baseline="-40000" dirty="0">
                <a:solidFill>
                  <a:srgbClr val="1B2A41"/>
                </a:solidFill>
                <a:latin typeface="Calibri" pitchFamily="34" charset="0"/>
                <a:ea typeface="Calibri" pitchFamily="34" charset="-122"/>
                <a:cs typeface="Calibri" pitchFamily="34" charset="-120"/>
              </a:rPr>
              <a:t>2</a:t>
            </a:r>
            <a:pPr indent="0" marL="0">
              <a:buNone/>
            </a:pPr>
            <a:r>
              <a:rPr lang="en-US" sz="1250" dirty="0">
                <a:solidFill>
                  <a:srgbClr val="1B2A41"/>
                </a:solidFill>
                <a:latin typeface="Calibri" pitchFamily="34" charset="0"/>
                <a:ea typeface="Calibri" pitchFamily="34" charset="-122"/>
                <a:cs typeface="Calibri" pitchFamily="34" charset="-120"/>
              </a:rPr>
              <a:t>(g) ⇌ CO</a:t>
            </a:r>
            <a:pPr indent="0" marL="0">
              <a:buNone/>
            </a:pPr>
            <a:r>
              <a:rPr lang="en-US" sz="1250" baseline="-40000" dirty="0">
                <a:solidFill>
                  <a:srgbClr val="1B2A41"/>
                </a:solidFill>
                <a:latin typeface="Calibri" pitchFamily="34" charset="0"/>
                <a:ea typeface="Calibri" pitchFamily="34" charset="-122"/>
                <a:cs typeface="Calibri" pitchFamily="34" charset="-120"/>
              </a:rPr>
              <a:t>2</a:t>
            </a:r>
            <a:pPr indent="0" marL="0">
              <a:buNone/>
            </a:pPr>
            <a:r>
              <a:rPr lang="en-US" sz="1250" dirty="0">
                <a:solidFill>
                  <a:srgbClr val="1B2A41"/>
                </a:solidFill>
                <a:latin typeface="Calibri" pitchFamily="34" charset="0"/>
                <a:ea typeface="Calibri" pitchFamily="34" charset="-122"/>
                <a:cs typeface="Calibri" pitchFamily="34" charset="-120"/>
              </a:rPr>
              <a:t>(aq). Dissolving CO</a:t>
            </a:r>
            <a:pPr indent="0" marL="0">
              <a:buNone/>
            </a:pPr>
            <a:r>
              <a:rPr lang="en-US" sz="1250" baseline="-40000" dirty="0">
                <a:solidFill>
                  <a:srgbClr val="1B2A41"/>
                </a:solidFill>
                <a:latin typeface="Calibri" pitchFamily="34" charset="0"/>
                <a:ea typeface="Calibri" pitchFamily="34" charset="-122"/>
                <a:cs typeface="Calibri" pitchFamily="34" charset="-120"/>
              </a:rPr>
              <a:t>2</a:t>
            </a:r>
            <a:pPr indent="0" marL="0">
              <a:buNone/>
            </a:pPr>
            <a:r>
              <a:rPr lang="en-US" sz="1250" dirty="0">
                <a:solidFill>
                  <a:srgbClr val="1B2A41"/>
                </a:solidFill>
                <a:latin typeface="Calibri" pitchFamily="34" charset="0"/>
                <a:ea typeface="Calibri" pitchFamily="34" charset="-122"/>
                <a:cs typeface="Calibri" pitchFamily="34" charset="-120"/>
              </a:rPr>
              <a:t> is exothermic. Use Le Châtelier's principle to explain (a) why the drink fizzes when opened and (b) why a warm drink goes flat faster.</a:t>
            </a:r>
            <a:endParaRPr lang="en-US" sz="1250" dirty="0"/>
          </a:p>
        </p:txBody>
      </p:sp>
      <p:sp>
        <p:nvSpPr>
          <p:cNvPr id="12" name="Shape 9"/>
          <p:cNvSpPr/>
          <p:nvPr/>
        </p:nvSpPr>
        <p:spPr>
          <a:xfrm>
            <a:off x="457200" y="2331720"/>
            <a:ext cx="8229600" cy="2240280"/>
          </a:xfrm>
          <a:prstGeom prst="roundRect">
            <a:avLst>
              <a:gd name="adj" fmla="val 3265"/>
            </a:avLst>
          </a:prstGeom>
          <a:solidFill>
            <a:srgbClr val="FBEFD9"/>
          </a:solidFill>
          <a:ln w="9525">
            <a:solidFill>
              <a:srgbClr val="FBEFD9"/>
            </a:solidFill>
            <a:prstDash val="solid"/>
          </a:ln>
        </p:spPr>
      </p:sp>
      <p:sp>
        <p:nvSpPr>
          <p:cNvPr id="13" name="Text 10"/>
          <p:cNvSpPr txBox="1"/>
          <p:nvPr/>
        </p:nvSpPr>
        <p:spPr>
          <a:xfrm>
            <a:off x="640080" y="2423160"/>
            <a:ext cx="7863840" cy="2057400"/>
          </a:xfrm>
          <a:prstGeom prst="rect">
            <a:avLst/>
          </a:prstGeom>
          <a:noFill/>
          <a:ln/>
        </p:spPr>
        <p:txBody>
          <a:bodyPr wrap="square" lIns="0" tIns="0" rIns="0" bIns="0" rtlCol="0" anchor="t"/>
          <a:lstStyle/>
          <a:p>
            <a:pPr indent="0" marL="0">
              <a:buNone/>
            </a:pPr>
            <a:r>
              <a:rPr lang="en-US" sz="1100" b="1" dirty="0">
                <a:solidFill>
                  <a:srgbClr val="B86E00"/>
                </a:solidFill>
                <a:latin typeface="Calibri" pitchFamily="34" charset="0"/>
                <a:ea typeface="Calibri" pitchFamily="34" charset="-122"/>
                <a:cs typeface="Calibri" pitchFamily="34" charset="-120"/>
              </a:rPr>
              <a:t>Answer</a:t>
            </a:r>
            <a:endParaRPr lang="en-US" sz="1100" dirty="0"/>
          </a:p>
          <a:p>
            <a:pPr indent="0" marL="0">
              <a:buNone/>
            </a:pPr>
            <a:r>
              <a:rPr lang="en-US" sz="1200" dirty="0">
                <a:solidFill>
                  <a:srgbClr val="1B2A41"/>
                </a:solidFill>
                <a:latin typeface="Calibri" pitchFamily="34" charset="0"/>
                <a:ea typeface="Calibri" pitchFamily="34" charset="-122"/>
                <a:cs typeface="Calibri" pitchFamily="34" charset="-120"/>
              </a:rPr>
              <a:t>(a) Opening the bottle lowers the pressure of CO</a:t>
            </a:r>
            <a:pPr indent="0" marL="0">
              <a:buNone/>
            </a:pPr>
            <a:r>
              <a:rPr lang="en-US" sz="1200" baseline="-40000" dirty="0">
                <a:solidFill>
                  <a:srgbClr val="1B2A41"/>
                </a:solidFill>
                <a:latin typeface="Calibri" pitchFamily="34" charset="0"/>
                <a:ea typeface="Calibri" pitchFamily="34" charset="-122"/>
                <a:cs typeface="Calibri" pitchFamily="34" charset="-120"/>
              </a:rPr>
              <a:t>2</a:t>
            </a:r>
            <a:pPr indent="0" marL="0">
              <a:buNone/>
            </a:pPr>
            <a:r>
              <a:rPr lang="en-US" sz="1200" dirty="0">
                <a:solidFill>
                  <a:srgbClr val="1B2A41"/>
                </a:solidFill>
                <a:latin typeface="Calibri" pitchFamily="34" charset="0"/>
                <a:ea typeface="Calibri" pitchFamily="34" charset="-122"/>
                <a:cs typeface="Calibri" pitchFamily="34" charset="-120"/>
              </a:rPr>
              <a:t> gas. The equilibrium shifts </a:t>
            </a:r>
            <a:pPr indent="0" marL="0">
              <a:buNone/>
            </a:pPr>
            <a:r>
              <a:rPr lang="en-US" sz="1200" b="1" dirty="0">
                <a:solidFill>
                  <a:srgbClr val="1B2A41"/>
                </a:solidFill>
                <a:latin typeface="Calibri" pitchFamily="34" charset="0"/>
                <a:ea typeface="Calibri" pitchFamily="34" charset="-122"/>
                <a:cs typeface="Calibri" pitchFamily="34" charset="-120"/>
              </a:rPr>
              <a:t>left</a:t>
            </a:r>
            <a:pPr indent="0" marL="0">
              <a:buNone/>
            </a:pPr>
            <a:r>
              <a:rPr lang="en-US" sz="1200" dirty="0">
                <a:solidFill>
                  <a:srgbClr val="1B2A41"/>
                </a:solidFill>
                <a:latin typeface="Calibri" pitchFamily="34" charset="0"/>
                <a:ea typeface="Calibri" pitchFamily="34" charset="-122"/>
                <a:cs typeface="Calibri" pitchFamily="34" charset="-120"/>
              </a:rPr>
              <a:t>, towards gas, to replace it: dissolved CO</a:t>
            </a:r>
            <a:pPr indent="0" marL="0">
              <a:buNone/>
            </a:pPr>
            <a:r>
              <a:rPr lang="en-US" sz="1200" baseline="-40000" dirty="0">
                <a:solidFill>
                  <a:srgbClr val="1B2A41"/>
                </a:solidFill>
                <a:latin typeface="Calibri" pitchFamily="34" charset="0"/>
                <a:ea typeface="Calibri" pitchFamily="34" charset="-122"/>
                <a:cs typeface="Calibri" pitchFamily="34" charset="-120"/>
              </a:rPr>
              <a:t>2</a:t>
            </a:r>
            <a:pPr indent="0" marL="0">
              <a:buNone/>
            </a:pPr>
            <a:r>
              <a:rPr lang="en-US" sz="1200" dirty="0">
                <a:solidFill>
                  <a:srgbClr val="1B2A41"/>
                </a:solidFill>
                <a:latin typeface="Calibri" pitchFamily="34" charset="0"/>
                <a:ea typeface="Calibri" pitchFamily="34" charset="-122"/>
                <a:cs typeface="Calibri" pitchFamily="34" charset="-120"/>
              </a:rPr>
              <a:t> comes out as bubbles.</a:t>
            </a:r>
            <a:endParaRPr lang="en-US" sz="1100" dirty="0"/>
          </a:p>
          <a:p>
            <a:pPr indent="0" marL="0">
              <a:buNone/>
            </a:pPr>
            <a:r>
              <a:rPr lang="en-US" sz="1200" dirty="0">
                <a:solidFill>
                  <a:srgbClr val="1B2A41"/>
                </a:solidFill>
                <a:latin typeface="Calibri" pitchFamily="34" charset="0"/>
                <a:ea typeface="Calibri" pitchFamily="34" charset="-122"/>
                <a:cs typeface="Calibri" pitchFamily="34" charset="-120"/>
              </a:rPr>
              <a:t>(b) Dissolving is exothermic, so heat is a 'product'. Raising the temperature shifts the equilibrium </a:t>
            </a:r>
            <a:pPr indent="0" marL="0">
              <a:buNone/>
            </a:pPr>
            <a:r>
              <a:rPr lang="en-US" sz="1200" b="1" dirty="0">
                <a:solidFill>
                  <a:srgbClr val="1B2A41"/>
                </a:solidFill>
                <a:latin typeface="Calibri" pitchFamily="34" charset="0"/>
                <a:ea typeface="Calibri" pitchFamily="34" charset="-122"/>
                <a:cs typeface="Calibri" pitchFamily="34" charset="-120"/>
              </a:rPr>
              <a:t>left</a:t>
            </a:r>
            <a:pPr indent="0" marL="0">
              <a:buNone/>
            </a:pPr>
            <a:r>
              <a:rPr lang="en-US" sz="1200" dirty="0">
                <a:solidFill>
                  <a:srgbClr val="1B2A41"/>
                </a:solidFill>
                <a:latin typeface="Calibri" pitchFamily="34" charset="0"/>
                <a:ea typeface="Calibri" pitchFamily="34" charset="-122"/>
                <a:cs typeface="Calibri" pitchFamily="34" charset="-120"/>
              </a:rPr>
              <a:t>: less CO</a:t>
            </a:r>
            <a:pPr indent="0" marL="0">
              <a:buNone/>
            </a:pPr>
            <a:r>
              <a:rPr lang="en-US" sz="1200" baseline="-40000" dirty="0">
                <a:solidFill>
                  <a:srgbClr val="1B2A41"/>
                </a:solidFill>
                <a:latin typeface="Calibri" pitchFamily="34" charset="0"/>
                <a:ea typeface="Calibri" pitchFamily="34" charset="-122"/>
                <a:cs typeface="Calibri" pitchFamily="34" charset="-120"/>
              </a:rPr>
              <a:t>2</a:t>
            </a:r>
            <a:pPr indent="0" marL="0">
              <a:buNone/>
            </a:pPr>
            <a:r>
              <a:rPr lang="en-US" sz="1200" dirty="0">
                <a:solidFill>
                  <a:srgbClr val="1B2A41"/>
                </a:solidFill>
                <a:latin typeface="Calibri" pitchFamily="34" charset="0"/>
                <a:ea typeface="Calibri" pitchFamily="34" charset="-122"/>
                <a:cs typeface="Calibri" pitchFamily="34" charset="-120"/>
              </a:rPr>
              <a:t> stays dissolved.</a:t>
            </a:r>
            <a:endParaRPr lang="en-US" sz="11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CR2-LO6</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Key takeaways: equilibrium</a:t>
            </a:r>
            <a:endParaRPr lang="en-US" sz="2000" dirty="0"/>
          </a:p>
        </p:txBody>
      </p:sp>
      <p:pic>
        <p:nvPicPr>
          <p:cNvPr id="7" name="Image 0" descr="/home/claude/build/mol/n2.png">    </p:cNvPr>
          <p:cNvPicPr>
            <a:picLocks noChangeAspect="1"/>
          </p:cNvPicPr>
          <p:nvPr/>
        </p:nvPicPr>
        <p:blipFill>
          <a:blip r:embed="rId1"/>
          <a:stretch>
            <a:fillRect/>
          </a:stretch>
        </p:blipFill>
        <p:spPr>
          <a:xfrm>
            <a:off x="7977971" y="192024"/>
            <a:ext cx="777579"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Chemical Reactions II</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Text 7"/>
          <p:cNvSpPr txBox="1"/>
          <p:nvPr/>
        </p:nvSpPr>
        <p:spPr>
          <a:xfrm>
            <a:off x="457200" y="1280160"/>
            <a:ext cx="8229600" cy="33832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In a reversible reaction, forward and reverse reactions run at the same time.</a:t>
            </a:r>
            <a:endParaRPr lang="en-US" sz="1300" dirty="0"/>
          </a:p>
          <a:p>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At dynamic equilibrium, the two rates are equal and the concentrations stay constant (not necessarily equal).</a:t>
            </a:r>
            <a:endParaRPr lang="en-US" sz="1300" dirty="0"/>
          </a:p>
          <a:p>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Le Châtelier: a stressed equilibrium shifts to reduce the stress (concentration, temperature, gas pressure).</a:t>
            </a:r>
            <a:endParaRPr lang="en-US" sz="1300" dirty="0"/>
          </a:p>
          <a:p>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A catalyst helps equilibrium arrive sooner but does not move it.</a:t>
            </a:r>
            <a:endParaRPr lang="en-US" sz="13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CR2-LO6</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Quick check</a:t>
            </a:r>
            <a:endParaRPr lang="en-US" sz="2000" dirty="0"/>
          </a:p>
        </p:txBody>
      </p:sp>
      <p:pic>
        <p:nvPicPr>
          <p:cNvPr id="7" name="Image 0" descr="/home/claude/build/mol/n2.png">    </p:cNvPr>
          <p:cNvPicPr>
            <a:picLocks noChangeAspect="1"/>
          </p:cNvPicPr>
          <p:nvPr/>
        </p:nvPicPr>
        <p:blipFill>
          <a:blip r:embed="rId1"/>
          <a:stretch>
            <a:fillRect/>
          </a:stretch>
        </p:blipFill>
        <p:spPr>
          <a:xfrm>
            <a:off x="7977971" y="192024"/>
            <a:ext cx="777579"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Chemical Reactions II</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Text 7"/>
          <p:cNvSpPr txBox="1"/>
          <p:nvPr/>
        </p:nvSpPr>
        <p:spPr>
          <a:xfrm>
            <a:off x="457200" y="1188720"/>
            <a:ext cx="8229600" cy="640080"/>
          </a:xfrm>
          <a:prstGeom prst="rect">
            <a:avLst/>
          </a:prstGeom>
          <a:noFill/>
          <a:ln/>
        </p:spPr>
        <p:txBody>
          <a:bodyPr wrap="square" lIns="0" tIns="0" rIns="0" bIns="0" rtlCol="0" anchor="t"/>
          <a:lstStyle/>
          <a:p>
            <a:pPr indent="0" marL="0">
              <a:buNone/>
            </a:pPr>
            <a:r>
              <a:rPr lang="en-US" sz="1300" b="1" dirty="0">
                <a:solidFill>
                  <a:srgbClr val="1B2A41"/>
                </a:solidFill>
                <a:latin typeface="Calibri" pitchFamily="34" charset="0"/>
                <a:ea typeface="Calibri" pitchFamily="34" charset="-122"/>
                <a:cs typeface="Calibri" pitchFamily="34" charset="-120"/>
              </a:rPr>
              <a:t>Which statement about a system at dynamic equilibrium is correct?</a:t>
            </a:r>
            <a:endParaRPr lang="en-US" sz="1300" dirty="0"/>
          </a:p>
        </p:txBody>
      </p:sp>
      <p:sp>
        <p:nvSpPr>
          <p:cNvPr id="11" name="Shape 8"/>
          <p:cNvSpPr/>
          <p:nvPr/>
        </p:nvSpPr>
        <p:spPr>
          <a:xfrm>
            <a:off x="457200" y="1965960"/>
            <a:ext cx="4023360" cy="594360"/>
          </a:xfrm>
          <a:prstGeom prst="roundRect">
            <a:avLst>
              <a:gd name="adj" fmla="val 12308"/>
            </a:avLst>
          </a:prstGeom>
          <a:solidFill>
            <a:srgbClr val="FFFFFF"/>
          </a:solidFill>
          <a:ln w="9525">
            <a:solidFill>
              <a:srgbClr val="D7E0E8"/>
            </a:solidFill>
            <a:prstDash val="solid"/>
          </a:ln>
        </p:spPr>
      </p:sp>
      <p:sp>
        <p:nvSpPr>
          <p:cNvPr id="12" name="Text 9"/>
          <p:cNvSpPr txBox="1"/>
          <p:nvPr/>
        </p:nvSpPr>
        <p:spPr>
          <a:xfrm>
            <a:off x="594360" y="196596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A   </a:t>
            </a:r>
            <a:pPr indent="0" marL="0">
              <a:buNone/>
            </a:pPr>
            <a:r>
              <a:rPr lang="en-US" sz="1150" dirty="0">
                <a:solidFill>
                  <a:srgbClr val="1B2A41"/>
                </a:solidFill>
                <a:latin typeface="Calibri" pitchFamily="34" charset="0"/>
                <a:ea typeface="Calibri" pitchFamily="34" charset="-122"/>
                <a:cs typeface="Calibri" pitchFamily="34" charset="-120"/>
              </a:rPr>
              <a:t>The forward and reverse reactions have stopped</a:t>
            </a:r>
            <a:endParaRPr lang="en-US" sz="1100" dirty="0"/>
          </a:p>
        </p:txBody>
      </p:sp>
      <p:sp>
        <p:nvSpPr>
          <p:cNvPr id="13" name="Shape 10"/>
          <p:cNvSpPr/>
          <p:nvPr/>
        </p:nvSpPr>
        <p:spPr>
          <a:xfrm>
            <a:off x="4663440" y="1965960"/>
            <a:ext cx="4023360" cy="594360"/>
          </a:xfrm>
          <a:prstGeom prst="roundRect">
            <a:avLst>
              <a:gd name="adj" fmla="val 12308"/>
            </a:avLst>
          </a:prstGeom>
          <a:solidFill>
            <a:srgbClr val="FFFFFF"/>
          </a:solidFill>
          <a:ln w="9525">
            <a:solidFill>
              <a:srgbClr val="D7E0E8"/>
            </a:solidFill>
            <a:prstDash val="solid"/>
          </a:ln>
        </p:spPr>
      </p:sp>
      <p:sp>
        <p:nvSpPr>
          <p:cNvPr id="14" name="Text 11"/>
          <p:cNvSpPr txBox="1"/>
          <p:nvPr/>
        </p:nvSpPr>
        <p:spPr>
          <a:xfrm>
            <a:off x="4800600" y="196596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B   </a:t>
            </a:r>
            <a:pPr indent="0" marL="0">
              <a:buNone/>
            </a:pPr>
            <a:r>
              <a:rPr lang="en-US" sz="1150" dirty="0">
                <a:solidFill>
                  <a:srgbClr val="1B2A41"/>
                </a:solidFill>
                <a:latin typeface="Calibri" pitchFamily="34" charset="0"/>
                <a:ea typeface="Calibri" pitchFamily="34" charset="-122"/>
                <a:cs typeface="Calibri" pitchFamily="34" charset="-120"/>
              </a:rPr>
              <a:t>The concentrations of reactants and products are always equal</a:t>
            </a:r>
            <a:endParaRPr lang="en-US" sz="1100" dirty="0"/>
          </a:p>
        </p:txBody>
      </p:sp>
      <p:sp>
        <p:nvSpPr>
          <p:cNvPr id="15" name="Shape 12"/>
          <p:cNvSpPr/>
          <p:nvPr/>
        </p:nvSpPr>
        <p:spPr>
          <a:xfrm>
            <a:off x="457200" y="2697480"/>
            <a:ext cx="4023360" cy="594360"/>
          </a:xfrm>
          <a:prstGeom prst="roundRect">
            <a:avLst>
              <a:gd name="adj" fmla="val 12308"/>
            </a:avLst>
          </a:prstGeom>
          <a:solidFill>
            <a:srgbClr val="FFFFFF"/>
          </a:solidFill>
          <a:ln w="9525">
            <a:solidFill>
              <a:srgbClr val="D7E0E8"/>
            </a:solidFill>
            <a:prstDash val="solid"/>
          </a:ln>
        </p:spPr>
      </p:sp>
      <p:sp>
        <p:nvSpPr>
          <p:cNvPr id="16" name="Text 13"/>
          <p:cNvSpPr txBox="1"/>
          <p:nvPr/>
        </p:nvSpPr>
        <p:spPr>
          <a:xfrm>
            <a:off x="594360" y="269748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C   </a:t>
            </a:r>
            <a:pPr indent="0" marL="0">
              <a:buNone/>
            </a:pPr>
            <a:r>
              <a:rPr lang="en-US" sz="1150" dirty="0">
                <a:solidFill>
                  <a:srgbClr val="1B2A41"/>
                </a:solidFill>
                <a:latin typeface="Calibri" pitchFamily="34" charset="0"/>
                <a:ea typeface="Calibri" pitchFamily="34" charset="-122"/>
                <a:cs typeface="Calibri" pitchFamily="34" charset="-120"/>
              </a:rPr>
              <a:t>The forward and reverse rates are equal</a:t>
            </a:r>
            <a:endParaRPr lang="en-US" sz="1100" dirty="0"/>
          </a:p>
        </p:txBody>
      </p:sp>
      <p:sp>
        <p:nvSpPr>
          <p:cNvPr id="17" name="Shape 14"/>
          <p:cNvSpPr/>
          <p:nvPr/>
        </p:nvSpPr>
        <p:spPr>
          <a:xfrm>
            <a:off x="4663440" y="2697480"/>
            <a:ext cx="4023360" cy="594360"/>
          </a:xfrm>
          <a:prstGeom prst="roundRect">
            <a:avLst>
              <a:gd name="adj" fmla="val 12308"/>
            </a:avLst>
          </a:prstGeom>
          <a:solidFill>
            <a:srgbClr val="FFFFFF"/>
          </a:solidFill>
          <a:ln w="9525">
            <a:solidFill>
              <a:srgbClr val="D7E0E8"/>
            </a:solidFill>
            <a:prstDash val="solid"/>
          </a:ln>
        </p:spPr>
      </p:sp>
      <p:sp>
        <p:nvSpPr>
          <p:cNvPr id="18" name="Text 15"/>
          <p:cNvSpPr txBox="1"/>
          <p:nvPr/>
        </p:nvSpPr>
        <p:spPr>
          <a:xfrm>
            <a:off x="4800600" y="269748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D   </a:t>
            </a:r>
            <a:pPr indent="0" marL="0">
              <a:buNone/>
            </a:pPr>
            <a:r>
              <a:rPr lang="en-US" sz="1150" dirty="0">
                <a:solidFill>
                  <a:srgbClr val="1B2A41"/>
                </a:solidFill>
                <a:latin typeface="Calibri" pitchFamily="34" charset="0"/>
                <a:ea typeface="Calibri" pitchFamily="34" charset="-122"/>
                <a:cs typeface="Calibri" pitchFamily="34" charset="-120"/>
              </a:rPr>
              <a:t>Adding a catalyst shifts it to the right</a:t>
            </a:r>
            <a:endParaRPr lang="en-US" sz="11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CR2-LO6</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Quick check · answer</a:t>
            </a:r>
            <a:endParaRPr lang="en-US" sz="2000" dirty="0"/>
          </a:p>
        </p:txBody>
      </p:sp>
      <p:pic>
        <p:nvPicPr>
          <p:cNvPr id="7" name="Image 0" descr="/home/claude/build/mol/n2.png">    </p:cNvPr>
          <p:cNvPicPr>
            <a:picLocks noChangeAspect="1"/>
          </p:cNvPicPr>
          <p:nvPr/>
        </p:nvPicPr>
        <p:blipFill>
          <a:blip r:embed="rId1"/>
          <a:stretch>
            <a:fillRect/>
          </a:stretch>
        </p:blipFill>
        <p:spPr>
          <a:xfrm>
            <a:off x="7977971" y="192024"/>
            <a:ext cx="777579"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Chemical Reactions II</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Text 7"/>
          <p:cNvSpPr txBox="1"/>
          <p:nvPr/>
        </p:nvSpPr>
        <p:spPr>
          <a:xfrm>
            <a:off x="457200" y="1188720"/>
            <a:ext cx="8229600" cy="640080"/>
          </a:xfrm>
          <a:prstGeom prst="rect">
            <a:avLst/>
          </a:prstGeom>
          <a:noFill/>
          <a:ln/>
        </p:spPr>
        <p:txBody>
          <a:bodyPr wrap="square" lIns="0" tIns="0" rIns="0" bIns="0" rtlCol="0" anchor="t"/>
          <a:lstStyle/>
          <a:p>
            <a:pPr indent="0" marL="0">
              <a:buNone/>
            </a:pPr>
            <a:r>
              <a:rPr lang="en-US" sz="1300" b="1" dirty="0">
                <a:solidFill>
                  <a:srgbClr val="1B2A41"/>
                </a:solidFill>
                <a:latin typeface="Calibri" pitchFamily="34" charset="0"/>
                <a:ea typeface="Calibri" pitchFamily="34" charset="-122"/>
                <a:cs typeface="Calibri" pitchFamily="34" charset="-120"/>
              </a:rPr>
              <a:t>Which statement about a system at dynamic equilibrium is correct?</a:t>
            </a:r>
            <a:endParaRPr lang="en-US" sz="1300" dirty="0"/>
          </a:p>
        </p:txBody>
      </p:sp>
      <p:sp>
        <p:nvSpPr>
          <p:cNvPr id="11" name="Shape 8"/>
          <p:cNvSpPr/>
          <p:nvPr/>
        </p:nvSpPr>
        <p:spPr>
          <a:xfrm>
            <a:off x="457200" y="1965960"/>
            <a:ext cx="4023360" cy="594360"/>
          </a:xfrm>
          <a:prstGeom prst="roundRect">
            <a:avLst>
              <a:gd name="adj" fmla="val 12308"/>
            </a:avLst>
          </a:prstGeom>
          <a:solidFill>
            <a:srgbClr val="FFFFFF"/>
          </a:solidFill>
          <a:ln w="9525">
            <a:solidFill>
              <a:srgbClr val="D7E0E8"/>
            </a:solidFill>
            <a:prstDash val="solid"/>
          </a:ln>
        </p:spPr>
      </p:sp>
      <p:sp>
        <p:nvSpPr>
          <p:cNvPr id="12" name="Text 9"/>
          <p:cNvSpPr txBox="1"/>
          <p:nvPr/>
        </p:nvSpPr>
        <p:spPr>
          <a:xfrm>
            <a:off x="594360" y="196596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A   </a:t>
            </a:r>
            <a:pPr indent="0" marL="0">
              <a:buNone/>
            </a:pPr>
            <a:r>
              <a:rPr lang="en-US" sz="1150" dirty="0">
                <a:solidFill>
                  <a:srgbClr val="1B2A41"/>
                </a:solidFill>
                <a:latin typeface="Calibri" pitchFamily="34" charset="0"/>
                <a:ea typeface="Calibri" pitchFamily="34" charset="-122"/>
                <a:cs typeface="Calibri" pitchFamily="34" charset="-120"/>
              </a:rPr>
              <a:t>The forward and reverse reactions have stopped</a:t>
            </a:r>
            <a:endParaRPr lang="en-US" sz="1100" dirty="0"/>
          </a:p>
        </p:txBody>
      </p:sp>
      <p:sp>
        <p:nvSpPr>
          <p:cNvPr id="13" name="Shape 10"/>
          <p:cNvSpPr/>
          <p:nvPr/>
        </p:nvSpPr>
        <p:spPr>
          <a:xfrm>
            <a:off x="4663440" y="1965960"/>
            <a:ext cx="4023360" cy="594360"/>
          </a:xfrm>
          <a:prstGeom prst="roundRect">
            <a:avLst>
              <a:gd name="adj" fmla="val 12308"/>
            </a:avLst>
          </a:prstGeom>
          <a:solidFill>
            <a:srgbClr val="FFFFFF"/>
          </a:solidFill>
          <a:ln w="9525">
            <a:solidFill>
              <a:srgbClr val="D7E0E8"/>
            </a:solidFill>
            <a:prstDash val="solid"/>
          </a:ln>
        </p:spPr>
      </p:sp>
      <p:sp>
        <p:nvSpPr>
          <p:cNvPr id="14" name="Text 11"/>
          <p:cNvSpPr txBox="1"/>
          <p:nvPr/>
        </p:nvSpPr>
        <p:spPr>
          <a:xfrm>
            <a:off x="4800600" y="196596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B   </a:t>
            </a:r>
            <a:pPr indent="0" marL="0">
              <a:buNone/>
            </a:pPr>
            <a:r>
              <a:rPr lang="en-US" sz="1150" dirty="0">
                <a:solidFill>
                  <a:srgbClr val="1B2A41"/>
                </a:solidFill>
                <a:latin typeface="Calibri" pitchFamily="34" charset="0"/>
                <a:ea typeface="Calibri" pitchFamily="34" charset="-122"/>
                <a:cs typeface="Calibri" pitchFamily="34" charset="-120"/>
              </a:rPr>
              <a:t>The concentrations of reactants and products are always equal</a:t>
            </a:r>
            <a:endParaRPr lang="en-US" sz="1100" dirty="0"/>
          </a:p>
        </p:txBody>
      </p:sp>
      <p:sp>
        <p:nvSpPr>
          <p:cNvPr id="15" name="Shape 12"/>
          <p:cNvSpPr/>
          <p:nvPr/>
        </p:nvSpPr>
        <p:spPr>
          <a:xfrm>
            <a:off x="457200" y="2697480"/>
            <a:ext cx="4023360" cy="594360"/>
          </a:xfrm>
          <a:prstGeom prst="roundRect">
            <a:avLst>
              <a:gd name="adj" fmla="val 12308"/>
            </a:avLst>
          </a:prstGeom>
          <a:solidFill>
            <a:srgbClr val="E3F3E9"/>
          </a:solidFill>
          <a:ln w="9525">
            <a:solidFill>
              <a:srgbClr val="2E7D4F"/>
            </a:solidFill>
            <a:prstDash val="solid"/>
          </a:ln>
        </p:spPr>
      </p:sp>
      <p:sp>
        <p:nvSpPr>
          <p:cNvPr id="16" name="Text 13"/>
          <p:cNvSpPr txBox="1"/>
          <p:nvPr/>
        </p:nvSpPr>
        <p:spPr>
          <a:xfrm>
            <a:off x="594360" y="269748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C   </a:t>
            </a:r>
            <a:pPr indent="0" marL="0">
              <a:buNone/>
            </a:pPr>
            <a:r>
              <a:rPr lang="en-US" sz="1150" dirty="0">
                <a:solidFill>
                  <a:srgbClr val="1B2A41"/>
                </a:solidFill>
                <a:latin typeface="Calibri" pitchFamily="34" charset="0"/>
                <a:ea typeface="Calibri" pitchFamily="34" charset="-122"/>
                <a:cs typeface="Calibri" pitchFamily="34" charset="-120"/>
              </a:rPr>
              <a:t>The forward and reverse rates are equal</a:t>
            </a:r>
            <a:endParaRPr lang="en-US" sz="1100" dirty="0"/>
          </a:p>
        </p:txBody>
      </p:sp>
      <p:sp>
        <p:nvSpPr>
          <p:cNvPr id="17" name="Shape 14"/>
          <p:cNvSpPr/>
          <p:nvPr/>
        </p:nvSpPr>
        <p:spPr>
          <a:xfrm>
            <a:off x="4663440" y="2697480"/>
            <a:ext cx="4023360" cy="594360"/>
          </a:xfrm>
          <a:prstGeom prst="roundRect">
            <a:avLst>
              <a:gd name="adj" fmla="val 12308"/>
            </a:avLst>
          </a:prstGeom>
          <a:solidFill>
            <a:srgbClr val="FFFFFF"/>
          </a:solidFill>
          <a:ln w="9525">
            <a:solidFill>
              <a:srgbClr val="D7E0E8"/>
            </a:solidFill>
            <a:prstDash val="solid"/>
          </a:ln>
        </p:spPr>
      </p:sp>
      <p:sp>
        <p:nvSpPr>
          <p:cNvPr id="18" name="Text 15"/>
          <p:cNvSpPr txBox="1"/>
          <p:nvPr/>
        </p:nvSpPr>
        <p:spPr>
          <a:xfrm>
            <a:off x="4800600" y="269748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D   </a:t>
            </a:r>
            <a:pPr indent="0" marL="0">
              <a:buNone/>
            </a:pPr>
            <a:r>
              <a:rPr lang="en-US" sz="1150" dirty="0">
                <a:solidFill>
                  <a:srgbClr val="1B2A41"/>
                </a:solidFill>
                <a:latin typeface="Calibri" pitchFamily="34" charset="0"/>
                <a:ea typeface="Calibri" pitchFamily="34" charset="-122"/>
                <a:cs typeface="Calibri" pitchFamily="34" charset="-120"/>
              </a:rPr>
              <a:t>Adding a catalyst shifts it to the right</a:t>
            </a:r>
            <a:endParaRPr lang="en-US" sz="1100" dirty="0"/>
          </a:p>
        </p:txBody>
      </p:sp>
      <p:sp>
        <p:nvSpPr>
          <p:cNvPr id="19" name="Text 16"/>
          <p:cNvSpPr txBox="1"/>
          <p:nvPr/>
        </p:nvSpPr>
        <p:spPr>
          <a:xfrm>
            <a:off x="457200" y="3520440"/>
            <a:ext cx="8229600" cy="731520"/>
          </a:xfrm>
          <a:prstGeom prst="rect">
            <a:avLst/>
          </a:prstGeom>
          <a:noFill/>
          <a:ln/>
        </p:spPr>
        <p:txBody>
          <a:bodyPr wrap="square" lIns="0" tIns="0" rIns="0" bIns="0" rtlCol="0" anchor="t"/>
          <a:lstStyle/>
          <a:p>
            <a:pPr indent="0" marL="0">
              <a:buNone/>
            </a:pPr>
            <a:r>
              <a:rPr lang="en-US" sz="1150" b="1" dirty="0">
                <a:solidFill>
                  <a:srgbClr val="1B2A41"/>
                </a:solidFill>
                <a:latin typeface="Calibri" pitchFamily="34" charset="0"/>
                <a:ea typeface="Calibri" pitchFamily="34" charset="-122"/>
                <a:cs typeface="Calibri" pitchFamily="34" charset="-120"/>
              </a:rPr>
              <a:t>Answer C. </a:t>
            </a:r>
            <a:pPr indent="0" marL="0">
              <a:buNone/>
            </a:pPr>
            <a:r>
              <a:rPr lang="en-US" sz="1150" dirty="0">
                <a:solidFill>
                  <a:srgbClr val="1B2A41"/>
                </a:solidFill>
                <a:latin typeface="Calibri" pitchFamily="34" charset="0"/>
                <a:ea typeface="Calibri" pitchFamily="34" charset="-122"/>
                <a:cs typeface="Calibri" pitchFamily="34" charset="-120"/>
              </a:rPr>
              <a:t>Both reactions continue at equal rates, so concentrations stay constant (not necessarily equal). A catalyst does not shift equilibrium.</a:t>
            </a:r>
            <a:endParaRPr lang="en-US" sz="11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2F6F9"/>
        </a:solidFill>
      </p:bgPr>
    </p:bg>
    <p:spTree>
      <p:nvGrpSpPr>
        <p:cNvPr id="1" name=""/>
        <p:cNvGrpSpPr/>
        <p:nvPr/>
      </p:nvGrpSpPr>
      <p:grpSpPr>
        <a:xfrm>
          <a:off x="0" y="0"/>
          <a:ext cx="0" cy="0"/>
          <a:chOff x="0" y="0"/>
          <a:chExt cx="0" cy="0"/>
        </a:xfrm>
      </p:grpSpPr>
      <p:sp>
        <p:nvSpPr>
          <p:cNvPr id="2" name="Text 0"/>
          <p:cNvSpPr txBox="1"/>
          <p:nvPr/>
        </p:nvSpPr>
        <p:spPr>
          <a:xfrm>
            <a:off x="457200" y="41148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Summary: key rules</a:t>
            </a:r>
            <a:endParaRPr lang="en-US" sz="2000" dirty="0"/>
          </a:p>
        </p:txBody>
      </p:sp>
      <p:pic>
        <p:nvPicPr>
          <p:cNvPr id="3" name="Image 0" descr="/home/claude/build/mol/h2o2.png">    </p:cNvPr>
          <p:cNvPicPr>
            <a:picLocks noChangeAspect="1"/>
          </p:cNvPicPr>
          <p:nvPr/>
        </p:nvPicPr>
        <p:blipFill>
          <a:blip r:embed="rId1"/>
          <a:stretch>
            <a:fillRect/>
          </a:stretch>
        </p:blipFill>
        <p:spPr>
          <a:xfrm>
            <a:off x="8221416" y="192024"/>
            <a:ext cx="290688" cy="384048"/>
          </a:xfrm>
          <a:prstGeom prst="rect">
            <a:avLst/>
          </a:prstGeom>
        </p:spPr>
      </p:pic>
      <p:sp>
        <p:nvSpPr>
          <p:cNvPr id="4" name="Text 1"/>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Chemical Reactions II</a:t>
            </a:r>
            <a:endParaRPr lang="en-US" sz="800" dirty="0"/>
          </a:p>
        </p:txBody>
      </p:sp>
      <p:sp>
        <p:nvSpPr>
          <p:cNvPr id="5" name="Text 2"/>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graphicFrame>
        <p:nvGraphicFramePr>
          <p:cNvPr id="78"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2011680"/>
                <a:gridCol w="6217920"/>
              </a:tblGrid>
              <a:tr h="0">
                <a:tc>
                  <a:txBody>
                    <a:bodyPr/>
                    <a:lstStyle/>
                    <a:p>
                      <a:pPr indent="0" marL="0">
                        <a:buNone/>
                      </a:pPr>
                      <a:r>
                        <a:rPr lang="en-US" sz="1100" b="1" dirty="0">
                          <a:solidFill>
                            <a:srgbClr val="2F6F9F"/>
                          </a:solidFill>
                          <a:latin typeface="Calibri" pitchFamily="34" charset="0"/>
                          <a:ea typeface="Calibri" pitchFamily="34" charset="-122"/>
                          <a:cs typeface="Calibri" pitchFamily="34" charset="-120"/>
                        </a:rPr>
                        <a:t>Energy change</a:t>
                      </a:r>
                      <a:endParaRPr lang="en-US" sz="1100" dirty="0">
                        <a:latin typeface="Calibri" charset="0"/>
                        <a:ea typeface="Calibri" charset="0"/>
                        <a:cs typeface="Calibri" charset="0"/>
                      </a:endParaRPr>
                    </a:p>
                  </a:txBody>
                  <a:tcPr marL="64008" marR="64008" marT="64008" marB="6400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1EEF7"/>
                    </a:solidFill>
                  </a:tcPr>
                </a:tc>
                <a:tc>
                  <a:txBody>
                    <a:bodyPr/>
                    <a:lstStyle/>
                    <a:p>
                      <a:pPr indent="0" marL="0">
                        <a:buNone/>
                      </a:pPr>
                      <a:r>
                        <a:rPr lang="en-US" sz="1100" dirty="0">
                          <a:solidFill>
                            <a:srgbClr val="1B2A41"/>
                          </a:solidFill>
                          <a:latin typeface="Calibri" pitchFamily="34" charset="0"/>
                          <a:ea typeface="Calibri" pitchFamily="34" charset="-122"/>
                          <a:cs typeface="Calibri" pitchFamily="34" charset="-120"/>
                        </a:rPr>
                        <a:t>ΔH &lt; 0 exothermic (heat out) · ΔH &gt; 0 endothermic (heat in)</a:t>
                      </a:r>
                      <a:endParaRPr lang="en-US" sz="1100" dirty="0">
                        <a:latin typeface="Calibri" charset="0"/>
                        <a:ea typeface="Calibri" charset="0"/>
                        <a:cs typeface="Calibri" charset="0"/>
                      </a:endParaRPr>
                    </a:p>
                  </a:txBody>
                  <a:tcPr marL="64008" marR="64008" marT="64008" marB="6400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1EEF7"/>
                    </a:solidFill>
                  </a:tcPr>
                </a:tc>
              </a:tr>
              <a:tr h="0">
                <a:tc>
                  <a:txBody>
                    <a:bodyPr/>
                    <a:lstStyle/>
                    <a:p>
                      <a:pPr indent="0" marL="0">
                        <a:buNone/>
                      </a:pPr>
                      <a:r>
                        <a:rPr lang="en-US" sz="1100" b="1" dirty="0">
                          <a:solidFill>
                            <a:srgbClr val="2F6F9F"/>
                          </a:solidFill>
                          <a:latin typeface="Calibri" pitchFamily="34" charset="0"/>
                          <a:ea typeface="Calibri" pitchFamily="34" charset="-122"/>
                          <a:cs typeface="Calibri" pitchFamily="34" charset="-120"/>
                        </a:rPr>
                        <a:t>Thermochemistry</a:t>
                      </a:r>
                      <a:endParaRPr lang="en-US" sz="1100" dirty="0">
                        <a:latin typeface="Calibri" charset="0"/>
                        <a:ea typeface="Calibri" charset="0"/>
                        <a:cs typeface="Calibri" charset="0"/>
                      </a:endParaRPr>
                    </a:p>
                  </a:txBody>
                  <a:tcPr marL="64008" marR="64008" marT="64008" marB="6400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00" dirty="0">
                          <a:solidFill>
                            <a:srgbClr val="1B2A41"/>
                          </a:solidFill>
                          <a:latin typeface="Calibri" pitchFamily="34" charset="0"/>
                          <a:ea typeface="Calibri" pitchFamily="34" charset="-122"/>
                          <a:cs typeface="Calibri" pitchFamily="34" charset="-120"/>
                        </a:rPr>
                        <a:t>heat = mol × ΔH per mol · reverse → change sign · double → double ΔH</a:t>
                      </a:r>
                      <a:endParaRPr lang="en-US" sz="1100" dirty="0">
                        <a:latin typeface="Calibri" charset="0"/>
                        <a:ea typeface="Calibri" charset="0"/>
                        <a:cs typeface="Calibri" charset="0"/>
                      </a:endParaRPr>
                    </a:p>
                  </a:txBody>
                  <a:tcPr marL="64008" marR="64008" marT="64008" marB="6400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2F6F9F"/>
                          </a:solidFill>
                          <a:latin typeface="Calibri" pitchFamily="34" charset="0"/>
                          <a:ea typeface="Calibri" pitchFamily="34" charset="-122"/>
                          <a:cs typeface="Calibri" pitchFamily="34" charset="-120"/>
                        </a:rPr>
                        <a:t>Energy diagram</a:t>
                      </a:r>
                      <a:endParaRPr lang="en-US" sz="1100" dirty="0">
                        <a:latin typeface="Calibri" charset="0"/>
                        <a:ea typeface="Calibri" charset="0"/>
                        <a:cs typeface="Calibri" charset="0"/>
                      </a:endParaRPr>
                    </a:p>
                  </a:txBody>
                  <a:tcPr marL="64008" marR="64008" marT="64008" marB="6400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1EEF7"/>
                    </a:solidFill>
                  </a:tcPr>
                </a:tc>
                <a:tc>
                  <a:txBody>
                    <a:bodyPr/>
                    <a:lstStyle/>
                    <a:p>
                      <a:pPr indent="0" marL="0">
                        <a:buNone/>
                      </a:pPr>
                      <a:r>
                        <a:rPr lang="en-US" sz="1100" dirty="0">
                          <a:solidFill>
                            <a:srgbClr val="1B2A41"/>
                          </a:solidFill>
                          <a:latin typeface="Calibri" pitchFamily="34" charset="0"/>
                          <a:ea typeface="Calibri" pitchFamily="34" charset="-122"/>
                          <a:cs typeface="Calibri" pitchFamily="34" charset="-120"/>
                        </a:rPr>
                        <a:t>E</a:t>
                      </a:r>
                      <a:pPr indent="0" marL="0">
                        <a:buNone/>
                      </a:pPr>
                      <a:r>
                        <a:rPr lang="en-US" sz="1100" baseline="-40000" dirty="0">
                          <a:solidFill>
                            <a:srgbClr val="1B2A41"/>
                          </a:solidFill>
                          <a:latin typeface="Calibri" pitchFamily="34" charset="0"/>
                          <a:ea typeface="Calibri" pitchFamily="34" charset="-122"/>
                          <a:cs typeface="Calibri" pitchFamily="34" charset="-120"/>
                        </a:rPr>
                        <a:t>a</a:t>
                      </a:r>
                      <a:pPr indent="0" marL="0">
                        <a:buNone/>
                      </a:pPr>
                      <a:r>
                        <a:rPr lang="en-US" sz="1100" dirty="0">
                          <a:solidFill>
                            <a:srgbClr val="1B2A41"/>
                          </a:solidFill>
                          <a:latin typeface="Calibri" pitchFamily="34" charset="0"/>
                          <a:ea typeface="Calibri" pitchFamily="34" charset="-122"/>
                          <a:cs typeface="Calibri" pitchFamily="34" charset="-120"/>
                        </a:rPr>
                        <a:t> = peak − reactants; ΔH = products − reactants</a:t>
                      </a:r>
                      <a:endParaRPr lang="en-US" sz="1100" dirty="0">
                        <a:latin typeface="Calibri" charset="0"/>
                        <a:ea typeface="Calibri" charset="0"/>
                        <a:cs typeface="Calibri" charset="0"/>
                      </a:endParaRPr>
                    </a:p>
                  </a:txBody>
                  <a:tcPr marL="64008" marR="64008" marT="64008" marB="6400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1EEF7"/>
                    </a:solidFill>
                  </a:tcPr>
                </a:tc>
              </a:tr>
              <a:tr h="0">
                <a:tc>
                  <a:txBody>
                    <a:bodyPr/>
                    <a:lstStyle/>
                    <a:p>
                      <a:pPr indent="0" marL="0">
                        <a:buNone/>
                      </a:pPr>
                      <a:r>
                        <a:rPr lang="en-US" sz="1100" b="1" dirty="0">
                          <a:solidFill>
                            <a:srgbClr val="2F6F9F"/>
                          </a:solidFill>
                          <a:latin typeface="Calibri" pitchFamily="34" charset="0"/>
                          <a:ea typeface="Calibri" pitchFamily="34" charset="-122"/>
                          <a:cs typeface="Calibri" pitchFamily="34" charset="-120"/>
                        </a:rPr>
                        <a:t>Collision theory</a:t>
                      </a:r>
                      <a:endParaRPr lang="en-US" sz="1100" dirty="0">
                        <a:latin typeface="Calibri" charset="0"/>
                        <a:ea typeface="Calibri" charset="0"/>
                        <a:cs typeface="Calibri" charset="0"/>
                      </a:endParaRPr>
                    </a:p>
                  </a:txBody>
                  <a:tcPr marL="64008" marR="64008" marT="64008" marB="6400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00" dirty="0">
                          <a:solidFill>
                            <a:srgbClr val="1B2A41"/>
                          </a:solidFill>
                          <a:latin typeface="Calibri" pitchFamily="34" charset="0"/>
                          <a:ea typeface="Calibri" pitchFamily="34" charset="-122"/>
                          <a:cs typeface="Calibri" pitchFamily="34" charset="-120"/>
                        </a:rPr>
                        <a:t>collide + energy ≥ E</a:t>
                      </a:r>
                      <a:pPr indent="0" marL="0">
                        <a:buNone/>
                      </a:pPr>
                      <a:r>
                        <a:rPr lang="en-US" sz="1100" baseline="-40000" dirty="0">
                          <a:solidFill>
                            <a:srgbClr val="1B2A41"/>
                          </a:solidFill>
                          <a:latin typeface="Calibri" pitchFamily="34" charset="0"/>
                          <a:ea typeface="Calibri" pitchFamily="34" charset="-122"/>
                          <a:cs typeface="Calibri" pitchFamily="34" charset="-120"/>
                        </a:rPr>
                        <a:t>a</a:t>
                      </a:r>
                      <a:pPr indent="0" marL="0">
                        <a:buNone/>
                      </a:pPr>
                      <a:r>
                        <a:rPr lang="en-US" sz="1100" dirty="0">
                          <a:solidFill>
                            <a:srgbClr val="1B2A41"/>
                          </a:solidFill>
                          <a:latin typeface="Calibri" pitchFamily="34" charset="0"/>
                          <a:ea typeface="Calibri" pitchFamily="34" charset="-122"/>
                          <a:cs typeface="Calibri" pitchFamily="34" charset="-120"/>
                        </a:rPr>
                        <a:t> + right orientation = effective</a:t>
                      </a:r>
                      <a:endParaRPr lang="en-US" sz="1100" dirty="0">
                        <a:latin typeface="Calibri" charset="0"/>
                        <a:ea typeface="Calibri" charset="0"/>
                        <a:cs typeface="Calibri" charset="0"/>
                      </a:endParaRPr>
                    </a:p>
                  </a:txBody>
                  <a:tcPr marL="64008" marR="64008" marT="64008" marB="6400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2F6F9F"/>
                          </a:solidFill>
                          <a:latin typeface="Calibri" pitchFamily="34" charset="0"/>
                          <a:ea typeface="Calibri" pitchFamily="34" charset="-122"/>
                          <a:cs typeface="Calibri" pitchFamily="34" charset="-120"/>
                        </a:rPr>
                        <a:t>Rate factors</a:t>
                      </a:r>
                      <a:endParaRPr lang="en-US" sz="1100" dirty="0">
                        <a:latin typeface="Calibri" charset="0"/>
                        <a:ea typeface="Calibri" charset="0"/>
                        <a:cs typeface="Calibri" charset="0"/>
                      </a:endParaRPr>
                    </a:p>
                  </a:txBody>
                  <a:tcPr marL="64008" marR="64008" marT="64008" marB="6400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1EEF7"/>
                    </a:solidFill>
                  </a:tcPr>
                </a:tc>
                <a:tc>
                  <a:txBody>
                    <a:bodyPr/>
                    <a:lstStyle/>
                    <a:p>
                      <a:pPr indent="0" marL="0">
                        <a:buNone/>
                      </a:pPr>
                      <a:r>
                        <a:rPr lang="en-US" sz="1100" dirty="0">
                          <a:solidFill>
                            <a:srgbClr val="1B2A41"/>
                          </a:solidFill>
                          <a:latin typeface="Calibri" pitchFamily="34" charset="0"/>
                          <a:ea typeface="Calibri" pitchFamily="34" charset="-122"/>
                          <a:cs typeface="Calibri" pitchFamily="34" charset="-120"/>
                        </a:rPr>
                        <a:t>↑ concentration · ↑ temperature · ↑ surface area · catalyst</a:t>
                      </a:r>
                      <a:endParaRPr lang="en-US" sz="1100" dirty="0">
                        <a:latin typeface="Calibri" charset="0"/>
                        <a:ea typeface="Calibri" charset="0"/>
                        <a:cs typeface="Calibri" charset="0"/>
                      </a:endParaRPr>
                    </a:p>
                  </a:txBody>
                  <a:tcPr marL="64008" marR="64008" marT="64008" marB="6400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1EEF7"/>
                    </a:solidFill>
                  </a:tcPr>
                </a:tc>
              </a:tr>
              <a:tr h="0">
                <a:tc>
                  <a:txBody>
                    <a:bodyPr/>
                    <a:lstStyle/>
                    <a:p>
                      <a:pPr indent="0" marL="0">
                        <a:buNone/>
                      </a:pPr>
                      <a:r>
                        <a:rPr lang="en-US" sz="1100" b="1" dirty="0">
                          <a:solidFill>
                            <a:srgbClr val="2F6F9F"/>
                          </a:solidFill>
                          <a:latin typeface="Calibri" pitchFamily="34" charset="0"/>
                          <a:ea typeface="Calibri" pitchFamily="34" charset="-122"/>
                          <a:cs typeface="Calibri" pitchFamily="34" charset="-120"/>
                        </a:rPr>
                        <a:t>Catalysts</a:t>
                      </a:r>
                      <a:endParaRPr lang="en-US" sz="1100" dirty="0">
                        <a:latin typeface="Calibri" charset="0"/>
                        <a:ea typeface="Calibri" charset="0"/>
                        <a:cs typeface="Calibri" charset="0"/>
                      </a:endParaRPr>
                    </a:p>
                  </a:txBody>
                  <a:tcPr marL="64008" marR="64008" marT="64008" marB="6400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00" dirty="0">
                          <a:solidFill>
                            <a:srgbClr val="1B2A41"/>
                          </a:solidFill>
                          <a:latin typeface="Calibri" pitchFamily="34" charset="0"/>
                          <a:ea typeface="Calibri" pitchFamily="34" charset="-122"/>
                          <a:cs typeface="Calibri" pitchFamily="34" charset="-120"/>
                        </a:rPr>
                        <a:t>lower E</a:t>
                      </a:r>
                      <a:pPr indent="0" marL="0">
                        <a:buNone/>
                      </a:pPr>
                      <a:r>
                        <a:rPr lang="en-US" sz="1100" baseline="-40000" dirty="0">
                          <a:solidFill>
                            <a:srgbClr val="1B2A41"/>
                          </a:solidFill>
                          <a:latin typeface="Calibri" pitchFamily="34" charset="0"/>
                          <a:ea typeface="Calibri" pitchFamily="34" charset="-122"/>
                          <a:cs typeface="Calibri" pitchFamily="34" charset="-120"/>
                        </a:rPr>
                        <a:t>a</a:t>
                      </a:r>
                      <a:pPr indent="0" marL="0">
                        <a:buNone/>
                      </a:pPr>
                      <a:r>
                        <a:rPr lang="en-US" sz="1100" dirty="0">
                          <a:solidFill>
                            <a:srgbClr val="1B2A41"/>
                          </a:solidFill>
                          <a:latin typeface="Calibri" pitchFamily="34" charset="0"/>
                          <a:ea typeface="Calibri" pitchFamily="34" charset="-122"/>
                          <a:cs typeface="Calibri" pitchFamily="34" charset="-120"/>
                        </a:rPr>
                        <a:t> · not used up · ΔH and equilibrium unchanged</a:t>
                      </a:r>
                      <a:endParaRPr lang="en-US" sz="1100" dirty="0">
                        <a:latin typeface="Calibri" charset="0"/>
                        <a:ea typeface="Calibri" charset="0"/>
                        <a:cs typeface="Calibri" charset="0"/>
                      </a:endParaRPr>
                    </a:p>
                  </a:txBody>
                  <a:tcPr marL="64008" marR="64008" marT="64008" marB="6400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2F6F9F"/>
                          </a:solidFill>
                          <a:latin typeface="Calibri" pitchFamily="34" charset="0"/>
                          <a:ea typeface="Calibri" pitchFamily="34" charset="-122"/>
                          <a:cs typeface="Calibri" pitchFamily="34" charset="-120"/>
                        </a:rPr>
                        <a:t>Le Châtelier</a:t>
                      </a:r>
                      <a:endParaRPr lang="en-US" sz="1100" dirty="0">
                        <a:latin typeface="Calibri" charset="0"/>
                        <a:ea typeface="Calibri" charset="0"/>
                        <a:cs typeface="Calibri" charset="0"/>
                      </a:endParaRPr>
                    </a:p>
                  </a:txBody>
                  <a:tcPr marL="64008" marR="64008" marT="64008" marB="6400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1EEF7"/>
                    </a:solidFill>
                  </a:tcPr>
                </a:tc>
                <a:tc>
                  <a:txBody>
                    <a:bodyPr/>
                    <a:lstStyle/>
                    <a:p>
                      <a:pPr indent="0" marL="0">
                        <a:buNone/>
                      </a:pPr>
                      <a:r>
                        <a:rPr lang="en-US" sz="1100" dirty="0">
                          <a:solidFill>
                            <a:srgbClr val="1B2A41"/>
                          </a:solidFill>
                          <a:latin typeface="Calibri" pitchFamily="34" charset="0"/>
                          <a:ea typeface="Calibri" pitchFamily="34" charset="-122"/>
                          <a:cs typeface="Calibri" pitchFamily="34" charset="-120"/>
                        </a:rPr>
                        <a:t>shifts to reduce the stress · catalyst: no shift</a:t>
                      </a:r>
                      <a:endParaRPr lang="en-US" sz="1100" dirty="0">
                        <a:latin typeface="Calibri" charset="0"/>
                        <a:ea typeface="Calibri" charset="0"/>
                        <a:cs typeface="Calibri" charset="0"/>
                      </a:endParaRPr>
                    </a:p>
                  </a:txBody>
                  <a:tcPr marL="64008" marR="64008" marT="64008" marB="6400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1EEF7"/>
                    </a:solidFill>
                  </a:tcPr>
                </a:tc>
              </a:tr>
            </a:tbl>
          </a:graphicData>
        </a:graphic>
      </p:graphicFrame>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1B2A41"/>
        </a:solidFill>
      </p:bgPr>
    </p:bg>
    <p:spTree>
      <p:nvGrpSpPr>
        <p:cNvPr id="1" name=""/>
        <p:cNvGrpSpPr/>
        <p:nvPr/>
      </p:nvGrpSpPr>
      <p:grpSpPr>
        <a:xfrm>
          <a:off x="0" y="0"/>
          <a:ext cx="0" cy="0"/>
          <a:chOff x="0" y="0"/>
          <a:chExt cx="0" cy="0"/>
        </a:xfrm>
      </p:grpSpPr>
      <p:sp>
        <p:nvSpPr>
          <p:cNvPr id="2" name="Text 0"/>
          <p:cNvSpPr txBox="1"/>
          <p:nvPr/>
        </p:nvSpPr>
        <p:spPr>
          <a:xfrm>
            <a:off x="548640" y="548640"/>
            <a:ext cx="6400800" cy="5486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Before the next topic</a:t>
            </a:r>
            <a:endParaRPr lang="en-US" sz="2400" dirty="0"/>
          </a:p>
        </p:txBody>
      </p:sp>
      <p:sp>
        <p:nvSpPr>
          <p:cNvPr id="3" name="Shape 1"/>
          <p:cNvSpPr/>
          <p:nvPr/>
        </p:nvSpPr>
        <p:spPr>
          <a:xfrm>
            <a:off x="548640" y="1371600"/>
            <a:ext cx="292608" cy="292608"/>
          </a:xfrm>
          <a:prstGeom prst="ellipse">
            <a:avLst/>
          </a:prstGeom>
          <a:solidFill>
            <a:srgbClr val="7DB6E3"/>
          </a:solidFill>
          <a:ln w="12700">
            <a:solidFill>
              <a:srgbClr val="7DB6E3"/>
            </a:solidFill>
            <a:prstDash val="solid"/>
          </a:ln>
        </p:spPr>
      </p:sp>
      <p:sp>
        <p:nvSpPr>
          <p:cNvPr id="4" name="Text 2"/>
          <p:cNvSpPr txBox="1"/>
          <p:nvPr/>
        </p:nvSpPr>
        <p:spPr>
          <a:xfrm>
            <a:off x="548640" y="1371600"/>
            <a:ext cx="292608" cy="292608"/>
          </a:xfrm>
          <a:prstGeom prst="rect">
            <a:avLst/>
          </a:prstGeom>
          <a:noFill/>
          <a:ln/>
        </p:spPr>
        <p:txBody>
          <a:bodyPr wrap="square" lIns="0" tIns="0" rIns="0" bIns="0" rtlCol="0" anchor="ctr"/>
          <a:lstStyle/>
          <a:p>
            <a:pPr algn="ctr" indent="0" marL="0">
              <a:buNone/>
            </a:pPr>
            <a:r>
              <a:rPr lang="en-US" sz="1000" b="1" dirty="0">
                <a:solidFill>
                  <a:srgbClr val="1B2A41"/>
                </a:solidFill>
                <a:latin typeface="Calibri" pitchFamily="34" charset="0"/>
                <a:ea typeface="Calibri" pitchFamily="34" charset="-122"/>
                <a:cs typeface="Calibri" pitchFamily="34" charset="-120"/>
              </a:rPr>
              <a:t>1</a:t>
            </a:r>
            <a:endParaRPr lang="en-US" sz="1000" dirty="0"/>
          </a:p>
        </p:txBody>
      </p:sp>
      <p:sp>
        <p:nvSpPr>
          <p:cNvPr id="5" name="Text 3"/>
          <p:cNvSpPr txBox="1"/>
          <p:nvPr/>
        </p:nvSpPr>
        <p:spPr>
          <a:xfrm>
            <a:off x="1005840" y="1335024"/>
            <a:ext cx="6583680" cy="36576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Do the </a:t>
            </a:r>
            <a:pPr indent="0" marL="0">
              <a:buNone/>
            </a:pPr>
            <a:r>
              <a:rPr lang="en-US" sz="1200" b="1" dirty="0">
                <a:solidFill>
                  <a:srgbClr val="FFFFFF"/>
                </a:solidFill>
                <a:latin typeface="Calibri" pitchFamily="34" charset="0"/>
                <a:ea typeface="Calibri" pitchFamily="34" charset="-122"/>
                <a:cs typeface="Calibri" pitchFamily="34" charset="-120"/>
              </a:rPr>
              <a:t>After class</a:t>
            </a:r>
            <a:pPr indent="0" marL="0">
              <a:buNone/>
            </a:pPr>
            <a:r>
              <a:rPr lang="en-US" sz="1200" dirty="0">
                <a:solidFill>
                  <a:srgbClr val="FFFFFF"/>
                </a:solidFill>
                <a:latin typeface="Calibri" pitchFamily="34" charset="0"/>
                <a:ea typeface="Calibri" pitchFamily="34" charset="-122"/>
                <a:cs typeface="Calibri" pitchFamily="34" charset="-120"/>
              </a:rPr>
              <a:t> activity in the Study Hub (about 25 minutes).</a:t>
            </a:r>
            <a:endParaRPr lang="en-US" sz="1200" dirty="0"/>
          </a:p>
        </p:txBody>
      </p:sp>
      <p:sp>
        <p:nvSpPr>
          <p:cNvPr id="6" name="Shape 4"/>
          <p:cNvSpPr/>
          <p:nvPr/>
        </p:nvSpPr>
        <p:spPr>
          <a:xfrm>
            <a:off x="548640" y="1828800"/>
            <a:ext cx="292608" cy="292608"/>
          </a:xfrm>
          <a:prstGeom prst="ellipse">
            <a:avLst/>
          </a:prstGeom>
          <a:solidFill>
            <a:srgbClr val="7DB6E3"/>
          </a:solidFill>
          <a:ln w="12700">
            <a:solidFill>
              <a:srgbClr val="7DB6E3"/>
            </a:solidFill>
            <a:prstDash val="solid"/>
          </a:ln>
        </p:spPr>
      </p:sp>
      <p:sp>
        <p:nvSpPr>
          <p:cNvPr id="7" name="Text 5"/>
          <p:cNvSpPr txBox="1"/>
          <p:nvPr/>
        </p:nvSpPr>
        <p:spPr>
          <a:xfrm>
            <a:off x="548640" y="1828800"/>
            <a:ext cx="292608" cy="292608"/>
          </a:xfrm>
          <a:prstGeom prst="rect">
            <a:avLst/>
          </a:prstGeom>
          <a:noFill/>
          <a:ln/>
        </p:spPr>
        <p:txBody>
          <a:bodyPr wrap="square" lIns="0" tIns="0" rIns="0" bIns="0" rtlCol="0" anchor="ctr"/>
          <a:lstStyle/>
          <a:p>
            <a:pPr algn="ctr" indent="0" marL="0">
              <a:buNone/>
            </a:pPr>
            <a:r>
              <a:rPr lang="en-US" sz="1000" b="1" dirty="0">
                <a:solidFill>
                  <a:srgbClr val="1B2A41"/>
                </a:solidFill>
                <a:latin typeface="Calibri" pitchFamily="34" charset="0"/>
                <a:ea typeface="Calibri" pitchFamily="34" charset="-122"/>
                <a:cs typeface="Calibri" pitchFamily="34" charset="-120"/>
              </a:rPr>
              <a:t>2</a:t>
            </a:r>
            <a:endParaRPr lang="en-US" sz="1000" dirty="0"/>
          </a:p>
        </p:txBody>
      </p:sp>
      <p:sp>
        <p:nvSpPr>
          <p:cNvPr id="8" name="Text 6"/>
          <p:cNvSpPr txBox="1"/>
          <p:nvPr/>
        </p:nvSpPr>
        <p:spPr>
          <a:xfrm>
            <a:off x="1005840" y="1792224"/>
            <a:ext cx="6583680" cy="36576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Try the </a:t>
            </a:r>
            <a:pPr indent="0" marL="0">
              <a:buNone/>
            </a:pPr>
            <a:r>
              <a:rPr lang="en-US" sz="1200" b="1" dirty="0">
                <a:solidFill>
                  <a:srgbClr val="FFFFFF"/>
                </a:solidFill>
                <a:latin typeface="Calibri" pitchFamily="34" charset="0"/>
                <a:ea typeface="Calibri" pitchFamily="34" charset="-122"/>
                <a:cs typeface="Calibri" pitchFamily="34" charset="-120"/>
              </a:rPr>
              <a:t>Tutorial</a:t>
            </a:r>
            <a:pPr indent="0" marL="0">
              <a:buNone/>
            </a:pPr>
            <a:r>
              <a:rPr lang="en-US" sz="1200" dirty="0">
                <a:solidFill>
                  <a:srgbClr val="FFFFFF"/>
                </a:solidFill>
                <a:latin typeface="Calibri" pitchFamily="34" charset="0"/>
                <a:ea typeface="Calibri" pitchFamily="34" charset="-122"/>
                <a:cs typeface="Calibri" pitchFamily="34" charset="-120"/>
              </a:rPr>
              <a:t>: exam-style questions with full worked solutions.</a:t>
            </a:r>
            <a:endParaRPr lang="en-US" sz="1200" dirty="0"/>
          </a:p>
        </p:txBody>
      </p:sp>
      <p:sp>
        <p:nvSpPr>
          <p:cNvPr id="9" name="Shape 7"/>
          <p:cNvSpPr/>
          <p:nvPr/>
        </p:nvSpPr>
        <p:spPr>
          <a:xfrm>
            <a:off x="548640" y="2286000"/>
            <a:ext cx="292608" cy="292608"/>
          </a:xfrm>
          <a:prstGeom prst="ellipse">
            <a:avLst/>
          </a:prstGeom>
          <a:solidFill>
            <a:srgbClr val="F0B24A"/>
          </a:solidFill>
          <a:ln w="12700">
            <a:solidFill>
              <a:srgbClr val="F0B24A"/>
            </a:solidFill>
            <a:prstDash val="solid"/>
          </a:ln>
        </p:spPr>
      </p:sp>
      <p:sp>
        <p:nvSpPr>
          <p:cNvPr id="10" name="Text 8"/>
          <p:cNvSpPr txBox="1"/>
          <p:nvPr/>
        </p:nvSpPr>
        <p:spPr>
          <a:xfrm>
            <a:off x="548640" y="2286000"/>
            <a:ext cx="292608" cy="292608"/>
          </a:xfrm>
          <a:prstGeom prst="rect">
            <a:avLst/>
          </a:prstGeom>
          <a:noFill/>
          <a:ln/>
        </p:spPr>
        <p:txBody>
          <a:bodyPr wrap="square" lIns="0" tIns="0" rIns="0" bIns="0" rtlCol="0" anchor="ctr"/>
          <a:lstStyle/>
          <a:p>
            <a:pPr algn="ctr" indent="0" marL="0">
              <a:buNone/>
            </a:pPr>
            <a:r>
              <a:rPr lang="en-US" sz="1000" b="1" dirty="0">
                <a:solidFill>
                  <a:srgbClr val="1B2A41"/>
                </a:solidFill>
                <a:latin typeface="Calibri" pitchFamily="34" charset="0"/>
                <a:ea typeface="Calibri" pitchFamily="34" charset="-122"/>
                <a:cs typeface="Calibri" pitchFamily="34" charset="-120"/>
              </a:rPr>
              <a:t>3</a:t>
            </a:r>
            <a:endParaRPr lang="en-US" sz="1000" dirty="0"/>
          </a:p>
        </p:txBody>
      </p:sp>
      <p:sp>
        <p:nvSpPr>
          <p:cNvPr id="11" name="Text 9"/>
          <p:cNvSpPr txBox="1"/>
          <p:nvPr/>
        </p:nvSpPr>
        <p:spPr>
          <a:xfrm>
            <a:off x="1005840" y="2249424"/>
            <a:ext cx="6583680" cy="36576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Next topic: </a:t>
            </a:r>
            <a:pPr indent="0" marL="0">
              <a:buNone/>
            </a:pPr>
            <a:r>
              <a:rPr lang="en-US" sz="1200" b="1" dirty="0">
                <a:solidFill>
                  <a:srgbClr val="FFFFFF"/>
                </a:solidFill>
                <a:latin typeface="Calibri" pitchFamily="34" charset="0"/>
                <a:ea typeface="Calibri" pitchFamily="34" charset="-122"/>
                <a:cs typeface="Calibri" pitchFamily="34" charset="-120"/>
              </a:rPr>
              <a:t>Solution</a:t>
            </a:r>
            <a:pPr indent="0" marL="0">
              <a:buNone/>
            </a:pPr>
            <a:r>
              <a:rPr lang="en-US" sz="1200" dirty="0">
                <a:solidFill>
                  <a:srgbClr val="FFFFFF"/>
                </a:solidFill>
                <a:latin typeface="Calibri" pitchFamily="34" charset="0"/>
                <a:ea typeface="Calibri" pitchFamily="34" charset="-122"/>
                <a:cs typeface="Calibri" pitchFamily="34" charset="-120"/>
              </a:rPr>
              <a:t>: solubility, concentration, dilution and osmosis.</a:t>
            </a:r>
            <a:endParaRPr lang="en-US" sz="1200" dirty="0"/>
          </a:p>
        </p:txBody>
      </p:sp>
      <p:sp>
        <p:nvSpPr>
          <p:cNvPr id="12" name="Text 10"/>
          <p:cNvSpPr txBox="1"/>
          <p:nvPr/>
        </p:nvSpPr>
        <p:spPr>
          <a:xfrm>
            <a:off x="548640" y="3520440"/>
            <a:ext cx="7680960" cy="822960"/>
          </a:xfrm>
          <a:prstGeom prst="rect">
            <a:avLst/>
          </a:prstGeom>
          <a:noFill/>
          <a:ln/>
        </p:spPr>
        <p:txBody>
          <a:bodyPr wrap="square" lIns="0" tIns="0" rIns="0" bIns="0" rtlCol="0" anchor="t"/>
          <a:lstStyle/>
          <a:p>
            <a:pPr indent="0" marL="0">
              <a:buNone/>
            </a:pPr>
            <a:r>
              <a:rPr lang="en-US" sz="800" dirty="0">
                <a:solidFill>
                  <a:srgbClr val="A3B1C2"/>
                </a:solidFill>
                <a:latin typeface="Calibri" pitchFamily="34" charset="0"/>
                <a:ea typeface="Calibri" pitchFamily="34" charset="-122"/>
                <a:cs typeface="Calibri" pitchFamily="34" charset="-120"/>
              </a:rPr>
              <a:t>Core reference: </a:t>
            </a:r>
            <a:pPr indent="0" marL="0">
              <a:buNone/>
            </a:pPr>
            <a:r>
              <a:rPr lang="en-US" sz="800" i="1" dirty="0">
                <a:solidFill>
                  <a:srgbClr val="A3B1C2"/>
                </a:solidFill>
                <a:latin typeface="Calibri" pitchFamily="34" charset="0"/>
                <a:ea typeface="Calibri" pitchFamily="34" charset="-122"/>
                <a:cs typeface="Calibri" pitchFamily="34" charset="-120"/>
              </a:rPr>
              <a:t>The Basics of GOB Chemistry</a:t>
            </a:r>
            <a:pPr indent="0" marL="0">
              <a:buNone/>
            </a:pPr>
            <a:r>
              <a:rPr lang="en-US" sz="800" dirty="0">
                <a:solidFill>
                  <a:srgbClr val="A3B1C2"/>
                </a:solidFill>
                <a:latin typeface="Calibri" pitchFamily="34" charset="0"/>
                <a:ea typeface="Calibri" pitchFamily="34" charset="-122"/>
                <a:cs typeface="Calibri" pitchFamily="34" charset="-120"/>
              </a:rPr>
              <a:t> (Ball, Hill &amp; Scott), LibreTexts, CC BY-NC-SA 3.0: sections 5.2 and 5.6 (photographs), 6.S (chapter summary) and 7.4 (bond energies). Rates and equilibrium are expanded to match </a:t>
            </a:r>
            <a:pPr indent="0" marL="0">
              <a:buNone/>
            </a:pPr>
            <a:r>
              <a:rPr lang="en-US" sz="800" i="1" dirty="0">
                <a:solidFill>
                  <a:srgbClr val="A3B1C2"/>
                </a:solidFill>
                <a:latin typeface="Calibri" pitchFamily="34" charset="0"/>
                <a:ea typeface="Calibri" pitchFamily="34" charset="-122"/>
                <a:cs typeface="Calibri" pitchFamily="34" charset="-120"/>
              </a:rPr>
              <a:t>Introductory Chemistry</a:t>
            </a:r>
            <a:pPr indent="0" marL="0">
              <a:buNone/>
            </a:pPr>
            <a:r>
              <a:rPr lang="en-US" sz="800" dirty="0">
                <a:solidFill>
                  <a:srgbClr val="A3B1C2"/>
                </a:solidFill>
                <a:latin typeface="Calibri" pitchFamily="34" charset="0"/>
                <a:ea typeface="Calibri" pitchFamily="34" charset="-122"/>
                <a:cs typeface="Calibri" pitchFamily="34" charset="-120"/>
              </a:rPr>
              <a:t> (LibreTexts), chapter 15. Diagrams drawn by Dr. NAM. Shared under the same licence for non-commercial teaching.</a:t>
            </a:r>
            <a:endParaRPr lang="en-US" sz="800" dirty="0"/>
          </a:p>
        </p:txBody>
      </p:sp>
      <p:pic>
        <p:nvPicPr>
          <p:cNvPr id="13" name="Image 0" descr="/home/claude/build/mol/h2o2.png">    </p:cNvPr>
          <p:cNvPicPr>
            <a:picLocks noChangeAspect="1"/>
          </p:cNvPicPr>
          <p:nvPr/>
        </p:nvPicPr>
        <p:blipFill>
          <a:blip r:embed="rId1"/>
          <a:stretch>
            <a:fillRect/>
          </a:stretch>
        </p:blipFill>
        <p:spPr>
          <a:xfrm>
            <a:off x="7517783" y="640080"/>
            <a:ext cx="692115" cy="914400"/>
          </a:xfrm>
          <a:prstGeom prst="rect">
            <a:avLst/>
          </a:prstGeom>
        </p:spPr>
      </p:pic>
      <p:sp>
        <p:nvSpPr>
          <p:cNvPr id="14" name="Text 11"/>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A3B1C2"/>
                </a:solidFill>
                <a:latin typeface="Calibri" pitchFamily="34" charset="0"/>
                <a:ea typeface="Calibri" pitchFamily="34" charset="-122"/>
                <a:cs typeface="Calibri" pitchFamily="34" charset="-120"/>
              </a:rPr>
              <a:t>PHD115 · Chemical Reactions II</a:t>
            </a:r>
            <a:endParaRPr lang="en-US" sz="800" dirty="0"/>
          </a:p>
        </p:txBody>
      </p:sp>
      <p:sp>
        <p:nvSpPr>
          <p:cNvPr id="15" name="Text 12"/>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F0B24A"/>
                </a:solidFill>
                <a:latin typeface="Calibri" pitchFamily="34" charset="0"/>
                <a:ea typeface="Calibri" pitchFamily="34" charset="-122"/>
                <a:cs typeface="Calibri" pitchFamily="34" charset="-120"/>
              </a:rPr>
              <a:t>Dr. NAM · Faculty of Pharmacy, UiTM Bertam, Penang</a:t>
            </a:r>
            <a:endParaRPr lang="en-US" sz="8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2F6F9"/>
        </a:solidFill>
      </p:bgPr>
    </p:bg>
    <p:spTree>
      <p:nvGrpSpPr>
        <p:cNvPr id="1" name=""/>
        <p:cNvGrpSpPr/>
        <p:nvPr/>
      </p:nvGrpSpPr>
      <p:grpSpPr>
        <a:xfrm>
          <a:off x="0" y="0"/>
          <a:ext cx="0" cy="0"/>
          <a:chOff x="0" y="0"/>
          <a:chExt cx="0" cy="0"/>
        </a:xfrm>
      </p:grpSpPr>
      <p:sp>
        <p:nvSpPr>
          <p:cNvPr id="2" name="Text 0"/>
          <p:cNvSpPr txBox="1"/>
          <p:nvPr/>
        </p:nvSpPr>
        <p:spPr>
          <a:xfrm>
            <a:off x="457200" y="320040"/>
            <a:ext cx="7315200" cy="41148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Appendix · Periodic table</a:t>
            </a:r>
            <a:endParaRPr lang="en-US" sz="2000" dirty="0"/>
          </a:p>
        </p:txBody>
      </p:sp>
      <p:pic>
        <p:nvPicPr>
          <p:cNvPr id="3" name="Image 0" descr="/home/claude/build/ptable.png">    </p:cNvPr>
          <p:cNvPicPr>
            <a:picLocks noChangeAspect="1"/>
          </p:cNvPicPr>
          <p:nvPr/>
        </p:nvPicPr>
        <p:blipFill>
          <a:blip r:embed="rId1"/>
          <a:stretch>
            <a:fillRect/>
          </a:stretch>
        </p:blipFill>
        <p:spPr>
          <a:xfrm>
            <a:off x="743893" y="822960"/>
            <a:ext cx="7656214" cy="3931920"/>
          </a:xfrm>
          <a:prstGeom prst="rect">
            <a:avLst/>
          </a:prstGeom>
        </p:spPr>
      </p:pic>
      <p:sp>
        <p:nvSpPr>
          <p:cNvPr id="4" name="Text 1"/>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Chemical Reactions II</a:t>
            </a:r>
            <a:endParaRPr lang="en-US" sz="800" dirty="0"/>
          </a:p>
        </p:txBody>
      </p:sp>
      <p:sp>
        <p:nvSpPr>
          <p:cNvPr id="5" name="Text 2"/>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79</Slides>
  <Notes>79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79</vt:i4>
      </vt:variant>
    </vt:vector>
  </HeadingPairs>
  <TitlesOfParts>
    <vt:vector size="8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Chemical Reactions II</dc:title>
  <dc:subject>PptxGenJS Presentation</dc:subject>
  <dc:creator>Dr. Nur 'Ainun Mokhtar (Dr. NAM)</dc:creator>
  <cp:lastModifiedBy>Dr. Nur 'Ainun Mokhtar (Dr. NAM)</cp:lastModifiedBy>
  <cp:revision>1</cp:revision>
  <dcterms:created xsi:type="dcterms:W3CDTF">2026-10-02T10:00:38Z</dcterms:created>
  <dcterms:modified xsi:type="dcterms:W3CDTF">2026-10-02T10:00:38Z</dcterms:modified>
</cp:coreProperties>
</file>